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1" Type="http://schemas.openxmlformats.org/officeDocument/2006/relationships/slide" Target="slides/slide56.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a:p>
        </p:txBody>
      </p:sp>
      <p:sp>
        <p:nvSpPr>
          <p:cNvPr id="60" name="Google Shape;60;p3: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61" name="Google Shape;61;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000"/>
              <a:buNone/>
            </a:pPr>
            <a:r>
              <a:rPr lang="en-US" sz="1000"/>
              <a:t>Upon completion of this chapter you should be able to:</a:t>
            </a:r>
            <a:endParaRPr/>
          </a:p>
          <a:p>
            <a:pPr indent="0" lvl="0" marL="0" rtl="0" algn="l">
              <a:spcBef>
                <a:spcPts val="300"/>
              </a:spcBef>
              <a:spcAft>
                <a:spcPts val="0"/>
              </a:spcAft>
              <a:buNone/>
            </a:pPr>
            <a:r>
              <a:rPr lang="en-US" sz="1000"/>
              <a:t> Understand what information security is and how it came to mean what it does today</a:t>
            </a:r>
            <a:endParaRPr/>
          </a:p>
          <a:p>
            <a:pPr indent="0" lvl="0" marL="0" rtl="0" algn="l">
              <a:spcBef>
                <a:spcPts val="300"/>
              </a:spcBef>
              <a:spcAft>
                <a:spcPts val="0"/>
              </a:spcAft>
              <a:buNone/>
            </a:pPr>
            <a:r>
              <a:rPr lang="en-US" sz="1000"/>
              <a:t> Comprehend the history of computer security and how it evolved into information security</a:t>
            </a:r>
            <a:endParaRPr/>
          </a:p>
          <a:p>
            <a:pPr indent="0" lvl="0" marL="0" rtl="0" algn="l">
              <a:spcBef>
                <a:spcPts val="300"/>
              </a:spcBef>
              <a:spcAft>
                <a:spcPts val="0"/>
              </a:spcAft>
              <a:buNone/>
            </a:pPr>
            <a:r>
              <a:rPr lang="en-US" sz="1000"/>
              <a:t> Understand the key terms and critical concepts of information security as presented in the chapter</a:t>
            </a:r>
            <a:endParaRPr/>
          </a:p>
          <a:p>
            <a:pPr indent="0" lvl="0" marL="0" rtl="0" algn="l">
              <a:spcBef>
                <a:spcPts val="300"/>
              </a:spcBef>
              <a:spcAft>
                <a:spcPts val="0"/>
              </a:spcAft>
              <a:buNone/>
            </a:pPr>
            <a:r>
              <a:rPr lang="en-US" sz="1000"/>
              <a:t> Outline the phases of the security systems development life cycle</a:t>
            </a:r>
            <a:endParaRPr/>
          </a:p>
          <a:p>
            <a:pPr indent="0" lvl="0" marL="0" rtl="0" algn="l">
              <a:spcBef>
                <a:spcPts val="300"/>
              </a:spcBef>
              <a:spcAft>
                <a:spcPts val="0"/>
              </a:spcAft>
              <a:buNone/>
            </a:pPr>
            <a:r>
              <a:rPr lang="en-US" sz="1000"/>
              <a:t> Understand the role of professionals involved in information security in an organizational structure</a:t>
            </a:r>
            <a:endParaRPr/>
          </a:p>
          <a:p>
            <a:pPr indent="0" lvl="0" marL="0" rtl="0" algn="l">
              <a:spcBef>
                <a:spcPts val="0"/>
              </a:spcBef>
              <a:spcAft>
                <a:spcPts val="0"/>
              </a:spcAft>
              <a:buNone/>
            </a:pPr>
            <a:r>
              <a:t/>
            </a:r>
            <a:endParaRPr sz="1000"/>
          </a:p>
        </p:txBody>
      </p:sp>
      <p:sp>
        <p:nvSpPr>
          <p:cNvPr id="62" name="Google Shape;62;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70" name="Google Shape;70;p4: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71" name="Google Shape;71;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What Is Information Security?</a:t>
            </a:r>
            <a:endParaRPr/>
          </a:p>
          <a:p>
            <a:pPr indent="0" lvl="0" marL="0" rtl="0" algn="l">
              <a:spcBef>
                <a:spcPts val="400"/>
              </a:spcBef>
              <a:spcAft>
                <a:spcPts val="0"/>
              </a:spcAft>
              <a:buSzPts val="1800"/>
              <a:buNone/>
            </a:pPr>
            <a:r>
              <a:rPr lang="en-US"/>
              <a:t>Information security in today’s enterprise is a “well-informed sense of assurance that the information risks and controls are in balance.” – Jim Anderson, Inovant (2002)‏</a:t>
            </a:r>
            <a:endParaRPr/>
          </a:p>
          <a:p>
            <a:pPr indent="0" lvl="0" marL="0" rtl="0" algn="l">
              <a:spcBef>
                <a:spcPts val="400"/>
              </a:spcBef>
              <a:spcAft>
                <a:spcPts val="0"/>
              </a:spcAft>
              <a:buSzPts val="1800"/>
              <a:buNone/>
            </a:pPr>
            <a:r>
              <a:rPr lang="en-US"/>
              <a:t>Before we can begin analyzing the details of information security, it is necessary to review the origins of this field and its impact on our understanding of information security today.</a:t>
            </a:r>
            <a:endParaRPr/>
          </a:p>
        </p:txBody>
      </p:sp>
      <p:sp>
        <p:nvSpPr>
          <p:cNvPr id="72" name="Google Shape;7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80" name="Google Shape;80;p5: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81" name="Google Shape;81;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The History Of Information Security</a:t>
            </a:r>
            <a:endParaRPr/>
          </a:p>
          <a:p>
            <a:pPr indent="0" lvl="0" marL="0" rtl="0" algn="l">
              <a:spcBef>
                <a:spcPts val="400"/>
              </a:spcBef>
              <a:spcAft>
                <a:spcPts val="0"/>
              </a:spcAft>
              <a:buSzPts val="1800"/>
              <a:buNone/>
            </a:pPr>
            <a:r>
              <a:rPr lang="en-US"/>
              <a:t>The need for computer security, or the need to secure the physical location of hardware from outside threats, began almost immediately after the first mainframes were developed. </a:t>
            </a:r>
            <a:endParaRPr/>
          </a:p>
          <a:p>
            <a:pPr indent="0" lvl="0" marL="0" rtl="0" algn="l">
              <a:spcBef>
                <a:spcPts val="400"/>
              </a:spcBef>
              <a:spcAft>
                <a:spcPts val="0"/>
              </a:spcAft>
              <a:buSzPts val="1800"/>
              <a:buNone/>
            </a:pPr>
            <a:r>
              <a:rPr lang="en-US"/>
              <a:t>Groups developing code-breaking computations during World War II created the first modern computers . </a:t>
            </a:r>
            <a:endParaRPr/>
          </a:p>
          <a:p>
            <a:pPr indent="0" lvl="0" marL="0" rtl="0" algn="l">
              <a:spcBef>
                <a:spcPts val="400"/>
              </a:spcBef>
              <a:spcAft>
                <a:spcPts val="0"/>
              </a:spcAft>
              <a:buSzPts val="1800"/>
              <a:buNone/>
            </a:pPr>
            <a:r>
              <a:rPr lang="en-US"/>
              <a:t>Badges, keys, and facial recognition of authorized personnel controlled access to sensitive military locations. </a:t>
            </a:r>
            <a:endParaRPr/>
          </a:p>
          <a:p>
            <a:pPr indent="0" lvl="0" marL="0" rtl="0" algn="l">
              <a:spcBef>
                <a:spcPts val="400"/>
              </a:spcBef>
              <a:spcAft>
                <a:spcPts val="0"/>
              </a:spcAft>
              <a:buSzPts val="1800"/>
              <a:buNone/>
            </a:pPr>
            <a:r>
              <a:rPr lang="en-US"/>
              <a:t>In contrast, information security during these early years was rudimentary and mainly composed of simple document classification schemes. </a:t>
            </a:r>
            <a:endParaRPr/>
          </a:p>
          <a:p>
            <a:pPr indent="0" lvl="0" marL="0" rtl="0" algn="l">
              <a:spcBef>
                <a:spcPts val="400"/>
              </a:spcBef>
              <a:spcAft>
                <a:spcPts val="0"/>
              </a:spcAft>
              <a:buSzPts val="1800"/>
              <a:buNone/>
            </a:pPr>
            <a:r>
              <a:rPr lang="en-US"/>
              <a:t>There were no application classification projects for computers or operating systems at this time, because the primary threats to security were physical theft of equipment, espionage against the products of the systems, and sabotage.</a:t>
            </a:r>
            <a:endParaRPr/>
          </a:p>
          <a:p>
            <a:pPr indent="0" lvl="0" marL="0" rtl="0" algn="l">
              <a:spcBef>
                <a:spcPts val="400"/>
              </a:spcBef>
              <a:spcAft>
                <a:spcPts val="0"/>
              </a:spcAft>
              <a:buSzPts val="1800"/>
              <a:buNone/>
            </a:pPr>
            <a:r>
              <a:t/>
            </a:r>
            <a:endParaRPr/>
          </a:p>
          <a:p>
            <a:pPr indent="0" lvl="0" marL="0" rtl="0" algn="l">
              <a:spcBef>
                <a:spcPts val="0"/>
              </a:spcBef>
              <a:spcAft>
                <a:spcPts val="0"/>
              </a:spcAft>
              <a:buNone/>
            </a:pPr>
            <a:r>
              <a:t/>
            </a:r>
            <a:endParaRPr/>
          </a:p>
        </p:txBody>
      </p:sp>
      <p:sp>
        <p:nvSpPr>
          <p:cNvPr id="82" name="Google Shape;8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90" name="Google Shape;90;p6: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91" name="Google Shape;91;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This picture is not topical to the chapter except to show a high-visibility artifact associated with a subtopic of information security. More properly, this is an artifact that is part of the study of cryptography from Chapter 8 and the Appendix.</a:t>
            </a:r>
            <a:endParaRPr/>
          </a:p>
        </p:txBody>
      </p:sp>
      <p:sp>
        <p:nvSpPr>
          <p:cNvPr id="92" name="Google Shape;9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01" name="Google Shape;101;p7: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02" name="Google Shape;102;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The 1960s</a:t>
            </a:r>
            <a:endParaRPr/>
          </a:p>
          <a:p>
            <a:pPr indent="0" lvl="0" marL="0" rtl="0" algn="l">
              <a:spcBef>
                <a:spcPts val="400"/>
              </a:spcBef>
              <a:spcAft>
                <a:spcPts val="0"/>
              </a:spcAft>
              <a:buSzPts val="1800"/>
              <a:buNone/>
            </a:pPr>
            <a:r>
              <a:rPr lang="en-US"/>
              <a:t>During the 1960s, the Department of Defense’s Advanced Research Procurement Agency (ARPA) began examining the feasibility of a redundant networked communications system designed to support the military’s need to exchange information. </a:t>
            </a:r>
            <a:endParaRPr/>
          </a:p>
          <a:p>
            <a:pPr indent="0" lvl="0" marL="0" rtl="0" algn="l">
              <a:spcBef>
                <a:spcPts val="400"/>
              </a:spcBef>
              <a:spcAft>
                <a:spcPts val="0"/>
              </a:spcAft>
              <a:buSzPts val="1800"/>
              <a:buNone/>
            </a:pPr>
            <a:r>
              <a:rPr lang="en-US"/>
              <a:t>Larry Roberts, known as the founder of the Internet, developed the project from its inception.</a:t>
            </a:r>
            <a:endParaRPr/>
          </a:p>
          <a:p>
            <a:pPr indent="0" lvl="0" marL="0" rtl="0" algn="l">
              <a:spcBef>
                <a:spcPts val="0"/>
              </a:spcBef>
              <a:spcAft>
                <a:spcPts val="0"/>
              </a:spcAft>
              <a:buNone/>
            </a:pPr>
            <a:r>
              <a:t/>
            </a:r>
            <a:endParaRPr/>
          </a:p>
        </p:txBody>
      </p:sp>
      <p:sp>
        <p:nvSpPr>
          <p:cNvPr id="103" name="Google Shape;10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11" name="Google Shape;111;p8: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12" name="Google Shape;112;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Founding document from the ARPANET.</a:t>
            </a:r>
            <a:endParaRPr/>
          </a:p>
        </p:txBody>
      </p:sp>
      <p:sp>
        <p:nvSpPr>
          <p:cNvPr id="113" name="Google Shape;11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22" name="Google Shape;122;p9: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23" name="Google Shape;123;p9:notes"/>
          <p:cNvSpPr txBox="1"/>
          <p:nvPr>
            <p:ph idx="1" type="body"/>
          </p:nvPr>
        </p:nvSpPr>
        <p:spPr>
          <a:xfrm>
            <a:off x="914400" y="4343400"/>
            <a:ext cx="5029200" cy="4610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The 1970s and 80s</a:t>
            </a:r>
            <a:endParaRPr/>
          </a:p>
          <a:p>
            <a:pPr indent="0" lvl="0" marL="0" rtl="0" algn="l">
              <a:spcBef>
                <a:spcPts val="400"/>
              </a:spcBef>
              <a:spcAft>
                <a:spcPts val="0"/>
              </a:spcAft>
              <a:buSzPts val="1800"/>
              <a:buNone/>
            </a:pPr>
            <a:r>
              <a:rPr lang="en-US"/>
              <a:t>During the next decade, the ARPANET grew in popularity and use, and so did its potential for misuse. </a:t>
            </a:r>
            <a:endParaRPr/>
          </a:p>
          <a:p>
            <a:pPr indent="0" lvl="0" marL="0" rtl="0" algn="l">
              <a:spcBef>
                <a:spcPts val="400"/>
              </a:spcBef>
              <a:spcAft>
                <a:spcPts val="0"/>
              </a:spcAft>
              <a:buSzPts val="1800"/>
              <a:buNone/>
            </a:pPr>
            <a:r>
              <a:rPr lang="en-US"/>
              <a:t>In December of 1973, Robert M. Metcalfe indicated that there were fundamental problems with ARPANET security.  </a:t>
            </a:r>
            <a:endParaRPr/>
          </a:p>
          <a:p>
            <a:pPr indent="0" lvl="0" marL="0" rtl="0" algn="l">
              <a:spcBef>
                <a:spcPts val="400"/>
              </a:spcBef>
              <a:spcAft>
                <a:spcPts val="0"/>
              </a:spcAft>
              <a:buSzPts val="1800"/>
              <a:buNone/>
            </a:pPr>
            <a:r>
              <a:rPr lang="en-US"/>
              <a:t>Individual remote users’ sites did not have sufficient controls and safeguards to protect data against unauthorized remote users.  </a:t>
            </a:r>
            <a:endParaRPr/>
          </a:p>
          <a:p>
            <a:pPr indent="0" lvl="0" marL="0" rtl="0" algn="l">
              <a:spcBef>
                <a:spcPts val="400"/>
              </a:spcBef>
              <a:spcAft>
                <a:spcPts val="0"/>
              </a:spcAft>
              <a:buSzPts val="1800"/>
              <a:buNone/>
            </a:pPr>
            <a:r>
              <a:rPr lang="en-US"/>
              <a:t>There were no safety procedures for dial-up connections to the ARPANET. </a:t>
            </a:r>
            <a:endParaRPr/>
          </a:p>
          <a:p>
            <a:pPr indent="0" lvl="0" marL="0" rtl="0" algn="l">
              <a:spcBef>
                <a:spcPts val="400"/>
              </a:spcBef>
              <a:spcAft>
                <a:spcPts val="0"/>
              </a:spcAft>
              <a:buSzPts val="1800"/>
              <a:buNone/>
            </a:pPr>
            <a:r>
              <a:rPr lang="en-US"/>
              <a:t>User identification and authorization to the system were nonexistent. </a:t>
            </a:r>
            <a:endParaRPr/>
          </a:p>
          <a:p>
            <a:pPr indent="0" lvl="0" marL="0" rtl="0" algn="l">
              <a:spcBef>
                <a:spcPts val="400"/>
              </a:spcBef>
              <a:spcAft>
                <a:spcPts val="0"/>
              </a:spcAft>
              <a:buSzPts val="1800"/>
              <a:buNone/>
            </a:pPr>
            <a:r>
              <a:rPr lang="en-US"/>
              <a:t>Phone numbers were widely distributed and openly publicized on the walls of rest rooms and phone booths, giving hackers easy access to ARPANET. </a:t>
            </a:r>
            <a:endParaRPr/>
          </a:p>
          <a:p>
            <a:pPr indent="0" lvl="0" marL="0" rtl="0" algn="l">
              <a:spcBef>
                <a:spcPts val="400"/>
              </a:spcBef>
              <a:spcAft>
                <a:spcPts val="0"/>
              </a:spcAft>
              <a:buSzPts val="1800"/>
              <a:buNone/>
            </a:pPr>
            <a:r>
              <a:rPr lang="en-US"/>
              <a:t>Much of the focus for research on computer security centered on a system called MULTICS (Multiplexed Information and Computing Service).  </a:t>
            </a:r>
            <a:endParaRPr/>
          </a:p>
          <a:p>
            <a:pPr indent="0" lvl="0" marL="0" rtl="0" algn="l">
              <a:spcBef>
                <a:spcPts val="400"/>
              </a:spcBef>
              <a:spcAft>
                <a:spcPts val="0"/>
              </a:spcAft>
              <a:buSzPts val="1800"/>
              <a:buNone/>
            </a:pPr>
            <a:r>
              <a:rPr lang="en-US"/>
              <a:t>In mid-1969, not long after the restructuring of the MULTICS project, several of the key players created a new operating system called UNIX.  </a:t>
            </a:r>
            <a:endParaRPr/>
          </a:p>
          <a:p>
            <a:pPr indent="0" lvl="0" marL="0" rtl="0" algn="l">
              <a:spcBef>
                <a:spcPts val="400"/>
              </a:spcBef>
              <a:spcAft>
                <a:spcPts val="0"/>
              </a:spcAft>
              <a:buSzPts val="1800"/>
              <a:buNone/>
            </a:pPr>
            <a:r>
              <a:rPr lang="en-US"/>
              <a:t>While the MULTICS system had planned security with multiple security levels and passwords, the UNIX system did not.  </a:t>
            </a:r>
            <a:endParaRPr/>
          </a:p>
          <a:p>
            <a:pPr indent="0" lvl="0" marL="0" rtl="0" algn="l">
              <a:spcBef>
                <a:spcPts val="400"/>
              </a:spcBef>
              <a:spcAft>
                <a:spcPts val="0"/>
              </a:spcAft>
              <a:buSzPts val="1800"/>
              <a:buNone/>
            </a:pPr>
            <a:r>
              <a:rPr lang="en-US"/>
              <a:t>In the late 1970s the microprocessor brought in a new age of computing capabilities and security threats as these microprocessors were networked.</a:t>
            </a:r>
            <a:endParaRPr/>
          </a:p>
        </p:txBody>
      </p:sp>
      <p:sp>
        <p:nvSpPr>
          <p:cNvPr id="124" name="Google Shape;12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32" name="Google Shape;132;p10: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33" name="Google Shape;133;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The Paper that Started the Study of Computer Security</a:t>
            </a:r>
            <a:endParaRPr/>
          </a:p>
          <a:p>
            <a:pPr indent="0" lvl="0" marL="0" rtl="0" algn="l">
              <a:spcBef>
                <a:spcPts val="300"/>
              </a:spcBef>
              <a:spcAft>
                <a:spcPts val="0"/>
              </a:spcAft>
              <a:buSzPts val="1800"/>
              <a:buNone/>
            </a:pPr>
            <a:r>
              <a:rPr lang="en-US"/>
              <a:t>It began with Rand Report R-609, sponsored by the Department of Defense, which attempted to define multiple controls and mechanisms necessary for the protection of a multilevel computer system.  </a:t>
            </a:r>
            <a:endParaRPr/>
          </a:p>
          <a:p>
            <a:pPr indent="0" lvl="0" marL="0" rtl="0" algn="l">
              <a:spcBef>
                <a:spcPts val="300"/>
              </a:spcBef>
              <a:spcAft>
                <a:spcPts val="0"/>
              </a:spcAft>
              <a:buSzPts val="1800"/>
              <a:buNone/>
            </a:pPr>
            <a:r>
              <a:rPr lang="en-US"/>
              <a:t>The scope of computer security grew from physical security to include: </a:t>
            </a:r>
            <a:endParaRPr/>
          </a:p>
          <a:p>
            <a:pPr indent="0" lvl="1" marL="0" rtl="0" algn="l">
              <a:spcBef>
                <a:spcPts val="300"/>
              </a:spcBef>
              <a:spcAft>
                <a:spcPts val="0"/>
              </a:spcAft>
              <a:buNone/>
            </a:pPr>
            <a:r>
              <a:rPr lang="en-US"/>
              <a:t> Safety of the data itself</a:t>
            </a:r>
            <a:endParaRPr/>
          </a:p>
          <a:p>
            <a:pPr indent="0" lvl="1" marL="0" rtl="0" algn="l">
              <a:spcBef>
                <a:spcPts val="300"/>
              </a:spcBef>
              <a:spcAft>
                <a:spcPts val="0"/>
              </a:spcAft>
              <a:buNone/>
            </a:pPr>
            <a:r>
              <a:rPr lang="en-US"/>
              <a:t> Limiting of random and unauthorized access to that data</a:t>
            </a:r>
            <a:endParaRPr/>
          </a:p>
          <a:p>
            <a:pPr indent="0" lvl="1" marL="0" rtl="0" algn="l">
              <a:spcBef>
                <a:spcPts val="300"/>
              </a:spcBef>
              <a:spcAft>
                <a:spcPts val="0"/>
              </a:spcAft>
              <a:buNone/>
            </a:pPr>
            <a:r>
              <a:rPr lang="en-US"/>
              <a:t> Involvement of personnel from multiple levels of the organization</a:t>
            </a:r>
            <a:endParaRPr/>
          </a:p>
          <a:p>
            <a:pPr indent="0" lvl="0" marL="0" rtl="0" algn="l">
              <a:spcBef>
                <a:spcPts val="300"/>
              </a:spcBef>
              <a:spcAft>
                <a:spcPts val="0"/>
              </a:spcAft>
              <a:buSzPts val="1800"/>
              <a:buNone/>
            </a:pPr>
            <a:r>
              <a:rPr lang="en-US"/>
              <a:t>At this stage, the concept of computer security evolved into the more sophisticated system we call information security.</a:t>
            </a:r>
            <a:endParaRPr/>
          </a:p>
          <a:p>
            <a:pPr indent="0" lvl="0" marL="0" rtl="0" algn="l">
              <a:spcBef>
                <a:spcPts val="0"/>
              </a:spcBef>
              <a:spcAft>
                <a:spcPts val="0"/>
              </a:spcAft>
              <a:buNone/>
            </a:pPr>
            <a:r>
              <a:t/>
            </a:r>
            <a:endParaRPr/>
          </a:p>
        </p:txBody>
      </p:sp>
      <p:sp>
        <p:nvSpPr>
          <p:cNvPr id="134" name="Google Shape;13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42" name="Google Shape;142;p11: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43" name="Google Shape;143;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The Paper that Started the Study of Computer Security (continued)</a:t>
            </a:r>
            <a:endParaRPr/>
          </a:p>
          <a:p>
            <a:pPr indent="0" lvl="0" marL="0" rtl="0" algn="l">
              <a:spcBef>
                <a:spcPts val="300"/>
              </a:spcBef>
              <a:spcAft>
                <a:spcPts val="0"/>
              </a:spcAft>
              <a:buSzPts val="1800"/>
              <a:buNone/>
            </a:pPr>
            <a:r>
              <a:rPr lang="en-US"/>
              <a:t>It began with Rand Report R-609, sponsored by the Department of Defense, which attempted to define multiple controls and mechanisms necessary for the protection of a multilevel computer system.  </a:t>
            </a:r>
            <a:endParaRPr/>
          </a:p>
          <a:p>
            <a:pPr indent="0" lvl="0" marL="0" rtl="0" algn="l">
              <a:spcBef>
                <a:spcPts val="300"/>
              </a:spcBef>
              <a:spcAft>
                <a:spcPts val="0"/>
              </a:spcAft>
              <a:buSzPts val="1800"/>
              <a:buNone/>
            </a:pPr>
            <a:r>
              <a:rPr lang="en-US"/>
              <a:t>The scope of computer security grew from physical security to include: </a:t>
            </a:r>
            <a:endParaRPr/>
          </a:p>
          <a:p>
            <a:pPr indent="0" lvl="1" marL="0" rtl="0" algn="l">
              <a:spcBef>
                <a:spcPts val="300"/>
              </a:spcBef>
              <a:spcAft>
                <a:spcPts val="0"/>
              </a:spcAft>
              <a:buNone/>
            </a:pPr>
            <a:r>
              <a:rPr lang="en-US"/>
              <a:t> Safety of the data itself</a:t>
            </a:r>
            <a:endParaRPr/>
          </a:p>
          <a:p>
            <a:pPr indent="0" lvl="1" marL="0" rtl="0" algn="l">
              <a:spcBef>
                <a:spcPts val="300"/>
              </a:spcBef>
              <a:spcAft>
                <a:spcPts val="0"/>
              </a:spcAft>
              <a:buNone/>
            </a:pPr>
            <a:r>
              <a:rPr lang="en-US"/>
              <a:t> Limiting of random and unauthorized access to that data</a:t>
            </a:r>
            <a:endParaRPr/>
          </a:p>
          <a:p>
            <a:pPr indent="0" lvl="1" marL="0" rtl="0" algn="l">
              <a:spcBef>
                <a:spcPts val="300"/>
              </a:spcBef>
              <a:spcAft>
                <a:spcPts val="0"/>
              </a:spcAft>
              <a:buNone/>
            </a:pPr>
            <a:r>
              <a:rPr lang="en-US"/>
              <a:t> Involvement of personnel from multiple levels of the organization</a:t>
            </a:r>
            <a:endParaRPr/>
          </a:p>
          <a:p>
            <a:pPr indent="0" lvl="0" marL="0" rtl="0" algn="l">
              <a:spcBef>
                <a:spcPts val="300"/>
              </a:spcBef>
              <a:spcAft>
                <a:spcPts val="0"/>
              </a:spcAft>
              <a:buSzPts val="1800"/>
              <a:buNone/>
            </a:pPr>
            <a:r>
              <a:rPr lang="en-US"/>
              <a:t>At this stage, the concept of computer security evolved into the more sophisticated system we call information security.</a:t>
            </a:r>
            <a:endParaRPr/>
          </a:p>
          <a:p>
            <a:pPr indent="0" lvl="0" marL="0" rtl="0" algn="l">
              <a:spcBef>
                <a:spcPts val="0"/>
              </a:spcBef>
              <a:spcAft>
                <a:spcPts val="0"/>
              </a:spcAft>
              <a:buNone/>
            </a:pPr>
            <a:r>
              <a:t/>
            </a:r>
            <a:endParaRPr/>
          </a:p>
        </p:txBody>
      </p:sp>
      <p:sp>
        <p:nvSpPr>
          <p:cNvPr id="144" name="Google Shape;14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60" name="Google Shape;160;p13: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61" name="Google Shape;161;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The 1990s</a:t>
            </a:r>
            <a:endParaRPr/>
          </a:p>
          <a:p>
            <a:pPr indent="0" lvl="0" marL="0" rtl="0" algn="l">
              <a:spcBef>
                <a:spcPts val="300"/>
              </a:spcBef>
              <a:spcAft>
                <a:spcPts val="0"/>
              </a:spcAft>
              <a:buSzPts val="1800"/>
              <a:buNone/>
            </a:pPr>
            <a:r>
              <a:rPr lang="en-US"/>
              <a:t>At the close of the 20th century, as networks of computers became more common, so too did the need to connect the networks to each other.  </a:t>
            </a:r>
            <a:endParaRPr/>
          </a:p>
          <a:p>
            <a:pPr indent="0" lvl="0" marL="0" rtl="0" algn="l">
              <a:spcBef>
                <a:spcPts val="300"/>
              </a:spcBef>
              <a:spcAft>
                <a:spcPts val="0"/>
              </a:spcAft>
              <a:buSzPts val="1800"/>
              <a:buNone/>
            </a:pPr>
            <a:r>
              <a:rPr lang="en-US"/>
              <a:t>This gave rise to the Internet, the first manifestation of a global network of networks. </a:t>
            </a:r>
            <a:endParaRPr/>
          </a:p>
          <a:p>
            <a:pPr indent="0" lvl="0" marL="0" rtl="0" algn="l">
              <a:spcBef>
                <a:spcPts val="300"/>
              </a:spcBef>
              <a:spcAft>
                <a:spcPts val="0"/>
              </a:spcAft>
              <a:buSzPts val="1800"/>
              <a:buNone/>
            </a:pPr>
            <a:r>
              <a:rPr lang="en-US"/>
              <a:t>There has been a price for the phenomenal growth of the Internet, however.  When security was considered at all, early Internet deployment treated it as a low priority. </a:t>
            </a:r>
            <a:endParaRPr/>
          </a:p>
          <a:p>
            <a:pPr indent="0" lvl="0" marL="0" rtl="0" algn="l">
              <a:spcBef>
                <a:spcPts val="300"/>
              </a:spcBef>
              <a:spcAft>
                <a:spcPts val="0"/>
              </a:spcAft>
              <a:buSzPts val="1800"/>
              <a:buNone/>
            </a:pPr>
            <a:r>
              <a:rPr lang="en-US"/>
              <a:t>As the requirement for networked computers became the dominant style of computing, the ability to physically secure that physical computer was lost, and the stored information became more exposed to security threats.</a:t>
            </a:r>
            <a:endParaRPr/>
          </a:p>
          <a:p>
            <a:pPr indent="0" lvl="0" marL="0" rtl="0" algn="l">
              <a:spcBef>
                <a:spcPts val="0"/>
              </a:spcBef>
              <a:spcAft>
                <a:spcPts val="0"/>
              </a:spcAft>
              <a:buNone/>
            </a:pPr>
            <a:r>
              <a:t/>
            </a:r>
            <a:endParaRPr/>
          </a:p>
        </p:txBody>
      </p:sp>
      <p:sp>
        <p:nvSpPr>
          <p:cNvPr id="162" name="Google Shape;16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70" name="Google Shape;170;p14: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71" name="Google Shape;171;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The Present</a:t>
            </a:r>
            <a:endParaRPr/>
          </a:p>
          <a:p>
            <a:pPr indent="0" lvl="0" marL="0" rtl="0" algn="l">
              <a:spcBef>
                <a:spcPts val="400"/>
              </a:spcBef>
              <a:spcAft>
                <a:spcPts val="0"/>
              </a:spcAft>
              <a:buSzPts val="1800"/>
              <a:buNone/>
            </a:pPr>
            <a:r>
              <a:rPr lang="en-US"/>
              <a:t>Today, the Internet has brought millions of unsecured computer networks into communication with each other.  </a:t>
            </a:r>
            <a:endParaRPr/>
          </a:p>
          <a:p>
            <a:pPr indent="0" lvl="0" marL="0" rtl="0" algn="l">
              <a:spcBef>
                <a:spcPts val="400"/>
              </a:spcBef>
              <a:spcAft>
                <a:spcPts val="0"/>
              </a:spcAft>
              <a:buSzPts val="1800"/>
              <a:buNone/>
            </a:pPr>
            <a:r>
              <a:rPr lang="en-US"/>
              <a:t>Our ability to secure each computer’s stored information is now influenced by the security on each computer to which it is connected. </a:t>
            </a:r>
            <a:endParaRPr/>
          </a:p>
          <a:p>
            <a:pPr indent="0" lvl="0" marL="0" rtl="0" algn="l">
              <a:spcBef>
                <a:spcPts val="0"/>
              </a:spcBef>
              <a:spcAft>
                <a:spcPts val="0"/>
              </a:spcAft>
              <a:buNone/>
            </a:pPr>
            <a:r>
              <a:t/>
            </a:r>
            <a:endParaRPr/>
          </a:p>
        </p:txBody>
      </p:sp>
      <p:sp>
        <p:nvSpPr>
          <p:cNvPr id="172" name="Google Shape;17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80" name="Google Shape;180;p15: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81" name="Google Shape;181;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What Is Security?</a:t>
            </a:r>
            <a:endParaRPr/>
          </a:p>
          <a:p>
            <a:pPr indent="0" lvl="0" marL="0" rtl="0" algn="l">
              <a:spcBef>
                <a:spcPts val="400"/>
              </a:spcBef>
              <a:spcAft>
                <a:spcPts val="0"/>
              </a:spcAft>
              <a:buSzPts val="1800"/>
              <a:buNone/>
            </a:pPr>
            <a:r>
              <a:rPr lang="en-US"/>
              <a:t>In general, security is “the quality or state of being secure--to be free from danger.”  </a:t>
            </a:r>
            <a:endParaRPr/>
          </a:p>
          <a:p>
            <a:pPr indent="0" lvl="0" marL="0" rtl="0" algn="l">
              <a:spcBef>
                <a:spcPts val="400"/>
              </a:spcBef>
              <a:spcAft>
                <a:spcPts val="0"/>
              </a:spcAft>
              <a:buSzPts val="1800"/>
              <a:buNone/>
            </a:pPr>
            <a:r>
              <a:rPr lang="en-US"/>
              <a:t>It means to be protected from adversaries--from those who would do harm, intentionally or otherwise. </a:t>
            </a:r>
            <a:endParaRPr/>
          </a:p>
          <a:p>
            <a:pPr indent="0" lvl="0" marL="0" rtl="0" algn="l">
              <a:spcBef>
                <a:spcPts val="400"/>
              </a:spcBef>
              <a:spcAft>
                <a:spcPts val="0"/>
              </a:spcAft>
              <a:buSzPts val="1800"/>
              <a:buNone/>
            </a:pPr>
            <a:r>
              <a:rPr lang="en-US"/>
              <a:t>A successful organization should have the following multiple layers of security in place for the protection of its operations: </a:t>
            </a:r>
            <a:endParaRPr/>
          </a:p>
          <a:p>
            <a:pPr indent="0" lvl="1" marL="0" rtl="0" algn="l">
              <a:spcBef>
                <a:spcPts val="300"/>
              </a:spcBef>
              <a:spcAft>
                <a:spcPts val="0"/>
              </a:spcAft>
              <a:buSzPts val="1800"/>
              <a:buNone/>
            </a:pPr>
            <a:r>
              <a:rPr lang="en-US"/>
              <a:t>Physical security – To protect the physical items, objects, or areas of an organization from unauthorized access and misuse.</a:t>
            </a:r>
            <a:endParaRPr/>
          </a:p>
          <a:p>
            <a:pPr indent="0" lvl="1" marL="0" rtl="0" algn="l">
              <a:spcBef>
                <a:spcPts val="300"/>
              </a:spcBef>
              <a:spcAft>
                <a:spcPts val="0"/>
              </a:spcAft>
              <a:buSzPts val="1800"/>
              <a:buNone/>
            </a:pPr>
            <a:r>
              <a:rPr lang="en-US"/>
              <a:t>Personal security – To protect the individual or group of individuals who are authorized to access the organization and its operations.</a:t>
            </a:r>
            <a:endParaRPr/>
          </a:p>
          <a:p>
            <a:pPr indent="0" lvl="1" marL="0" rtl="0" algn="l">
              <a:spcBef>
                <a:spcPts val="300"/>
              </a:spcBef>
              <a:spcAft>
                <a:spcPts val="0"/>
              </a:spcAft>
              <a:buSzPts val="1800"/>
              <a:buNone/>
            </a:pPr>
            <a:r>
              <a:rPr lang="en-US"/>
              <a:t>Operations security – To protect the details of a particular operation or series of activities.</a:t>
            </a:r>
            <a:endParaRPr/>
          </a:p>
          <a:p>
            <a:pPr indent="0" lvl="1" marL="0" rtl="0" algn="l">
              <a:spcBef>
                <a:spcPts val="300"/>
              </a:spcBef>
              <a:spcAft>
                <a:spcPts val="0"/>
              </a:spcAft>
              <a:buSzPts val="1800"/>
              <a:buNone/>
            </a:pPr>
            <a:r>
              <a:rPr lang="en-US"/>
              <a:t>Communications security – To protect an organization’s communications media, technology, and content.</a:t>
            </a:r>
            <a:endParaRPr/>
          </a:p>
          <a:p>
            <a:pPr indent="0" lvl="1" marL="0" rtl="0" algn="l">
              <a:spcBef>
                <a:spcPts val="300"/>
              </a:spcBef>
              <a:spcAft>
                <a:spcPts val="0"/>
              </a:spcAft>
              <a:buSzPts val="1800"/>
              <a:buNone/>
            </a:pPr>
            <a:r>
              <a:rPr lang="en-US"/>
              <a:t>Network security – To protect networking components, connections, and contents.</a:t>
            </a:r>
            <a:endParaRPr/>
          </a:p>
          <a:p>
            <a:pPr indent="0" lvl="0" marL="0" rtl="0" algn="l">
              <a:spcBef>
                <a:spcPts val="0"/>
              </a:spcBef>
              <a:spcAft>
                <a:spcPts val="0"/>
              </a:spcAft>
              <a:buNone/>
            </a:pPr>
            <a:r>
              <a:t/>
            </a:r>
            <a:endParaRPr/>
          </a:p>
        </p:txBody>
      </p:sp>
      <p:sp>
        <p:nvSpPr>
          <p:cNvPr id="182" name="Google Shape;18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90" name="Google Shape;190;p16: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91" name="Google Shape;191;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What Is Information Security?</a:t>
            </a:r>
            <a:endParaRPr/>
          </a:p>
          <a:p>
            <a:pPr indent="0" lvl="0" marL="0" rtl="0" algn="l">
              <a:spcBef>
                <a:spcPts val="300"/>
              </a:spcBef>
              <a:spcAft>
                <a:spcPts val="0"/>
              </a:spcAft>
              <a:buSzPts val="1800"/>
              <a:buNone/>
            </a:pPr>
            <a:r>
              <a:rPr lang="en-US"/>
              <a:t>Information security, therefore, is the protection of information and its critical elements, including the systems and hardware that use, store, and transmit that information.   </a:t>
            </a:r>
            <a:endParaRPr/>
          </a:p>
          <a:p>
            <a:pPr indent="0" lvl="0" marL="0" rtl="0" algn="l">
              <a:spcBef>
                <a:spcPts val="300"/>
              </a:spcBef>
              <a:spcAft>
                <a:spcPts val="0"/>
              </a:spcAft>
              <a:buSzPts val="1800"/>
              <a:buNone/>
            </a:pPr>
            <a:r>
              <a:rPr lang="en-US"/>
              <a:t>But to protect the information and its related systems from danger, tools, such as policy, awareness, training, education, and technology are necessary. </a:t>
            </a:r>
            <a:endParaRPr/>
          </a:p>
          <a:p>
            <a:pPr indent="0" lvl="0" marL="0" rtl="0" algn="l">
              <a:spcBef>
                <a:spcPts val="300"/>
              </a:spcBef>
              <a:spcAft>
                <a:spcPts val="0"/>
              </a:spcAft>
              <a:buSzPts val="1800"/>
              <a:buNone/>
            </a:pPr>
            <a:r>
              <a:rPr lang="en-US"/>
              <a:t>The C.I.A. triangle has been considered the industry standard for computer security since the development of the mainframe. It was solely based on three characteristics that described the utility of information: confidentiality, integrity, and availability.  </a:t>
            </a:r>
            <a:endParaRPr/>
          </a:p>
          <a:p>
            <a:pPr indent="0" lvl="0" marL="0" rtl="0" algn="l">
              <a:spcBef>
                <a:spcPts val="300"/>
              </a:spcBef>
              <a:spcAft>
                <a:spcPts val="0"/>
              </a:spcAft>
              <a:buSzPts val="1800"/>
              <a:buNone/>
            </a:pPr>
            <a:r>
              <a:rPr lang="en-US"/>
              <a:t>The C.I.A. triangle has expanded into a list of critical characteristics of information.</a:t>
            </a:r>
            <a:endParaRPr/>
          </a:p>
          <a:p>
            <a:pPr indent="0" lvl="0" marL="0" rtl="0" algn="l">
              <a:spcBef>
                <a:spcPts val="0"/>
              </a:spcBef>
              <a:spcAft>
                <a:spcPts val="0"/>
              </a:spcAft>
              <a:buNone/>
            </a:pPr>
            <a:r>
              <a:t/>
            </a:r>
            <a:endParaRPr/>
          </a:p>
        </p:txBody>
      </p:sp>
      <p:sp>
        <p:nvSpPr>
          <p:cNvPr id="192" name="Google Shape;19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200" name="Google Shape;200;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17:notes"/>
          <p:cNvSpPr txBox="1"/>
          <p:nvPr>
            <p:ph idx="1" type="body"/>
          </p:nvPr>
        </p:nvSpPr>
        <p:spPr>
          <a:xfrm>
            <a:off x="914400" y="4343400"/>
            <a:ext cx="5029200" cy="4114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209" name="Google Shape;209;p18: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210" name="Google Shape;210;p18:notes"/>
          <p:cNvSpPr txBox="1"/>
          <p:nvPr>
            <p:ph idx="1" type="body"/>
          </p:nvPr>
        </p:nvSpPr>
        <p:spPr>
          <a:xfrm>
            <a:off x="914400" y="4343400"/>
            <a:ext cx="5029200" cy="5318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Key Terms	</a:t>
            </a:r>
            <a:endParaRPr/>
          </a:p>
          <a:p>
            <a:pPr indent="0" lvl="0" marL="0" rtl="0" algn="l">
              <a:spcBef>
                <a:spcPts val="300"/>
              </a:spcBef>
              <a:spcAft>
                <a:spcPts val="0"/>
              </a:spcAft>
              <a:buSzPts val="1800"/>
              <a:buNone/>
            </a:pPr>
            <a:r>
              <a:rPr lang="en-US"/>
              <a:t>Access - a subject or object’s ability to use, manipulate, modify, or affect another subject or object.  </a:t>
            </a:r>
            <a:endParaRPr/>
          </a:p>
          <a:p>
            <a:pPr indent="0" lvl="0" marL="0" rtl="0" algn="l">
              <a:spcBef>
                <a:spcPts val="300"/>
              </a:spcBef>
              <a:spcAft>
                <a:spcPts val="0"/>
              </a:spcAft>
              <a:buSzPts val="1800"/>
              <a:buNone/>
            </a:pPr>
            <a:r>
              <a:rPr lang="en-US"/>
              <a:t>Asset - the organizational resource that is being protected. </a:t>
            </a:r>
            <a:endParaRPr/>
          </a:p>
          <a:p>
            <a:pPr indent="0" lvl="0" marL="0" rtl="0" algn="l">
              <a:spcBef>
                <a:spcPts val="300"/>
              </a:spcBef>
              <a:spcAft>
                <a:spcPts val="0"/>
              </a:spcAft>
              <a:buSzPts val="1800"/>
              <a:buNone/>
            </a:pPr>
            <a:r>
              <a:rPr lang="en-US"/>
              <a:t>Attack - an act that is an intentional or unintentional attempt to cause damage or compromise to the information and/or the systems that support it. </a:t>
            </a:r>
            <a:endParaRPr/>
          </a:p>
          <a:p>
            <a:pPr indent="0" lvl="0" marL="0" rtl="0" algn="l">
              <a:spcBef>
                <a:spcPts val="300"/>
              </a:spcBef>
              <a:spcAft>
                <a:spcPts val="0"/>
              </a:spcAft>
              <a:buSzPts val="1800"/>
              <a:buNone/>
            </a:pPr>
            <a:r>
              <a:rPr lang="en-US"/>
              <a:t>Control, Safeguard, or Countermeasure - security mechanisms, policies, or procedures that can successfully counter attacks, reduce risk, resolve vulnerabilities, and otherwise improve the security within an organization.  </a:t>
            </a:r>
            <a:endParaRPr/>
          </a:p>
          <a:p>
            <a:pPr indent="0" lvl="0" marL="0" rtl="0" algn="l">
              <a:spcBef>
                <a:spcPts val="300"/>
              </a:spcBef>
              <a:spcAft>
                <a:spcPts val="0"/>
              </a:spcAft>
              <a:buSzPts val="1800"/>
              <a:buNone/>
            </a:pPr>
            <a:r>
              <a:rPr lang="en-US"/>
              <a:t>Exploit - to take advantage of weaknesses or vulnerability in a system.  </a:t>
            </a:r>
            <a:endParaRPr/>
          </a:p>
          <a:p>
            <a:pPr indent="0" lvl="0" marL="0" rtl="0" algn="l">
              <a:spcBef>
                <a:spcPts val="300"/>
              </a:spcBef>
              <a:spcAft>
                <a:spcPts val="0"/>
              </a:spcAft>
              <a:buSzPts val="1800"/>
              <a:buNone/>
            </a:pPr>
            <a:r>
              <a:rPr lang="en-US"/>
              <a:t>Exposure - a single instance of being open to damage.  </a:t>
            </a:r>
            <a:endParaRPr/>
          </a:p>
          <a:p>
            <a:pPr indent="0" lvl="0" marL="0" rtl="0" algn="l">
              <a:spcBef>
                <a:spcPts val="300"/>
              </a:spcBef>
              <a:spcAft>
                <a:spcPts val="0"/>
              </a:spcAft>
              <a:buSzPts val="1800"/>
              <a:buNone/>
            </a:pPr>
            <a:r>
              <a:rPr lang="en-US"/>
              <a:t>Hack - Good: to use computers or systems for enjoyment; Bad: to illegally gain access to a computer or system. </a:t>
            </a:r>
            <a:endParaRPr/>
          </a:p>
          <a:p>
            <a:pPr indent="0" lvl="0" marL="0" rtl="0" algn="l">
              <a:spcBef>
                <a:spcPts val="300"/>
              </a:spcBef>
              <a:spcAft>
                <a:spcPts val="0"/>
              </a:spcAft>
              <a:buSzPts val="1800"/>
              <a:buNone/>
            </a:pPr>
            <a:r>
              <a:rPr lang="en-US"/>
              <a:t>Object - a passive entity in the information system that receives or contains information.  </a:t>
            </a:r>
            <a:endParaRPr/>
          </a:p>
          <a:p>
            <a:pPr indent="0" lvl="0" marL="0" rtl="0" algn="l">
              <a:spcBef>
                <a:spcPts val="300"/>
              </a:spcBef>
              <a:spcAft>
                <a:spcPts val="0"/>
              </a:spcAft>
              <a:buSzPts val="1800"/>
              <a:buNone/>
            </a:pPr>
            <a:r>
              <a:rPr lang="en-US"/>
              <a:t>Risk - the probability that something can happen.  </a:t>
            </a:r>
            <a:endParaRPr/>
          </a:p>
          <a:p>
            <a:pPr indent="0" lvl="0" marL="0" rtl="0" algn="l">
              <a:spcBef>
                <a:spcPts val="300"/>
              </a:spcBef>
              <a:spcAft>
                <a:spcPts val="0"/>
              </a:spcAft>
              <a:buSzPts val="1800"/>
              <a:buNone/>
            </a:pPr>
            <a:r>
              <a:rPr lang="en-US"/>
              <a:t>Security Blueprint - the plan for the implementation of new security measures in the organization. </a:t>
            </a:r>
            <a:endParaRPr/>
          </a:p>
          <a:p>
            <a:pPr indent="0" lvl="0" marL="0" rtl="0" algn="l">
              <a:spcBef>
                <a:spcPts val="300"/>
              </a:spcBef>
              <a:spcAft>
                <a:spcPts val="0"/>
              </a:spcAft>
              <a:buSzPts val="1800"/>
              <a:buNone/>
            </a:pPr>
            <a:r>
              <a:rPr lang="en-US"/>
              <a:t>Security Model - a collection of specific security rules that represents the implementation of a security policy.  </a:t>
            </a:r>
            <a:endParaRPr/>
          </a:p>
          <a:p>
            <a:pPr indent="0" lvl="0" marL="0" rtl="0" algn="l">
              <a:spcBef>
                <a:spcPts val="300"/>
              </a:spcBef>
              <a:spcAft>
                <a:spcPts val="0"/>
              </a:spcAft>
              <a:buSzPts val="1800"/>
              <a:buNone/>
            </a:pPr>
            <a:r>
              <a:rPr lang="en-US"/>
              <a:t>Security Posture or Security Profile - a general label for the combination of all policies, procedures, technologies, and programs that make up the total security effort currently in place.</a:t>
            </a:r>
            <a:endParaRPr/>
          </a:p>
          <a:p>
            <a:pPr indent="0" lvl="0" marL="0" rtl="0" algn="l">
              <a:spcBef>
                <a:spcPts val="300"/>
              </a:spcBef>
              <a:spcAft>
                <a:spcPts val="0"/>
              </a:spcAft>
              <a:buSzPts val="1800"/>
              <a:buNone/>
            </a:pPr>
            <a:r>
              <a:rPr lang="en-US"/>
              <a:t>Subject - an active entity that interacts with an information system and causes information to move through the system for a specific end purpose</a:t>
            </a:r>
            <a:endParaRPr/>
          </a:p>
          <a:p>
            <a:pPr indent="0" lvl="0" marL="0" rtl="0" algn="l">
              <a:spcBef>
                <a:spcPts val="300"/>
              </a:spcBef>
              <a:spcAft>
                <a:spcPts val="0"/>
              </a:spcAft>
              <a:buSzPts val="1800"/>
              <a:buNone/>
            </a:pPr>
            <a:r>
              <a:rPr lang="en-US"/>
              <a:t>Threats - a category of objects, persons, or other entities that represents a potential danger to an asset. </a:t>
            </a:r>
            <a:endParaRPr/>
          </a:p>
          <a:p>
            <a:pPr indent="0" lvl="0" marL="0" rtl="0" algn="l">
              <a:spcBef>
                <a:spcPts val="300"/>
              </a:spcBef>
              <a:spcAft>
                <a:spcPts val="0"/>
              </a:spcAft>
              <a:buSzPts val="1800"/>
              <a:buNone/>
            </a:pPr>
            <a:r>
              <a:rPr lang="en-US"/>
              <a:t>Threat Agent - a specific instance or component of a more general threat. </a:t>
            </a:r>
            <a:endParaRPr/>
          </a:p>
          <a:p>
            <a:pPr indent="0" lvl="0" marL="0" rtl="0" algn="l">
              <a:spcBef>
                <a:spcPts val="300"/>
              </a:spcBef>
              <a:spcAft>
                <a:spcPts val="0"/>
              </a:spcAft>
              <a:buSzPts val="1800"/>
              <a:buNone/>
            </a:pPr>
            <a:r>
              <a:rPr lang="en-US"/>
              <a:t>Vulnerability - weaknesses or faults in a system or protection mechanism that expose information to attack or damage. </a:t>
            </a:r>
            <a:endParaRPr/>
          </a:p>
          <a:p>
            <a:pPr indent="0" lvl="0" marL="0" rtl="0" algn="l">
              <a:spcBef>
                <a:spcPts val="0"/>
              </a:spcBef>
              <a:spcAft>
                <a:spcPts val="0"/>
              </a:spcAft>
              <a:buNone/>
            </a:pPr>
            <a:r>
              <a:t/>
            </a:r>
            <a:endParaRPr/>
          </a:p>
        </p:txBody>
      </p:sp>
      <p:sp>
        <p:nvSpPr>
          <p:cNvPr id="211" name="Google Shape;211;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220" name="Google Shape;220;p19: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221" name="Google Shape;221;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Key Information Security Concepts</a:t>
            </a:r>
            <a:endParaRPr/>
          </a:p>
          <a:p>
            <a:pPr indent="0" lvl="0" marL="0" rtl="0" algn="l">
              <a:spcBef>
                <a:spcPts val="400"/>
              </a:spcBef>
              <a:spcAft>
                <a:spcPts val="0"/>
              </a:spcAft>
              <a:buSzPts val="1800"/>
              <a:buNone/>
            </a:pPr>
            <a:r>
              <a:rPr lang="en-US"/>
              <a:t>When considering the security of information systems components, it is important to understand the concept of the computer as the subject of an attack as opposed to the computer as the object of an attack.  </a:t>
            </a:r>
            <a:endParaRPr/>
          </a:p>
          <a:p>
            <a:pPr indent="0" lvl="0" marL="0" rtl="0" algn="l">
              <a:spcBef>
                <a:spcPts val="400"/>
              </a:spcBef>
              <a:spcAft>
                <a:spcPts val="0"/>
              </a:spcAft>
              <a:buSzPts val="1800"/>
              <a:buNone/>
            </a:pPr>
            <a:r>
              <a:rPr lang="en-US"/>
              <a:t>When a computer is the subject of an attack, it is used as an active tool to conduct the attack. When a computer is the object of an attack, it is the entity being attacked. </a:t>
            </a:r>
            <a:endParaRPr/>
          </a:p>
          <a:p>
            <a:pPr indent="0" lvl="0" marL="0" rtl="0" algn="l">
              <a:spcBef>
                <a:spcPts val="0"/>
              </a:spcBef>
              <a:spcAft>
                <a:spcPts val="0"/>
              </a:spcAft>
              <a:buNone/>
            </a:pPr>
            <a:r>
              <a:t/>
            </a:r>
            <a:endParaRPr/>
          </a:p>
        </p:txBody>
      </p:sp>
      <p:sp>
        <p:nvSpPr>
          <p:cNvPr id="222" name="Google Shape;222;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238" name="Google Shape;238;p21: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239" name="Google Shape;239;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It is important to note that the same computer can be both the subject and object of an attack, especially in multiuser systems.</a:t>
            </a:r>
            <a:endParaRPr/>
          </a:p>
        </p:txBody>
      </p:sp>
      <p:sp>
        <p:nvSpPr>
          <p:cNvPr id="240" name="Google Shape;240;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249" name="Google Shape;249;p22: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250" name="Google Shape;250;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Critical Characteristics of Information</a:t>
            </a:r>
            <a:endParaRPr/>
          </a:p>
          <a:p>
            <a:pPr indent="0" lvl="0" marL="0" rtl="0" algn="l">
              <a:spcBef>
                <a:spcPts val="300"/>
              </a:spcBef>
              <a:spcAft>
                <a:spcPts val="0"/>
              </a:spcAft>
              <a:buSzPts val="1800"/>
              <a:buNone/>
            </a:pPr>
            <a:r>
              <a:rPr lang="en-US"/>
              <a:t>The value of information comes from the characteristics it possesses. </a:t>
            </a:r>
            <a:endParaRPr/>
          </a:p>
          <a:p>
            <a:pPr indent="0" lvl="0" marL="0" rtl="0" algn="l">
              <a:spcBef>
                <a:spcPts val="300"/>
              </a:spcBef>
              <a:spcAft>
                <a:spcPts val="0"/>
              </a:spcAft>
              <a:buSzPts val="1800"/>
              <a:buNone/>
            </a:pPr>
            <a:r>
              <a:rPr lang="en-US"/>
              <a:t>Availability – Enables users who need to access information to do so without interference or obstruction and in the required format. The information is said to be available to an authorized user when and where needed and in the correct format.  </a:t>
            </a:r>
            <a:endParaRPr/>
          </a:p>
          <a:p>
            <a:pPr indent="0" lvl="0" marL="0" rtl="0" algn="l">
              <a:spcBef>
                <a:spcPts val="300"/>
              </a:spcBef>
              <a:spcAft>
                <a:spcPts val="0"/>
              </a:spcAft>
              <a:buSzPts val="1800"/>
              <a:buNone/>
            </a:pPr>
            <a:r>
              <a:rPr lang="en-US"/>
              <a:t>Accuracy – Free from mistake or error and having the value that the end user expects. If information contains a value different from the user’s expectations due to the intentional or unintentional modification of its content, it is no longer accurate.</a:t>
            </a:r>
            <a:endParaRPr/>
          </a:p>
          <a:p>
            <a:pPr indent="0" lvl="0" marL="0" rtl="0" algn="l">
              <a:spcBef>
                <a:spcPts val="300"/>
              </a:spcBef>
              <a:spcAft>
                <a:spcPts val="0"/>
              </a:spcAft>
              <a:buSzPts val="1800"/>
              <a:buNone/>
            </a:pPr>
            <a:r>
              <a:rPr lang="en-US"/>
              <a:t>Authenticity –The quality or state of being genuine or original, rather than a reproduction or fabrication. Information is authentic when it is the information that was originally created, placed, stored, or transferred.  </a:t>
            </a:r>
            <a:endParaRPr/>
          </a:p>
          <a:p>
            <a:pPr indent="0" lvl="0" marL="0" rtl="0" algn="l">
              <a:spcBef>
                <a:spcPts val="300"/>
              </a:spcBef>
              <a:spcAft>
                <a:spcPts val="0"/>
              </a:spcAft>
              <a:buSzPts val="1800"/>
              <a:buNone/>
            </a:pPr>
            <a:r>
              <a:rPr lang="en-US"/>
              <a:t>Confidentiality – The quality or state of preventing disclosure or exposure to unauthorized individuals or systems.  </a:t>
            </a:r>
            <a:endParaRPr/>
          </a:p>
          <a:p>
            <a:pPr indent="0" lvl="0" marL="0" rtl="0" algn="l">
              <a:spcBef>
                <a:spcPts val="300"/>
              </a:spcBef>
              <a:spcAft>
                <a:spcPts val="0"/>
              </a:spcAft>
              <a:buSzPts val="1800"/>
              <a:buNone/>
            </a:pPr>
            <a:r>
              <a:rPr lang="en-US"/>
              <a:t>Integrity – The quality or state of being whole, complete, and uncorrupted.  The integrity of information is threatened when the information is exposed to corruption, damage, destruction, or other disruption of its authentic state. </a:t>
            </a:r>
            <a:endParaRPr/>
          </a:p>
          <a:p>
            <a:pPr indent="0" lvl="0" marL="0" rtl="0" algn="l">
              <a:spcBef>
                <a:spcPts val="300"/>
              </a:spcBef>
              <a:spcAft>
                <a:spcPts val="0"/>
              </a:spcAft>
              <a:buSzPts val="1800"/>
              <a:buNone/>
            </a:pPr>
            <a:r>
              <a:rPr lang="en-US"/>
              <a:t>Utility – The quality or state of having value for some purpose or end. Information has value when it serves a particular purpose. This means that if information is available, but not in a format meaningful to the end user, it is not useful.</a:t>
            </a:r>
            <a:endParaRPr/>
          </a:p>
          <a:p>
            <a:pPr indent="0" lvl="0" marL="0" rtl="0" algn="l">
              <a:spcBef>
                <a:spcPts val="300"/>
              </a:spcBef>
              <a:spcAft>
                <a:spcPts val="0"/>
              </a:spcAft>
              <a:buSzPts val="1800"/>
              <a:buNone/>
            </a:pPr>
            <a:r>
              <a:rPr lang="en-US"/>
              <a:t>Possession – The quality or state of having ownership or control of some object or item. Information is said to be in possession if one obtains it, independent of format or other characteristic. While a breach of confidentiality always results in a breach of possession, a breach of possession does not always result in a breach of confidentiality.</a:t>
            </a:r>
            <a:endParaRPr/>
          </a:p>
        </p:txBody>
      </p:sp>
      <p:sp>
        <p:nvSpPr>
          <p:cNvPr id="251" name="Google Shape;251;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259" name="Google Shape;259;p23: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260" name="Google Shape;260;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This graphic informs the fundamental approach of the chapter and can be used to illustrate the intersection of information states (x-axis), key objectives of C.I.A. (y-axis), and the three primary means to implement (policy, education, and technology).</a:t>
            </a:r>
            <a:endParaRPr/>
          </a:p>
        </p:txBody>
      </p:sp>
      <p:sp>
        <p:nvSpPr>
          <p:cNvPr id="261" name="Google Shape;261;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270" name="Google Shape;270;p24: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271" name="Google Shape;271;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Components of an Information System</a:t>
            </a:r>
            <a:endParaRPr/>
          </a:p>
          <a:p>
            <a:pPr indent="0" lvl="0" marL="0" rtl="0" algn="l">
              <a:spcBef>
                <a:spcPts val="300"/>
              </a:spcBef>
              <a:spcAft>
                <a:spcPts val="0"/>
              </a:spcAft>
              <a:buSzPts val="1800"/>
              <a:buNone/>
            </a:pPr>
            <a:r>
              <a:rPr lang="en-US"/>
              <a:t>To fully understand the importance of information security, it is necessary to briefly review the elements of an information system. </a:t>
            </a:r>
            <a:endParaRPr/>
          </a:p>
          <a:p>
            <a:pPr indent="0" lvl="0" marL="0" rtl="0" algn="l">
              <a:spcBef>
                <a:spcPts val="300"/>
              </a:spcBef>
              <a:spcAft>
                <a:spcPts val="0"/>
              </a:spcAft>
              <a:buSzPts val="1800"/>
              <a:buNone/>
            </a:pPr>
            <a:r>
              <a:rPr lang="en-US"/>
              <a:t>An information system (IS) is much more than computer hardware; it is the entire set of software, hardware, data, people, and procedures necessary to use information as a resource in the organization. </a:t>
            </a:r>
            <a:endParaRPr/>
          </a:p>
          <a:p>
            <a:pPr indent="0" lvl="0" marL="0" rtl="0" algn="l">
              <a:spcBef>
                <a:spcPts val="0"/>
              </a:spcBef>
              <a:spcAft>
                <a:spcPts val="0"/>
              </a:spcAft>
              <a:buNone/>
            </a:pPr>
            <a:r>
              <a:t/>
            </a:r>
            <a:endParaRPr/>
          </a:p>
        </p:txBody>
      </p:sp>
      <p:sp>
        <p:nvSpPr>
          <p:cNvPr id="272" name="Google Shape;272;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280" name="Google Shape;280;p25: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281" name="Google Shape;281;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Security and Access Balancing</a:t>
            </a:r>
            <a:endParaRPr/>
          </a:p>
          <a:p>
            <a:pPr indent="0" lvl="0" marL="0" rtl="0" algn="l">
              <a:spcBef>
                <a:spcPts val="400"/>
              </a:spcBef>
              <a:spcAft>
                <a:spcPts val="0"/>
              </a:spcAft>
              <a:buSzPts val="1800"/>
              <a:buNone/>
            </a:pPr>
            <a:r>
              <a:rPr lang="en-US"/>
              <a:t>When considering information security, it is important to realize that it is impossible to obtain perfect security. Security is not an absolute; it is a process not a goal. </a:t>
            </a:r>
            <a:endParaRPr/>
          </a:p>
          <a:p>
            <a:pPr indent="0" lvl="0" marL="0" rtl="0" algn="l">
              <a:spcBef>
                <a:spcPts val="400"/>
              </a:spcBef>
              <a:spcAft>
                <a:spcPts val="0"/>
              </a:spcAft>
              <a:buSzPts val="1800"/>
              <a:buNone/>
            </a:pPr>
            <a:r>
              <a:rPr lang="en-US"/>
              <a:t>Security should be considered a balance between protection and availability. </a:t>
            </a:r>
            <a:endParaRPr/>
          </a:p>
          <a:p>
            <a:pPr indent="0" lvl="0" marL="0" rtl="0" algn="l">
              <a:spcBef>
                <a:spcPts val="400"/>
              </a:spcBef>
              <a:spcAft>
                <a:spcPts val="0"/>
              </a:spcAft>
              <a:buSzPts val="1800"/>
              <a:buNone/>
            </a:pPr>
            <a:r>
              <a:rPr lang="en-US"/>
              <a:t>To achieve balance, the level of security must allow reasonable access yet protect against threats. </a:t>
            </a:r>
            <a:endParaRPr/>
          </a:p>
          <a:p>
            <a:pPr indent="0" lvl="0" marL="0" rtl="0" algn="l">
              <a:spcBef>
                <a:spcPts val="0"/>
              </a:spcBef>
              <a:spcAft>
                <a:spcPts val="0"/>
              </a:spcAft>
              <a:buNone/>
            </a:pPr>
            <a:r>
              <a:t/>
            </a:r>
            <a:endParaRPr/>
          </a:p>
        </p:txBody>
      </p:sp>
      <p:sp>
        <p:nvSpPr>
          <p:cNvPr id="282" name="Google Shape;282;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290" name="Google Shape;290;p26: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291" name="Google Shape;291;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This graphic intends to show the trade-offs between security and access.</a:t>
            </a:r>
            <a:endParaRPr/>
          </a:p>
        </p:txBody>
      </p:sp>
      <p:sp>
        <p:nvSpPr>
          <p:cNvPr id="292" name="Google Shape;292;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301" name="Google Shape;301;p27: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302" name="Google Shape;302;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Bottom-up Approach to Security Implementation</a:t>
            </a:r>
            <a:endParaRPr/>
          </a:p>
          <a:p>
            <a:pPr indent="0" lvl="0" marL="0" rtl="0" algn="l">
              <a:spcBef>
                <a:spcPts val="300"/>
              </a:spcBef>
              <a:spcAft>
                <a:spcPts val="0"/>
              </a:spcAft>
              <a:buSzPts val="1800"/>
              <a:buNone/>
            </a:pPr>
            <a:r>
              <a:rPr lang="en-US"/>
              <a:t>Security can begin as a grass-roots effort when systems administrators attempt to improve the security of their systems. This is referred to as the bottom-up approach.  </a:t>
            </a:r>
            <a:endParaRPr/>
          </a:p>
          <a:p>
            <a:pPr indent="0" lvl="0" marL="0" rtl="0" algn="l">
              <a:spcBef>
                <a:spcPts val="300"/>
              </a:spcBef>
              <a:spcAft>
                <a:spcPts val="0"/>
              </a:spcAft>
              <a:buSzPts val="1800"/>
              <a:buNone/>
            </a:pPr>
            <a:r>
              <a:rPr lang="en-US"/>
              <a:t>The key advantage of the bottom-up approach is the technical expertise of the individual administrators. </a:t>
            </a:r>
            <a:endParaRPr/>
          </a:p>
          <a:p>
            <a:pPr indent="0" lvl="0" marL="0" rtl="0" algn="l">
              <a:spcBef>
                <a:spcPts val="300"/>
              </a:spcBef>
              <a:spcAft>
                <a:spcPts val="0"/>
              </a:spcAft>
              <a:buSzPts val="1800"/>
              <a:buNone/>
            </a:pPr>
            <a:r>
              <a:rPr lang="en-US"/>
              <a:t>Unfortunately, this approach seldom works, as it lacks a number of critical features, such as participant support and organizational staying power. </a:t>
            </a:r>
            <a:endParaRPr/>
          </a:p>
          <a:p>
            <a:pPr indent="0" lvl="0" marL="0" rtl="0" algn="l">
              <a:spcBef>
                <a:spcPts val="0"/>
              </a:spcBef>
              <a:spcAft>
                <a:spcPts val="0"/>
              </a:spcAft>
              <a:buNone/>
            </a:pPr>
            <a:r>
              <a:t/>
            </a:r>
            <a:endParaRPr/>
          </a:p>
        </p:txBody>
      </p:sp>
      <p:sp>
        <p:nvSpPr>
          <p:cNvPr id="303" name="Google Shape;303;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311" name="Google Shape;311;p28: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312" name="Google Shape;312;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Top-down Approach to Security Implementation</a:t>
            </a:r>
            <a:endParaRPr/>
          </a:p>
          <a:p>
            <a:pPr indent="0" lvl="0" marL="0" rtl="0" algn="l">
              <a:spcBef>
                <a:spcPts val="300"/>
              </a:spcBef>
              <a:spcAft>
                <a:spcPts val="0"/>
              </a:spcAft>
              <a:buSzPts val="1800"/>
              <a:buNone/>
            </a:pPr>
            <a:r>
              <a:rPr lang="en-US"/>
              <a:t>An alternative approach, which has a higher probability of success, is called the top-down approach. The project is initiated by upper management who issue policy, procedures, and processes; dictate the goals and expected outcomes of the project; and determine who is accountable for each of the required actions.  </a:t>
            </a:r>
            <a:endParaRPr/>
          </a:p>
          <a:p>
            <a:pPr indent="0" lvl="0" marL="0" rtl="0" algn="l">
              <a:spcBef>
                <a:spcPts val="300"/>
              </a:spcBef>
              <a:spcAft>
                <a:spcPts val="0"/>
              </a:spcAft>
              <a:buSzPts val="1800"/>
              <a:buNone/>
            </a:pPr>
            <a:r>
              <a:rPr lang="en-US"/>
              <a:t>The top-down approach has strong upper-management support, a dedicated champion, dedicated funding, clear planning, and the opportunity to influence organizational culture.  </a:t>
            </a:r>
            <a:endParaRPr/>
          </a:p>
          <a:p>
            <a:pPr indent="0" lvl="0" marL="0" rtl="0" algn="l">
              <a:spcBef>
                <a:spcPts val="300"/>
              </a:spcBef>
              <a:spcAft>
                <a:spcPts val="0"/>
              </a:spcAft>
              <a:buSzPts val="1800"/>
              <a:buNone/>
            </a:pPr>
            <a:r>
              <a:rPr lang="en-US"/>
              <a:t>The most successful top-down approach also involves a formal development strategy referred to as a systems development life cycle.</a:t>
            </a:r>
            <a:endParaRPr/>
          </a:p>
          <a:p>
            <a:pPr indent="0" lvl="0" marL="0" rtl="0" algn="l">
              <a:spcBef>
                <a:spcPts val="0"/>
              </a:spcBef>
              <a:spcAft>
                <a:spcPts val="0"/>
              </a:spcAft>
              <a:buNone/>
            </a:pPr>
            <a:r>
              <a:t/>
            </a:r>
            <a:endParaRPr/>
          </a:p>
        </p:txBody>
      </p:sp>
      <p:sp>
        <p:nvSpPr>
          <p:cNvPr id="313" name="Google Shape;31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321" name="Google Shape;321;p29: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322" name="Google Shape;322;p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key concept here is the direction of the left and right side arrows to show where planning is sourced and from which direction the pressure for success is driven.</a:t>
            </a:r>
            <a:endParaRPr/>
          </a:p>
        </p:txBody>
      </p:sp>
      <p:sp>
        <p:nvSpPr>
          <p:cNvPr id="323" name="Google Shape;323;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331" name="Google Shape;331;p30: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332" name="Google Shape;332;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The Systems Development Life Cycle</a:t>
            </a:r>
            <a:endParaRPr/>
          </a:p>
          <a:p>
            <a:pPr indent="0" lvl="0" marL="0" rtl="0" algn="l">
              <a:spcBef>
                <a:spcPts val="300"/>
              </a:spcBef>
              <a:spcAft>
                <a:spcPts val="0"/>
              </a:spcAft>
              <a:buSzPts val="1800"/>
              <a:buNone/>
            </a:pPr>
            <a:r>
              <a:rPr lang="en-US"/>
              <a:t>Information security must be managed in a manner similar to any other major system implemented in the organization. </a:t>
            </a:r>
            <a:endParaRPr/>
          </a:p>
          <a:p>
            <a:pPr indent="0" lvl="0" marL="0" rtl="0" algn="l">
              <a:spcBef>
                <a:spcPts val="300"/>
              </a:spcBef>
              <a:spcAft>
                <a:spcPts val="0"/>
              </a:spcAft>
              <a:buSzPts val="1800"/>
              <a:buNone/>
            </a:pPr>
            <a:r>
              <a:rPr lang="en-US"/>
              <a:t>The best approach for implementing an information security system in an organization with little or no formal security in place is to use a variation of the Systems Development Life Cycle (SDLC): the Security Systems Development Life Cycle (SecSDLC).</a:t>
            </a:r>
            <a:endParaRPr/>
          </a:p>
          <a:p>
            <a:pPr indent="0" lvl="0" marL="0" rtl="0" algn="l">
              <a:spcBef>
                <a:spcPts val="300"/>
              </a:spcBef>
              <a:spcAft>
                <a:spcPts val="0"/>
              </a:spcAft>
              <a:buSzPts val="1800"/>
              <a:buNone/>
            </a:pPr>
            <a:r>
              <a:rPr lang="en-US"/>
              <a:t>The SDLC is a methodology for the design and implementation of an information system in an organization.  </a:t>
            </a:r>
            <a:endParaRPr/>
          </a:p>
          <a:p>
            <a:pPr indent="0" lvl="0" marL="0" rtl="0" algn="l">
              <a:spcBef>
                <a:spcPts val="300"/>
              </a:spcBef>
              <a:spcAft>
                <a:spcPts val="0"/>
              </a:spcAft>
              <a:buSzPts val="1800"/>
              <a:buNone/>
            </a:pPr>
            <a:r>
              <a:rPr lang="en-US"/>
              <a:t>A methodology is a formal approach to solving a problem based on a structured sequence of procedures.  </a:t>
            </a:r>
            <a:endParaRPr/>
          </a:p>
          <a:p>
            <a:pPr indent="0" lvl="0" marL="0" rtl="0" algn="l">
              <a:spcBef>
                <a:spcPts val="300"/>
              </a:spcBef>
              <a:spcAft>
                <a:spcPts val="0"/>
              </a:spcAft>
              <a:buSzPts val="1800"/>
              <a:buNone/>
            </a:pPr>
            <a:r>
              <a:rPr lang="en-US"/>
              <a:t>Using a methodology ensures a rigorous process and avoids missing those steps that can lead to compromising the end goal. </a:t>
            </a:r>
            <a:endParaRPr/>
          </a:p>
          <a:p>
            <a:pPr indent="0" lvl="0" marL="0" rtl="0" algn="l">
              <a:spcBef>
                <a:spcPts val="300"/>
              </a:spcBef>
              <a:spcAft>
                <a:spcPts val="0"/>
              </a:spcAft>
              <a:buSzPts val="1800"/>
              <a:buNone/>
            </a:pPr>
            <a:r>
              <a:rPr lang="en-US"/>
              <a:t>The goal is creating a comprehensive security posture.  </a:t>
            </a:r>
            <a:endParaRPr/>
          </a:p>
          <a:p>
            <a:pPr indent="0" lvl="0" marL="0" rtl="0" algn="l">
              <a:spcBef>
                <a:spcPts val="300"/>
              </a:spcBef>
              <a:spcAft>
                <a:spcPts val="0"/>
              </a:spcAft>
              <a:buSzPts val="1800"/>
              <a:buNone/>
            </a:pPr>
            <a:r>
              <a:t/>
            </a:r>
            <a:endParaRPr/>
          </a:p>
          <a:p>
            <a:pPr indent="0" lvl="0" marL="0" rtl="0" algn="l">
              <a:spcBef>
                <a:spcPts val="0"/>
              </a:spcBef>
              <a:spcAft>
                <a:spcPts val="0"/>
              </a:spcAft>
              <a:buNone/>
            </a:pPr>
            <a:r>
              <a:t/>
            </a:r>
            <a:endParaRPr/>
          </a:p>
        </p:txBody>
      </p:sp>
      <p:sp>
        <p:nvSpPr>
          <p:cNvPr id="333" name="Google Shape;333;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341" name="Google Shape;341;p31: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342" name="Google Shape;342;p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Very much a traditional SDLC diagram.</a:t>
            </a:r>
            <a:endParaRPr/>
          </a:p>
        </p:txBody>
      </p:sp>
      <p:sp>
        <p:nvSpPr>
          <p:cNvPr id="343" name="Google Shape;343;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351" name="Google Shape;351;p32: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352" name="Google Shape;352;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Investigation</a:t>
            </a:r>
            <a:endParaRPr/>
          </a:p>
          <a:p>
            <a:pPr indent="0" lvl="0" marL="0" rtl="0" algn="l">
              <a:spcBef>
                <a:spcPts val="300"/>
              </a:spcBef>
              <a:spcAft>
                <a:spcPts val="0"/>
              </a:spcAft>
              <a:buSzPts val="1800"/>
              <a:buNone/>
            </a:pPr>
            <a:r>
              <a:rPr lang="en-US"/>
              <a:t>The first phase, investigation, is the most important.  </a:t>
            </a:r>
            <a:endParaRPr/>
          </a:p>
          <a:p>
            <a:pPr indent="0" lvl="0" marL="0" rtl="0" algn="l">
              <a:spcBef>
                <a:spcPts val="300"/>
              </a:spcBef>
              <a:spcAft>
                <a:spcPts val="0"/>
              </a:spcAft>
              <a:buSzPts val="1800"/>
              <a:buNone/>
            </a:pPr>
            <a:r>
              <a:rPr lang="en-US"/>
              <a:t>What is the problem the system is being developed to solve?  </a:t>
            </a:r>
            <a:endParaRPr/>
          </a:p>
          <a:p>
            <a:pPr indent="0" lvl="0" marL="0" rtl="0" algn="l">
              <a:spcBef>
                <a:spcPts val="300"/>
              </a:spcBef>
              <a:spcAft>
                <a:spcPts val="0"/>
              </a:spcAft>
              <a:buSzPts val="1800"/>
              <a:buNone/>
            </a:pPr>
            <a:r>
              <a:rPr lang="en-US"/>
              <a:t>This phase begins with an examination of the event or plan that initiates the process. </a:t>
            </a:r>
            <a:endParaRPr/>
          </a:p>
          <a:p>
            <a:pPr indent="0" lvl="0" marL="0" rtl="0" algn="l">
              <a:spcBef>
                <a:spcPts val="300"/>
              </a:spcBef>
              <a:spcAft>
                <a:spcPts val="0"/>
              </a:spcAft>
              <a:buSzPts val="1800"/>
              <a:buNone/>
            </a:pPr>
            <a:r>
              <a:rPr lang="en-US"/>
              <a:t>The objectives, constraints, and scope of the project are specified. A preliminary cost/benefit analysis is developed to evaluate the perceived benefits and the appropriate levels of cost an organization is willing to expend to obtain those benefits.  </a:t>
            </a:r>
            <a:endParaRPr/>
          </a:p>
          <a:p>
            <a:pPr indent="0" lvl="0" marL="0" rtl="0" algn="l">
              <a:spcBef>
                <a:spcPts val="300"/>
              </a:spcBef>
              <a:spcAft>
                <a:spcPts val="0"/>
              </a:spcAft>
              <a:buSzPts val="1800"/>
              <a:buNone/>
            </a:pPr>
            <a:r>
              <a:rPr lang="en-US"/>
              <a:t>A feasibility analysis is performed to assesses the economic, technical, and behavioral feasibilities of the process and to ensure that implementation is worth the organization’s time and effort.</a:t>
            </a:r>
            <a:endParaRPr/>
          </a:p>
          <a:p>
            <a:pPr indent="0" lvl="0" marL="0" rtl="0" algn="l">
              <a:spcBef>
                <a:spcPts val="0"/>
              </a:spcBef>
              <a:spcAft>
                <a:spcPts val="0"/>
              </a:spcAft>
              <a:buNone/>
            </a:pPr>
            <a:r>
              <a:t/>
            </a:r>
            <a:endParaRPr/>
          </a:p>
        </p:txBody>
      </p:sp>
      <p:sp>
        <p:nvSpPr>
          <p:cNvPr id="353" name="Google Shape;353;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361" name="Google Shape;361;p33: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362" name="Google Shape;362;p3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Analysis</a:t>
            </a:r>
            <a:endParaRPr/>
          </a:p>
          <a:p>
            <a:pPr indent="0" lvl="0" marL="0" rtl="0" algn="l">
              <a:spcBef>
                <a:spcPts val="400"/>
              </a:spcBef>
              <a:spcAft>
                <a:spcPts val="0"/>
              </a:spcAft>
              <a:buSzPts val="1800"/>
              <a:buNone/>
            </a:pPr>
            <a:r>
              <a:rPr lang="en-US"/>
              <a:t>The analysis phase begins with the information learned during the investigation phase.  </a:t>
            </a:r>
            <a:endParaRPr/>
          </a:p>
          <a:p>
            <a:pPr indent="0" lvl="0" marL="0" rtl="0" algn="l">
              <a:spcBef>
                <a:spcPts val="400"/>
              </a:spcBef>
              <a:spcAft>
                <a:spcPts val="0"/>
              </a:spcAft>
              <a:buSzPts val="1800"/>
              <a:buNone/>
            </a:pPr>
            <a:r>
              <a:rPr lang="en-US"/>
              <a:t>This phase consists primarily of assessments of the organization, the status of current systems, and the capability to support the proposed systems.  </a:t>
            </a:r>
            <a:endParaRPr/>
          </a:p>
          <a:p>
            <a:pPr indent="0" lvl="0" marL="0" rtl="0" algn="l">
              <a:spcBef>
                <a:spcPts val="400"/>
              </a:spcBef>
              <a:spcAft>
                <a:spcPts val="0"/>
              </a:spcAft>
              <a:buSzPts val="1800"/>
              <a:buNone/>
            </a:pPr>
            <a:r>
              <a:rPr lang="en-US"/>
              <a:t>Analysts begin to determine what the new system is expected to do and how it will interact with existing systems. </a:t>
            </a:r>
            <a:endParaRPr/>
          </a:p>
          <a:p>
            <a:pPr indent="0" lvl="0" marL="0" rtl="0" algn="l">
              <a:spcBef>
                <a:spcPts val="400"/>
              </a:spcBef>
              <a:spcAft>
                <a:spcPts val="0"/>
              </a:spcAft>
              <a:buSzPts val="1800"/>
              <a:buNone/>
            </a:pPr>
            <a:r>
              <a:rPr lang="en-US"/>
              <a:t>This phase ends with the documentation of the findings and a feasibility analysis update.</a:t>
            </a:r>
            <a:endParaRPr/>
          </a:p>
          <a:p>
            <a:pPr indent="0" lvl="0" marL="0" rtl="0" algn="l">
              <a:spcBef>
                <a:spcPts val="400"/>
              </a:spcBef>
              <a:spcAft>
                <a:spcPts val="0"/>
              </a:spcAft>
              <a:buSzPts val="1800"/>
              <a:buNone/>
            </a:pPr>
            <a:r>
              <a:t/>
            </a:r>
            <a:endParaRPr/>
          </a:p>
          <a:p>
            <a:pPr indent="0" lvl="0" marL="0" rtl="0" algn="l">
              <a:spcBef>
                <a:spcPts val="0"/>
              </a:spcBef>
              <a:spcAft>
                <a:spcPts val="0"/>
              </a:spcAft>
              <a:buNone/>
            </a:pPr>
            <a:r>
              <a:t/>
            </a:r>
            <a:endParaRPr/>
          </a:p>
        </p:txBody>
      </p:sp>
      <p:sp>
        <p:nvSpPr>
          <p:cNvPr id="363" name="Google Shape;363;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371" name="Google Shape;371;p34: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372" name="Google Shape;372;p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Logical Design</a:t>
            </a:r>
            <a:endParaRPr/>
          </a:p>
          <a:p>
            <a:pPr indent="0" lvl="0" marL="0" rtl="0" algn="l">
              <a:spcBef>
                <a:spcPts val="300"/>
              </a:spcBef>
              <a:spcAft>
                <a:spcPts val="0"/>
              </a:spcAft>
              <a:buSzPts val="1800"/>
              <a:buNone/>
            </a:pPr>
            <a:r>
              <a:rPr lang="en-US"/>
              <a:t>In the logical design phase, the information gained from the analysis phase is used to begin creating a solution system for a business problem. </a:t>
            </a:r>
            <a:endParaRPr/>
          </a:p>
          <a:p>
            <a:pPr indent="0" lvl="0" marL="0" rtl="0" algn="l">
              <a:spcBef>
                <a:spcPts val="300"/>
              </a:spcBef>
              <a:spcAft>
                <a:spcPts val="0"/>
              </a:spcAft>
              <a:buSzPts val="1800"/>
              <a:buNone/>
            </a:pPr>
            <a:r>
              <a:rPr lang="en-US"/>
              <a:t>Then, based on the business need, select applications capable of providing needed services.  </a:t>
            </a:r>
            <a:endParaRPr/>
          </a:p>
          <a:p>
            <a:pPr indent="0" lvl="0" marL="0" rtl="0" algn="l">
              <a:spcBef>
                <a:spcPts val="300"/>
              </a:spcBef>
              <a:spcAft>
                <a:spcPts val="0"/>
              </a:spcAft>
              <a:buSzPts val="1800"/>
              <a:buNone/>
            </a:pPr>
            <a:r>
              <a:rPr lang="en-US"/>
              <a:t>Based on the applications needed, select data support and structures capable of providing the needed inputs.  </a:t>
            </a:r>
            <a:endParaRPr/>
          </a:p>
          <a:p>
            <a:pPr indent="0" lvl="0" marL="0" rtl="0" algn="l">
              <a:spcBef>
                <a:spcPts val="300"/>
              </a:spcBef>
              <a:spcAft>
                <a:spcPts val="0"/>
              </a:spcAft>
              <a:buSzPts val="1800"/>
              <a:buNone/>
            </a:pPr>
            <a:r>
              <a:rPr lang="en-US"/>
              <a:t>Finally, based on all of the above, select specific technologies to implement the physical solution.  </a:t>
            </a:r>
            <a:endParaRPr/>
          </a:p>
          <a:p>
            <a:pPr indent="0" lvl="0" marL="0" rtl="0" algn="l">
              <a:spcBef>
                <a:spcPts val="300"/>
              </a:spcBef>
              <a:spcAft>
                <a:spcPts val="0"/>
              </a:spcAft>
              <a:buSzPts val="1800"/>
              <a:buNone/>
            </a:pPr>
            <a:r>
              <a:rPr lang="en-US"/>
              <a:t>In the end, another feasibility analysis is performed. </a:t>
            </a:r>
            <a:endParaRPr/>
          </a:p>
          <a:p>
            <a:pPr indent="0" lvl="0" marL="0" rtl="0" algn="l">
              <a:spcBef>
                <a:spcPts val="0"/>
              </a:spcBef>
              <a:spcAft>
                <a:spcPts val="0"/>
              </a:spcAft>
              <a:buNone/>
            </a:pPr>
            <a:r>
              <a:t/>
            </a:r>
            <a:endParaRPr/>
          </a:p>
        </p:txBody>
      </p:sp>
      <p:sp>
        <p:nvSpPr>
          <p:cNvPr id="373" name="Google Shape;373;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381" name="Google Shape;381;p35: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382" name="Google Shape;382;p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Physical Design</a:t>
            </a:r>
            <a:endParaRPr/>
          </a:p>
          <a:p>
            <a:pPr indent="0" lvl="0" marL="0" rtl="0" algn="l">
              <a:spcBef>
                <a:spcPts val="300"/>
              </a:spcBef>
              <a:spcAft>
                <a:spcPts val="0"/>
              </a:spcAft>
              <a:buSzPts val="1800"/>
              <a:buNone/>
            </a:pPr>
            <a:r>
              <a:rPr lang="en-US"/>
              <a:t>During the physical design phase, specific technologies are selected to support the alternatives identified and evaluated in the logical design.  </a:t>
            </a:r>
            <a:endParaRPr/>
          </a:p>
          <a:p>
            <a:pPr indent="0" lvl="0" marL="0" rtl="0" algn="l">
              <a:spcBef>
                <a:spcPts val="300"/>
              </a:spcBef>
              <a:spcAft>
                <a:spcPts val="0"/>
              </a:spcAft>
              <a:buSzPts val="1800"/>
              <a:buNone/>
            </a:pPr>
            <a:r>
              <a:rPr lang="en-US"/>
              <a:t>The selected components are evaluated based on a make-or-buy decision (develop in-house or purchase from a vendor). </a:t>
            </a:r>
            <a:endParaRPr/>
          </a:p>
          <a:p>
            <a:pPr indent="0" lvl="0" marL="0" rtl="0" algn="l">
              <a:spcBef>
                <a:spcPts val="300"/>
              </a:spcBef>
              <a:spcAft>
                <a:spcPts val="0"/>
              </a:spcAft>
              <a:buSzPts val="1800"/>
              <a:buNone/>
            </a:pPr>
            <a:r>
              <a:rPr lang="en-US"/>
              <a:t>Final designs integrate various components and technologies.  </a:t>
            </a:r>
            <a:endParaRPr/>
          </a:p>
          <a:p>
            <a:pPr indent="0" lvl="0" marL="0" rtl="0" algn="l">
              <a:spcBef>
                <a:spcPts val="300"/>
              </a:spcBef>
              <a:spcAft>
                <a:spcPts val="0"/>
              </a:spcAft>
              <a:buSzPts val="1800"/>
              <a:buNone/>
            </a:pPr>
            <a:r>
              <a:rPr lang="en-US"/>
              <a:t>After yet another feasibility analysis, the entire solution is presented to the end user representatives for approval.</a:t>
            </a:r>
            <a:endParaRPr/>
          </a:p>
          <a:p>
            <a:pPr indent="0" lvl="0" marL="0" rtl="0" algn="l">
              <a:spcBef>
                <a:spcPts val="0"/>
              </a:spcBef>
              <a:spcAft>
                <a:spcPts val="0"/>
              </a:spcAft>
              <a:buNone/>
            </a:pPr>
            <a:r>
              <a:t/>
            </a:r>
            <a:endParaRPr/>
          </a:p>
        </p:txBody>
      </p:sp>
      <p:sp>
        <p:nvSpPr>
          <p:cNvPr id="383" name="Google Shape;383;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391" name="Google Shape;391;p36: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392" name="Google Shape;392;p3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Implementation</a:t>
            </a:r>
            <a:endParaRPr/>
          </a:p>
          <a:p>
            <a:pPr indent="0" lvl="0" marL="0" rtl="0" algn="l">
              <a:spcBef>
                <a:spcPts val="400"/>
              </a:spcBef>
              <a:spcAft>
                <a:spcPts val="0"/>
              </a:spcAft>
              <a:buSzPts val="1800"/>
              <a:buNone/>
            </a:pPr>
            <a:r>
              <a:rPr lang="en-US"/>
              <a:t>In the implementation phase, any needed software is created or purchased  </a:t>
            </a:r>
            <a:endParaRPr/>
          </a:p>
          <a:p>
            <a:pPr indent="0" lvl="0" marL="0" rtl="0" algn="l">
              <a:spcBef>
                <a:spcPts val="400"/>
              </a:spcBef>
              <a:spcAft>
                <a:spcPts val="0"/>
              </a:spcAft>
              <a:buSzPts val="1800"/>
              <a:buNone/>
            </a:pPr>
            <a:r>
              <a:rPr lang="en-US"/>
              <a:t>Components are ordered, received, and tested.  </a:t>
            </a:r>
            <a:endParaRPr/>
          </a:p>
          <a:p>
            <a:pPr indent="0" lvl="0" marL="0" rtl="0" algn="l">
              <a:spcBef>
                <a:spcPts val="400"/>
              </a:spcBef>
              <a:spcAft>
                <a:spcPts val="0"/>
              </a:spcAft>
              <a:buSzPts val="1800"/>
              <a:buNone/>
            </a:pPr>
            <a:r>
              <a:rPr lang="en-US"/>
              <a:t>Afterwards, users are trained and supporting documentation is created.  </a:t>
            </a:r>
            <a:endParaRPr/>
          </a:p>
          <a:p>
            <a:pPr indent="0" lvl="0" marL="0" rtl="0" algn="l">
              <a:spcBef>
                <a:spcPts val="400"/>
              </a:spcBef>
              <a:spcAft>
                <a:spcPts val="0"/>
              </a:spcAft>
              <a:buSzPts val="1800"/>
              <a:buNone/>
            </a:pPr>
            <a:r>
              <a:rPr lang="en-US"/>
              <a:t>Again a feasibility analysis is prepared, and the users are then presented with the system for a performance review and acceptance test.</a:t>
            </a:r>
            <a:endParaRPr/>
          </a:p>
          <a:p>
            <a:pPr indent="0" lvl="0" marL="0" rtl="0" algn="l">
              <a:spcBef>
                <a:spcPts val="0"/>
              </a:spcBef>
              <a:spcAft>
                <a:spcPts val="0"/>
              </a:spcAft>
              <a:buNone/>
            </a:pPr>
            <a:r>
              <a:t/>
            </a:r>
            <a:endParaRPr/>
          </a:p>
        </p:txBody>
      </p:sp>
      <p:sp>
        <p:nvSpPr>
          <p:cNvPr id="393" name="Google Shape;393;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3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401" name="Google Shape;401;p37: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402" name="Google Shape;402;p3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Maintenance and Change</a:t>
            </a:r>
            <a:endParaRPr/>
          </a:p>
          <a:p>
            <a:pPr indent="0" lvl="0" marL="0" rtl="0" algn="l">
              <a:spcBef>
                <a:spcPts val="300"/>
              </a:spcBef>
              <a:spcAft>
                <a:spcPts val="0"/>
              </a:spcAft>
              <a:buSzPts val="1800"/>
              <a:buNone/>
            </a:pPr>
            <a:r>
              <a:rPr lang="en-US"/>
              <a:t>The maintenance and change phase is the longest and most expensive phase of the process. </a:t>
            </a:r>
            <a:endParaRPr/>
          </a:p>
          <a:p>
            <a:pPr indent="0" lvl="0" marL="0" rtl="0" algn="l">
              <a:spcBef>
                <a:spcPts val="300"/>
              </a:spcBef>
              <a:spcAft>
                <a:spcPts val="0"/>
              </a:spcAft>
              <a:buSzPts val="1800"/>
              <a:buNone/>
            </a:pPr>
            <a:r>
              <a:rPr lang="en-US"/>
              <a:t>This phase consists of the tasks necessary to support and modify the system for the remainder of its useful life cycle.  </a:t>
            </a:r>
            <a:endParaRPr/>
          </a:p>
          <a:p>
            <a:pPr indent="0" lvl="0" marL="0" rtl="0" algn="l">
              <a:spcBef>
                <a:spcPts val="300"/>
              </a:spcBef>
              <a:spcAft>
                <a:spcPts val="0"/>
              </a:spcAft>
              <a:buSzPts val="1800"/>
              <a:buNone/>
            </a:pPr>
            <a:r>
              <a:rPr lang="en-US"/>
              <a:t>Even though formal development may conclude during this phase, the life cycle of the project continues until it is determined that the process should begin again from the investigation phase. When the current system can no longer support the changed mission of the organization, the project is terminated and a new project is implemented.</a:t>
            </a:r>
            <a:endParaRPr/>
          </a:p>
          <a:p>
            <a:pPr indent="0" lvl="0" marL="0" rtl="0" algn="l">
              <a:spcBef>
                <a:spcPts val="0"/>
              </a:spcBef>
              <a:spcAft>
                <a:spcPts val="0"/>
              </a:spcAft>
              <a:buNone/>
            </a:pPr>
            <a:r>
              <a:t/>
            </a:r>
            <a:endParaRPr/>
          </a:p>
        </p:txBody>
      </p:sp>
      <p:sp>
        <p:nvSpPr>
          <p:cNvPr id="403" name="Google Shape;403;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3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411" name="Google Shape;411;p38: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412" name="Google Shape;412;p3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The Security Systems Development Life Cycle</a:t>
            </a:r>
            <a:endParaRPr/>
          </a:p>
          <a:p>
            <a:pPr indent="0" lvl="0" marL="0" rtl="0" algn="l">
              <a:spcBef>
                <a:spcPts val="300"/>
              </a:spcBef>
              <a:spcAft>
                <a:spcPts val="0"/>
              </a:spcAft>
              <a:buSzPts val="1800"/>
              <a:buNone/>
            </a:pPr>
            <a:r>
              <a:rPr lang="en-US"/>
              <a:t>The same phases used in the traditional SDLC can be adapted to support the specialized implementation of a security project.  </a:t>
            </a:r>
            <a:endParaRPr/>
          </a:p>
          <a:p>
            <a:pPr indent="0" lvl="0" marL="0" rtl="0" algn="l">
              <a:spcBef>
                <a:spcPts val="300"/>
              </a:spcBef>
              <a:spcAft>
                <a:spcPts val="0"/>
              </a:spcAft>
              <a:buSzPts val="1800"/>
              <a:buNone/>
            </a:pPr>
            <a:r>
              <a:rPr lang="en-US"/>
              <a:t>The fundamental process is the identification of specific threats and the creation of specific controls to counter those threats. </a:t>
            </a:r>
            <a:endParaRPr/>
          </a:p>
          <a:p>
            <a:pPr indent="0" lvl="0" marL="0" rtl="0" algn="l">
              <a:spcBef>
                <a:spcPts val="300"/>
              </a:spcBef>
              <a:spcAft>
                <a:spcPts val="0"/>
              </a:spcAft>
              <a:buSzPts val="1800"/>
              <a:buNone/>
            </a:pPr>
            <a:r>
              <a:rPr lang="en-US"/>
              <a:t>The SecSDLC unifies the process and makes it a coherent program rather than a series of random, seemingly unconnected actions.</a:t>
            </a:r>
            <a:endParaRPr/>
          </a:p>
          <a:p>
            <a:pPr indent="0" lvl="0" marL="0" rtl="0" algn="l">
              <a:spcBef>
                <a:spcPts val="0"/>
              </a:spcBef>
              <a:spcAft>
                <a:spcPts val="0"/>
              </a:spcAft>
              <a:buNone/>
            </a:pPr>
            <a:r>
              <a:t/>
            </a:r>
            <a:endParaRPr/>
          </a:p>
        </p:txBody>
      </p:sp>
      <p:sp>
        <p:nvSpPr>
          <p:cNvPr id="413" name="Google Shape;413;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3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421" name="Google Shape;421;p39: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422" name="Google Shape;422;p3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Investigation</a:t>
            </a:r>
            <a:endParaRPr/>
          </a:p>
          <a:p>
            <a:pPr indent="0" lvl="0" marL="0" rtl="0" algn="l">
              <a:spcBef>
                <a:spcPts val="300"/>
              </a:spcBef>
              <a:spcAft>
                <a:spcPts val="0"/>
              </a:spcAft>
              <a:buSzPts val="1800"/>
              <a:buNone/>
            </a:pPr>
            <a:r>
              <a:rPr lang="en-US"/>
              <a:t>The investigation of the SecSDLC begins with a directive from upper management, dictating the process, outcomes, and goals of the project, as well as the constraints placed on the activity.  </a:t>
            </a:r>
            <a:endParaRPr/>
          </a:p>
          <a:p>
            <a:pPr indent="0" lvl="0" marL="0" rtl="0" algn="l">
              <a:spcBef>
                <a:spcPts val="300"/>
              </a:spcBef>
              <a:spcAft>
                <a:spcPts val="0"/>
              </a:spcAft>
              <a:buSzPts val="1800"/>
              <a:buNone/>
            </a:pPr>
            <a:r>
              <a:rPr lang="en-US"/>
              <a:t>Frequently, this phase begins with a statement of program security policy that outlines the implementation of security. </a:t>
            </a:r>
            <a:endParaRPr/>
          </a:p>
          <a:p>
            <a:pPr indent="0" lvl="0" marL="0" rtl="0" algn="l">
              <a:spcBef>
                <a:spcPts val="300"/>
              </a:spcBef>
              <a:spcAft>
                <a:spcPts val="0"/>
              </a:spcAft>
              <a:buSzPts val="1800"/>
              <a:buNone/>
            </a:pPr>
            <a:r>
              <a:rPr lang="en-US"/>
              <a:t>Teams of responsible managers, employees, and contractors are organized, problems are analyzed, and scope is defined, including goals, objectives, and constraints not covered in the program policy.  </a:t>
            </a:r>
            <a:endParaRPr/>
          </a:p>
          <a:p>
            <a:pPr indent="0" lvl="0" marL="0" rtl="0" algn="l">
              <a:spcBef>
                <a:spcPts val="300"/>
              </a:spcBef>
              <a:spcAft>
                <a:spcPts val="0"/>
              </a:spcAft>
              <a:buSzPts val="1800"/>
              <a:buNone/>
            </a:pPr>
            <a:r>
              <a:rPr lang="en-US"/>
              <a:t>Finally, an organizational feasibility analysis is performed to determine whether the organization has the resources and commitment necessary to conduct a successful security analysis and design. </a:t>
            </a:r>
            <a:endParaRPr/>
          </a:p>
          <a:p>
            <a:pPr indent="0" lvl="0" marL="0" rtl="0" algn="l">
              <a:spcBef>
                <a:spcPts val="0"/>
              </a:spcBef>
              <a:spcAft>
                <a:spcPts val="0"/>
              </a:spcAft>
              <a:buNone/>
            </a:pPr>
            <a:r>
              <a:t/>
            </a:r>
            <a:endParaRPr/>
          </a:p>
        </p:txBody>
      </p:sp>
      <p:sp>
        <p:nvSpPr>
          <p:cNvPr id="423" name="Google Shape;423;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4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431" name="Google Shape;431;p40: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432" name="Google Shape;432;p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Analysis</a:t>
            </a:r>
            <a:endParaRPr/>
          </a:p>
          <a:p>
            <a:pPr indent="0" lvl="0" marL="0" rtl="0" algn="l">
              <a:spcBef>
                <a:spcPts val="400"/>
              </a:spcBef>
              <a:spcAft>
                <a:spcPts val="0"/>
              </a:spcAft>
              <a:buSzPts val="1800"/>
              <a:buNone/>
            </a:pPr>
            <a:r>
              <a:rPr lang="en-US"/>
              <a:t>In the analysis phase, the documents from the investigation phase are studied.  </a:t>
            </a:r>
            <a:endParaRPr/>
          </a:p>
          <a:p>
            <a:pPr indent="0" lvl="0" marL="0" rtl="0" algn="l">
              <a:spcBef>
                <a:spcPts val="400"/>
              </a:spcBef>
              <a:spcAft>
                <a:spcPts val="0"/>
              </a:spcAft>
              <a:buSzPts val="1800"/>
              <a:buNone/>
            </a:pPr>
            <a:r>
              <a:rPr lang="en-US"/>
              <a:t>The development team conducts a preliminary analysis of existing security policies or programs, along with documented current threats and associated controls. </a:t>
            </a:r>
            <a:endParaRPr/>
          </a:p>
          <a:p>
            <a:pPr indent="0" lvl="0" marL="0" rtl="0" algn="l">
              <a:spcBef>
                <a:spcPts val="400"/>
              </a:spcBef>
              <a:spcAft>
                <a:spcPts val="0"/>
              </a:spcAft>
              <a:buSzPts val="1800"/>
              <a:buNone/>
            </a:pPr>
            <a:r>
              <a:rPr lang="en-US"/>
              <a:t>This phase also includes an analysis of relevant legal issues that could impact the design of the security solution.  </a:t>
            </a:r>
            <a:endParaRPr/>
          </a:p>
          <a:p>
            <a:pPr indent="0" lvl="0" marL="0" rtl="0" algn="l">
              <a:spcBef>
                <a:spcPts val="400"/>
              </a:spcBef>
              <a:spcAft>
                <a:spcPts val="0"/>
              </a:spcAft>
              <a:buSzPts val="1800"/>
              <a:buNone/>
            </a:pPr>
            <a:r>
              <a:rPr lang="en-US"/>
              <a:t>The risk management task – identifying, assessing and evaluating the levels of risk facing the organization – also begins in this stage. </a:t>
            </a:r>
            <a:endParaRPr/>
          </a:p>
          <a:p>
            <a:pPr indent="0" lvl="0" marL="0" rtl="0" algn="l">
              <a:spcBef>
                <a:spcPts val="0"/>
              </a:spcBef>
              <a:spcAft>
                <a:spcPts val="0"/>
              </a:spcAft>
              <a:buNone/>
            </a:pPr>
            <a:r>
              <a:t/>
            </a:r>
            <a:endParaRPr/>
          </a:p>
        </p:txBody>
      </p:sp>
      <p:sp>
        <p:nvSpPr>
          <p:cNvPr id="433" name="Google Shape;433;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4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441" name="Google Shape;441;p41: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442" name="Google Shape;442;p41:notes"/>
          <p:cNvSpPr txBox="1"/>
          <p:nvPr>
            <p:ph idx="1" type="body"/>
          </p:nvPr>
        </p:nvSpPr>
        <p:spPr>
          <a:xfrm>
            <a:off x="914400" y="4343400"/>
            <a:ext cx="5029200" cy="51577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Logical Design</a:t>
            </a:r>
            <a:r>
              <a:rPr lang="en-US"/>
              <a:t>  </a:t>
            </a:r>
            <a:endParaRPr/>
          </a:p>
          <a:p>
            <a:pPr indent="0" lvl="0" marL="0" rtl="0" algn="l">
              <a:spcBef>
                <a:spcPts val="400"/>
              </a:spcBef>
              <a:spcAft>
                <a:spcPts val="0"/>
              </a:spcAft>
              <a:buSzPts val="1800"/>
              <a:buNone/>
            </a:pPr>
            <a:r>
              <a:rPr lang="en-US"/>
              <a:t>The logical design phase creates and develops the blueprints for security, and it  examines and implements key policies that influence later decisions.  </a:t>
            </a:r>
            <a:endParaRPr/>
          </a:p>
          <a:p>
            <a:pPr indent="0" lvl="0" marL="0" rtl="0" algn="l">
              <a:spcBef>
                <a:spcPts val="400"/>
              </a:spcBef>
              <a:spcAft>
                <a:spcPts val="0"/>
              </a:spcAft>
              <a:buSzPts val="1800"/>
              <a:buNone/>
            </a:pPr>
            <a:r>
              <a:rPr lang="en-US"/>
              <a:t>Also at this stage, critical planning is developed for incident response actions to be taken in the event of partial or catastrophic loss. </a:t>
            </a:r>
            <a:endParaRPr/>
          </a:p>
          <a:p>
            <a:pPr indent="0" lvl="0" marL="0" rtl="0" algn="l">
              <a:spcBef>
                <a:spcPts val="400"/>
              </a:spcBef>
              <a:spcAft>
                <a:spcPts val="0"/>
              </a:spcAft>
              <a:buSzPts val="1800"/>
              <a:buNone/>
            </a:pPr>
            <a:r>
              <a:rPr lang="en-US"/>
              <a:t>Next, a feasibility analysis determines whether or not the project should continue or should be outsourced. </a:t>
            </a:r>
            <a:endParaRPr/>
          </a:p>
          <a:p>
            <a:pPr indent="0" lvl="0" marL="0" rtl="0" algn="l">
              <a:spcBef>
                <a:spcPts val="400"/>
              </a:spcBef>
              <a:spcAft>
                <a:spcPts val="0"/>
              </a:spcAft>
              <a:buSzPts val="1800"/>
              <a:buNone/>
            </a:pPr>
            <a:r>
              <a:t/>
            </a:r>
            <a:endParaRPr/>
          </a:p>
          <a:p>
            <a:pPr indent="0" lvl="0" marL="0" rtl="0" algn="l">
              <a:spcBef>
                <a:spcPts val="0"/>
              </a:spcBef>
              <a:spcAft>
                <a:spcPts val="0"/>
              </a:spcAft>
              <a:buNone/>
            </a:pPr>
            <a:r>
              <a:t/>
            </a:r>
            <a:endParaRPr/>
          </a:p>
        </p:txBody>
      </p:sp>
      <p:sp>
        <p:nvSpPr>
          <p:cNvPr id="443" name="Google Shape;443;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4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451" name="Google Shape;451;p42: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452" name="Google Shape;452;p42:notes"/>
          <p:cNvSpPr txBox="1"/>
          <p:nvPr>
            <p:ph idx="1" type="body"/>
          </p:nvPr>
        </p:nvSpPr>
        <p:spPr>
          <a:xfrm>
            <a:off x="914400" y="4343400"/>
            <a:ext cx="5029200" cy="51577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Logical Design</a:t>
            </a:r>
            <a:r>
              <a:rPr lang="en-US"/>
              <a:t>  </a:t>
            </a:r>
            <a:endParaRPr/>
          </a:p>
          <a:p>
            <a:pPr indent="0" lvl="0" marL="0" rtl="0" algn="l">
              <a:spcBef>
                <a:spcPts val="400"/>
              </a:spcBef>
              <a:spcAft>
                <a:spcPts val="0"/>
              </a:spcAft>
              <a:buSzPts val="1800"/>
              <a:buNone/>
            </a:pPr>
            <a:r>
              <a:rPr lang="en-US"/>
              <a:t>The logical design phase creates and develops the blueprints for security, and it  examines and implements key policies that influence later decisions.  </a:t>
            </a:r>
            <a:endParaRPr/>
          </a:p>
          <a:p>
            <a:pPr indent="0" lvl="0" marL="0" rtl="0" algn="l">
              <a:spcBef>
                <a:spcPts val="400"/>
              </a:spcBef>
              <a:spcAft>
                <a:spcPts val="0"/>
              </a:spcAft>
              <a:buSzPts val="1800"/>
              <a:buNone/>
            </a:pPr>
            <a:r>
              <a:rPr lang="en-US"/>
              <a:t>Also at this stage, critical planning is developed for incident response actions to be taken in the event of partial or catastrophic loss. </a:t>
            </a:r>
            <a:endParaRPr/>
          </a:p>
          <a:p>
            <a:pPr indent="0" lvl="0" marL="0" rtl="0" algn="l">
              <a:spcBef>
                <a:spcPts val="400"/>
              </a:spcBef>
              <a:spcAft>
                <a:spcPts val="0"/>
              </a:spcAft>
              <a:buSzPts val="1800"/>
              <a:buNone/>
            </a:pPr>
            <a:r>
              <a:rPr lang="en-US"/>
              <a:t>Next, a feasibility analysis determines whether or not the project should continue or should be outsourced. </a:t>
            </a:r>
            <a:endParaRPr/>
          </a:p>
          <a:p>
            <a:pPr indent="0" lvl="0" marL="0" rtl="0" algn="l">
              <a:spcBef>
                <a:spcPts val="400"/>
              </a:spcBef>
              <a:spcAft>
                <a:spcPts val="0"/>
              </a:spcAft>
              <a:buSzPts val="1800"/>
              <a:buNone/>
            </a:pPr>
            <a:r>
              <a:t/>
            </a:r>
            <a:endParaRPr/>
          </a:p>
          <a:p>
            <a:pPr indent="0" lvl="0" marL="0" rtl="0" algn="l">
              <a:spcBef>
                <a:spcPts val="0"/>
              </a:spcBef>
              <a:spcAft>
                <a:spcPts val="0"/>
              </a:spcAft>
              <a:buNone/>
            </a:pPr>
            <a:r>
              <a:t/>
            </a:r>
            <a:endParaRPr/>
          </a:p>
        </p:txBody>
      </p:sp>
      <p:sp>
        <p:nvSpPr>
          <p:cNvPr id="453" name="Google Shape;453;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4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461" name="Google Shape;461;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2" name="Google Shape;462;p43:notes"/>
          <p:cNvSpPr txBox="1"/>
          <p:nvPr>
            <p:ph idx="1" type="body"/>
          </p:nvPr>
        </p:nvSpPr>
        <p:spPr>
          <a:xfrm>
            <a:off x="914400" y="4343400"/>
            <a:ext cx="5029200" cy="4114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800"/>
              <a:buNone/>
            </a:pPr>
            <a:r>
              <a:rPr b="1" lang="en-US"/>
              <a:t>Physical Design </a:t>
            </a:r>
            <a:endParaRPr/>
          </a:p>
          <a:p>
            <a:pPr indent="0" lvl="0" marL="0" rtl="0" algn="l">
              <a:spcBef>
                <a:spcPts val="400"/>
              </a:spcBef>
              <a:spcAft>
                <a:spcPts val="0"/>
              </a:spcAft>
              <a:buSzPts val="1800"/>
              <a:buNone/>
            </a:pPr>
            <a:r>
              <a:rPr lang="en-US"/>
              <a:t>In the physical design phase, the security technology needed to support the blueprint outlined in the logical design is evaluated, alternative solutions are  generated, and a final design is agreed upon. </a:t>
            </a:r>
            <a:endParaRPr/>
          </a:p>
          <a:p>
            <a:pPr indent="0" lvl="0" marL="0" rtl="0" algn="l">
              <a:spcBef>
                <a:spcPts val="400"/>
              </a:spcBef>
              <a:spcAft>
                <a:spcPts val="0"/>
              </a:spcAft>
              <a:buSzPts val="1800"/>
              <a:buNone/>
            </a:pPr>
            <a:r>
              <a:rPr lang="en-US"/>
              <a:t>The security blueprint may be revisited to keep it synchronized with the changes needed when the physical design is completed. </a:t>
            </a:r>
            <a:endParaRPr/>
          </a:p>
          <a:p>
            <a:pPr indent="0" lvl="0" marL="0" rtl="0" algn="l">
              <a:spcBef>
                <a:spcPts val="400"/>
              </a:spcBef>
              <a:spcAft>
                <a:spcPts val="0"/>
              </a:spcAft>
              <a:buSzPts val="1800"/>
              <a:buNone/>
            </a:pPr>
            <a:r>
              <a:rPr lang="en-US"/>
              <a:t>Criteria needed to determine the definition of successful solutions is also prepared during this phase. </a:t>
            </a:r>
            <a:endParaRPr/>
          </a:p>
          <a:p>
            <a:pPr indent="0" lvl="0" marL="0" rtl="0" algn="l">
              <a:spcBef>
                <a:spcPts val="400"/>
              </a:spcBef>
              <a:spcAft>
                <a:spcPts val="0"/>
              </a:spcAft>
              <a:buSzPts val="1800"/>
              <a:buNone/>
            </a:pPr>
            <a:r>
              <a:rPr lang="en-US"/>
              <a:t>Included at this time are the designs for physical security measures to support the proposed technological solutions. </a:t>
            </a:r>
            <a:endParaRPr/>
          </a:p>
          <a:p>
            <a:pPr indent="0" lvl="0" marL="0" rtl="0" algn="l">
              <a:spcBef>
                <a:spcPts val="400"/>
              </a:spcBef>
              <a:spcAft>
                <a:spcPts val="0"/>
              </a:spcAft>
              <a:buSzPts val="1800"/>
              <a:buNone/>
            </a:pPr>
            <a:r>
              <a:rPr lang="en-US"/>
              <a:t>At the end of this phase, a feasibility study should determine the readiness of the organization for the proposed project, and then the champion and users are presented with the design. </a:t>
            </a:r>
            <a:endParaRPr/>
          </a:p>
          <a:p>
            <a:pPr indent="0" lvl="0" marL="0" rtl="0" algn="l">
              <a:spcBef>
                <a:spcPts val="400"/>
              </a:spcBef>
              <a:spcAft>
                <a:spcPts val="0"/>
              </a:spcAft>
              <a:buSzPts val="1800"/>
              <a:buNone/>
            </a:pPr>
            <a:r>
              <a:rPr lang="en-US"/>
              <a:t>At this time, all parties involved have a chance to approve the project before implementation begins.</a:t>
            </a:r>
            <a:endParaRPr/>
          </a:p>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4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470" name="Google Shape;470;p44: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471" name="Google Shape;471;p4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Implementation</a:t>
            </a:r>
            <a:endParaRPr/>
          </a:p>
          <a:p>
            <a:pPr indent="0" lvl="0" marL="0" rtl="0" algn="l">
              <a:spcBef>
                <a:spcPts val="300"/>
              </a:spcBef>
              <a:spcAft>
                <a:spcPts val="0"/>
              </a:spcAft>
              <a:buSzPts val="1800"/>
              <a:buNone/>
            </a:pPr>
            <a:r>
              <a:rPr lang="en-US"/>
              <a:t>The implementation phase is similar to the traditional SDLC. </a:t>
            </a:r>
            <a:endParaRPr/>
          </a:p>
          <a:p>
            <a:pPr indent="0" lvl="0" marL="0" rtl="0" algn="l">
              <a:spcBef>
                <a:spcPts val="300"/>
              </a:spcBef>
              <a:spcAft>
                <a:spcPts val="0"/>
              </a:spcAft>
              <a:buSzPts val="1800"/>
              <a:buNone/>
            </a:pPr>
            <a:r>
              <a:rPr lang="en-US"/>
              <a:t>The security solutions are acquired (made or bought), tested, implemented, and tested again.  </a:t>
            </a:r>
            <a:endParaRPr/>
          </a:p>
          <a:p>
            <a:pPr indent="0" lvl="0" marL="0" rtl="0" algn="l">
              <a:spcBef>
                <a:spcPts val="300"/>
              </a:spcBef>
              <a:spcAft>
                <a:spcPts val="0"/>
              </a:spcAft>
              <a:buSzPts val="1800"/>
              <a:buNone/>
            </a:pPr>
            <a:r>
              <a:rPr lang="en-US"/>
              <a:t>Personnel issues are evaluated, and specific training and education programs are conducted.  </a:t>
            </a:r>
            <a:endParaRPr/>
          </a:p>
          <a:p>
            <a:pPr indent="0" lvl="0" marL="0" rtl="0" algn="l">
              <a:spcBef>
                <a:spcPts val="300"/>
              </a:spcBef>
              <a:spcAft>
                <a:spcPts val="0"/>
              </a:spcAft>
              <a:buSzPts val="1800"/>
              <a:buNone/>
            </a:pPr>
            <a:r>
              <a:rPr lang="en-US"/>
              <a:t>Finally, the entire tested package is presented to upper management for final approval.</a:t>
            </a:r>
            <a:endParaRPr/>
          </a:p>
          <a:p>
            <a:pPr indent="0" lvl="0" marL="0" rtl="0" algn="l">
              <a:spcBef>
                <a:spcPts val="0"/>
              </a:spcBef>
              <a:spcAft>
                <a:spcPts val="0"/>
              </a:spcAft>
              <a:buNone/>
            </a:pPr>
            <a:r>
              <a:t/>
            </a:r>
            <a:endParaRPr/>
          </a:p>
        </p:txBody>
      </p:sp>
      <p:sp>
        <p:nvSpPr>
          <p:cNvPr id="472" name="Google Shape;472;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0" name="Google Shape;480;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http://en.wikipedia.org/wiki/Fail-safe </a:t>
            </a:r>
            <a:endParaRPr/>
          </a:p>
        </p:txBody>
      </p:sp>
      <p:sp>
        <p:nvSpPr>
          <p:cNvPr id="481" name="Google Shape;481;p4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4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489" name="Google Shape;489;p46: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490" name="Google Shape;490;p4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Maintenance and Change</a:t>
            </a:r>
            <a:endParaRPr/>
          </a:p>
          <a:p>
            <a:pPr indent="0" lvl="0" marL="0" rtl="0" algn="l">
              <a:spcBef>
                <a:spcPts val="300"/>
              </a:spcBef>
              <a:spcAft>
                <a:spcPts val="0"/>
              </a:spcAft>
              <a:buSzPts val="1800"/>
              <a:buNone/>
            </a:pPr>
            <a:r>
              <a:rPr lang="en-US"/>
              <a:t>The maintenance and change phase, though last, is perhaps most important, given the high level of ingenuity in today’s threats. </a:t>
            </a:r>
            <a:endParaRPr/>
          </a:p>
          <a:p>
            <a:pPr indent="0" lvl="0" marL="0" rtl="0" algn="l">
              <a:spcBef>
                <a:spcPts val="300"/>
              </a:spcBef>
              <a:spcAft>
                <a:spcPts val="0"/>
              </a:spcAft>
              <a:buSzPts val="1800"/>
              <a:buNone/>
            </a:pPr>
            <a:r>
              <a:rPr lang="en-US"/>
              <a:t>The reparation and restoration of information is a constant duel with an often-unseen adversary.  </a:t>
            </a:r>
            <a:endParaRPr/>
          </a:p>
          <a:p>
            <a:pPr indent="0" lvl="0" marL="0" rtl="0" algn="l">
              <a:spcBef>
                <a:spcPts val="300"/>
              </a:spcBef>
              <a:spcAft>
                <a:spcPts val="0"/>
              </a:spcAft>
              <a:buSzPts val="1800"/>
              <a:buNone/>
            </a:pPr>
            <a:r>
              <a:rPr lang="en-US"/>
              <a:t>As new threats emerge and old threats evolve, the information security profile of an organization requires constant adaptation to prevent threats from successfully penetrating sensitive data</a:t>
            </a:r>
            <a:endParaRPr/>
          </a:p>
          <a:p>
            <a:pPr indent="0" lvl="0" marL="0" rtl="0" algn="l">
              <a:spcBef>
                <a:spcPts val="0"/>
              </a:spcBef>
              <a:spcAft>
                <a:spcPts val="0"/>
              </a:spcAft>
              <a:buNone/>
            </a:pPr>
            <a:r>
              <a:t/>
            </a:r>
            <a:endParaRPr/>
          </a:p>
        </p:txBody>
      </p:sp>
      <p:sp>
        <p:nvSpPr>
          <p:cNvPr id="491" name="Google Shape;491;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4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499" name="Google Shape;499;p47: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500" name="Google Shape;500;p4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Security Professionals and the Organization</a:t>
            </a:r>
            <a:endParaRPr/>
          </a:p>
          <a:p>
            <a:pPr indent="0" lvl="0" marL="0" rtl="0" algn="l">
              <a:spcBef>
                <a:spcPts val="300"/>
              </a:spcBef>
              <a:spcAft>
                <a:spcPts val="0"/>
              </a:spcAft>
              <a:buSzPts val="1800"/>
              <a:buNone/>
            </a:pPr>
            <a:r>
              <a:rPr lang="en-US"/>
              <a:t>It takes a wide range of professionals to support a diverse information security program.  </a:t>
            </a:r>
            <a:endParaRPr/>
          </a:p>
          <a:p>
            <a:pPr indent="0" lvl="0" marL="0" rtl="0" algn="l">
              <a:spcBef>
                <a:spcPts val="300"/>
              </a:spcBef>
              <a:spcAft>
                <a:spcPts val="0"/>
              </a:spcAft>
              <a:buSzPts val="1800"/>
              <a:buNone/>
            </a:pPr>
            <a:r>
              <a:rPr lang="en-US"/>
              <a:t>To develop and execute specific security policies and procedures, additional administrative support and technical expertise is required.</a:t>
            </a:r>
            <a:endParaRPr/>
          </a:p>
          <a:p>
            <a:pPr indent="0" lvl="0" marL="0" rtl="0" algn="l">
              <a:spcBef>
                <a:spcPts val="0"/>
              </a:spcBef>
              <a:spcAft>
                <a:spcPts val="0"/>
              </a:spcAft>
              <a:buNone/>
            </a:pPr>
            <a:r>
              <a:t/>
            </a:r>
            <a:endParaRPr/>
          </a:p>
        </p:txBody>
      </p:sp>
      <p:sp>
        <p:nvSpPr>
          <p:cNvPr id="501" name="Google Shape;501;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4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509" name="Google Shape;509;p48: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510" name="Google Shape;510;p4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Senior Management </a:t>
            </a:r>
            <a:endParaRPr/>
          </a:p>
          <a:p>
            <a:pPr indent="0" lvl="0" marL="0" rtl="0" algn="l">
              <a:spcBef>
                <a:spcPts val="300"/>
              </a:spcBef>
              <a:spcAft>
                <a:spcPts val="0"/>
              </a:spcAft>
              <a:buSzPts val="1800"/>
              <a:buNone/>
            </a:pPr>
            <a:r>
              <a:rPr lang="en-US"/>
              <a:t>Chief Information Officer – The senior technology officer, although other titles such as Vice President of Information, VP of Information Technology, and VP of Systems may be used. The CIO is primarily responsible for advising the Chief Executive Officer, President, or company owner on the strategic planning that affects the management of information in the organization.  </a:t>
            </a:r>
            <a:endParaRPr/>
          </a:p>
          <a:p>
            <a:pPr indent="0" lvl="0" marL="0" rtl="0" algn="l">
              <a:spcBef>
                <a:spcPts val="300"/>
              </a:spcBef>
              <a:spcAft>
                <a:spcPts val="0"/>
              </a:spcAft>
              <a:buSzPts val="1800"/>
              <a:buNone/>
            </a:pPr>
            <a:r>
              <a:rPr lang="en-US"/>
              <a:t>Chief Information Security Officer – The individual primarily responsible for the assessment, management, and implementation of securing the information in the organization. The CISO may also be referred to as the Manager for Security, the Security Administrator, or a similar title.  </a:t>
            </a:r>
            <a:endParaRPr/>
          </a:p>
          <a:p>
            <a:pPr indent="0" lvl="0" marL="0" rtl="0" algn="l">
              <a:spcBef>
                <a:spcPts val="0"/>
              </a:spcBef>
              <a:spcAft>
                <a:spcPts val="0"/>
              </a:spcAft>
              <a:buNone/>
            </a:pPr>
            <a:r>
              <a:t/>
            </a:r>
            <a:endParaRPr/>
          </a:p>
        </p:txBody>
      </p:sp>
      <p:sp>
        <p:nvSpPr>
          <p:cNvPr id="511" name="Google Shape;511;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4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519" name="Google Shape;519;p49: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520" name="Google Shape;520;p4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Security Project Team </a:t>
            </a:r>
            <a:endParaRPr/>
          </a:p>
          <a:p>
            <a:pPr indent="0" lvl="0" marL="0" rtl="0" algn="l">
              <a:spcBef>
                <a:spcPts val="300"/>
              </a:spcBef>
              <a:spcAft>
                <a:spcPts val="0"/>
              </a:spcAft>
              <a:buSzPts val="1800"/>
              <a:buNone/>
            </a:pPr>
            <a:r>
              <a:rPr lang="en-US"/>
              <a:t>A number of individuals who are experienced in one or multiple requirements of both the technical and nontechnical areas. </a:t>
            </a:r>
            <a:endParaRPr/>
          </a:p>
          <a:p>
            <a:pPr indent="0" lvl="0" marL="0" rtl="0" algn="l">
              <a:spcBef>
                <a:spcPts val="300"/>
              </a:spcBef>
              <a:spcAft>
                <a:spcPts val="0"/>
              </a:spcAft>
              <a:buSzPts val="1800"/>
              <a:buNone/>
            </a:pPr>
            <a:r>
              <a:rPr lang="en-US"/>
              <a:t>The champion: A senior executive who promotes the project and ensures its support, both financially and administratively, at the highest levels of the organization.</a:t>
            </a:r>
            <a:endParaRPr/>
          </a:p>
          <a:p>
            <a:pPr indent="0" lvl="0" marL="0" rtl="0" algn="l">
              <a:spcBef>
                <a:spcPts val="300"/>
              </a:spcBef>
              <a:spcAft>
                <a:spcPts val="0"/>
              </a:spcAft>
              <a:buSzPts val="1800"/>
              <a:buNone/>
            </a:pPr>
            <a:r>
              <a:rPr lang="en-US"/>
              <a:t>The team leader: A project manager, who may be a departmental line manager or staff unit manager, who understands project management, personnel management, and information security technical requirements.</a:t>
            </a:r>
            <a:endParaRPr/>
          </a:p>
          <a:p>
            <a:pPr indent="0" lvl="0" marL="0" rtl="0" algn="l">
              <a:spcBef>
                <a:spcPts val="300"/>
              </a:spcBef>
              <a:spcAft>
                <a:spcPts val="0"/>
              </a:spcAft>
              <a:buSzPts val="1800"/>
              <a:buNone/>
            </a:pPr>
            <a:r>
              <a:rPr lang="en-US"/>
              <a:t>Security policy developers: Individuals who understand the organizational culture, policies, and requirements for developing and implementing successful policies.</a:t>
            </a:r>
            <a:endParaRPr/>
          </a:p>
          <a:p>
            <a:pPr indent="0" lvl="0" marL="0" rtl="0" algn="l">
              <a:spcBef>
                <a:spcPts val="300"/>
              </a:spcBef>
              <a:spcAft>
                <a:spcPts val="0"/>
              </a:spcAft>
              <a:buSzPts val="1800"/>
              <a:buNone/>
            </a:pPr>
            <a:r>
              <a:rPr lang="en-US"/>
              <a:t>Risk assessment specialists: People who understand financial risk assessment techniques, the value of organizational assets, and the security methods to be used.</a:t>
            </a:r>
            <a:endParaRPr/>
          </a:p>
          <a:p>
            <a:pPr indent="0" lvl="0" marL="0" rtl="0" algn="l">
              <a:spcBef>
                <a:spcPts val="300"/>
              </a:spcBef>
              <a:spcAft>
                <a:spcPts val="0"/>
              </a:spcAft>
              <a:buSzPts val="1800"/>
              <a:buNone/>
            </a:pPr>
            <a:r>
              <a:rPr lang="en-US"/>
              <a:t>Security professionals: Dedicated, trained, and well-educated specialists in all aspects of information security from both technical and nontechnical standpoints.  </a:t>
            </a:r>
            <a:endParaRPr/>
          </a:p>
          <a:p>
            <a:pPr indent="0" lvl="0" marL="0" rtl="0" algn="l">
              <a:spcBef>
                <a:spcPts val="300"/>
              </a:spcBef>
              <a:spcAft>
                <a:spcPts val="0"/>
              </a:spcAft>
              <a:buSzPts val="1800"/>
              <a:buNone/>
            </a:pPr>
            <a:r>
              <a:rPr lang="en-US"/>
              <a:t>Systems administrators: People with the primary responsibility for administering the systems that house the information used by the organization.</a:t>
            </a:r>
            <a:endParaRPr/>
          </a:p>
          <a:p>
            <a:pPr indent="0" lvl="0" marL="0" rtl="0" algn="l">
              <a:spcBef>
                <a:spcPts val="300"/>
              </a:spcBef>
              <a:spcAft>
                <a:spcPts val="0"/>
              </a:spcAft>
              <a:buSzPts val="1800"/>
              <a:buNone/>
            </a:pPr>
            <a:r>
              <a:rPr lang="en-US"/>
              <a:t>End users: Those whom the new system will most directly impact. Ideally, a selection of users from various departments, levels, and degrees of technical knowledge assist the team in focusing on the application of realistic controls applied in ways that do not disrupt the essential business activities they seek to safeguard.</a:t>
            </a:r>
            <a:endParaRPr/>
          </a:p>
          <a:p>
            <a:pPr indent="0" lvl="0" marL="0" rtl="0" algn="l">
              <a:spcBef>
                <a:spcPts val="0"/>
              </a:spcBef>
              <a:spcAft>
                <a:spcPts val="0"/>
              </a:spcAft>
              <a:buNone/>
            </a:pPr>
            <a:r>
              <a:t/>
            </a:r>
            <a:endParaRPr/>
          </a:p>
        </p:txBody>
      </p:sp>
      <p:sp>
        <p:nvSpPr>
          <p:cNvPr id="521" name="Google Shape;521;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5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529" name="Google Shape;529;p50: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530" name="Google Shape;530;p5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Data Responsibilities</a:t>
            </a:r>
            <a:endParaRPr/>
          </a:p>
          <a:p>
            <a:pPr indent="0" lvl="0" marL="0" rtl="0" algn="l">
              <a:spcBef>
                <a:spcPts val="300"/>
              </a:spcBef>
              <a:spcAft>
                <a:spcPts val="0"/>
              </a:spcAft>
              <a:buSzPts val="1800"/>
              <a:buNone/>
            </a:pPr>
            <a:r>
              <a:rPr lang="en-US"/>
              <a:t>Now that you understand the responsibilities of both senior management and the security project team, we can define the roles of those who own and safeguard the data.</a:t>
            </a:r>
            <a:endParaRPr/>
          </a:p>
          <a:p>
            <a:pPr indent="0" lvl="0" marL="0" rtl="0" algn="l">
              <a:spcBef>
                <a:spcPts val="300"/>
              </a:spcBef>
              <a:spcAft>
                <a:spcPts val="0"/>
              </a:spcAft>
              <a:buSzPts val="1800"/>
              <a:buNone/>
            </a:pPr>
            <a:r>
              <a:rPr lang="en-US"/>
              <a:t>Data Owner – Responsible for the security and use of a particular set of information. Data owners usually determine the level of data classification associated with the data, as well as changes to that classification required by organization change.  </a:t>
            </a:r>
            <a:endParaRPr/>
          </a:p>
          <a:p>
            <a:pPr indent="0" lvl="0" marL="0" rtl="0" algn="l">
              <a:spcBef>
                <a:spcPts val="300"/>
              </a:spcBef>
              <a:spcAft>
                <a:spcPts val="0"/>
              </a:spcAft>
              <a:buSzPts val="1800"/>
              <a:buNone/>
            </a:pPr>
            <a:r>
              <a:rPr lang="en-US"/>
              <a:t>Data Custodian – Responsible for the storage, maintenance, and protection of the information. The duties of a data custodian often include overseeing data storage and backups, implementing the specific procedures and policies laid out in the security policies and plans, and reporting to the data owner.  </a:t>
            </a:r>
            <a:endParaRPr/>
          </a:p>
          <a:p>
            <a:pPr indent="0" lvl="0" marL="0" rtl="0" algn="l">
              <a:spcBef>
                <a:spcPts val="300"/>
              </a:spcBef>
              <a:spcAft>
                <a:spcPts val="0"/>
              </a:spcAft>
              <a:buSzPts val="1800"/>
              <a:buNone/>
            </a:pPr>
            <a:r>
              <a:rPr lang="en-US"/>
              <a:t>Data Users – The end systems users who work with the information to perform their daily jobs supporting the mission of the organization. Everyone in the organization is responsible for the security of data, so data users are included here as individuals with an information security role.</a:t>
            </a:r>
            <a:endParaRPr/>
          </a:p>
          <a:p>
            <a:pPr indent="0" lvl="0" marL="0" rtl="0" algn="l">
              <a:spcBef>
                <a:spcPts val="0"/>
              </a:spcBef>
              <a:spcAft>
                <a:spcPts val="0"/>
              </a:spcAft>
              <a:buNone/>
            </a:pPr>
            <a:r>
              <a:t/>
            </a:r>
            <a:endParaRPr/>
          </a:p>
        </p:txBody>
      </p:sp>
      <p:sp>
        <p:nvSpPr>
          <p:cNvPr id="531" name="Google Shape;531;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5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539" name="Google Shape;539;p51: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540" name="Google Shape;540;p5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Communities of Interest</a:t>
            </a:r>
            <a:endParaRPr/>
          </a:p>
          <a:p>
            <a:pPr indent="0" lvl="0" marL="0" rtl="0" algn="l">
              <a:spcBef>
                <a:spcPts val="400"/>
              </a:spcBef>
              <a:spcAft>
                <a:spcPts val="0"/>
              </a:spcAft>
              <a:buSzPts val="1800"/>
              <a:buNone/>
            </a:pPr>
            <a:r>
              <a:rPr lang="en-US"/>
              <a:t>Each organization develops and maintains its own unique culture and values. Within that corporate culture, there are communities of interest. These include:</a:t>
            </a:r>
            <a:endParaRPr/>
          </a:p>
          <a:p>
            <a:pPr indent="0" lvl="0" marL="0" rtl="0" algn="l">
              <a:spcBef>
                <a:spcPts val="400"/>
              </a:spcBef>
              <a:spcAft>
                <a:spcPts val="0"/>
              </a:spcAft>
              <a:buNone/>
            </a:pPr>
            <a:r>
              <a:rPr lang="en-US"/>
              <a:t> Information Security Management and Professionals</a:t>
            </a:r>
            <a:endParaRPr/>
          </a:p>
          <a:p>
            <a:pPr indent="0" lvl="0" marL="0" rtl="0" algn="l">
              <a:spcBef>
                <a:spcPts val="400"/>
              </a:spcBef>
              <a:spcAft>
                <a:spcPts val="0"/>
              </a:spcAft>
              <a:buNone/>
            </a:pPr>
            <a:r>
              <a:rPr lang="en-US"/>
              <a:t> Information Technology Management and Professionals</a:t>
            </a:r>
            <a:endParaRPr/>
          </a:p>
          <a:p>
            <a:pPr indent="0" lvl="0" marL="0" rtl="0" algn="l">
              <a:spcBef>
                <a:spcPts val="400"/>
              </a:spcBef>
              <a:spcAft>
                <a:spcPts val="0"/>
              </a:spcAft>
              <a:buNone/>
            </a:pPr>
            <a:r>
              <a:rPr lang="en-US"/>
              <a:t> Organizational Management and Professionals</a:t>
            </a:r>
            <a:endParaRPr/>
          </a:p>
          <a:p>
            <a:pPr indent="0" lvl="0" marL="0" rtl="0" algn="l">
              <a:spcBef>
                <a:spcPts val="0"/>
              </a:spcBef>
              <a:spcAft>
                <a:spcPts val="0"/>
              </a:spcAft>
              <a:buNone/>
            </a:pPr>
            <a:r>
              <a:t/>
            </a:r>
            <a:endParaRPr/>
          </a:p>
        </p:txBody>
      </p:sp>
      <p:sp>
        <p:nvSpPr>
          <p:cNvPr id="541" name="Google Shape;541;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5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549" name="Google Shape;549;p52: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550" name="Google Shape;550;p5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Information Security: Is It an Art or a Science?</a:t>
            </a:r>
            <a:endParaRPr/>
          </a:p>
          <a:p>
            <a:pPr indent="0" lvl="0" marL="0" rtl="0" algn="l">
              <a:spcBef>
                <a:spcPts val="400"/>
              </a:spcBef>
              <a:spcAft>
                <a:spcPts val="0"/>
              </a:spcAft>
              <a:buSzPts val="1800"/>
              <a:buNone/>
            </a:pPr>
            <a:r>
              <a:rPr lang="en-US"/>
              <a:t>With the level of complexity in today’s information systems, the implementation of information security has often been described as a combination of art and science. </a:t>
            </a:r>
            <a:endParaRPr/>
          </a:p>
          <a:p>
            <a:pPr indent="0" lvl="0" marL="0" rtl="0" algn="l">
              <a:spcBef>
                <a:spcPts val="400"/>
              </a:spcBef>
              <a:spcAft>
                <a:spcPts val="0"/>
              </a:spcAft>
              <a:buSzPts val="1800"/>
              <a:buNone/>
            </a:pPr>
            <a:r>
              <a:rPr lang="en-US"/>
              <a:t>The concept of the security artesan  is based on the way individuals perceived systems technologists since computers became commonplace. </a:t>
            </a:r>
            <a:endParaRPr/>
          </a:p>
          <a:p>
            <a:pPr indent="0" lvl="0" marL="0" rtl="0" algn="l">
              <a:spcBef>
                <a:spcPts val="0"/>
              </a:spcBef>
              <a:spcAft>
                <a:spcPts val="0"/>
              </a:spcAft>
              <a:buNone/>
            </a:pPr>
            <a:r>
              <a:t/>
            </a:r>
            <a:endParaRPr/>
          </a:p>
        </p:txBody>
      </p:sp>
      <p:sp>
        <p:nvSpPr>
          <p:cNvPr id="551" name="Google Shape;551;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5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559" name="Google Shape;559;p53: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560" name="Google Shape;560;p5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Security as Art</a:t>
            </a:r>
            <a:endParaRPr/>
          </a:p>
          <a:p>
            <a:pPr indent="0" lvl="0" marL="0" rtl="0" algn="l">
              <a:spcBef>
                <a:spcPts val="400"/>
              </a:spcBef>
              <a:spcAft>
                <a:spcPts val="0"/>
              </a:spcAft>
              <a:buSzPts val="1800"/>
              <a:buNone/>
            </a:pPr>
            <a:r>
              <a:rPr lang="en-US"/>
              <a:t>There are no hard and fast rules regulating the installation of various security mechanisms.  </a:t>
            </a:r>
            <a:endParaRPr/>
          </a:p>
          <a:p>
            <a:pPr indent="0" lvl="0" marL="0" rtl="0" algn="l">
              <a:spcBef>
                <a:spcPts val="400"/>
              </a:spcBef>
              <a:spcAft>
                <a:spcPts val="0"/>
              </a:spcAft>
              <a:buSzPts val="1800"/>
              <a:buNone/>
            </a:pPr>
            <a:r>
              <a:rPr lang="en-US"/>
              <a:t>Nor are there many universally accepted complete solutions.  </a:t>
            </a:r>
            <a:endParaRPr/>
          </a:p>
          <a:p>
            <a:pPr indent="0" lvl="0" marL="0" rtl="0" algn="l">
              <a:spcBef>
                <a:spcPts val="400"/>
              </a:spcBef>
              <a:spcAft>
                <a:spcPts val="0"/>
              </a:spcAft>
              <a:buSzPts val="1800"/>
              <a:buNone/>
            </a:pPr>
            <a:r>
              <a:rPr lang="en-US"/>
              <a:t>While there are many manuals to support individual systems, once these systems are interconnected, there is no magic user’s manual for the security of the entire system. </a:t>
            </a:r>
            <a:endParaRPr/>
          </a:p>
          <a:p>
            <a:pPr indent="0" lvl="0" marL="0" rtl="0" algn="l">
              <a:spcBef>
                <a:spcPts val="400"/>
              </a:spcBef>
              <a:spcAft>
                <a:spcPts val="0"/>
              </a:spcAft>
              <a:buSzPts val="1800"/>
              <a:buNone/>
            </a:pPr>
            <a:r>
              <a:rPr lang="en-US"/>
              <a:t>This is especially true with the complex levels of interaction between users, policy, and technology controls.  </a:t>
            </a:r>
            <a:endParaRPr/>
          </a:p>
          <a:p>
            <a:pPr indent="0" lvl="0" marL="0" rtl="0" algn="l">
              <a:spcBef>
                <a:spcPts val="0"/>
              </a:spcBef>
              <a:spcAft>
                <a:spcPts val="0"/>
              </a:spcAft>
              <a:buNone/>
            </a:pPr>
            <a:r>
              <a:t/>
            </a:r>
            <a:endParaRPr/>
          </a:p>
        </p:txBody>
      </p:sp>
      <p:sp>
        <p:nvSpPr>
          <p:cNvPr id="561" name="Google Shape;561;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5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569" name="Google Shape;569;p54: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570" name="Google Shape;570;p5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Security as Science</a:t>
            </a:r>
            <a:endParaRPr/>
          </a:p>
          <a:p>
            <a:pPr indent="0" lvl="0" marL="0" rtl="0" algn="l">
              <a:spcBef>
                <a:spcPts val="400"/>
              </a:spcBef>
              <a:spcAft>
                <a:spcPts val="0"/>
              </a:spcAft>
              <a:buSzPts val="1800"/>
              <a:buNone/>
            </a:pPr>
            <a:r>
              <a:rPr lang="en-US"/>
              <a:t>We are dealing with technology developed by computer scientists and engineers—technology designed to perform at rigorous levels of performance. </a:t>
            </a:r>
            <a:endParaRPr/>
          </a:p>
          <a:p>
            <a:pPr indent="0" lvl="0" marL="0" rtl="0" algn="l">
              <a:spcBef>
                <a:spcPts val="400"/>
              </a:spcBef>
              <a:spcAft>
                <a:spcPts val="0"/>
              </a:spcAft>
              <a:buSzPts val="1800"/>
              <a:buNone/>
            </a:pPr>
            <a:r>
              <a:rPr lang="en-US"/>
              <a:t>Even with the complexity of the technology, most scientists would agree that specific scientific conditions cause virtually all actions that occur in computer systems. </a:t>
            </a:r>
            <a:endParaRPr/>
          </a:p>
          <a:p>
            <a:pPr indent="0" lvl="0" marL="0" rtl="0" algn="l">
              <a:spcBef>
                <a:spcPts val="400"/>
              </a:spcBef>
              <a:spcAft>
                <a:spcPts val="0"/>
              </a:spcAft>
              <a:buSzPts val="1800"/>
              <a:buNone/>
            </a:pPr>
            <a:r>
              <a:rPr lang="en-US"/>
              <a:t>Almost every fault, security hole, and systems malfunction is a result of the interaction of specific hardware and software. </a:t>
            </a:r>
            <a:endParaRPr/>
          </a:p>
          <a:p>
            <a:pPr indent="0" lvl="0" marL="0" rtl="0" algn="l">
              <a:spcBef>
                <a:spcPts val="400"/>
              </a:spcBef>
              <a:spcAft>
                <a:spcPts val="0"/>
              </a:spcAft>
              <a:buSzPts val="1800"/>
              <a:buNone/>
            </a:pPr>
            <a:r>
              <a:rPr lang="en-US"/>
              <a:t>If the developers had sufficient time, they could resolve and eliminate these faults. </a:t>
            </a:r>
            <a:endParaRPr/>
          </a:p>
          <a:p>
            <a:pPr indent="0" lvl="0" marL="0" rtl="0" algn="l">
              <a:spcBef>
                <a:spcPts val="0"/>
              </a:spcBef>
              <a:spcAft>
                <a:spcPts val="0"/>
              </a:spcAft>
              <a:buNone/>
            </a:pPr>
            <a:r>
              <a:t/>
            </a:r>
            <a:endParaRPr/>
          </a:p>
        </p:txBody>
      </p:sp>
      <p:sp>
        <p:nvSpPr>
          <p:cNvPr id="571" name="Google Shape;571;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5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579" name="Google Shape;579;p55: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580" name="Google Shape;580;p5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b="1" lang="en-US"/>
              <a:t>Security as a Social Science</a:t>
            </a:r>
            <a:endParaRPr/>
          </a:p>
          <a:p>
            <a:pPr indent="0" lvl="0" marL="0" rtl="0" algn="l">
              <a:spcBef>
                <a:spcPts val="300"/>
              </a:spcBef>
              <a:spcAft>
                <a:spcPts val="0"/>
              </a:spcAft>
              <a:buSzPts val="1800"/>
              <a:buNone/>
            </a:pPr>
            <a:r>
              <a:rPr lang="en-US"/>
              <a:t>There is a third view: security as a social science.  </a:t>
            </a:r>
            <a:endParaRPr/>
          </a:p>
          <a:p>
            <a:pPr indent="0" lvl="0" marL="0" rtl="0" algn="l">
              <a:spcBef>
                <a:spcPts val="300"/>
              </a:spcBef>
              <a:spcAft>
                <a:spcPts val="0"/>
              </a:spcAft>
              <a:buSzPts val="1800"/>
              <a:buNone/>
            </a:pPr>
            <a:r>
              <a:rPr lang="en-US"/>
              <a:t>Social science examines the behavior of individuals as they interact with systems, whether societal systems or in our case information systems.  </a:t>
            </a:r>
            <a:endParaRPr/>
          </a:p>
          <a:p>
            <a:pPr indent="0" lvl="0" marL="0" rtl="0" algn="l">
              <a:spcBef>
                <a:spcPts val="300"/>
              </a:spcBef>
              <a:spcAft>
                <a:spcPts val="0"/>
              </a:spcAft>
              <a:buSzPts val="1800"/>
              <a:buNone/>
            </a:pPr>
            <a:r>
              <a:rPr lang="en-US"/>
              <a:t>Security begins and ends with the people inside the organization and the people that interact with the system planned or otherwise.  </a:t>
            </a:r>
            <a:endParaRPr/>
          </a:p>
          <a:p>
            <a:pPr indent="0" lvl="0" marL="0" rtl="0" algn="l">
              <a:spcBef>
                <a:spcPts val="300"/>
              </a:spcBef>
              <a:spcAft>
                <a:spcPts val="0"/>
              </a:spcAft>
              <a:buSzPts val="1800"/>
              <a:buNone/>
            </a:pPr>
            <a:r>
              <a:rPr lang="en-US"/>
              <a:t>End users that need the very information the security personnel are trying to protect may be the weakest link in the security chain.  </a:t>
            </a:r>
            <a:endParaRPr/>
          </a:p>
          <a:p>
            <a:pPr indent="0" lvl="0" marL="0" rtl="0" algn="l">
              <a:spcBef>
                <a:spcPts val="300"/>
              </a:spcBef>
              <a:spcAft>
                <a:spcPts val="0"/>
              </a:spcAft>
              <a:buSzPts val="1800"/>
              <a:buNone/>
            </a:pPr>
            <a:r>
              <a:rPr lang="en-US"/>
              <a:t>By understanding some of the behavioral aspects of organizational science and change management, security administrators can greatly reduce the levels of risk caused by end users and create more acceptable and supportable security profiles.  </a:t>
            </a:r>
            <a:endParaRPr/>
          </a:p>
          <a:p>
            <a:pPr indent="0" lvl="0" marL="0" rtl="0" algn="l">
              <a:spcBef>
                <a:spcPts val="0"/>
              </a:spcBef>
              <a:spcAft>
                <a:spcPts val="0"/>
              </a:spcAft>
              <a:buNone/>
            </a:pPr>
            <a:r>
              <a:t/>
            </a:r>
            <a:endParaRPr/>
          </a:p>
        </p:txBody>
      </p:sp>
      <p:sp>
        <p:nvSpPr>
          <p:cNvPr id="581" name="Google Shape;581;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5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589" name="Google Shape;589;p56: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590" name="Google Shape;590;p56:notes"/>
          <p:cNvSpPr txBox="1"/>
          <p:nvPr>
            <p:ph idx="1" type="body"/>
          </p:nvPr>
        </p:nvSpPr>
        <p:spPr>
          <a:xfrm>
            <a:off x="914400" y="4343400"/>
            <a:ext cx="5029200" cy="4114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591" name="Google Shape;591;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5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599" name="Google Shape;599;p57:notes"/>
          <p:cNvSpPr txBox="1"/>
          <p:nvPr/>
        </p:nvSpPr>
        <p:spPr>
          <a:xfrm>
            <a:off x="1143000" y="685800"/>
            <a:ext cx="4572000" cy="3429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600" name="Google Shape;600;p57:notes"/>
          <p:cNvSpPr txBox="1"/>
          <p:nvPr>
            <p:ph idx="1" type="body"/>
          </p:nvPr>
        </p:nvSpPr>
        <p:spPr>
          <a:xfrm>
            <a:off x="914400" y="4343400"/>
            <a:ext cx="5029200" cy="4114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601" name="Google Shape;601;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9" name="Google Shape;609;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 name="Google Shape;15;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 name="Google Shape;31;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8" name="Google Shape;38;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4" name="Google Shape;44;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1" name="Google Shape;51;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4" name="Shape 54"/>
        <p:cNvGrpSpPr/>
        <p:nvPr/>
      </p:nvGrpSpPr>
      <p:grpSpPr>
        <a:xfrm>
          <a:off x="0" y="0"/>
          <a:ext cx="0" cy="0"/>
          <a:chOff x="0" y="0"/>
          <a:chExt cx="0" cy="0"/>
        </a:xfrm>
      </p:grpSpPr>
      <p:sp>
        <p:nvSpPr>
          <p:cNvPr id="55" name="Google Shape;55;p13"/>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56" name="Google Shape;56;p13"/>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222222"/>
              </a:buClr>
              <a:buSzPts val="1800"/>
              <a:buChar char="●"/>
              <a:defRPr/>
            </a:lvl1pPr>
            <a:lvl2pPr indent="-342900" lvl="1" marL="914400" algn="l">
              <a:spcBef>
                <a:spcPts val="360"/>
              </a:spcBef>
              <a:spcAft>
                <a:spcPts val="0"/>
              </a:spcAft>
              <a:buClr>
                <a:srgbClr val="222222"/>
              </a:buClr>
              <a:buSzPts val="1800"/>
              <a:buChar char="○"/>
              <a:defRPr/>
            </a:lvl2pPr>
            <a:lvl3pPr indent="-342900" lvl="2" marL="1371600" algn="l">
              <a:spcBef>
                <a:spcPts val="360"/>
              </a:spcBef>
              <a:spcAft>
                <a:spcPts val="0"/>
              </a:spcAft>
              <a:buClr>
                <a:srgbClr val="222222"/>
              </a:buClr>
              <a:buSzPts val="1800"/>
              <a:buChar char="■"/>
              <a:defRPr/>
            </a:lvl3pPr>
            <a:lvl4pPr indent="-342900" lvl="3" marL="1828800" algn="l">
              <a:spcBef>
                <a:spcPts val="360"/>
              </a:spcBef>
              <a:spcAft>
                <a:spcPts val="0"/>
              </a:spcAft>
              <a:buClr>
                <a:srgbClr val="222222"/>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7" name="Google Shape;57;p13"/>
          <p:cNvSpPr txBox="1"/>
          <p:nvPr>
            <p:ph idx="12" type="sldNum"/>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222222"/>
              </a:buClr>
              <a:buSzPts val="1400"/>
              <a:buFont typeface="Arial"/>
              <a:buNone/>
              <a:defRPr b="0" i="0" sz="1400" u="none" cap="none" strike="noStrike">
                <a:solidFill>
                  <a:srgbClr val="222222"/>
                </a:solidFill>
                <a:latin typeface="Arial"/>
                <a:ea typeface="Arial"/>
                <a:cs typeface="Arial"/>
                <a:sym typeface="Arial"/>
              </a:defRPr>
            </a:lvl1pPr>
            <a:lvl2pPr indent="0" lvl="1" marL="0" marR="0" algn="r">
              <a:lnSpc>
                <a:spcPct val="100000"/>
              </a:lnSpc>
              <a:spcBef>
                <a:spcPts val="0"/>
              </a:spcBef>
              <a:spcAft>
                <a:spcPts val="0"/>
              </a:spcAft>
              <a:buClr>
                <a:srgbClr val="222222"/>
              </a:buClr>
              <a:buSzPts val="1400"/>
              <a:buFont typeface="Arial"/>
              <a:buNone/>
              <a:defRPr b="0" i="0" sz="1400" u="none" cap="none" strike="noStrike">
                <a:solidFill>
                  <a:srgbClr val="222222"/>
                </a:solidFill>
                <a:latin typeface="Arial"/>
                <a:ea typeface="Arial"/>
                <a:cs typeface="Arial"/>
                <a:sym typeface="Arial"/>
              </a:defRPr>
            </a:lvl2pPr>
            <a:lvl3pPr indent="0" lvl="2" marL="0" marR="0" algn="r">
              <a:lnSpc>
                <a:spcPct val="100000"/>
              </a:lnSpc>
              <a:spcBef>
                <a:spcPts val="0"/>
              </a:spcBef>
              <a:spcAft>
                <a:spcPts val="0"/>
              </a:spcAft>
              <a:buClr>
                <a:srgbClr val="222222"/>
              </a:buClr>
              <a:buSzPts val="1400"/>
              <a:buFont typeface="Arial"/>
              <a:buNone/>
              <a:defRPr b="0" i="0" sz="1400" u="none" cap="none" strike="noStrike">
                <a:solidFill>
                  <a:srgbClr val="222222"/>
                </a:solidFill>
                <a:latin typeface="Arial"/>
                <a:ea typeface="Arial"/>
                <a:cs typeface="Arial"/>
                <a:sym typeface="Arial"/>
              </a:defRPr>
            </a:lvl3pPr>
            <a:lvl4pPr indent="0" lvl="3" marL="0" marR="0" algn="r">
              <a:lnSpc>
                <a:spcPct val="100000"/>
              </a:lnSpc>
              <a:spcBef>
                <a:spcPts val="0"/>
              </a:spcBef>
              <a:spcAft>
                <a:spcPts val="0"/>
              </a:spcAft>
              <a:buClr>
                <a:srgbClr val="222222"/>
              </a:buClr>
              <a:buSzPts val="1400"/>
              <a:buFont typeface="Arial"/>
              <a:buNone/>
              <a:defRPr b="0" i="0" sz="1400" u="none" cap="none" strike="noStrike">
                <a:solidFill>
                  <a:srgbClr val="222222"/>
                </a:solidFill>
                <a:latin typeface="Arial"/>
                <a:ea typeface="Arial"/>
                <a:cs typeface="Arial"/>
                <a:sym typeface="Arial"/>
              </a:defRPr>
            </a:lvl4pPr>
            <a:lvl5pPr indent="0" lvl="4" marL="0" marR="0" algn="r">
              <a:lnSpc>
                <a:spcPct val="100000"/>
              </a:lnSpc>
              <a:spcBef>
                <a:spcPts val="0"/>
              </a:spcBef>
              <a:spcAft>
                <a:spcPts val="0"/>
              </a:spcAft>
              <a:buClr>
                <a:srgbClr val="222222"/>
              </a:buClr>
              <a:buSzPts val="1400"/>
              <a:buFont typeface="Arial"/>
              <a:buNone/>
              <a:defRPr b="0" i="0" sz="1400" u="none" cap="none" strike="noStrike">
                <a:solidFill>
                  <a:srgbClr val="222222"/>
                </a:solidFill>
                <a:latin typeface="Arial"/>
                <a:ea typeface="Arial"/>
                <a:cs typeface="Arial"/>
                <a:sym typeface="Arial"/>
              </a:defRPr>
            </a:lvl5pPr>
            <a:lvl6pPr indent="0" lvl="5" marL="0" marR="0" algn="r">
              <a:lnSpc>
                <a:spcPct val="100000"/>
              </a:lnSpc>
              <a:spcBef>
                <a:spcPts val="0"/>
              </a:spcBef>
              <a:spcAft>
                <a:spcPts val="0"/>
              </a:spcAft>
              <a:buClr>
                <a:srgbClr val="222222"/>
              </a:buClr>
              <a:buSzPts val="1400"/>
              <a:buFont typeface="Arial"/>
              <a:buNone/>
              <a:defRPr b="0" i="0" sz="1400" u="none" cap="none" strike="noStrike">
                <a:solidFill>
                  <a:srgbClr val="222222"/>
                </a:solidFill>
                <a:latin typeface="Arial"/>
                <a:ea typeface="Arial"/>
                <a:cs typeface="Arial"/>
                <a:sym typeface="Arial"/>
              </a:defRPr>
            </a:lvl6pPr>
            <a:lvl7pPr indent="0" lvl="6" marL="0" marR="0" algn="r">
              <a:lnSpc>
                <a:spcPct val="100000"/>
              </a:lnSpc>
              <a:spcBef>
                <a:spcPts val="0"/>
              </a:spcBef>
              <a:spcAft>
                <a:spcPts val="0"/>
              </a:spcAft>
              <a:buClr>
                <a:srgbClr val="222222"/>
              </a:buClr>
              <a:buSzPts val="1400"/>
              <a:buFont typeface="Arial"/>
              <a:buNone/>
              <a:defRPr b="0" i="0" sz="1400" u="none" cap="none" strike="noStrike">
                <a:solidFill>
                  <a:srgbClr val="222222"/>
                </a:solidFill>
                <a:latin typeface="Arial"/>
                <a:ea typeface="Arial"/>
                <a:cs typeface="Arial"/>
                <a:sym typeface="Arial"/>
              </a:defRPr>
            </a:lvl7pPr>
            <a:lvl8pPr indent="0" lvl="7" marL="0" marR="0" algn="r">
              <a:lnSpc>
                <a:spcPct val="100000"/>
              </a:lnSpc>
              <a:spcBef>
                <a:spcPts val="0"/>
              </a:spcBef>
              <a:spcAft>
                <a:spcPts val="0"/>
              </a:spcAft>
              <a:buClr>
                <a:srgbClr val="222222"/>
              </a:buClr>
              <a:buSzPts val="1400"/>
              <a:buFont typeface="Arial"/>
              <a:buNone/>
              <a:defRPr b="0" i="0" sz="1400" u="none" cap="none" strike="noStrike">
                <a:solidFill>
                  <a:srgbClr val="222222"/>
                </a:solidFill>
                <a:latin typeface="Arial"/>
                <a:ea typeface="Arial"/>
                <a:cs typeface="Arial"/>
                <a:sym typeface="Arial"/>
              </a:defRPr>
            </a:lvl8pPr>
            <a:lvl9pPr indent="0" lvl="8" marL="0" marR="0" algn="r">
              <a:lnSpc>
                <a:spcPct val="100000"/>
              </a:lnSpc>
              <a:spcBef>
                <a:spcPts val="0"/>
              </a:spcBef>
              <a:spcAft>
                <a:spcPts val="0"/>
              </a:spcAft>
              <a:buClr>
                <a:srgbClr val="222222"/>
              </a:buClr>
              <a:buSzPts val="1400"/>
              <a:buFont typeface="Arial"/>
              <a:buNone/>
              <a:defRPr b="0" i="0" sz="1400" u="none" cap="none" strike="noStrike">
                <a:solidFill>
                  <a:srgbClr val="22222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1" name="Google Shape;11;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12" name="Google Shape;12;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Objectives</a:t>
            </a:r>
            <a:endParaRPr/>
          </a:p>
        </p:txBody>
      </p:sp>
      <p:sp>
        <p:nvSpPr>
          <p:cNvPr id="65" name="Google Shape;65;p14"/>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Define information security</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Recount the history of computer security and how it evolved into information security</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Define key terms and critical concepts of information security</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Enumerate the phases of the security systems development life cycle</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Describe the information security roles of professionals within an organization</a:t>
            </a:r>
            <a:endParaRPr/>
          </a:p>
          <a:p>
            <a:pPr indent="-190500" lvl="0" marL="342900" marR="0" rtl="0" algn="l">
              <a:spcBef>
                <a:spcPts val="480"/>
              </a:spcBef>
              <a:spcAft>
                <a:spcPts val="0"/>
              </a:spcAft>
              <a:buClr>
                <a:srgbClr val="222222"/>
              </a:buClr>
              <a:buSzPts val="2400"/>
              <a:buFont typeface="Arial"/>
              <a:buNone/>
            </a:pPr>
            <a:r>
              <a:t/>
            </a:r>
            <a:endParaRPr b="0" i="0" sz="2400" u="none" cap="none" strike="noStrike">
              <a:solidFill>
                <a:srgbClr val="222222"/>
              </a:solidFill>
              <a:latin typeface="Arial"/>
              <a:ea typeface="Arial"/>
              <a:cs typeface="Arial"/>
              <a:sym typeface="Arial"/>
            </a:endParaRPr>
          </a:p>
        </p:txBody>
      </p:sp>
      <p:sp>
        <p:nvSpPr>
          <p:cNvPr id="66" name="Google Shape;66;p14"/>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a:p>
        </p:txBody>
      </p:sp>
      <p:sp>
        <p:nvSpPr>
          <p:cNvPr id="67" name="Google Shape;67;p14"/>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cap="none" strike="noStrike">
                <a:solidFill>
                  <a:srgbClr val="222222"/>
                </a:solidFill>
                <a:latin typeface="Arial"/>
                <a:ea typeface="Arial"/>
                <a:cs typeface="Arial"/>
                <a:sym typeface="Arial"/>
              </a:rPr>
              <a:t>Principles of Information Security, Fourth Edition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Introduction</a:t>
            </a:r>
            <a:endParaRPr/>
          </a:p>
        </p:txBody>
      </p:sp>
      <p:sp>
        <p:nvSpPr>
          <p:cNvPr id="75" name="Google Shape;75;p15"/>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Information security: a “well-informed sense of assurance that the information risks and controls are in balance.” — Jim Anderson, Inovant (2002)‏</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Security professionals must review the origins of this field to understand its impact on our understanding of information security today</a:t>
            </a:r>
            <a:endParaRPr/>
          </a:p>
        </p:txBody>
      </p:sp>
      <p:sp>
        <p:nvSpPr>
          <p:cNvPr id="76" name="Google Shape;76;p15"/>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 of Information Security, Fourth Edition</a:t>
            </a:r>
            <a:endParaRPr/>
          </a:p>
        </p:txBody>
      </p:sp>
      <p:sp>
        <p:nvSpPr>
          <p:cNvPr id="77" name="Google Shape;77;p15"/>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The History of Information Security</a:t>
            </a:r>
            <a:endParaRPr/>
          </a:p>
        </p:txBody>
      </p:sp>
      <p:sp>
        <p:nvSpPr>
          <p:cNvPr id="85" name="Google Shape;85;p16"/>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19087" lvl="0" marL="338137"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Computer security began immediately after the first mainframes were developed </a:t>
            </a:r>
            <a:endParaRPr/>
          </a:p>
          <a:p>
            <a:pPr indent="-319087" lvl="1" marL="738187" marR="0" rtl="0" algn="l">
              <a:lnSpc>
                <a:spcPct val="100000"/>
              </a:lnSpc>
              <a:spcBef>
                <a:spcPts val="60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Groups developing code-breaking computations during World War II created the first modern computers</a:t>
            </a:r>
            <a:endParaRPr/>
          </a:p>
          <a:p>
            <a:pPr indent="-319087" lvl="1" marL="738187" marR="0" rtl="0" algn="l">
              <a:lnSpc>
                <a:spcPct val="100000"/>
              </a:lnSpc>
              <a:spcBef>
                <a:spcPts val="60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Multiple levels of security were implemented</a:t>
            </a:r>
            <a:endParaRPr/>
          </a:p>
          <a:p>
            <a:pPr indent="-319087" lvl="0" marL="338137" marR="0" rtl="0" algn="l">
              <a:lnSpc>
                <a:spcPct val="100000"/>
              </a:lnSpc>
              <a:spcBef>
                <a:spcPts val="60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Physical controls to limit access to sensitive military locations to authorized personnel</a:t>
            </a:r>
            <a:endParaRPr/>
          </a:p>
          <a:p>
            <a:pPr indent="-319087" lvl="0" marL="338137" marR="0" rtl="0" algn="l">
              <a:lnSpc>
                <a:spcPct val="100000"/>
              </a:lnSpc>
              <a:spcBef>
                <a:spcPts val="60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Rudimentary in defending against physical theft, espionage, and sabotage</a:t>
            </a:r>
            <a:endParaRPr/>
          </a:p>
        </p:txBody>
      </p:sp>
      <p:sp>
        <p:nvSpPr>
          <p:cNvPr id="86" name="Google Shape;86;p16"/>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87" name="Google Shape;87;p16"/>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 of Information Security, Fourth Edition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95" name="Google Shape;95;p17"/>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600"/>
              <a:buFont typeface="Arial"/>
              <a:buNone/>
            </a:pPr>
            <a:r>
              <a:rPr b="0" i="0" lang="en-US" sz="3600" u="none" cap="none" strike="noStrike">
                <a:solidFill>
                  <a:srgbClr val="FFFFFF"/>
                </a:solidFill>
                <a:latin typeface="Arial"/>
                <a:ea typeface="Arial"/>
                <a:cs typeface="Arial"/>
                <a:sym typeface="Arial"/>
              </a:rPr>
              <a:t>Figure 1-1 – The Enigma</a:t>
            </a:r>
            <a:endParaRPr/>
          </a:p>
        </p:txBody>
      </p:sp>
      <p:sp>
        <p:nvSpPr>
          <p:cNvPr id="96" name="Google Shape;96;p17"/>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 of Information Security, Fourth Edition</a:t>
            </a:r>
            <a:endParaRPr/>
          </a:p>
        </p:txBody>
      </p:sp>
      <p:pic>
        <p:nvPicPr>
          <p:cNvPr id="97" name="Google Shape;97;p17"/>
          <p:cNvPicPr preferRelativeResize="0"/>
          <p:nvPr/>
        </p:nvPicPr>
        <p:blipFill rotWithShape="1">
          <a:blip r:embed="rId3">
            <a:alphaModFix/>
          </a:blip>
          <a:srcRect b="0" l="0" r="0" t="0"/>
          <a:stretch/>
        </p:blipFill>
        <p:spPr>
          <a:xfrm>
            <a:off x="228600" y="252412"/>
            <a:ext cx="8610600" cy="5211762"/>
          </a:xfrm>
          <a:prstGeom prst="rect">
            <a:avLst/>
          </a:prstGeom>
          <a:noFill/>
          <a:ln>
            <a:noFill/>
          </a:ln>
        </p:spPr>
      </p:pic>
      <p:sp>
        <p:nvSpPr>
          <p:cNvPr id="98" name="Google Shape;98;p17"/>
          <p:cNvSpPr txBox="1"/>
          <p:nvPr/>
        </p:nvSpPr>
        <p:spPr>
          <a:xfrm>
            <a:off x="2209800" y="5562600"/>
            <a:ext cx="4876800"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Figure 1-1 The Enigma</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Source: Courtesy of National Security Agency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8"/>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The 1960s</a:t>
            </a:r>
            <a:endParaRPr/>
          </a:p>
        </p:txBody>
      </p:sp>
      <p:sp>
        <p:nvSpPr>
          <p:cNvPr id="106" name="Google Shape;106;p18"/>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Advanced Research Project Agency (ARPA) began to examine feasibility of redundant networked communications</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Larry Roberts developed ARPANET from its inception</a:t>
            </a:r>
            <a:endParaRPr/>
          </a:p>
        </p:txBody>
      </p:sp>
      <p:sp>
        <p:nvSpPr>
          <p:cNvPr id="107" name="Google Shape;107;p18"/>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108" name="Google Shape;108;p18"/>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 of Information Security, Fourth Edition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9"/>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FFFF"/>
              </a:buClr>
              <a:buSzPts val="3600"/>
              <a:buFont typeface="Arial"/>
              <a:buNone/>
            </a:pPr>
            <a:r>
              <a:rPr b="0" i="0" lang="en-US" sz="3600" u="none">
                <a:solidFill>
                  <a:srgbClr val="FFFFFF"/>
                </a:solidFill>
                <a:latin typeface="Arial"/>
                <a:ea typeface="Arial"/>
                <a:cs typeface="Arial"/>
                <a:sym typeface="Arial"/>
              </a:rPr>
              <a:t>Figure 1-2 - ARPANET</a:t>
            </a:r>
            <a:endParaRPr/>
          </a:p>
        </p:txBody>
      </p:sp>
      <p:sp>
        <p:nvSpPr>
          <p:cNvPr id="116" name="Google Shape;116;p19"/>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117" name="Google Shape;117;p19"/>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 of Information Security, Fourth Edition</a:t>
            </a:r>
            <a:endParaRPr/>
          </a:p>
        </p:txBody>
      </p:sp>
      <p:pic>
        <p:nvPicPr>
          <p:cNvPr id="118" name="Google Shape;118;p19"/>
          <p:cNvPicPr preferRelativeResize="0"/>
          <p:nvPr/>
        </p:nvPicPr>
        <p:blipFill rotWithShape="1">
          <a:blip r:embed="rId3">
            <a:alphaModFix/>
          </a:blip>
          <a:srcRect b="0" l="0" r="0" t="0"/>
          <a:stretch/>
        </p:blipFill>
        <p:spPr>
          <a:xfrm>
            <a:off x="381000" y="0"/>
            <a:ext cx="8534400" cy="5638800"/>
          </a:xfrm>
          <a:prstGeom prst="rect">
            <a:avLst/>
          </a:prstGeom>
          <a:noFill/>
          <a:ln>
            <a:noFill/>
          </a:ln>
        </p:spPr>
      </p:pic>
      <p:sp>
        <p:nvSpPr>
          <p:cNvPr id="119" name="Google Shape;119;p19"/>
          <p:cNvSpPr txBox="1"/>
          <p:nvPr/>
        </p:nvSpPr>
        <p:spPr>
          <a:xfrm>
            <a:off x="1524000" y="5526087"/>
            <a:ext cx="6400800"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Figure 1-2 Development of the ARPANET Program Plan</a:t>
            </a:r>
            <a:r>
              <a:rPr b="0" baseline="30000" i="0" lang="en-US" sz="1800" u="none">
                <a:solidFill>
                  <a:schemeClr val="dk1"/>
                </a:solidFill>
                <a:latin typeface="Arial"/>
                <a:ea typeface="Arial"/>
                <a:cs typeface="Arial"/>
                <a:sym typeface="Arial"/>
              </a:rPr>
              <a:t>3</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Source: Courtesy of Dr. Lawrence Roberts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0"/>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The 1970s and 80s</a:t>
            </a:r>
            <a:endParaRPr/>
          </a:p>
        </p:txBody>
      </p:sp>
      <p:sp>
        <p:nvSpPr>
          <p:cNvPr id="127" name="Google Shape;127;p20"/>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ARPANET grew in popularity as did its potential for misuse</a:t>
            </a:r>
            <a:endParaRPr/>
          </a:p>
          <a:p>
            <a:pPr indent="-342900" lvl="0" marL="342900" marR="0" rtl="0" algn="l">
              <a:lnSpc>
                <a:spcPct val="100000"/>
              </a:lnSpc>
              <a:spcBef>
                <a:spcPts val="60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Fundamental problems with ARPANET security were identified</a:t>
            </a:r>
            <a:endParaRPr/>
          </a:p>
          <a:p>
            <a:pPr indent="-285750" lvl="1" marL="742950" marR="0" rtl="0" algn="l">
              <a:lnSpc>
                <a:spcPct val="100000"/>
              </a:lnSpc>
              <a:spcBef>
                <a:spcPts val="50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No safety procedures for dial-up connections to ARPANET</a:t>
            </a:r>
            <a:endParaRPr/>
          </a:p>
          <a:p>
            <a:pPr indent="-285750" lvl="1" marL="742950" marR="0" rtl="0" algn="l">
              <a:lnSpc>
                <a:spcPct val="100000"/>
              </a:lnSpc>
              <a:spcBef>
                <a:spcPts val="50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Nonexistent user identification and authorization to system</a:t>
            </a:r>
            <a:endParaRPr/>
          </a:p>
          <a:p>
            <a:pPr indent="-342900" lvl="0" marL="342900" marR="0" rtl="0" algn="l">
              <a:lnSpc>
                <a:spcPct val="100000"/>
              </a:lnSpc>
              <a:spcBef>
                <a:spcPts val="60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Late 1970s: microprocessor expanded computing capabilities and security threats</a:t>
            </a:r>
            <a:endParaRPr/>
          </a:p>
        </p:txBody>
      </p:sp>
      <p:sp>
        <p:nvSpPr>
          <p:cNvPr id="128" name="Google Shape;128;p20"/>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129" name="Google Shape;129;p20"/>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 of Information Security, Fourth Edition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The 1970s and 80s (cont’d.)‏</a:t>
            </a:r>
            <a:endParaRPr/>
          </a:p>
        </p:txBody>
      </p:sp>
      <p:sp>
        <p:nvSpPr>
          <p:cNvPr id="137" name="Google Shape;137;p21"/>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Information security began with Rand Report R-609 (paper that started the study of computer security)‏</a:t>
            </a:r>
            <a:endParaRPr/>
          </a:p>
          <a:p>
            <a:pPr indent="-342900" lvl="0" marL="342900" marR="0" rtl="0" algn="l">
              <a:lnSpc>
                <a:spcPct val="100000"/>
              </a:lnSpc>
              <a:spcBef>
                <a:spcPts val="60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Scope of computer security grew from physical security to include: </a:t>
            </a:r>
            <a:endParaRPr/>
          </a:p>
          <a:p>
            <a:pPr indent="-285750" lvl="1" marL="742950" marR="0" rtl="0" algn="l">
              <a:lnSpc>
                <a:spcPct val="100000"/>
              </a:lnSpc>
              <a:spcBef>
                <a:spcPts val="50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Safety of data</a:t>
            </a:r>
            <a:endParaRPr/>
          </a:p>
          <a:p>
            <a:pPr indent="-285750" lvl="1" marL="742950" marR="0" rtl="0" algn="l">
              <a:lnSpc>
                <a:spcPct val="100000"/>
              </a:lnSpc>
              <a:spcBef>
                <a:spcPts val="50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Limiting unauthorized access to data</a:t>
            </a:r>
            <a:endParaRPr/>
          </a:p>
          <a:p>
            <a:pPr indent="-285750" lvl="1" marL="742950" marR="0" rtl="0" algn="l">
              <a:lnSpc>
                <a:spcPct val="100000"/>
              </a:lnSpc>
              <a:spcBef>
                <a:spcPts val="50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Involvement of personnel from multiple levels of an organization</a:t>
            </a:r>
            <a:endParaRPr/>
          </a:p>
        </p:txBody>
      </p:sp>
      <p:sp>
        <p:nvSpPr>
          <p:cNvPr id="138" name="Google Shape;138;p21"/>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139" name="Google Shape;139;p21"/>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 of Information Security, Fourth Edition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MULTICS</a:t>
            </a:r>
            <a:endParaRPr/>
          </a:p>
        </p:txBody>
      </p:sp>
      <p:sp>
        <p:nvSpPr>
          <p:cNvPr id="147" name="Google Shape;147;p22"/>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Early focus of computer security research was a system called Multiplexed Information and Computing Service (MULTICS)‏</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First operating system created with security as its primary goal</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Mainframe, time-sharing OS developed in mid-1960s by General Electric (GE), Bell Labs, and Massachusetts Institute of Technology (MIT)‏</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Several MULTICS key players created UNIX</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Primary purpose of UNIX was text processing</a:t>
            </a:r>
            <a:endParaRPr/>
          </a:p>
        </p:txBody>
      </p:sp>
      <p:sp>
        <p:nvSpPr>
          <p:cNvPr id="148" name="Google Shape;148;p22"/>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149" name="Google Shape;149;p22"/>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 of Information Security, Fourth Edition</a:t>
            </a:r>
            <a:endParaRPr/>
          </a:p>
        </p:txBody>
      </p:sp>
      <p:sp>
        <p:nvSpPr>
          <p:cNvPr id="155" name="Google Shape;155;p23"/>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pic>
        <p:nvPicPr>
          <p:cNvPr id="156" name="Google Shape;156;p23"/>
          <p:cNvPicPr preferRelativeResize="0"/>
          <p:nvPr/>
        </p:nvPicPr>
        <p:blipFill rotWithShape="1">
          <a:blip r:embed="rId3">
            <a:alphaModFix/>
          </a:blip>
          <a:srcRect b="0" l="0" r="0" t="0"/>
          <a:stretch/>
        </p:blipFill>
        <p:spPr>
          <a:xfrm>
            <a:off x="182562" y="76200"/>
            <a:ext cx="8809037" cy="5811837"/>
          </a:xfrm>
          <a:prstGeom prst="rect">
            <a:avLst/>
          </a:prstGeom>
          <a:noFill/>
          <a:ln>
            <a:noFill/>
          </a:ln>
        </p:spPr>
      </p:pic>
      <p:sp>
        <p:nvSpPr>
          <p:cNvPr id="157" name="Google Shape;157;p23"/>
          <p:cNvSpPr txBox="1"/>
          <p:nvPr/>
        </p:nvSpPr>
        <p:spPr>
          <a:xfrm>
            <a:off x="1295400" y="5954712"/>
            <a:ext cx="708660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Table 1-1 Key Dates for Seminal Works in Early Computer Security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4"/>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The 1990s</a:t>
            </a:r>
            <a:endParaRPr/>
          </a:p>
        </p:txBody>
      </p:sp>
      <p:sp>
        <p:nvSpPr>
          <p:cNvPr id="165" name="Google Shape;165;p24"/>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Networks of computers became more common; so too did the need to interconnect networks</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Internet became first manifestation of a global network of networks</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Initially based on de facto standards</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In early Internet deployments, security was treated as a low priority</a:t>
            </a:r>
            <a:endParaRPr/>
          </a:p>
        </p:txBody>
      </p:sp>
      <p:sp>
        <p:nvSpPr>
          <p:cNvPr id="166" name="Google Shape;166;p24"/>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167" name="Google Shape;167;p24"/>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5"/>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2000 to Present</a:t>
            </a:r>
            <a:endParaRPr/>
          </a:p>
        </p:txBody>
      </p:sp>
      <p:sp>
        <p:nvSpPr>
          <p:cNvPr id="175" name="Google Shape;175;p25"/>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6075"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The Internet brings millions of computer networks into communication with each other—many of them unsecured </a:t>
            </a:r>
            <a:endParaRPr/>
          </a:p>
          <a:p>
            <a:pPr indent="-342900" lvl="0" marL="346075" marR="0" rtl="0" algn="l">
              <a:lnSpc>
                <a:spcPct val="100000"/>
              </a:lnSpc>
              <a:spcBef>
                <a:spcPts val="60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Ability to secure a computer’s data influenced by the security of every computer to which it is connected</a:t>
            </a:r>
            <a:endParaRPr/>
          </a:p>
          <a:p>
            <a:pPr indent="-342900" lvl="0" marL="346075" marR="0" rtl="0" algn="l">
              <a:lnSpc>
                <a:spcPct val="100000"/>
              </a:lnSpc>
              <a:spcBef>
                <a:spcPts val="60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Growing threat of cyber attacks has increased the need for improved security</a:t>
            </a:r>
            <a:endParaRPr/>
          </a:p>
        </p:txBody>
      </p:sp>
      <p:sp>
        <p:nvSpPr>
          <p:cNvPr id="176" name="Google Shape;176;p25"/>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177" name="Google Shape;177;p25"/>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 of Information Security, Fourth Edition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6"/>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What is Security?</a:t>
            </a:r>
            <a:endParaRPr/>
          </a:p>
        </p:txBody>
      </p:sp>
      <p:sp>
        <p:nvSpPr>
          <p:cNvPr id="185" name="Google Shape;185;p26"/>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“The quality or state of being secure—to be free from danger”  </a:t>
            </a:r>
            <a:endParaRPr/>
          </a:p>
          <a:p>
            <a:pPr indent="-342900" lvl="0" marL="342900" marR="0" rtl="0" algn="l">
              <a:lnSpc>
                <a:spcPct val="100000"/>
              </a:lnSpc>
              <a:spcBef>
                <a:spcPts val="60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A successful organization should have multiple layers of security in place: </a:t>
            </a:r>
            <a:endParaRPr/>
          </a:p>
          <a:p>
            <a:pPr indent="-285750" lvl="1" marL="742950" marR="0" rtl="0" algn="l">
              <a:lnSpc>
                <a:spcPct val="100000"/>
              </a:lnSpc>
              <a:spcBef>
                <a:spcPts val="50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Physical security</a:t>
            </a:r>
            <a:endParaRPr/>
          </a:p>
          <a:p>
            <a:pPr indent="-285750" lvl="1" marL="742950" marR="0" rtl="0" algn="l">
              <a:lnSpc>
                <a:spcPct val="100000"/>
              </a:lnSpc>
              <a:spcBef>
                <a:spcPts val="50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Personal security </a:t>
            </a:r>
            <a:endParaRPr/>
          </a:p>
          <a:p>
            <a:pPr indent="-285750" lvl="1" marL="742950" marR="0" rtl="0" algn="l">
              <a:lnSpc>
                <a:spcPct val="100000"/>
              </a:lnSpc>
              <a:spcBef>
                <a:spcPts val="50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Operations security </a:t>
            </a:r>
            <a:endParaRPr/>
          </a:p>
          <a:p>
            <a:pPr indent="-285750" lvl="1" marL="742950" marR="0" rtl="0" algn="l">
              <a:lnSpc>
                <a:spcPct val="100000"/>
              </a:lnSpc>
              <a:spcBef>
                <a:spcPts val="50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Communications security </a:t>
            </a:r>
            <a:endParaRPr/>
          </a:p>
          <a:p>
            <a:pPr indent="-285750" lvl="1" marL="742950" marR="0" rtl="0" algn="l">
              <a:lnSpc>
                <a:spcPct val="100000"/>
              </a:lnSpc>
              <a:spcBef>
                <a:spcPts val="50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Network security</a:t>
            </a:r>
            <a:endParaRPr/>
          </a:p>
          <a:p>
            <a:pPr indent="-285750" lvl="1" marL="742950" marR="0" rtl="0" algn="l">
              <a:lnSpc>
                <a:spcPct val="100000"/>
              </a:lnSpc>
              <a:spcBef>
                <a:spcPts val="50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Information security</a:t>
            </a:r>
            <a:endParaRPr/>
          </a:p>
        </p:txBody>
      </p:sp>
      <p:sp>
        <p:nvSpPr>
          <p:cNvPr id="186" name="Google Shape;186;p26"/>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187" name="Google Shape;187;p26"/>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 of Information Security, Fourth Edition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7"/>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What is Security? (cont’d.)‏</a:t>
            </a:r>
            <a:endParaRPr/>
          </a:p>
        </p:txBody>
      </p:sp>
      <p:sp>
        <p:nvSpPr>
          <p:cNvPr id="195" name="Google Shape;195;p27"/>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The protection of information and its critical elements, including systems and hardware that use, store, and transmit that information </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Necessary tools: policy, awareness, training, education, technology</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C.I.A. triangle</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Was standard based on confidentiality, integrity, and availability</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Now expanded into list of critical characteristics of information</a:t>
            </a:r>
            <a:endParaRPr/>
          </a:p>
        </p:txBody>
      </p:sp>
      <p:sp>
        <p:nvSpPr>
          <p:cNvPr id="196" name="Google Shape;196;p27"/>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197" name="Google Shape;197;p27"/>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8"/>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204" name="Google Shape;204;p28"/>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 of Information Security, Fourth Edition</a:t>
            </a:r>
            <a:endParaRPr/>
          </a:p>
        </p:txBody>
      </p:sp>
      <p:pic>
        <p:nvPicPr>
          <p:cNvPr id="205" name="Google Shape;205;p28"/>
          <p:cNvPicPr preferRelativeResize="0"/>
          <p:nvPr/>
        </p:nvPicPr>
        <p:blipFill rotWithShape="1">
          <a:blip r:embed="rId3">
            <a:alphaModFix/>
          </a:blip>
          <a:srcRect b="0" l="0" r="0" t="0"/>
          <a:stretch/>
        </p:blipFill>
        <p:spPr>
          <a:xfrm>
            <a:off x="136525" y="609600"/>
            <a:ext cx="8829675" cy="4724400"/>
          </a:xfrm>
          <a:prstGeom prst="rect">
            <a:avLst/>
          </a:prstGeom>
          <a:noFill/>
          <a:ln>
            <a:noFill/>
          </a:ln>
        </p:spPr>
      </p:pic>
      <p:sp>
        <p:nvSpPr>
          <p:cNvPr id="206" name="Google Shape;206;p28"/>
          <p:cNvSpPr txBox="1"/>
          <p:nvPr/>
        </p:nvSpPr>
        <p:spPr>
          <a:xfrm>
            <a:off x="2133600" y="5562600"/>
            <a:ext cx="495300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Figure 1-3 Components of Information Security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9"/>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Key Information Security Concepts</a:t>
            </a:r>
            <a:endParaRPr/>
          </a:p>
        </p:txBody>
      </p:sp>
      <p:sp>
        <p:nvSpPr>
          <p:cNvPr id="214" name="Google Shape;214;p29"/>
          <p:cNvSpPr txBox="1"/>
          <p:nvPr>
            <p:ph idx="1" type="body"/>
          </p:nvPr>
        </p:nvSpPr>
        <p:spPr>
          <a:xfrm>
            <a:off x="533400" y="1676400"/>
            <a:ext cx="43434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Access</a:t>
            </a:r>
            <a:endParaRPr/>
          </a:p>
          <a:p>
            <a:pPr indent="-342900" lvl="0" marL="342900" marR="0" rtl="0" algn="l">
              <a:lnSpc>
                <a:spcPct val="90000"/>
              </a:lnSpc>
              <a:spcBef>
                <a:spcPts val="70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Asset</a:t>
            </a:r>
            <a:endParaRPr/>
          </a:p>
          <a:p>
            <a:pPr indent="-342900" lvl="0" marL="342900" marR="0" rtl="0" algn="l">
              <a:lnSpc>
                <a:spcPct val="90000"/>
              </a:lnSpc>
              <a:spcBef>
                <a:spcPts val="70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Attack </a:t>
            </a:r>
            <a:endParaRPr/>
          </a:p>
          <a:p>
            <a:pPr indent="-342900" lvl="0" marL="342900" marR="0" rtl="0" algn="l">
              <a:lnSpc>
                <a:spcPct val="90000"/>
              </a:lnSpc>
              <a:spcBef>
                <a:spcPts val="70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Control, Safeguard, or Countermeasure</a:t>
            </a:r>
            <a:endParaRPr/>
          </a:p>
          <a:p>
            <a:pPr indent="-342900" lvl="0" marL="342900" marR="0" rtl="0" algn="l">
              <a:lnSpc>
                <a:spcPct val="90000"/>
              </a:lnSpc>
              <a:spcBef>
                <a:spcPts val="70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Exploit</a:t>
            </a:r>
            <a:endParaRPr/>
          </a:p>
          <a:p>
            <a:pPr indent="-342900" lvl="0" marL="342900" marR="0" rtl="0" algn="l">
              <a:lnSpc>
                <a:spcPct val="90000"/>
              </a:lnSpc>
              <a:spcBef>
                <a:spcPts val="70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Exposure</a:t>
            </a:r>
            <a:endParaRPr/>
          </a:p>
          <a:p>
            <a:pPr indent="-342900" lvl="0" marL="342900" marR="0" rtl="0" algn="l">
              <a:lnSpc>
                <a:spcPct val="90000"/>
              </a:lnSpc>
              <a:spcBef>
                <a:spcPts val="70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Loss</a:t>
            </a:r>
            <a:endParaRPr/>
          </a:p>
        </p:txBody>
      </p:sp>
      <p:sp>
        <p:nvSpPr>
          <p:cNvPr id="215" name="Google Shape;215;p29"/>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216" name="Google Shape;216;p29"/>
          <p:cNvSpPr txBox="1"/>
          <p:nvPr/>
        </p:nvSpPr>
        <p:spPr>
          <a:xfrm>
            <a:off x="4648200" y="1676400"/>
            <a:ext cx="4229100" cy="4800600"/>
          </a:xfrm>
          <a:prstGeom prst="rect">
            <a:avLst/>
          </a:prstGeom>
          <a:noFill/>
          <a:ln>
            <a:noFill/>
          </a:ln>
        </p:spPr>
        <p:txBody>
          <a:bodyPr anchorCtr="0" anchor="t" bIns="46800" lIns="90000" spcFirstLastPara="1" rIns="90000" wrap="square" tIns="46800">
            <a:no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Protection Profile or Security Posture</a:t>
            </a:r>
            <a:endParaRPr/>
          </a:p>
          <a:p>
            <a:pPr indent="-457200" lvl="0" marL="457200" marR="0" rtl="0" algn="l">
              <a:lnSpc>
                <a:spcPct val="100000"/>
              </a:lnSpc>
              <a:spcBef>
                <a:spcPts val="700"/>
              </a:spcBef>
              <a:spcAft>
                <a:spcPts val="0"/>
              </a:spcAft>
              <a:buClr>
                <a:srgbClr val="000000"/>
              </a:buClr>
              <a:buSzPts val="2800"/>
              <a:buFont typeface="Arial"/>
              <a:buChar char="•"/>
            </a:pPr>
            <a:r>
              <a:rPr b="0" i="0" lang="en-US" sz="2800" u="none">
                <a:solidFill>
                  <a:srgbClr val="000000"/>
                </a:solidFill>
                <a:latin typeface="Arial"/>
                <a:ea typeface="Arial"/>
                <a:cs typeface="Arial"/>
                <a:sym typeface="Arial"/>
              </a:rPr>
              <a:t>Risk</a:t>
            </a:r>
            <a:endParaRPr/>
          </a:p>
          <a:p>
            <a:pPr indent="-457200" lvl="0" marL="457200" marR="0" rtl="0" algn="l">
              <a:lnSpc>
                <a:spcPct val="100000"/>
              </a:lnSpc>
              <a:spcBef>
                <a:spcPts val="700"/>
              </a:spcBef>
              <a:spcAft>
                <a:spcPts val="0"/>
              </a:spcAft>
              <a:buClr>
                <a:srgbClr val="000000"/>
              </a:buClr>
              <a:buSzPts val="2800"/>
              <a:buFont typeface="Arial"/>
              <a:buChar char="•"/>
            </a:pPr>
            <a:r>
              <a:rPr b="0" i="0" lang="en-US" sz="2800" u="none">
                <a:solidFill>
                  <a:srgbClr val="000000"/>
                </a:solidFill>
                <a:latin typeface="Arial"/>
                <a:ea typeface="Arial"/>
                <a:cs typeface="Arial"/>
                <a:sym typeface="Arial"/>
              </a:rPr>
              <a:t>Subjects and Objects</a:t>
            </a:r>
            <a:endParaRPr/>
          </a:p>
          <a:p>
            <a:pPr indent="-457200" lvl="0" marL="457200" marR="0" rtl="0" algn="l">
              <a:lnSpc>
                <a:spcPct val="100000"/>
              </a:lnSpc>
              <a:spcBef>
                <a:spcPts val="700"/>
              </a:spcBef>
              <a:spcAft>
                <a:spcPts val="0"/>
              </a:spcAft>
              <a:buClr>
                <a:srgbClr val="000000"/>
              </a:buClr>
              <a:buSzPts val="2800"/>
              <a:buFont typeface="Arial"/>
              <a:buChar char="•"/>
            </a:pPr>
            <a:r>
              <a:rPr b="0" i="0" lang="en-US" sz="2800" u="none">
                <a:solidFill>
                  <a:srgbClr val="000000"/>
                </a:solidFill>
                <a:latin typeface="Arial"/>
                <a:ea typeface="Arial"/>
                <a:cs typeface="Arial"/>
                <a:sym typeface="Arial"/>
              </a:rPr>
              <a:t>Threat</a:t>
            </a:r>
            <a:endParaRPr/>
          </a:p>
          <a:p>
            <a:pPr indent="-457200" lvl="0" marL="457200" marR="0" rtl="0" algn="l">
              <a:lnSpc>
                <a:spcPct val="100000"/>
              </a:lnSpc>
              <a:spcBef>
                <a:spcPts val="700"/>
              </a:spcBef>
              <a:spcAft>
                <a:spcPts val="0"/>
              </a:spcAft>
              <a:buClr>
                <a:srgbClr val="000000"/>
              </a:buClr>
              <a:buSzPts val="2800"/>
              <a:buFont typeface="Arial"/>
              <a:buChar char="•"/>
            </a:pPr>
            <a:r>
              <a:rPr b="0" i="0" lang="en-US" sz="2800" u="none">
                <a:solidFill>
                  <a:srgbClr val="000000"/>
                </a:solidFill>
                <a:latin typeface="Arial"/>
                <a:ea typeface="Arial"/>
                <a:cs typeface="Arial"/>
                <a:sym typeface="Arial"/>
              </a:rPr>
              <a:t>Threat Agent </a:t>
            </a:r>
            <a:endParaRPr/>
          </a:p>
          <a:p>
            <a:pPr indent="-457200" lvl="0" marL="457200" marR="0" rtl="0" algn="l">
              <a:lnSpc>
                <a:spcPct val="100000"/>
              </a:lnSpc>
              <a:spcBef>
                <a:spcPts val="700"/>
              </a:spcBef>
              <a:spcAft>
                <a:spcPts val="0"/>
              </a:spcAft>
              <a:buClr>
                <a:srgbClr val="000000"/>
              </a:buClr>
              <a:buSzPts val="2800"/>
              <a:buFont typeface="Arial"/>
              <a:buChar char="•"/>
            </a:pPr>
            <a:r>
              <a:rPr b="0" i="0" lang="en-US" sz="2800" u="none">
                <a:solidFill>
                  <a:srgbClr val="000000"/>
                </a:solidFill>
                <a:latin typeface="Arial"/>
                <a:ea typeface="Arial"/>
                <a:cs typeface="Arial"/>
                <a:sym typeface="Arial"/>
              </a:rPr>
              <a:t>Vulnerability</a:t>
            </a:r>
            <a:endParaRPr/>
          </a:p>
        </p:txBody>
      </p:sp>
      <p:sp>
        <p:nvSpPr>
          <p:cNvPr id="217" name="Google Shape;217;p29"/>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 of Information Security, Fourth Edition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0"/>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Key Information Security Concepts (cont’d.)</a:t>
            </a:r>
            <a:endParaRPr/>
          </a:p>
        </p:txBody>
      </p:sp>
      <p:sp>
        <p:nvSpPr>
          <p:cNvPr id="225" name="Google Shape;225;p30"/>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Computer can be subject of an attack and/or the object of an attack</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When the subject of an attack, computer is used as an active tool to conduct attack</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When the object of an attack, computer is the entity being attacked</a:t>
            </a:r>
            <a:endParaRPr/>
          </a:p>
        </p:txBody>
      </p:sp>
      <p:sp>
        <p:nvSpPr>
          <p:cNvPr id="226" name="Google Shape;226;p30"/>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227" name="Google Shape;227;p30"/>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1"/>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 of Information Security, Fourth Edition</a:t>
            </a:r>
            <a:endParaRPr/>
          </a:p>
        </p:txBody>
      </p:sp>
      <p:sp>
        <p:nvSpPr>
          <p:cNvPr id="233" name="Google Shape;233;p31"/>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pic>
        <p:nvPicPr>
          <p:cNvPr id="234" name="Google Shape;234;p31"/>
          <p:cNvPicPr preferRelativeResize="0"/>
          <p:nvPr/>
        </p:nvPicPr>
        <p:blipFill rotWithShape="1">
          <a:blip r:embed="rId3">
            <a:alphaModFix/>
          </a:blip>
          <a:srcRect b="0" l="0" r="0" t="0"/>
          <a:stretch/>
        </p:blipFill>
        <p:spPr>
          <a:xfrm>
            <a:off x="990600" y="152400"/>
            <a:ext cx="7377112" cy="5657850"/>
          </a:xfrm>
          <a:prstGeom prst="rect">
            <a:avLst/>
          </a:prstGeom>
          <a:noFill/>
          <a:ln>
            <a:noFill/>
          </a:ln>
        </p:spPr>
      </p:pic>
      <p:sp>
        <p:nvSpPr>
          <p:cNvPr id="235" name="Google Shape;235;p31"/>
          <p:cNvSpPr txBox="1"/>
          <p:nvPr/>
        </p:nvSpPr>
        <p:spPr>
          <a:xfrm>
            <a:off x="2551112" y="5878512"/>
            <a:ext cx="404177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Figure 1-4 Information Security Terms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2"/>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243" name="Google Shape;243;p32"/>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600"/>
              <a:buFont typeface="Arial"/>
              <a:buNone/>
            </a:pPr>
            <a:r>
              <a:rPr b="0" i="0" lang="en-US" sz="3600" u="none" cap="none" strike="noStrike">
                <a:solidFill>
                  <a:srgbClr val="FFFFFF"/>
                </a:solidFill>
                <a:latin typeface="Arial"/>
                <a:ea typeface="Arial"/>
                <a:cs typeface="Arial"/>
                <a:sym typeface="Arial"/>
              </a:rPr>
              <a:t>Figure 1-5 – Subject and Object of Attack</a:t>
            </a:r>
            <a:endParaRPr/>
          </a:p>
        </p:txBody>
      </p:sp>
      <p:sp>
        <p:nvSpPr>
          <p:cNvPr id="244" name="Google Shape;244;p32"/>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 of Information Security, Fourth Edition</a:t>
            </a:r>
            <a:endParaRPr/>
          </a:p>
        </p:txBody>
      </p:sp>
      <p:pic>
        <p:nvPicPr>
          <p:cNvPr id="245" name="Google Shape;245;p32"/>
          <p:cNvPicPr preferRelativeResize="0"/>
          <p:nvPr/>
        </p:nvPicPr>
        <p:blipFill rotWithShape="1">
          <a:blip r:embed="rId3">
            <a:alphaModFix/>
          </a:blip>
          <a:srcRect b="0" l="0" r="0" t="0"/>
          <a:stretch/>
        </p:blipFill>
        <p:spPr>
          <a:xfrm>
            <a:off x="111125" y="1066800"/>
            <a:ext cx="8921750" cy="3962400"/>
          </a:xfrm>
          <a:prstGeom prst="rect">
            <a:avLst/>
          </a:prstGeom>
          <a:noFill/>
          <a:ln>
            <a:noFill/>
          </a:ln>
        </p:spPr>
      </p:pic>
      <p:sp>
        <p:nvSpPr>
          <p:cNvPr id="246" name="Google Shape;246;p32"/>
          <p:cNvSpPr txBox="1"/>
          <p:nvPr/>
        </p:nvSpPr>
        <p:spPr>
          <a:xfrm>
            <a:off x="1676400" y="5268912"/>
            <a:ext cx="624840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Figure 1-5 Computer as the Subject and Object of an Attack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3"/>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Critical Characteristics of Information</a:t>
            </a:r>
            <a:endParaRPr/>
          </a:p>
        </p:txBody>
      </p:sp>
      <p:sp>
        <p:nvSpPr>
          <p:cNvPr id="254" name="Google Shape;254;p33"/>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The value of information comes from the characteristics it possesses: </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Availability</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Accuracy</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Authenticity</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Confidentiality</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Integrity</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Utility</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Possession</a:t>
            </a:r>
            <a:endParaRPr/>
          </a:p>
        </p:txBody>
      </p:sp>
      <p:sp>
        <p:nvSpPr>
          <p:cNvPr id="255" name="Google Shape;255;p33"/>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256" name="Google Shape;256;p33"/>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4"/>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CNSS Security Model</a:t>
            </a:r>
            <a:endParaRPr/>
          </a:p>
        </p:txBody>
      </p:sp>
      <p:sp>
        <p:nvSpPr>
          <p:cNvPr id="264" name="Google Shape;264;p34"/>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 of Information Security, Fourth Edition</a:t>
            </a:r>
            <a:endParaRPr/>
          </a:p>
        </p:txBody>
      </p:sp>
      <p:sp>
        <p:nvSpPr>
          <p:cNvPr id="265" name="Google Shape;265;p34"/>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266" name="Google Shape;266;p34"/>
          <p:cNvPicPr preferRelativeResize="0"/>
          <p:nvPr/>
        </p:nvPicPr>
        <p:blipFill rotWithShape="1">
          <a:blip r:embed="rId3">
            <a:alphaModFix/>
          </a:blip>
          <a:srcRect b="0" l="0" r="0" t="0"/>
          <a:stretch/>
        </p:blipFill>
        <p:spPr>
          <a:xfrm>
            <a:off x="76200" y="1600200"/>
            <a:ext cx="9009062" cy="3733800"/>
          </a:xfrm>
          <a:prstGeom prst="rect">
            <a:avLst/>
          </a:prstGeom>
          <a:noFill/>
          <a:ln>
            <a:noFill/>
          </a:ln>
        </p:spPr>
      </p:pic>
      <p:sp>
        <p:nvSpPr>
          <p:cNvPr id="267" name="Google Shape;267;p34"/>
          <p:cNvSpPr txBox="1"/>
          <p:nvPr/>
        </p:nvSpPr>
        <p:spPr>
          <a:xfrm>
            <a:off x="2590800" y="5562600"/>
            <a:ext cx="35020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Figure 1-6 The McCumber Cube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5"/>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Components of an Information System</a:t>
            </a:r>
            <a:endParaRPr/>
          </a:p>
        </p:txBody>
      </p:sp>
      <p:sp>
        <p:nvSpPr>
          <p:cNvPr id="275" name="Google Shape;275;p35"/>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Information system (IS) is entire set of components necessary to use information as a resource in the organization </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Software</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Hardware</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Data</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People</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Procedures</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Networks</a:t>
            </a:r>
            <a:endParaRPr/>
          </a:p>
        </p:txBody>
      </p:sp>
      <p:sp>
        <p:nvSpPr>
          <p:cNvPr id="276" name="Google Shape;276;p35"/>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277" name="Google Shape;277;p35"/>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6"/>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Balancing Information Security and Access</a:t>
            </a:r>
            <a:endParaRPr/>
          </a:p>
        </p:txBody>
      </p:sp>
      <p:sp>
        <p:nvSpPr>
          <p:cNvPr id="285" name="Google Shape;285;p36"/>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Impossible to obtain perfect security—it is a process, not an absolute</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Security should be considered balance between protection and availability</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To achieve balance, level of security must allow reasonable access, yet protect against threats</a:t>
            </a:r>
            <a:endParaRPr/>
          </a:p>
        </p:txBody>
      </p:sp>
      <p:sp>
        <p:nvSpPr>
          <p:cNvPr id="286" name="Google Shape;286;p36"/>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287" name="Google Shape;287;p36"/>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7"/>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295" name="Google Shape;295;p37"/>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600"/>
              <a:buFont typeface="Arial"/>
              <a:buNone/>
            </a:pPr>
            <a:r>
              <a:rPr b="0" i="0" lang="en-US" sz="3600" u="none" cap="none" strike="noStrike">
                <a:solidFill>
                  <a:srgbClr val="FFFFFF"/>
                </a:solidFill>
                <a:latin typeface="Arial"/>
                <a:ea typeface="Arial"/>
                <a:cs typeface="Arial"/>
                <a:sym typeface="Arial"/>
              </a:rPr>
              <a:t>Figure 1-6 – Balancing Security and Access</a:t>
            </a:r>
            <a:endParaRPr/>
          </a:p>
        </p:txBody>
      </p:sp>
      <p:sp>
        <p:nvSpPr>
          <p:cNvPr id="296" name="Google Shape;296;p37"/>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 of Information Security, Fourth Edition</a:t>
            </a:r>
            <a:endParaRPr/>
          </a:p>
        </p:txBody>
      </p:sp>
      <p:pic>
        <p:nvPicPr>
          <p:cNvPr id="297" name="Google Shape;297;p37"/>
          <p:cNvPicPr preferRelativeResize="0"/>
          <p:nvPr/>
        </p:nvPicPr>
        <p:blipFill rotWithShape="1">
          <a:blip r:embed="rId3">
            <a:alphaModFix/>
          </a:blip>
          <a:srcRect b="0" l="0" r="0" t="0"/>
          <a:stretch/>
        </p:blipFill>
        <p:spPr>
          <a:xfrm>
            <a:off x="381000" y="215900"/>
            <a:ext cx="8305800" cy="5270500"/>
          </a:xfrm>
          <a:prstGeom prst="rect">
            <a:avLst/>
          </a:prstGeom>
          <a:noFill/>
          <a:ln>
            <a:noFill/>
          </a:ln>
        </p:spPr>
      </p:pic>
      <p:sp>
        <p:nvSpPr>
          <p:cNvPr id="298" name="Google Shape;298;p37"/>
          <p:cNvSpPr txBox="1"/>
          <p:nvPr/>
        </p:nvSpPr>
        <p:spPr>
          <a:xfrm>
            <a:off x="1676400" y="5726112"/>
            <a:ext cx="563880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Figure 1-8 Balancing Information Security and Access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8"/>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Approaches to Information Security Implementation: Bottom-Up Approach</a:t>
            </a:r>
            <a:endParaRPr/>
          </a:p>
        </p:txBody>
      </p:sp>
      <p:sp>
        <p:nvSpPr>
          <p:cNvPr id="306" name="Google Shape;306;p38"/>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Grassroots effort: systems administrators attempt to improve security of their systems</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Key advantage: technical expertise of individual administrators</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Seldom works, as it lacks a number of critical features:</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Participant support </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Organizational staying power</a:t>
            </a:r>
            <a:endParaRPr/>
          </a:p>
        </p:txBody>
      </p:sp>
      <p:sp>
        <p:nvSpPr>
          <p:cNvPr id="307" name="Google Shape;307;p38"/>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308" name="Google Shape;308;p38"/>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9"/>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Approaches to Information Security Implementation: Top-Down Approach</a:t>
            </a:r>
            <a:endParaRPr/>
          </a:p>
        </p:txBody>
      </p:sp>
      <p:sp>
        <p:nvSpPr>
          <p:cNvPr id="316" name="Google Shape;316;p39"/>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Initiated by upper management</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Issue policy, procedures, and processes</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Dictate goals and expected outcomes of project</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Determine accountability for each required action</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The most successful also involve formal development strategy referred to as systems development life cycle</a:t>
            </a:r>
            <a:endParaRPr/>
          </a:p>
        </p:txBody>
      </p:sp>
      <p:sp>
        <p:nvSpPr>
          <p:cNvPr id="317" name="Google Shape;317;p39"/>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318" name="Google Shape;318;p39"/>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0"/>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326" name="Google Shape;326;p40"/>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 of Information Security, Fourth Edition</a:t>
            </a:r>
            <a:endParaRPr/>
          </a:p>
        </p:txBody>
      </p:sp>
      <p:pic>
        <p:nvPicPr>
          <p:cNvPr id="327" name="Google Shape;327;p40"/>
          <p:cNvPicPr preferRelativeResize="0"/>
          <p:nvPr/>
        </p:nvPicPr>
        <p:blipFill rotWithShape="1">
          <a:blip r:embed="rId3">
            <a:alphaModFix/>
          </a:blip>
          <a:srcRect b="0" l="0" r="0" t="0"/>
          <a:stretch/>
        </p:blipFill>
        <p:spPr>
          <a:xfrm>
            <a:off x="207962" y="533400"/>
            <a:ext cx="8783637" cy="4724400"/>
          </a:xfrm>
          <a:prstGeom prst="rect">
            <a:avLst/>
          </a:prstGeom>
          <a:noFill/>
          <a:ln>
            <a:noFill/>
          </a:ln>
        </p:spPr>
      </p:pic>
      <p:sp>
        <p:nvSpPr>
          <p:cNvPr id="328" name="Google Shape;328;p40"/>
          <p:cNvSpPr txBox="1"/>
          <p:nvPr/>
        </p:nvSpPr>
        <p:spPr>
          <a:xfrm>
            <a:off x="1371600" y="5562600"/>
            <a:ext cx="647700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Figure 1-9 Approaches to Information Security Implementation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1"/>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The Systems Development Life Cycle</a:t>
            </a:r>
            <a:endParaRPr/>
          </a:p>
        </p:txBody>
      </p:sp>
      <p:sp>
        <p:nvSpPr>
          <p:cNvPr id="336" name="Google Shape;336;p41"/>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Systems Development Life Cycle (SDLC): methodology for design and implementation of information system within an organization</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Methodology: formal approach to problem solving based on structured sequence of procedures</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Using a methodology:</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Ensures a rigorous process</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Increases probability of success</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Traditional SDLC consists of six general phases</a:t>
            </a:r>
            <a:endParaRPr/>
          </a:p>
        </p:txBody>
      </p:sp>
      <p:sp>
        <p:nvSpPr>
          <p:cNvPr id="337" name="Google Shape;337;p41"/>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338" name="Google Shape;338;p41"/>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2"/>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346" name="Google Shape;346;p42"/>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 of Information Security, Fourth Edition</a:t>
            </a:r>
            <a:endParaRPr/>
          </a:p>
        </p:txBody>
      </p:sp>
      <p:pic>
        <p:nvPicPr>
          <p:cNvPr id="347" name="Google Shape;347;p42"/>
          <p:cNvPicPr preferRelativeResize="0"/>
          <p:nvPr/>
        </p:nvPicPr>
        <p:blipFill rotWithShape="1">
          <a:blip r:embed="rId3">
            <a:alphaModFix/>
          </a:blip>
          <a:srcRect b="0" l="0" r="0" t="0"/>
          <a:stretch/>
        </p:blipFill>
        <p:spPr>
          <a:xfrm>
            <a:off x="306387" y="363537"/>
            <a:ext cx="8456612" cy="5046662"/>
          </a:xfrm>
          <a:prstGeom prst="rect">
            <a:avLst/>
          </a:prstGeom>
          <a:noFill/>
          <a:ln>
            <a:noFill/>
          </a:ln>
        </p:spPr>
      </p:pic>
      <p:sp>
        <p:nvSpPr>
          <p:cNvPr id="348" name="Google Shape;348;p42"/>
          <p:cNvSpPr txBox="1"/>
          <p:nvPr/>
        </p:nvSpPr>
        <p:spPr>
          <a:xfrm>
            <a:off x="2233612" y="5573712"/>
            <a:ext cx="439578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Figure 1-10 SDLC Waterfall Methodology</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3"/>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Investigation</a:t>
            </a:r>
            <a:endParaRPr/>
          </a:p>
        </p:txBody>
      </p:sp>
      <p:sp>
        <p:nvSpPr>
          <p:cNvPr id="356" name="Google Shape;356;p43"/>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What problem is the system being developed to solve?  </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Objectives, constraints, and scope of project are specified</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Preliminary cost-benefit analysis is developed</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At the end, feasibility analysis is performed to assess economic, technical, and behavioral feasibilities of the process</a:t>
            </a:r>
            <a:endParaRPr/>
          </a:p>
        </p:txBody>
      </p:sp>
      <p:sp>
        <p:nvSpPr>
          <p:cNvPr id="357" name="Google Shape;357;p43"/>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358" name="Google Shape;358;p43"/>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4"/>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Analysis</a:t>
            </a:r>
            <a:endParaRPr/>
          </a:p>
        </p:txBody>
      </p:sp>
      <p:sp>
        <p:nvSpPr>
          <p:cNvPr id="366" name="Google Shape;366;p44"/>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Consists of assessments of: </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The organization</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Current systems</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Capability to support proposed systems</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Analysts determine what new system is expected to do and how it will interact with existing systems</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Ends with documentation of findings and update of feasibility analysis</a:t>
            </a:r>
            <a:endParaRPr/>
          </a:p>
        </p:txBody>
      </p:sp>
      <p:sp>
        <p:nvSpPr>
          <p:cNvPr id="367" name="Google Shape;367;p44"/>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368" name="Google Shape;368;p44"/>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5"/>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Logical Design</a:t>
            </a:r>
            <a:endParaRPr/>
          </a:p>
        </p:txBody>
      </p:sp>
      <p:sp>
        <p:nvSpPr>
          <p:cNvPr id="376" name="Google Shape;376;p45"/>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Main factor is business need</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Applications capable of providing needed services are selected</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Data support and structures capable of providing the needed inputs are identified</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Technologies to implement physical solution are determined  </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Feasibility analysis performed at the end</a:t>
            </a:r>
            <a:endParaRPr/>
          </a:p>
        </p:txBody>
      </p:sp>
      <p:sp>
        <p:nvSpPr>
          <p:cNvPr id="377" name="Google Shape;377;p45"/>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378" name="Google Shape;378;p45"/>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6"/>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Physical Design</a:t>
            </a:r>
            <a:endParaRPr/>
          </a:p>
        </p:txBody>
      </p:sp>
      <p:sp>
        <p:nvSpPr>
          <p:cNvPr id="386" name="Google Shape;386;p46"/>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Technologies to support the alternatives identified and evaluated in the logical design are selected</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Components evaluated on make-or-buy decision </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Feasibility analysis performed</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Entire solution presented to end-user representatives for approval</a:t>
            </a:r>
            <a:endParaRPr/>
          </a:p>
        </p:txBody>
      </p:sp>
      <p:sp>
        <p:nvSpPr>
          <p:cNvPr id="387" name="Google Shape;387;p46"/>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388" name="Google Shape;388;p46"/>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7"/>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Implementation</a:t>
            </a:r>
            <a:endParaRPr/>
          </a:p>
        </p:txBody>
      </p:sp>
      <p:sp>
        <p:nvSpPr>
          <p:cNvPr id="396" name="Google Shape;396;p47"/>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Needed software created</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Components ordered, received, and tested</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Users trained and documentation created</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Feasibility analysis prepared</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Users presented with system for performance review and acceptance test</a:t>
            </a:r>
            <a:endParaRPr/>
          </a:p>
        </p:txBody>
      </p:sp>
      <p:sp>
        <p:nvSpPr>
          <p:cNvPr id="397" name="Google Shape;397;p47"/>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398" name="Google Shape;398;p47"/>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48"/>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Maintenance and Change</a:t>
            </a:r>
            <a:endParaRPr/>
          </a:p>
        </p:txBody>
      </p:sp>
      <p:sp>
        <p:nvSpPr>
          <p:cNvPr id="406" name="Google Shape;406;p48"/>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Longest and most expensive phase</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Consists of tasks necessary to support and modify system for remainder of its useful life</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Life cycle continues until the process begins again from the investigation phase</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When current system can no longer support the organization’s mission, a new project is implemented</a:t>
            </a:r>
            <a:endParaRPr/>
          </a:p>
        </p:txBody>
      </p:sp>
      <p:sp>
        <p:nvSpPr>
          <p:cNvPr id="407" name="Google Shape;407;p48"/>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408" name="Google Shape;408;p48"/>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9"/>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The Security Systems Development Life Cycle</a:t>
            </a:r>
            <a:endParaRPr/>
          </a:p>
        </p:txBody>
      </p:sp>
      <p:sp>
        <p:nvSpPr>
          <p:cNvPr id="416" name="Google Shape;416;p49"/>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The same phases used in traditional SDLC may be adapted to support specialized implementation of an IS project</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Identification of specific threats and creating controls to counter them</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SecSDLC is a coherent program rather than a series of random, seemingly unconnected actions</a:t>
            </a:r>
            <a:endParaRPr/>
          </a:p>
        </p:txBody>
      </p:sp>
      <p:sp>
        <p:nvSpPr>
          <p:cNvPr id="417" name="Google Shape;417;p49"/>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418" name="Google Shape;418;p49"/>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0"/>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Investigation</a:t>
            </a:r>
            <a:endParaRPr/>
          </a:p>
        </p:txBody>
      </p:sp>
      <p:sp>
        <p:nvSpPr>
          <p:cNvPr id="426" name="Google Shape;426;p50"/>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Identifies process, outcomes, goals, and constraints of the project</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Begins with Enterprise Information Security Policy (EISP)‏</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Organizational feasibility analysis is performed</a:t>
            </a:r>
            <a:endParaRPr/>
          </a:p>
        </p:txBody>
      </p:sp>
      <p:sp>
        <p:nvSpPr>
          <p:cNvPr id="427" name="Google Shape;427;p50"/>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428" name="Google Shape;428;p50"/>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51"/>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Analysis</a:t>
            </a:r>
            <a:endParaRPr/>
          </a:p>
        </p:txBody>
      </p:sp>
      <p:sp>
        <p:nvSpPr>
          <p:cNvPr id="436" name="Google Shape;436;p51"/>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Documents from investigation phase are studied</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Analysis of existing security policies or programs, along with documented current threats and associated controls</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Includes analysis of relevant legal issues that could impact design of the security solution  </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Risk management task begins</a:t>
            </a:r>
            <a:endParaRPr/>
          </a:p>
        </p:txBody>
      </p:sp>
      <p:sp>
        <p:nvSpPr>
          <p:cNvPr id="437" name="Google Shape;437;p51"/>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438" name="Google Shape;438;p51"/>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52"/>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Logical Design  </a:t>
            </a:r>
            <a:endParaRPr/>
          </a:p>
        </p:txBody>
      </p:sp>
      <p:sp>
        <p:nvSpPr>
          <p:cNvPr id="446" name="Google Shape;446;p52"/>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Creates and develops blueprints for information security</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Incident response actions planned:</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Continuity planning</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Incident response</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Disaster recovery</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Feasibility analysis to determine whether project should be continued or outsourced</a:t>
            </a:r>
            <a:endParaRPr/>
          </a:p>
        </p:txBody>
      </p:sp>
      <p:sp>
        <p:nvSpPr>
          <p:cNvPr id="447" name="Google Shape;447;p52"/>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448" name="Google Shape;448;p52"/>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53"/>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Logical Design  </a:t>
            </a:r>
            <a:endParaRPr/>
          </a:p>
        </p:txBody>
      </p:sp>
      <p:sp>
        <p:nvSpPr>
          <p:cNvPr id="456" name="Google Shape;456;p53"/>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Module development</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Ensure separation of domains and encapsulation.</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Isolation of modules will make them more robust and less dependent upon external entities.</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Modules are single purpose self-reliant objects.</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Modules can be viewed as abstractions whose design is as simple as possible. Being single purpose enhances simplicity and minimizes the number of interfaces (attack possibilities)</a:t>
            </a:r>
            <a:endParaRPr/>
          </a:p>
        </p:txBody>
      </p:sp>
      <p:sp>
        <p:nvSpPr>
          <p:cNvPr id="457" name="Google Shape;457;p53"/>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458" name="Google Shape;458;p53"/>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54"/>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Physical Design</a:t>
            </a:r>
            <a:endParaRPr/>
          </a:p>
        </p:txBody>
      </p:sp>
      <p:sp>
        <p:nvSpPr>
          <p:cNvPr id="465" name="Google Shape;465;p54"/>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Needed security technology is evaluated, alternatives are generated, and final design is selected</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At end of phase, feasibility study determines readiness of organization for project</a:t>
            </a:r>
            <a:endParaRPr/>
          </a:p>
          <a:p>
            <a:pPr indent="-177800" lvl="0" marL="342900" marR="0" rtl="0" algn="l">
              <a:spcBef>
                <a:spcPts val="520"/>
              </a:spcBef>
              <a:spcAft>
                <a:spcPts val="0"/>
              </a:spcAft>
              <a:buClr>
                <a:srgbClr val="222222"/>
              </a:buClr>
              <a:buSzPts val="2600"/>
              <a:buFont typeface="Arial"/>
              <a:buNone/>
            </a:pPr>
            <a:r>
              <a:t/>
            </a:r>
            <a:endParaRPr b="0" i="0" sz="2600" u="none">
              <a:solidFill>
                <a:srgbClr val="222222"/>
              </a:solidFill>
              <a:latin typeface="Arial"/>
              <a:ea typeface="Arial"/>
              <a:cs typeface="Arial"/>
              <a:sym typeface="Arial"/>
            </a:endParaRPr>
          </a:p>
        </p:txBody>
      </p:sp>
      <p:sp>
        <p:nvSpPr>
          <p:cNvPr id="466" name="Google Shape;466;p54"/>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467" name="Google Shape;467;p54"/>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55"/>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Implementation</a:t>
            </a:r>
            <a:endParaRPr/>
          </a:p>
        </p:txBody>
      </p:sp>
      <p:sp>
        <p:nvSpPr>
          <p:cNvPr id="475" name="Google Shape;475;p55"/>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Security solutions are acquired, tested, implemented, and tested again</a:t>
            </a:r>
            <a:endParaRPr/>
          </a:p>
          <a:p>
            <a:pPr indent="-285750" lvl="1" marL="742950" marR="0" rtl="0" algn="l">
              <a:lnSpc>
                <a:spcPct val="100000"/>
              </a:lnSpc>
              <a:spcBef>
                <a:spcPts val="440"/>
              </a:spcBef>
              <a:spcAft>
                <a:spcPts val="0"/>
              </a:spcAft>
              <a:buClr>
                <a:srgbClr val="222222"/>
              </a:buClr>
              <a:buSzPts val="2200"/>
              <a:buFont typeface="Arial"/>
              <a:buChar char="–"/>
            </a:pPr>
            <a:r>
              <a:rPr b="0" i="0" lang="en-US" sz="2200" u="none" cap="none" strike="noStrike">
                <a:solidFill>
                  <a:srgbClr val="222222"/>
                </a:solidFill>
                <a:latin typeface="Arial"/>
                <a:ea typeface="Arial"/>
                <a:cs typeface="Arial"/>
                <a:sym typeface="Arial"/>
              </a:rPr>
              <a:t>Ensure that only a minimum of code is exposed and vulnerable.</a:t>
            </a:r>
            <a:endParaRPr/>
          </a:p>
          <a:p>
            <a:pPr indent="-285750" lvl="1" marL="742950" marR="0" rtl="0" algn="l">
              <a:lnSpc>
                <a:spcPct val="100000"/>
              </a:lnSpc>
              <a:spcBef>
                <a:spcPts val="440"/>
              </a:spcBef>
              <a:spcAft>
                <a:spcPts val="0"/>
              </a:spcAft>
              <a:buClr>
                <a:srgbClr val="222222"/>
              </a:buClr>
              <a:buSzPts val="2200"/>
              <a:buFont typeface="Arial"/>
              <a:buChar char="–"/>
            </a:pPr>
            <a:r>
              <a:rPr b="0" i="0" lang="en-US" sz="2200" u="none" cap="none" strike="noStrike">
                <a:solidFill>
                  <a:srgbClr val="222222"/>
                </a:solidFill>
                <a:latin typeface="Arial"/>
                <a:ea typeface="Arial"/>
                <a:cs typeface="Arial"/>
                <a:sym typeface="Arial"/>
              </a:rPr>
              <a:t>Ensure that only a minimum of code executes by default.</a:t>
            </a:r>
            <a:endParaRPr/>
          </a:p>
          <a:p>
            <a:pPr indent="-285750" lvl="1" marL="742950" marR="0" rtl="0" algn="l">
              <a:lnSpc>
                <a:spcPct val="100000"/>
              </a:lnSpc>
              <a:spcBef>
                <a:spcPts val="440"/>
              </a:spcBef>
              <a:spcAft>
                <a:spcPts val="0"/>
              </a:spcAft>
              <a:buClr>
                <a:srgbClr val="222222"/>
              </a:buClr>
              <a:buSzPts val="2200"/>
              <a:buFont typeface="Arial"/>
              <a:buChar char="–"/>
            </a:pPr>
            <a:r>
              <a:rPr b="0" i="0" lang="en-US" sz="2200" u="none" cap="none" strike="noStrike">
                <a:solidFill>
                  <a:srgbClr val="222222"/>
                </a:solidFill>
                <a:latin typeface="Arial"/>
                <a:ea typeface="Arial"/>
                <a:cs typeface="Arial"/>
                <a:sym typeface="Arial"/>
              </a:rPr>
              <a:t>Ensure that only the minimum amount of code that is needed to perform a task executes.</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Personnel issues evaluated; specific training and education programs conducted</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Entire tested package is presented to management for final approval</a:t>
            </a:r>
            <a:endParaRPr/>
          </a:p>
        </p:txBody>
      </p:sp>
      <p:sp>
        <p:nvSpPr>
          <p:cNvPr id="476" name="Google Shape;476;p55"/>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477" name="Google Shape;477;p55"/>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56"/>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Fail-Safe/Fail-Secure </a:t>
            </a:r>
            <a:r>
              <a:rPr b="0" baseline="30000" i="0" lang="en-US" sz="3600" u="none">
                <a:solidFill>
                  <a:srgbClr val="222222"/>
                </a:solidFill>
                <a:latin typeface="Arial"/>
                <a:ea typeface="Arial"/>
                <a:cs typeface="Arial"/>
                <a:sym typeface="Arial"/>
              </a:rPr>
              <a:t>1</a:t>
            </a:r>
            <a:endParaRPr/>
          </a:p>
        </p:txBody>
      </p:sp>
      <p:sp>
        <p:nvSpPr>
          <p:cNvPr id="484" name="Google Shape;484;p56"/>
          <p:cNvSpPr txBox="1"/>
          <p:nvPr>
            <p:ph idx="1" type="body"/>
          </p:nvPr>
        </p:nvSpPr>
        <p:spPr>
          <a:xfrm>
            <a:off x="609600" y="1524000"/>
            <a:ext cx="8001000" cy="472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300"/>
              <a:buFont typeface="Arial"/>
              <a:buChar char="•"/>
            </a:pPr>
            <a:r>
              <a:rPr b="0" i="0" lang="en-US" sz="2300" u="none">
                <a:solidFill>
                  <a:srgbClr val="222222"/>
                </a:solidFill>
                <a:latin typeface="Arial"/>
                <a:ea typeface="Arial"/>
                <a:cs typeface="Arial"/>
                <a:sym typeface="Arial"/>
              </a:rPr>
              <a:t>A </a:t>
            </a:r>
            <a:r>
              <a:rPr b="1" i="0" lang="en-US" sz="2300" u="none">
                <a:solidFill>
                  <a:srgbClr val="222222"/>
                </a:solidFill>
                <a:latin typeface="Arial"/>
                <a:ea typeface="Arial"/>
                <a:cs typeface="Arial"/>
                <a:sym typeface="Arial"/>
              </a:rPr>
              <a:t>fail-safe</a:t>
            </a:r>
            <a:r>
              <a:rPr b="0" i="0" lang="en-US" sz="2300" u="none">
                <a:solidFill>
                  <a:srgbClr val="222222"/>
                </a:solidFill>
                <a:latin typeface="Arial"/>
                <a:ea typeface="Arial"/>
                <a:cs typeface="Arial"/>
                <a:sym typeface="Arial"/>
              </a:rPr>
              <a:t> or </a:t>
            </a:r>
            <a:r>
              <a:rPr b="1" i="0" lang="en-US" sz="2300" u="none">
                <a:solidFill>
                  <a:srgbClr val="222222"/>
                </a:solidFill>
                <a:latin typeface="Arial"/>
                <a:ea typeface="Arial"/>
                <a:cs typeface="Arial"/>
                <a:sym typeface="Arial"/>
              </a:rPr>
              <a:t>fail-secure</a:t>
            </a:r>
            <a:r>
              <a:rPr b="0" i="0" lang="en-US" sz="2300" u="none">
                <a:solidFill>
                  <a:srgbClr val="222222"/>
                </a:solidFill>
                <a:latin typeface="Arial"/>
                <a:ea typeface="Arial"/>
                <a:cs typeface="Arial"/>
                <a:sym typeface="Arial"/>
              </a:rPr>
              <a:t> device is one that, in the event of failure, responds in a way that will cause no harm, or at least a minimum of harm, to other devices or danger to personnel.</a:t>
            </a:r>
            <a:endParaRPr/>
          </a:p>
          <a:p>
            <a:pPr indent="-342900" lvl="0" marL="342900" marR="0" rtl="0" algn="l">
              <a:lnSpc>
                <a:spcPct val="100000"/>
              </a:lnSpc>
              <a:spcBef>
                <a:spcPts val="460"/>
              </a:spcBef>
              <a:spcAft>
                <a:spcPts val="0"/>
              </a:spcAft>
              <a:buClr>
                <a:srgbClr val="222222"/>
              </a:buClr>
              <a:buSzPts val="2300"/>
              <a:buFont typeface="Arial"/>
              <a:buChar char="•"/>
            </a:pPr>
            <a:r>
              <a:rPr b="0" i="0" lang="en-US" sz="2300" u="none">
                <a:solidFill>
                  <a:srgbClr val="222222"/>
                </a:solidFill>
                <a:latin typeface="Arial"/>
                <a:ea typeface="Arial"/>
                <a:cs typeface="Arial"/>
                <a:sym typeface="Arial"/>
              </a:rPr>
              <a:t>Fail-safe and fail-secure are similar but distinct concepts. Fail-safe means that a device will not endanger lives or properties when it fails. Fail-secure means that access or data will not fall into the wrong hands in a failure. Sometimes the approaches suggest opposite solutions. For example, if a building catches fire, fail-safe systems would unlock doors to ensure quick escape and allow firefighters inside, while fail-secure would lock doors to prevent unauthorized access to the building.</a:t>
            </a:r>
            <a:endParaRPr/>
          </a:p>
          <a:p>
            <a:pPr indent="-196850" lvl="0" marL="342900" marR="0" rtl="0" algn="l">
              <a:spcBef>
                <a:spcPts val="460"/>
              </a:spcBef>
              <a:spcAft>
                <a:spcPts val="0"/>
              </a:spcAft>
              <a:buClr>
                <a:srgbClr val="222222"/>
              </a:buClr>
              <a:buSzPts val="2300"/>
              <a:buFont typeface="Arial"/>
              <a:buNone/>
            </a:pPr>
            <a:r>
              <a:t/>
            </a:r>
            <a:endParaRPr b="0" i="0" sz="2300" u="none">
              <a:solidFill>
                <a:srgbClr val="222222"/>
              </a:solidFill>
              <a:latin typeface="Arial"/>
              <a:ea typeface="Arial"/>
              <a:cs typeface="Arial"/>
              <a:sym typeface="Arial"/>
            </a:endParaRPr>
          </a:p>
        </p:txBody>
      </p:sp>
      <p:sp>
        <p:nvSpPr>
          <p:cNvPr id="485" name="Google Shape;485;p56"/>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 of Information Security, Fourth Edition</a:t>
            </a:r>
            <a:endParaRPr/>
          </a:p>
        </p:txBody>
      </p:sp>
      <p:sp>
        <p:nvSpPr>
          <p:cNvPr id="486" name="Google Shape;486;p56"/>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57"/>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Maintenance and Change</a:t>
            </a:r>
            <a:endParaRPr/>
          </a:p>
        </p:txBody>
      </p:sp>
      <p:sp>
        <p:nvSpPr>
          <p:cNvPr id="494" name="Google Shape;494;p57"/>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Perhaps the most important phase, given the ever-changing threat environment</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Often, repairing damage and restoring information is a constant duel with an unseen adversary </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Information security profile of an organization requires constant adaptation as new threats emerge and old threats evolve</a:t>
            </a:r>
            <a:endParaRPr/>
          </a:p>
        </p:txBody>
      </p:sp>
      <p:sp>
        <p:nvSpPr>
          <p:cNvPr id="495" name="Google Shape;495;p57"/>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496" name="Google Shape;496;p57"/>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58"/>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Security Professionals and the Organization</a:t>
            </a:r>
            <a:endParaRPr/>
          </a:p>
        </p:txBody>
      </p:sp>
      <p:sp>
        <p:nvSpPr>
          <p:cNvPr id="504" name="Google Shape;504;p58"/>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Wide range of professionals required to support a diverse information security program</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Senior management is key component</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Additional administrative support and technical expertise are required to implement details of IS program</a:t>
            </a:r>
            <a:endParaRPr/>
          </a:p>
        </p:txBody>
      </p:sp>
      <p:sp>
        <p:nvSpPr>
          <p:cNvPr id="505" name="Google Shape;505;p58"/>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506" name="Google Shape;506;p58"/>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59"/>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Senior Management </a:t>
            </a:r>
            <a:endParaRPr/>
          </a:p>
        </p:txBody>
      </p:sp>
      <p:sp>
        <p:nvSpPr>
          <p:cNvPr id="514" name="Google Shape;514;p59"/>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Chief Information Officer (CIO)‏</a:t>
            </a:r>
            <a:endParaRPr b="0" i="0" sz="2600" u="none">
              <a:solidFill>
                <a:srgbClr val="222222"/>
              </a:solidFill>
              <a:latin typeface="Arial"/>
              <a:ea typeface="Arial"/>
              <a:cs typeface="Arial"/>
              <a:sym typeface="Arial"/>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Senior technology officer</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Primarily responsible for advising senior executives on strategic planning </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Chief Information Security Officer (CISO)‏</a:t>
            </a:r>
            <a:endParaRPr b="0" i="0" sz="2600" u="none">
              <a:solidFill>
                <a:srgbClr val="222222"/>
              </a:solidFill>
              <a:latin typeface="Arial"/>
              <a:ea typeface="Arial"/>
              <a:cs typeface="Arial"/>
              <a:sym typeface="Arial"/>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Primarily responsible for assessment, management, and implementation of IS in the organization</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Usually reports directly to the CIO</a:t>
            </a:r>
            <a:endParaRPr/>
          </a:p>
        </p:txBody>
      </p:sp>
      <p:sp>
        <p:nvSpPr>
          <p:cNvPr id="515" name="Google Shape;515;p59"/>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516" name="Google Shape;516;p59"/>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60"/>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Information Security Project Team </a:t>
            </a:r>
            <a:endParaRPr/>
          </a:p>
        </p:txBody>
      </p:sp>
      <p:sp>
        <p:nvSpPr>
          <p:cNvPr id="524" name="Google Shape;524;p60"/>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A number of individuals who are experienced in one or more facets of required technical and nontechnical areas:</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Champion</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Team leader</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Security policy developers</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Risk assessment specialists</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Security professionals  </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Systems administrators</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End users</a:t>
            </a:r>
            <a:endParaRPr/>
          </a:p>
        </p:txBody>
      </p:sp>
      <p:sp>
        <p:nvSpPr>
          <p:cNvPr id="525" name="Google Shape;525;p60"/>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526" name="Google Shape;526;p60"/>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61"/>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Data Responsibilities</a:t>
            </a:r>
            <a:endParaRPr/>
          </a:p>
        </p:txBody>
      </p:sp>
      <p:sp>
        <p:nvSpPr>
          <p:cNvPr id="534" name="Google Shape;534;p61"/>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Data owner: responsible for the security and use of a particular set of information</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Data custodian: responsible for storage, maintenance, and protection of information </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Data users: end users who work with information to perform their daily jobs supporting the mission of the organization</a:t>
            </a:r>
            <a:endParaRPr/>
          </a:p>
        </p:txBody>
      </p:sp>
      <p:sp>
        <p:nvSpPr>
          <p:cNvPr id="535" name="Google Shape;535;p61"/>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536" name="Google Shape;536;p61"/>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62"/>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Communities of Interest</a:t>
            </a:r>
            <a:endParaRPr/>
          </a:p>
        </p:txBody>
      </p:sp>
      <p:sp>
        <p:nvSpPr>
          <p:cNvPr id="544" name="Google Shape;544;p62"/>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Group of individuals united by similar interests/values within an organization</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Information security management and professionals</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Information technology management and professionals</a:t>
            </a:r>
            <a:endParaRPr/>
          </a:p>
          <a:p>
            <a:pPr indent="-285750" lvl="1" marL="742950" marR="0" rtl="0" algn="l">
              <a:lnSpc>
                <a:spcPct val="100000"/>
              </a:lnSpc>
              <a:spcBef>
                <a:spcPts val="480"/>
              </a:spcBef>
              <a:spcAft>
                <a:spcPts val="0"/>
              </a:spcAft>
              <a:buClr>
                <a:srgbClr val="222222"/>
              </a:buClr>
              <a:buSzPts val="2400"/>
              <a:buFont typeface="Arial"/>
              <a:buChar char="–"/>
            </a:pPr>
            <a:r>
              <a:rPr b="0" i="0" lang="en-US" sz="2400" u="none" cap="none" strike="noStrike">
                <a:solidFill>
                  <a:srgbClr val="222222"/>
                </a:solidFill>
                <a:latin typeface="Arial"/>
                <a:ea typeface="Arial"/>
                <a:cs typeface="Arial"/>
                <a:sym typeface="Arial"/>
              </a:rPr>
              <a:t>Organizational management and professionals</a:t>
            </a:r>
            <a:endParaRPr/>
          </a:p>
        </p:txBody>
      </p:sp>
      <p:sp>
        <p:nvSpPr>
          <p:cNvPr id="545" name="Google Shape;545;p62"/>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546" name="Google Shape;546;p62"/>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63"/>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Information Security: Is it an Art or a Science?</a:t>
            </a:r>
            <a:endParaRPr/>
          </a:p>
        </p:txBody>
      </p:sp>
      <p:sp>
        <p:nvSpPr>
          <p:cNvPr id="554" name="Google Shape;554;p63"/>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Implementation of information security often described as combination of art and science</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“Security artesan” idea: based on the way individuals perceive systems technologists since computers became commonplace</a:t>
            </a:r>
            <a:endParaRPr/>
          </a:p>
        </p:txBody>
      </p:sp>
      <p:sp>
        <p:nvSpPr>
          <p:cNvPr id="555" name="Google Shape;555;p63"/>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556" name="Google Shape;556;p63"/>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64"/>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Security as Art</a:t>
            </a:r>
            <a:endParaRPr/>
          </a:p>
        </p:txBody>
      </p:sp>
      <p:sp>
        <p:nvSpPr>
          <p:cNvPr id="564" name="Google Shape;564;p64"/>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No hard and fast rules nor many universally accepted complete solutions</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No manual for implementing security through entire system</a:t>
            </a:r>
            <a:endParaRPr/>
          </a:p>
        </p:txBody>
      </p:sp>
      <p:sp>
        <p:nvSpPr>
          <p:cNvPr id="565" name="Google Shape;565;p64"/>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566" name="Google Shape;566;p64"/>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65"/>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Security as Science</a:t>
            </a:r>
            <a:endParaRPr/>
          </a:p>
        </p:txBody>
      </p:sp>
      <p:sp>
        <p:nvSpPr>
          <p:cNvPr id="574" name="Google Shape;574;p65"/>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Dealing with technology designed to operate at high levels of performance</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Specific conditions cause virtually all actions that occur in computer systems</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Nearly every fault, security hole, and systems malfunction are a result of interaction of specific hardware and software</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If developers had sufficient time, they could resolve and eliminate faults</a:t>
            </a:r>
            <a:endParaRPr/>
          </a:p>
        </p:txBody>
      </p:sp>
      <p:sp>
        <p:nvSpPr>
          <p:cNvPr id="575" name="Google Shape;575;p65"/>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576" name="Google Shape;576;p65"/>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66"/>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Security as a Social Science</a:t>
            </a:r>
            <a:endParaRPr/>
          </a:p>
        </p:txBody>
      </p:sp>
      <p:sp>
        <p:nvSpPr>
          <p:cNvPr id="584" name="Google Shape;584;p66"/>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Social science examines the behavior of individuals interacting with systems</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Security begins and ends with the people that interact with the system</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Security administrators can greatly reduce levels of risk caused by end users, and  create more acceptable and supportable security profiles</a:t>
            </a:r>
            <a:endParaRPr/>
          </a:p>
        </p:txBody>
      </p:sp>
      <p:sp>
        <p:nvSpPr>
          <p:cNvPr id="585" name="Google Shape;585;p66"/>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586" name="Google Shape;586;p66"/>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67"/>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Summary</a:t>
            </a:r>
            <a:endParaRPr/>
          </a:p>
        </p:txBody>
      </p:sp>
      <p:sp>
        <p:nvSpPr>
          <p:cNvPr id="594" name="Google Shape;594;p67"/>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Information security is a “well-informed sense of assurance that the information risks and controls are in balance”</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Computer security began immediately after first mainframes were developed </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Successful organizations have multiple layers of security in place: physical, personal, operations, communications, network, and information</a:t>
            </a:r>
            <a:endParaRPr/>
          </a:p>
        </p:txBody>
      </p:sp>
      <p:sp>
        <p:nvSpPr>
          <p:cNvPr id="595" name="Google Shape;595;p67"/>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a:t>
            </a:r>
            <a:r>
              <a:rPr b="0" i="0" lang="en-US" sz="1400" u="none">
                <a:solidFill>
                  <a:schemeClr val="dk1"/>
                </a:solidFill>
                <a:latin typeface="Arial"/>
                <a:ea typeface="Arial"/>
                <a:cs typeface="Arial"/>
                <a:sym typeface="Arial"/>
              </a:rPr>
              <a:t> of Information Security, Fourth Edition</a:t>
            </a:r>
            <a:endParaRPr/>
          </a:p>
        </p:txBody>
      </p:sp>
      <p:sp>
        <p:nvSpPr>
          <p:cNvPr id="596" name="Google Shape;596;p67"/>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68"/>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Summary (cont’d.)‏</a:t>
            </a:r>
            <a:endParaRPr/>
          </a:p>
        </p:txBody>
      </p:sp>
      <p:sp>
        <p:nvSpPr>
          <p:cNvPr id="604" name="Google Shape;604;p68"/>
          <p:cNvSpPr txBox="1"/>
          <p:nvPr>
            <p:ph idx="1" type="body"/>
          </p:nvPr>
        </p:nvSpPr>
        <p:spPr>
          <a:xfrm>
            <a:off x="533400" y="16764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Security should be considered a balance between protection and availability</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Information security must be managed similarly to any major system implemented in an organization using a methodology like SecSDLC</a:t>
            </a:r>
            <a:endParaRPr/>
          </a:p>
          <a:p>
            <a:pPr indent="-342900" lvl="0" marL="342900" marR="0" rtl="0" algn="l">
              <a:lnSpc>
                <a:spcPct val="100000"/>
              </a:lnSpc>
              <a:spcBef>
                <a:spcPts val="52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Implementation of information security often described as a combination of art and science</a:t>
            </a:r>
            <a:endParaRPr/>
          </a:p>
        </p:txBody>
      </p:sp>
      <p:sp>
        <p:nvSpPr>
          <p:cNvPr id="605" name="Google Shape;605;p68"/>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Principals of Information Security, Fourth Edition</a:t>
            </a:r>
            <a:endParaRPr/>
          </a:p>
        </p:txBody>
      </p:sp>
      <p:sp>
        <p:nvSpPr>
          <p:cNvPr id="606" name="Google Shape;606;p68"/>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69"/>
          <p:cNvSpPr txBox="1"/>
          <p:nvPr>
            <p:ph type="title"/>
          </p:nvPr>
        </p:nvSpPr>
        <p:spPr>
          <a:xfrm>
            <a:off x="533400" y="381000"/>
            <a:ext cx="8077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22222"/>
              </a:buClr>
              <a:buSzPts val="3600"/>
              <a:buFont typeface="Arial"/>
              <a:buNone/>
            </a:pPr>
            <a:r>
              <a:rPr b="0" i="0" lang="en-US" sz="3600" u="none">
                <a:solidFill>
                  <a:srgbClr val="222222"/>
                </a:solidFill>
                <a:latin typeface="Arial"/>
                <a:ea typeface="Arial"/>
                <a:cs typeface="Arial"/>
                <a:sym typeface="Arial"/>
              </a:rPr>
              <a:t>References</a:t>
            </a:r>
            <a:endParaRPr/>
          </a:p>
        </p:txBody>
      </p:sp>
      <p:sp>
        <p:nvSpPr>
          <p:cNvPr id="612" name="Google Shape;612;p69"/>
          <p:cNvSpPr txBox="1"/>
          <p:nvPr>
            <p:ph idx="1" type="body"/>
          </p:nvPr>
        </p:nvSpPr>
        <p:spPr>
          <a:xfrm>
            <a:off x="609600" y="1600200"/>
            <a:ext cx="80772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2222"/>
              </a:buClr>
              <a:buSzPts val="2600"/>
              <a:buFont typeface="Arial"/>
              <a:buChar char="•"/>
            </a:pPr>
            <a:r>
              <a:rPr b="0" i="0" lang="en-US" sz="2600" u="none">
                <a:solidFill>
                  <a:srgbClr val="222222"/>
                </a:solidFill>
                <a:latin typeface="Arial"/>
                <a:ea typeface="Arial"/>
                <a:cs typeface="Arial"/>
                <a:sym typeface="Arial"/>
              </a:rPr>
              <a:t>http://en.wikipedia.org/wiki/Fail-safe </a:t>
            </a:r>
            <a:endParaRPr/>
          </a:p>
        </p:txBody>
      </p:sp>
      <p:sp>
        <p:nvSpPr>
          <p:cNvPr id="613" name="Google Shape;613;p69"/>
          <p:cNvSpPr txBox="1"/>
          <p:nvPr/>
        </p:nvSpPr>
        <p:spPr>
          <a:xfrm>
            <a:off x="533400" y="6324600"/>
            <a:ext cx="5867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22222"/>
              </a:buClr>
              <a:buSzPts val="1400"/>
              <a:buFont typeface="Arial"/>
              <a:buNone/>
            </a:pPr>
            <a:r>
              <a:rPr b="0" i="0" lang="en-US" sz="1400" u="none">
                <a:solidFill>
                  <a:srgbClr val="222222"/>
                </a:solidFill>
                <a:latin typeface="Arial"/>
                <a:ea typeface="Arial"/>
                <a:cs typeface="Arial"/>
                <a:sym typeface="Arial"/>
              </a:rPr>
              <a:t>Principles of Information Security, Fourth Edition</a:t>
            </a:r>
            <a:endParaRPr/>
          </a:p>
        </p:txBody>
      </p:sp>
      <p:sp>
        <p:nvSpPr>
          <p:cNvPr id="614" name="Google Shape;614;p69"/>
          <p:cNvSpPr txBox="1"/>
          <p:nvPr/>
        </p:nvSpPr>
        <p:spPr>
          <a:xfrm>
            <a:off x="6553200" y="6324600"/>
            <a:ext cx="2057400" cy="381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222222"/>
              </a:buClr>
              <a:buSzPts val="1400"/>
              <a:buFont typeface="Arial"/>
              <a:buNone/>
            </a:pPr>
            <a:fld id="{00000000-1234-1234-1234-123412341234}" type="slidenum">
              <a:rPr b="0" i="0" lang="en-US" sz="1400" u="none">
                <a:solidFill>
                  <a:srgbClr val="222222"/>
                </a:solidFill>
                <a:latin typeface="Arial"/>
                <a:ea typeface="Arial"/>
                <a:cs typeface="Arial"/>
                <a:sym typeface="Arial"/>
              </a:rP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