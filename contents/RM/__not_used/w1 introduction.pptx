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d17b6b218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d17b6b218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2d17b6b218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While hardware and software may be expensive, unique data cannot be replaced if it is lost.</a:t>
            </a:r>
            <a:endParaRPr/>
          </a:p>
        </p:txBody>
      </p:sp>
      <p:sp>
        <p:nvSpPr>
          <p:cNvPr id="131" name="Google Shape;13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will be further discussion of each later in the chapter.</a:t>
            </a:r>
            <a:endParaRPr/>
          </a:p>
        </p:txBody>
      </p:sp>
      <p:sp>
        <p:nvSpPr>
          <p:cNvPr id="140" name="Google Shape;14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water is the threat, the crack the vulnerability, and the finger the control (for now).</a:t>
            </a:r>
            <a:endParaRPr/>
          </a:p>
        </p:txBody>
      </p:sp>
      <p:sp>
        <p:nvSpPr>
          <p:cNvPr id="149" name="Google Shape;149;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Visual explanation of basic access control terms</a:t>
            </a:r>
            <a:endParaRPr/>
          </a:p>
        </p:txBody>
      </p:sp>
      <p:sp>
        <p:nvSpPr>
          <p:cNvPr id="166" name="Google Shape;16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diagram shows threats categorized according to whether they are human-caused, malicious, or directed. These characteristics will affect security planning in important ways later.</a:t>
            </a:r>
            <a:endParaRPr/>
          </a:p>
        </p:txBody>
      </p:sp>
      <p:sp>
        <p:nvSpPr>
          <p:cNvPr id="175" name="Google Shape;175;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APT is a special type of threat that has only been taken seriously by the broad security community over the past decade. In general, security experts believe that no one who becomes a high-priority target can truly be safe from APT.</a:t>
            </a:r>
            <a:endParaRPr/>
          </a:p>
        </p:txBody>
      </p:sp>
      <p:sp>
        <p:nvSpPr>
          <p:cNvPr id="184" name="Google Shape;18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these attacker types is associated with a different set of resources, capabilities, and motivations. Understanding the different types will help later in considering threats.</a:t>
            </a:r>
            <a:endParaRPr/>
          </a:p>
        </p:txBody>
      </p:sp>
      <p:sp>
        <p:nvSpPr>
          <p:cNvPr id="193" name="Google Shape;19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primary types of harm against system data and functions. Understanding these possibilities is important to considering threat and risk.</a:t>
            </a:r>
            <a:endParaRPr/>
          </a:p>
        </p:txBody>
      </p:sp>
      <p:sp>
        <p:nvSpPr>
          <p:cNvPr id="202" name="Google Shape;202;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Understanding method, motive, and opportunity can be a good way to think about potential threats. Reducing any of those dimensions can lower the risk to the system.</a:t>
            </a:r>
            <a:endParaRPr/>
          </a:p>
        </p:txBody>
      </p:sp>
      <p:sp>
        <p:nvSpPr>
          <p:cNvPr id="211" name="Google Shape;21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representation shows the three dimensions by which a control can be categorized. Thinking about controls in this way enables you to easily map the controls against the threats they help address.</a:t>
            </a:r>
            <a:endParaRPr/>
          </a:p>
        </p:txBody>
      </p:sp>
      <p:sp>
        <p:nvSpPr>
          <p:cNvPr id="220" name="Google Shape;22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simple representation of a networked system, it is easy to see all the touch points where controls can be placed, as well as some different types of controls, including deterrence, deflection, response, prevention, and preemption.</a:t>
            </a:r>
            <a:endParaRPr/>
          </a:p>
        </p:txBody>
      </p:sp>
      <p:sp>
        <p:nvSpPr>
          <p:cNvPr id="229" name="Google Shape;229;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lvl1pPr lvl="0" algn="l">
              <a:spcBef>
                <a:spcPts val="480"/>
              </a:spcBef>
              <a:spcAft>
                <a:spcPts val="0"/>
              </a:spcAft>
              <a:buSzPts val="2040"/>
              <a:buNone/>
              <a:defRPr>
                <a:solidFill>
                  <a:srgbClr val="55556F"/>
                </a:solidFill>
              </a:defRPr>
            </a:lvl1pPr>
            <a:lvl2pPr lvl="1" algn="ctr">
              <a:spcBef>
                <a:spcPts val="400"/>
              </a:spcBef>
              <a:spcAft>
                <a:spcPts val="0"/>
              </a:spcAft>
              <a:buSzPts val="1700"/>
              <a:buNone/>
              <a:defRPr>
                <a:solidFill>
                  <a:srgbClr val="8B8B8D"/>
                </a:solidFill>
              </a:defRPr>
            </a:lvl2pPr>
            <a:lvl3pPr lvl="2" algn="ctr">
              <a:spcBef>
                <a:spcPts val="360"/>
              </a:spcBef>
              <a:spcAft>
                <a:spcPts val="0"/>
              </a:spcAft>
              <a:buSzPts val="1620"/>
              <a:buNone/>
              <a:defRPr>
                <a:solidFill>
                  <a:srgbClr val="8B8B8D"/>
                </a:solidFill>
              </a:defRPr>
            </a:lvl3pPr>
            <a:lvl4pPr lvl="3" algn="ctr">
              <a:spcBef>
                <a:spcPts val="320"/>
              </a:spcBef>
              <a:spcAft>
                <a:spcPts val="0"/>
              </a:spcAft>
              <a:buSzPts val="1600"/>
              <a:buNone/>
              <a:defRPr>
                <a:solidFill>
                  <a:srgbClr val="8B8B8D"/>
                </a:solidFill>
              </a:defRPr>
            </a:lvl4pPr>
            <a:lvl5pPr lvl="4" algn="ctr">
              <a:spcBef>
                <a:spcPts val="280"/>
              </a:spcBef>
              <a:spcAft>
                <a:spcPts val="0"/>
              </a:spcAft>
              <a:buSzPts val="1400"/>
              <a:buNone/>
              <a:defRPr>
                <a:solidFill>
                  <a:srgbClr val="8B8B8D"/>
                </a:solidFill>
              </a:defRPr>
            </a:lvl5pPr>
            <a:lvl6pPr lvl="5" algn="ctr">
              <a:spcBef>
                <a:spcPts val="260"/>
              </a:spcBef>
              <a:spcAft>
                <a:spcPts val="0"/>
              </a:spcAft>
              <a:buSzPts val="1300"/>
              <a:buNone/>
              <a:defRPr>
                <a:solidFill>
                  <a:srgbClr val="8B8B8D"/>
                </a:solidFill>
              </a:defRPr>
            </a:lvl6pPr>
            <a:lvl7pPr lvl="6" algn="ctr">
              <a:spcBef>
                <a:spcPts val="260"/>
              </a:spcBef>
              <a:spcAft>
                <a:spcPts val="0"/>
              </a:spcAft>
              <a:buSzPts val="1300"/>
              <a:buNone/>
              <a:defRPr>
                <a:solidFill>
                  <a:srgbClr val="8B8B8D"/>
                </a:solidFill>
              </a:defRPr>
            </a:lvl7pPr>
            <a:lvl8pPr lvl="7" algn="ctr">
              <a:spcBef>
                <a:spcPts val="260"/>
              </a:spcBef>
              <a:spcAft>
                <a:spcPts val="0"/>
              </a:spcAft>
              <a:buSzPts val="1300"/>
              <a:buNone/>
              <a:defRPr>
                <a:solidFill>
                  <a:srgbClr val="8B8B8D"/>
                </a:solidFill>
              </a:defRPr>
            </a:lvl8pPr>
            <a:lvl9pPr lvl="8" algn="ctr">
              <a:spcBef>
                <a:spcPts val="260"/>
              </a:spcBef>
              <a:spcAft>
                <a:spcPts val="0"/>
              </a:spcAft>
              <a:buSzPts val="1300"/>
              <a:buNone/>
              <a:defRPr>
                <a:solidFill>
                  <a:srgbClr val="8B8B8D"/>
                </a:solidFill>
              </a:defRPr>
            </a:lvl9pPr>
          </a:lstStyle>
          <a:p/>
        </p:txBody>
      </p:sp>
      <p:sp>
        <p:nvSpPr>
          <p:cNvPr id="20" name="Google Shape;20;p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3" name="Google Shape;23;p2"/>
          <p:cNvCxnSpPr/>
          <p:nvPr/>
        </p:nvCxnSpPr>
        <p:spPr>
          <a:xfrm>
            <a:off x="685800" y="3398520"/>
            <a:ext cx="784860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7" name="Google Shape;27;p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0" name="Shape 30"/>
        <p:cNvGrpSpPr/>
        <p:nvPr/>
      </p:nvGrpSpPr>
      <p:grpSpPr>
        <a:xfrm>
          <a:off x="0" y="0"/>
          <a:ext cx="0" cy="0"/>
          <a:chOff x="0" y="0"/>
          <a:chExt cx="0" cy="0"/>
        </a:xfrm>
      </p:grpSpPr>
      <p:sp>
        <p:nvSpPr>
          <p:cNvPr id="31" name="Google Shape;31;p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3" name="Google Shape;33;p4"/>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5"/>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40" name="Shape 40"/>
        <p:cNvGrpSpPr/>
        <p:nvPr/>
      </p:nvGrpSpPr>
      <p:grpSpPr>
        <a:xfrm>
          <a:off x="0" y="0"/>
          <a:ext cx="0" cy="0"/>
          <a:chOff x="0" y="0"/>
          <a:chExt cx="0" cy="0"/>
        </a:xfrm>
      </p:grpSpPr>
      <p:sp>
        <p:nvSpPr>
          <p:cNvPr id="41" name="Google Shape;41;p6"/>
          <p:cNvSpPr txBox="1"/>
          <p:nvPr>
            <p:ph type="title"/>
          </p:nvPr>
        </p:nvSpPr>
        <p:spPr>
          <a:xfrm>
            <a:off x="722313" y="2362200"/>
            <a:ext cx="7772400" cy="22002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722313" y="4626864"/>
            <a:ext cx="7772400" cy="1500187"/>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43" name="Google Shape;43;p6"/>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46" name="Google Shape;46;p6"/>
          <p:cNvCxnSpPr/>
          <p:nvPr/>
        </p:nvCxnSpPr>
        <p:spPr>
          <a:xfrm>
            <a:off x="731520" y="4599432"/>
            <a:ext cx="7848600" cy="1588"/>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50" name="Google Shape;50;p7"/>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51" name="Google Shape;51;p7"/>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1" type="body"/>
          </p:nvPr>
        </p:nvSpPr>
        <p:spPr>
          <a:xfrm>
            <a:off x="45720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7" name="Google Shape;57;p8"/>
          <p:cNvSpPr txBox="1"/>
          <p:nvPr>
            <p:ph idx="2" type="body"/>
          </p:nvPr>
        </p:nvSpPr>
        <p:spPr>
          <a:xfrm>
            <a:off x="45720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8" name="Google Shape;58;p8"/>
          <p:cNvSpPr txBox="1"/>
          <p:nvPr>
            <p:ph idx="3" type="body"/>
          </p:nvPr>
        </p:nvSpPr>
        <p:spPr>
          <a:xfrm>
            <a:off x="475488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9" name="Google Shape;59;p8"/>
          <p:cNvSpPr txBox="1"/>
          <p:nvPr>
            <p:ph idx="4" type="body"/>
          </p:nvPr>
        </p:nvSpPr>
        <p:spPr>
          <a:xfrm>
            <a:off x="475488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60" name="Google Shape;60;p8"/>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63" name="Google Shape;63;p8"/>
          <p:cNvCxnSpPr/>
          <p:nvPr/>
        </p:nvCxnSpPr>
        <p:spPr>
          <a:xfrm rot="5400000">
            <a:off x="2217817" y="4045823"/>
            <a:ext cx="470916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457200" y="792080"/>
            <a:ext cx="2139696" cy="12618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0"/>
          <p:cNvSpPr txBox="1"/>
          <p:nvPr>
            <p:ph idx="1" type="body"/>
          </p:nvPr>
        </p:nvSpPr>
        <p:spPr>
          <a:xfrm>
            <a:off x="2971800" y="792080"/>
            <a:ext cx="5715000" cy="557784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72" name="Google Shape;72;p10"/>
          <p:cNvSpPr txBox="1"/>
          <p:nvPr>
            <p:ph idx="2" type="body"/>
          </p:nvPr>
        </p:nvSpPr>
        <p:spPr>
          <a:xfrm>
            <a:off x="457201" y="2130552"/>
            <a:ext cx="2139696" cy="4243615"/>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73" name="Google Shape;73;p10"/>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76" name="Google Shape;76;p10"/>
          <p:cNvCxnSpPr/>
          <p:nvPr/>
        </p:nvCxnSpPr>
        <p:spPr>
          <a:xfrm rot="5400000">
            <a:off x="-13116" y="3580206"/>
            <a:ext cx="557784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11"/>
          <p:cNvSpPr txBox="1"/>
          <p:nvPr>
            <p:ph type="title"/>
          </p:nvPr>
        </p:nvSpPr>
        <p:spPr>
          <a:xfrm>
            <a:off x="457200" y="792480"/>
            <a:ext cx="2142680" cy="1264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
          <p:cNvSpPr/>
          <p:nvPr>
            <p:ph idx="2" type="pic"/>
          </p:nvPr>
        </p:nvSpPr>
        <p:spPr>
          <a:xfrm>
            <a:off x="2858610" y="838201"/>
            <a:ext cx="5904390" cy="5500456"/>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sp>
      <p:sp>
        <p:nvSpPr>
          <p:cNvPr id="80" name="Google Shape;80;p11"/>
          <p:cNvSpPr txBox="1"/>
          <p:nvPr>
            <p:ph idx="1" type="body"/>
          </p:nvPr>
        </p:nvSpPr>
        <p:spPr>
          <a:xfrm>
            <a:off x="457200" y="2133600"/>
            <a:ext cx="2139696" cy="424281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81" name="Google Shape;81;p11"/>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1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2"/>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7" name="Google Shape;87;p1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13"/>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3"/>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 name="Google Shape;93;p1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3"/>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atin typeface="Arial"/>
                <a:ea typeface="Arial"/>
                <a:cs typeface="Arial"/>
                <a:sym typeface="Arial"/>
              </a:defRPr>
            </a:lvl1pPr>
            <a:lvl2pPr indent="0" lvl="1" marL="0" algn="l">
              <a:spcBef>
                <a:spcPts val="0"/>
              </a:spcBef>
              <a:buNone/>
              <a:defRPr>
                <a:latin typeface="Arial"/>
                <a:ea typeface="Arial"/>
                <a:cs typeface="Arial"/>
                <a:sym typeface="Arial"/>
              </a:defRPr>
            </a:lvl2pPr>
            <a:lvl3pPr indent="0" lvl="2" marL="0" algn="l">
              <a:spcBef>
                <a:spcPts val="0"/>
              </a:spcBef>
              <a:buNone/>
              <a:defRPr>
                <a:latin typeface="Arial"/>
                <a:ea typeface="Arial"/>
                <a:cs typeface="Arial"/>
                <a:sym typeface="Arial"/>
              </a:defRPr>
            </a:lvl3pPr>
            <a:lvl4pPr indent="0" lvl="3" marL="0" algn="l">
              <a:spcBef>
                <a:spcPts val="0"/>
              </a:spcBef>
              <a:buNone/>
              <a:defRPr>
                <a:latin typeface="Arial"/>
                <a:ea typeface="Arial"/>
                <a:cs typeface="Arial"/>
                <a:sym typeface="Arial"/>
              </a:defRPr>
            </a:lvl4pPr>
            <a:lvl5pPr indent="0" lvl="4" marL="0" algn="l">
              <a:spcBef>
                <a:spcPts val="0"/>
              </a:spcBef>
              <a:buNone/>
              <a:defRPr>
                <a:latin typeface="Arial"/>
                <a:ea typeface="Arial"/>
                <a:cs typeface="Arial"/>
                <a:sym typeface="Arial"/>
              </a:defRPr>
            </a:lvl5pPr>
            <a:lvl6pPr indent="0" lvl="5" marL="0" algn="l">
              <a:spcBef>
                <a:spcPts val="0"/>
              </a:spcBef>
              <a:buNone/>
              <a:defRPr>
                <a:latin typeface="Arial"/>
                <a:ea typeface="Arial"/>
                <a:cs typeface="Arial"/>
                <a:sym typeface="Arial"/>
              </a:defRPr>
            </a:lvl6pPr>
            <a:lvl7pPr indent="0" lvl="6" marL="0" algn="l">
              <a:spcBef>
                <a:spcPts val="0"/>
              </a:spcBef>
              <a:buNone/>
              <a:defRPr>
                <a:latin typeface="Arial"/>
                <a:ea typeface="Arial"/>
                <a:cs typeface="Arial"/>
                <a:sym typeface="Arial"/>
              </a:defRPr>
            </a:lvl7pPr>
            <a:lvl8pPr indent="0" lvl="7" marL="0" algn="l">
              <a:spcBef>
                <a:spcPts val="0"/>
              </a:spcBef>
              <a:buNone/>
              <a:defRPr>
                <a:latin typeface="Arial"/>
                <a:ea typeface="Arial"/>
                <a:cs typeface="Arial"/>
                <a:sym typeface="Arial"/>
              </a:defRPr>
            </a:lvl8pPr>
            <a:lvl9pPr indent="0" lvl="8" marL="0" algn="l">
              <a:spcBef>
                <a:spcPts val="0"/>
              </a:spcBef>
              <a:buNone/>
              <a:defRPr>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220786"/>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1" name="Google Shape;11;p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3" name="Google Shape;13;p1"/>
          <p:cNvSpPr/>
          <p:nvPr/>
        </p:nvSpPr>
        <p:spPr>
          <a:xfrm>
            <a:off x="0" y="0"/>
            <a:ext cx="9144000" cy="3657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4" name="Google Shape;14;p1"/>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5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400" u="none" cap="none" strike="noStrike">
                <a:solidFill>
                  <a:srgbClr val="FFFFFF"/>
                </a:solidFill>
                <a:latin typeface="Arial"/>
                <a:ea typeface="Arial"/>
                <a:cs typeface="Arial"/>
                <a:sym typeface="Arial"/>
              </a:defRPr>
            </a:lvl1pPr>
            <a:lvl2pPr indent="0" lvl="1" marL="0" marR="0" rtl="0" algn="l">
              <a:spcBef>
                <a:spcPts val="0"/>
              </a:spcBef>
              <a:buNone/>
              <a:defRPr b="1" i="0" sz="1400" u="none" cap="none" strike="noStrike">
                <a:solidFill>
                  <a:srgbClr val="FFFFFF"/>
                </a:solidFill>
                <a:latin typeface="Arial"/>
                <a:ea typeface="Arial"/>
                <a:cs typeface="Arial"/>
                <a:sym typeface="Arial"/>
              </a:defRPr>
            </a:lvl2pPr>
            <a:lvl3pPr indent="0" lvl="2" marL="0" marR="0" rtl="0" algn="l">
              <a:spcBef>
                <a:spcPts val="0"/>
              </a:spcBef>
              <a:buNone/>
              <a:defRPr b="1" i="0" sz="1400" u="none" cap="none" strike="noStrike">
                <a:solidFill>
                  <a:srgbClr val="FFFFFF"/>
                </a:solidFill>
                <a:latin typeface="Arial"/>
                <a:ea typeface="Arial"/>
                <a:cs typeface="Arial"/>
                <a:sym typeface="Arial"/>
              </a:defRPr>
            </a:lvl3pPr>
            <a:lvl4pPr indent="0" lvl="3" marL="0" marR="0" rtl="0" algn="l">
              <a:spcBef>
                <a:spcPts val="0"/>
              </a:spcBef>
              <a:buNone/>
              <a:defRPr b="1" i="0" sz="1400" u="none" cap="none" strike="noStrike">
                <a:solidFill>
                  <a:srgbClr val="FFFFFF"/>
                </a:solidFill>
                <a:latin typeface="Arial"/>
                <a:ea typeface="Arial"/>
                <a:cs typeface="Arial"/>
                <a:sym typeface="Arial"/>
              </a:defRPr>
            </a:lvl4pPr>
            <a:lvl5pPr indent="0" lvl="4" marL="0" marR="0" rtl="0" algn="l">
              <a:spcBef>
                <a:spcPts val="0"/>
              </a:spcBef>
              <a:buNone/>
              <a:defRPr b="1" i="0" sz="1400" u="none" cap="none" strike="noStrike">
                <a:solidFill>
                  <a:srgbClr val="FFFFFF"/>
                </a:solidFill>
                <a:latin typeface="Arial"/>
                <a:ea typeface="Arial"/>
                <a:cs typeface="Arial"/>
                <a:sym typeface="Arial"/>
              </a:defRPr>
            </a:lvl5pPr>
            <a:lvl6pPr indent="0" lvl="5" marL="0" marR="0" rtl="0" algn="l">
              <a:spcBef>
                <a:spcPts val="0"/>
              </a:spcBef>
              <a:buNone/>
              <a:defRPr b="1" i="0" sz="1400" u="none" cap="none" strike="noStrike">
                <a:solidFill>
                  <a:srgbClr val="FFFFFF"/>
                </a:solidFill>
                <a:latin typeface="Arial"/>
                <a:ea typeface="Arial"/>
                <a:cs typeface="Arial"/>
                <a:sym typeface="Arial"/>
              </a:defRPr>
            </a:lvl6pPr>
            <a:lvl7pPr indent="0" lvl="6" marL="0" marR="0" rtl="0" algn="l">
              <a:spcBef>
                <a:spcPts val="0"/>
              </a:spcBef>
              <a:buNone/>
              <a:defRPr b="1" i="0" sz="1400" u="none" cap="none" strike="noStrike">
                <a:solidFill>
                  <a:srgbClr val="FFFFFF"/>
                </a:solidFill>
                <a:latin typeface="Arial"/>
                <a:ea typeface="Arial"/>
                <a:cs typeface="Arial"/>
                <a:sym typeface="Arial"/>
              </a:defRPr>
            </a:lvl7pPr>
            <a:lvl8pPr indent="0" lvl="7" marL="0" marR="0" rtl="0" algn="l">
              <a:spcBef>
                <a:spcPts val="0"/>
              </a:spcBef>
              <a:buNone/>
              <a:defRPr b="1" i="0" sz="1400" u="none" cap="none" strike="noStrike">
                <a:solidFill>
                  <a:srgbClr val="FFFFFF"/>
                </a:solidFill>
                <a:latin typeface="Arial"/>
                <a:ea typeface="Arial"/>
                <a:cs typeface="Arial"/>
                <a:sym typeface="Arial"/>
              </a:defRPr>
            </a:lvl8pPr>
            <a:lvl9pPr indent="0" lvl="8" marL="0" marR="0" rtl="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type="ctrTitle"/>
          </p:nvPr>
        </p:nvSpPr>
        <p:spPr>
          <a:xfrm>
            <a:off x="685800" y="1371600"/>
            <a:ext cx="7848600" cy="1927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a:t>
            </a:r>
            <a:endParaRPr/>
          </a:p>
        </p:txBody>
      </p:sp>
      <p:sp>
        <p:nvSpPr>
          <p:cNvPr id="102" name="Google Shape;102;p14"/>
          <p:cNvSpPr txBox="1"/>
          <p:nvPr>
            <p:ph idx="1" type="subTitle"/>
          </p:nvPr>
        </p:nvSpPr>
        <p:spPr>
          <a:xfrm>
            <a:off x="685800" y="3505200"/>
            <a:ext cx="6400800" cy="17526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a:p>
        </p:txBody>
      </p:sp>
      <p:sp>
        <p:nvSpPr>
          <p:cNvPr id="103" name="Google Shape;103;p14"/>
          <p:cNvSpPr txBox="1"/>
          <p:nvPr>
            <p:ph idx="12" type="sldNum"/>
          </p:nvPr>
        </p:nvSpPr>
        <p:spPr>
          <a:xfrm>
            <a:off x="7620000" y="18288"/>
            <a:ext cx="1066800" cy="329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Objectives</a:t>
            </a:r>
            <a:endParaRPr/>
          </a:p>
        </p:txBody>
      </p:sp>
      <p:sp>
        <p:nvSpPr>
          <p:cNvPr id="109" name="Google Shape;109;p1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Define </a:t>
            </a:r>
            <a:r>
              <a:rPr i="1" lang="en-US"/>
              <a:t>computer security</a:t>
            </a:r>
            <a:r>
              <a:rPr lang="en-US"/>
              <a:t> as well as basic computer security terms</a:t>
            </a:r>
            <a:endParaRPr/>
          </a:p>
          <a:p>
            <a:pPr indent="-182880" lvl="0" marL="182880" rtl="0" algn="l">
              <a:spcBef>
                <a:spcPts val="480"/>
              </a:spcBef>
              <a:spcAft>
                <a:spcPts val="0"/>
              </a:spcAft>
              <a:buSzPts val="2040"/>
              <a:buChar char="•"/>
            </a:pPr>
            <a:r>
              <a:rPr lang="en-US"/>
              <a:t>Introduce the C-I-A Triad</a:t>
            </a:r>
            <a:endParaRPr/>
          </a:p>
          <a:p>
            <a:pPr indent="-182880" lvl="0" marL="182880" rtl="0" algn="l">
              <a:spcBef>
                <a:spcPts val="480"/>
              </a:spcBef>
              <a:spcAft>
                <a:spcPts val="0"/>
              </a:spcAft>
              <a:buSzPts val="2040"/>
              <a:buChar char="•"/>
            </a:pPr>
            <a:r>
              <a:rPr lang="en-US"/>
              <a:t>Introduce basic access control terminology</a:t>
            </a:r>
            <a:endParaRPr/>
          </a:p>
          <a:p>
            <a:pPr indent="-182880" lvl="0" marL="182880" rtl="0" algn="l">
              <a:spcBef>
                <a:spcPts val="480"/>
              </a:spcBef>
              <a:spcAft>
                <a:spcPts val="0"/>
              </a:spcAft>
              <a:buSzPts val="2040"/>
              <a:buChar char="•"/>
            </a:pPr>
            <a:r>
              <a:rPr lang="en-US"/>
              <a:t>Explain basic threats, vulnerabilities, and attacks</a:t>
            </a:r>
            <a:endParaRPr/>
          </a:p>
          <a:p>
            <a:pPr indent="-182880" lvl="0" marL="182880" rtl="0" algn="l">
              <a:spcBef>
                <a:spcPts val="480"/>
              </a:spcBef>
              <a:spcAft>
                <a:spcPts val="0"/>
              </a:spcAft>
              <a:buSzPts val="2040"/>
              <a:buChar char="•"/>
            </a:pPr>
            <a:r>
              <a:rPr lang="en-US"/>
              <a:t>Show how controls map to threats</a:t>
            </a:r>
            <a:endParaRPr/>
          </a:p>
        </p:txBody>
      </p:sp>
      <p:sp>
        <p:nvSpPr>
          <p:cNvPr id="110" name="Google Shape;110;p15"/>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11" name="Google Shape;111;p1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dk2"/>
              </a:buClr>
              <a:buSzPts val="4000"/>
              <a:buFont typeface="Arial"/>
              <a:buNone/>
            </a:pPr>
            <a:r>
              <a:rPr lang="en-US"/>
              <a:t>What Is Computer Security?</a:t>
            </a:r>
            <a:endParaRPr/>
          </a:p>
        </p:txBody>
      </p:sp>
      <p:sp>
        <p:nvSpPr>
          <p:cNvPr id="117" name="Google Shape;117;p1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720"/>
              <a:buChar char="•"/>
            </a:pPr>
            <a:r>
              <a:rPr lang="en-US" sz="3200"/>
              <a:t>The protection of the assets of a computer system</a:t>
            </a:r>
            <a:endParaRPr/>
          </a:p>
          <a:p>
            <a:pPr indent="-182880" lvl="1" marL="457200" rtl="0" algn="l">
              <a:spcBef>
                <a:spcPts val="560"/>
              </a:spcBef>
              <a:spcAft>
                <a:spcPts val="0"/>
              </a:spcAft>
              <a:buSzPts val="2380"/>
              <a:buChar char="•"/>
            </a:pPr>
            <a:r>
              <a:rPr lang="en-US" sz="2800"/>
              <a:t>Hardware</a:t>
            </a:r>
            <a:endParaRPr/>
          </a:p>
          <a:p>
            <a:pPr indent="-182880" lvl="1" marL="457200" rtl="0" algn="l">
              <a:spcBef>
                <a:spcPts val="560"/>
              </a:spcBef>
              <a:spcAft>
                <a:spcPts val="0"/>
              </a:spcAft>
              <a:buSzPts val="2380"/>
              <a:buChar char="•"/>
            </a:pPr>
            <a:r>
              <a:rPr lang="en-US" sz="2800"/>
              <a:t>Software</a:t>
            </a:r>
            <a:endParaRPr/>
          </a:p>
          <a:p>
            <a:pPr indent="-182880" lvl="1" marL="457200" rtl="0" algn="l">
              <a:spcBef>
                <a:spcPts val="560"/>
              </a:spcBef>
              <a:spcAft>
                <a:spcPts val="0"/>
              </a:spcAft>
              <a:buSzPts val="2380"/>
              <a:buChar char="•"/>
            </a:pPr>
            <a:r>
              <a:rPr lang="en-US" sz="2800"/>
              <a:t>Data</a:t>
            </a:r>
            <a:endParaRPr sz="2800"/>
          </a:p>
        </p:txBody>
      </p:sp>
      <p:sp>
        <p:nvSpPr>
          <p:cNvPr id="118" name="Google Shape;118;p16"/>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19" name="Google Shape;119;p1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Assets</a:t>
            </a:r>
            <a:endParaRPr/>
          </a:p>
        </p:txBody>
      </p:sp>
      <p:pic>
        <p:nvPicPr>
          <p:cNvPr descr="fig01-02.eps" id="125" name="Google Shape;125;p17"/>
          <p:cNvPicPr preferRelativeResize="0"/>
          <p:nvPr/>
        </p:nvPicPr>
        <p:blipFill rotWithShape="1">
          <a:blip r:embed="rId3">
            <a:alphaModFix/>
          </a:blip>
          <a:srcRect b="0" l="0" r="0" t="0"/>
          <a:stretch/>
        </p:blipFill>
        <p:spPr>
          <a:xfrm>
            <a:off x="1122479" y="1286499"/>
            <a:ext cx="6830784" cy="5048840"/>
          </a:xfrm>
          <a:prstGeom prst="rect">
            <a:avLst/>
          </a:prstGeom>
          <a:noFill/>
          <a:ln>
            <a:noFill/>
          </a:ln>
        </p:spPr>
      </p:pic>
      <p:sp>
        <p:nvSpPr>
          <p:cNvPr id="126" name="Google Shape;126;p17"/>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27" name="Google Shape;127;p1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nvSpPr>
        <p:spPr>
          <a:xfrm>
            <a:off x="457200" y="533400"/>
            <a:ext cx="82296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2533C"/>
              </a:buClr>
              <a:buSzPts val="4000"/>
              <a:buFont typeface="Arial"/>
              <a:buNone/>
            </a:pPr>
            <a:r>
              <a:rPr b="0" i="0" lang="en-US" sz="4000" u="none" cap="none" strike="noStrike">
                <a:solidFill>
                  <a:srgbClr val="D2533C"/>
                </a:solidFill>
                <a:latin typeface="Arial"/>
                <a:ea typeface="Arial"/>
                <a:cs typeface="Arial"/>
                <a:sym typeface="Arial"/>
              </a:rPr>
              <a:t>Values of Assets</a:t>
            </a:r>
            <a:endParaRPr b="0" i="0" sz="4000" u="none" cap="none" strike="noStrike">
              <a:solidFill>
                <a:srgbClr val="D2533C"/>
              </a:solidFill>
              <a:latin typeface="Arial"/>
              <a:ea typeface="Arial"/>
              <a:cs typeface="Arial"/>
              <a:sym typeface="Arial"/>
            </a:endParaRPr>
          </a:p>
        </p:txBody>
      </p:sp>
      <p:pic>
        <p:nvPicPr>
          <p:cNvPr descr="fig01-03.eps" id="134" name="Google Shape;134;p18"/>
          <p:cNvPicPr preferRelativeResize="0"/>
          <p:nvPr/>
        </p:nvPicPr>
        <p:blipFill rotWithShape="1">
          <a:blip r:embed="rId3">
            <a:alphaModFix/>
          </a:blip>
          <a:srcRect b="0" l="0" r="0" t="0"/>
          <a:stretch/>
        </p:blipFill>
        <p:spPr>
          <a:xfrm>
            <a:off x="1349279" y="1227125"/>
            <a:ext cx="6120129" cy="5115680"/>
          </a:xfrm>
          <a:prstGeom prst="rect">
            <a:avLst/>
          </a:prstGeom>
          <a:noFill/>
          <a:ln>
            <a:noFill/>
          </a:ln>
        </p:spPr>
      </p:pic>
      <p:sp>
        <p:nvSpPr>
          <p:cNvPr id="135" name="Google Shape;135;p18"/>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Security in </a:t>
            </a:r>
            <a:r>
              <a:rPr i="1" lang="en-US">
                <a:latin typeface="Arial"/>
                <a:ea typeface="Arial"/>
                <a:cs typeface="Arial"/>
                <a:sym typeface="Arial"/>
              </a:rPr>
              <a:t>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36" name="Google Shape;136;p1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Basic Terms</a:t>
            </a:r>
            <a:endParaRPr/>
          </a:p>
        </p:txBody>
      </p:sp>
      <p:sp>
        <p:nvSpPr>
          <p:cNvPr id="143" name="Google Shape;143;p19"/>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94310" lvl="0" marL="182880" rtl="0" algn="l">
              <a:spcBef>
                <a:spcPts val="0"/>
              </a:spcBef>
              <a:spcAft>
                <a:spcPts val="0"/>
              </a:spcAft>
              <a:buSzPts val="3060"/>
              <a:buChar char="•"/>
            </a:pPr>
            <a:r>
              <a:rPr lang="en-US" sz="3600"/>
              <a:t>Vulnerability</a:t>
            </a:r>
            <a:endParaRPr/>
          </a:p>
          <a:p>
            <a:pPr indent="-194310" lvl="0" marL="182880" rtl="0" algn="l">
              <a:spcBef>
                <a:spcPts val="720"/>
              </a:spcBef>
              <a:spcAft>
                <a:spcPts val="0"/>
              </a:spcAft>
              <a:buSzPts val="3060"/>
              <a:buChar char="•"/>
            </a:pPr>
            <a:r>
              <a:rPr lang="en-US" sz="3600"/>
              <a:t>Threat</a:t>
            </a:r>
            <a:endParaRPr/>
          </a:p>
          <a:p>
            <a:pPr indent="-194310" lvl="0" marL="182880" rtl="0" algn="l">
              <a:spcBef>
                <a:spcPts val="720"/>
              </a:spcBef>
              <a:spcAft>
                <a:spcPts val="0"/>
              </a:spcAft>
              <a:buSzPts val="3060"/>
              <a:buChar char="•"/>
            </a:pPr>
            <a:r>
              <a:rPr lang="en-US" sz="3600"/>
              <a:t>Attack</a:t>
            </a:r>
            <a:endParaRPr/>
          </a:p>
          <a:p>
            <a:pPr indent="-194310" lvl="0" marL="182880" rtl="0" algn="l">
              <a:spcBef>
                <a:spcPts val="720"/>
              </a:spcBef>
              <a:spcAft>
                <a:spcPts val="0"/>
              </a:spcAft>
              <a:buSzPts val="3060"/>
              <a:buChar char="•"/>
            </a:pPr>
            <a:r>
              <a:rPr lang="en-US" sz="3600"/>
              <a:t>Countermeasure or control</a:t>
            </a:r>
            <a:endParaRPr sz="3600"/>
          </a:p>
        </p:txBody>
      </p:sp>
      <p:sp>
        <p:nvSpPr>
          <p:cNvPr id="144" name="Google Shape;144;p19"/>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45" name="Google Shape;145;p1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Threat and Vulnerability</a:t>
            </a:r>
            <a:endParaRPr/>
          </a:p>
        </p:txBody>
      </p:sp>
      <p:pic>
        <p:nvPicPr>
          <p:cNvPr descr="fig01-04.eps" id="152" name="Google Shape;152;p20"/>
          <p:cNvPicPr preferRelativeResize="0"/>
          <p:nvPr/>
        </p:nvPicPr>
        <p:blipFill rotWithShape="1">
          <a:blip r:embed="rId3">
            <a:alphaModFix/>
          </a:blip>
          <a:srcRect b="0" l="0" r="0" t="0"/>
          <a:stretch/>
        </p:blipFill>
        <p:spPr>
          <a:xfrm>
            <a:off x="730324" y="1583375"/>
            <a:ext cx="7679130" cy="4754880"/>
          </a:xfrm>
          <a:prstGeom prst="rect">
            <a:avLst/>
          </a:prstGeom>
          <a:noFill/>
          <a:ln>
            <a:noFill/>
          </a:ln>
        </p:spPr>
      </p:pic>
      <p:sp>
        <p:nvSpPr>
          <p:cNvPr id="153" name="Google Shape;153;p20"/>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54" name="Google Shape;154;p2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C-I-A Triad</a:t>
            </a:r>
            <a:endParaRPr/>
          </a:p>
        </p:txBody>
      </p:sp>
      <p:sp>
        <p:nvSpPr>
          <p:cNvPr id="160" name="Google Shape;160;p2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380"/>
              <a:buChar char="•"/>
            </a:pPr>
            <a:r>
              <a:rPr lang="en-US" sz="2800"/>
              <a:t>Confidentiality</a:t>
            </a:r>
            <a:endParaRPr/>
          </a:p>
          <a:p>
            <a:pPr indent="-182880" lvl="0" marL="182880" rtl="0" algn="l">
              <a:spcBef>
                <a:spcPts val="560"/>
              </a:spcBef>
              <a:spcAft>
                <a:spcPts val="0"/>
              </a:spcAft>
              <a:buSzPts val="2380"/>
              <a:buChar char="•"/>
            </a:pPr>
            <a:r>
              <a:rPr lang="en-US" sz="2800"/>
              <a:t>Integrity</a:t>
            </a:r>
            <a:endParaRPr/>
          </a:p>
          <a:p>
            <a:pPr indent="-182880" lvl="0" marL="182880" rtl="0" algn="l">
              <a:spcBef>
                <a:spcPts val="560"/>
              </a:spcBef>
              <a:spcAft>
                <a:spcPts val="0"/>
              </a:spcAft>
              <a:buSzPts val="2380"/>
              <a:buChar char="•"/>
            </a:pPr>
            <a:r>
              <a:rPr lang="en-US" sz="2800"/>
              <a:t>Availability</a:t>
            </a:r>
            <a:endParaRPr/>
          </a:p>
          <a:p>
            <a:pPr indent="-182880" lvl="0" marL="182880" rtl="0" algn="l">
              <a:spcBef>
                <a:spcPts val="560"/>
              </a:spcBef>
              <a:spcAft>
                <a:spcPts val="0"/>
              </a:spcAft>
              <a:buSzPts val="2380"/>
              <a:buChar char="•"/>
            </a:pPr>
            <a:r>
              <a:rPr lang="en-US" sz="2800"/>
              <a:t>Sometimes two other desirable characteristics:</a:t>
            </a:r>
            <a:endParaRPr/>
          </a:p>
          <a:p>
            <a:pPr indent="-182880" lvl="1" marL="457200" rtl="0" algn="l">
              <a:spcBef>
                <a:spcPts val="480"/>
              </a:spcBef>
              <a:spcAft>
                <a:spcPts val="0"/>
              </a:spcAft>
              <a:buSzPts val="2040"/>
              <a:buChar char="•"/>
            </a:pPr>
            <a:r>
              <a:rPr lang="en-US" sz="2400"/>
              <a:t>Authentication</a:t>
            </a:r>
            <a:endParaRPr/>
          </a:p>
          <a:p>
            <a:pPr indent="-182880" lvl="1" marL="457200" rtl="0" algn="l">
              <a:spcBef>
                <a:spcPts val="480"/>
              </a:spcBef>
              <a:spcAft>
                <a:spcPts val="0"/>
              </a:spcAft>
              <a:buSzPts val="2040"/>
              <a:buChar char="•"/>
            </a:pPr>
            <a:r>
              <a:rPr lang="en-US" sz="2400"/>
              <a:t>Nonrepudiation</a:t>
            </a:r>
            <a:endParaRPr sz="2400"/>
          </a:p>
        </p:txBody>
      </p:sp>
      <p:sp>
        <p:nvSpPr>
          <p:cNvPr id="161" name="Google Shape;161;p21"/>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62" name="Google Shape;162;p2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Access Control</a:t>
            </a:r>
            <a:endParaRPr/>
          </a:p>
        </p:txBody>
      </p:sp>
      <p:pic>
        <p:nvPicPr>
          <p:cNvPr descr="fig01-06.eps" id="169" name="Google Shape;169;p22"/>
          <p:cNvPicPr preferRelativeResize="0"/>
          <p:nvPr>
            <p:ph idx="1" type="body"/>
          </p:nvPr>
        </p:nvPicPr>
        <p:blipFill rotWithShape="1">
          <a:blip r:embed="rId3">
            <a:alphaModFix/>
          </a:blip>
          <a:srcRect b="0" l="0" r="0" t="0"/>
          <a:stretch/>
        </p:blipFill>
        <p:spPr>
          <a:xfrm>
            <a:off x="1441643" y="1667086"/>
            <a:ext cx="6247905" cy="4572000"/>
          </a:xfrm>
          <a:prstGeom prst="rect">
            <a:avLst/>
          </a:prstGeom>
          <a:noFill/>
          <a:ln>
            <a:noFill/>
          </a:ln>
        </p:spPr>
      </p:pic>
      <p:sp>
        <p:nvSpPr>
          <p:cNvPr id="170" name="Google Shape;170;p22"/>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71" name="Google Shape;171;p2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Types of Threats</a:t>
            </a:r>
            <a:endParaRPr/>
          </a:p>
        </p:txBody>
      </p:sp>
      <p:pic>
        <p:nvPicPr>
          <p:cNvPr descr="fig01-09.eps" id="178" name="Google Shape;178;p23"/>
          <p:cNvPicPr preferRelativeResize="0"/>
          <p:nvPr/>
        </p:nvPicPr>
        <p:blipFill rotWithShape="1">
          <a:blip r:embed="rId3">
            <a:alphaModFix/>
          </a:blip>
          <a:srcRect b="0" l="0" r="0" t="0"/>
          <a:stretch/>
        </p:blipFill>
        <p:spPr>
          <a:xfrm>
            <a:off x="1424879" y="1523999"/>
            <a:ext cx="5977128" cy="4846320"/>
          </a:xfrm>
          <a:prstGeom prst="rect">
            <a:avLst/>
          </a:prstGeom>
          <a:noFill/>
          <a:ln>
            <a:noFill/>
          </a:ln>
        </p:spPr>
      </p:pic>
      <p:sp>
        <p:nvSpPr>
          <p:cNvPr id="179" name="Google Shape;179;p23"/>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80" name="Google Shape;180;p2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Advanced Persistent Threat (APT)</a:t>
            </a:r>
            <a:endParaRPr/>
          </a:p>
        </p:txBody>
      </p:sp>
      <p:sp>
        <p:nvSpPr>
          <p:cNvPr id="187" name="Google Shape;187;p2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Organized</a:t>
            </a:r>
            <a:endParaRPr/>
          </a:p>
          <a:p>
            <a:pPr indent="-182880" lvl="0" marL="182880" rtl="0" algn="l">
              <a:spcBef>
                <a:spcPts val="480"/>
              </a:spcBef>
              <a:spcAft>
                <a:spcPts val="0"/>
              </a:spcAft>
              <a:buSzPts val="2040"/>
              <a:buChar char="•"/>
            </a:pPr>
            <a:r>
              <a:rPr lang="en-US"/>
              <a:t>Directed</a:t>
            </a:r>
            <a:endParaRPr/>
          </a:p>
          <a:p>
            <a:pPr indent="-182880" lvl="0" marL="182880" rtl="0" algn="l">
              <a:spcBef>
                <a:spcPts val="480"/>
              </a:spcBef>
              <a:spcAft>
                <a:spcPts val="0"/>
              </a:spcAft>
              <a:buSzPts val="2040"/>
              <a:buChar char="•"/>
            </a:pPr>
            <a:r>
              <a:rPr lang="en-US"/>
              <a:t>Well financed</a:t>
            </a:r>
            <a:endParaRPr/>
          </a:p>
          <a:p>
            <a:pPr indent="-182880" lvl="0" marL="182880" rtl="0" algn="l">
              <a:spcBef>
                <a:spcPts val="480"/>
              </a:spcBef>
              <a:spcAft>
                <a:spcPts val="0"/>
              </a:spcAft>
              <a:buSzPts val="2040"/>
              <a:buChar char="•"/>
            </a:pPr>
            <a:r>
              <a:rPr lang="en-US"/>
              <a:t>Patient</a:t>
            </a:r>
            <a:endParaRPr/>
          </a:p>
          <a:p>
            <a:pPr indent="-182880" lvl="0" marL="182880" rtl="0" algn="l">
              <a:spcBef>
                <a:spcPts val="480"/>
              </a:spcBef>
              <a:spcAft>
                <a:spcPts val="0"/>
              </a:spcAft>
              <a:buSzPts val="2040"/>
              <a:buChar char="•"/>
            </a:pPr>
            <a:r>
              <a:rPr lang="en-US"/>
              <a:t>Silent</a:t>
            </a:r>
            <a:endParaRPr/>
          </a:p>
        </p:txBody>
      </p:sp>
      <p:sp>
        <p:nvSpPr>
          <p:cNvPr id="188" name="Google Shape;188;p24"/>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89" name="Google Shape;189;p2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Types of Attackers</a:t>
            </a:r>
            <a:endParaRPr/>
          </a:p>
        </p:txBody>
      </p:sp>
      <p:pic>
        <p:nvPicPr>
          <p:cNvPr descr="fig01-10.eps" id="196" name="Google Shape;196;p25"/>
          <p:cNvPicPr preferRelativeResize="0"/>
          <p:nvPr>
            <p:ph idx="1" type="body"/>
          </p:nvPr>
        </p:nvPicPr>
        <p:blipFill rotWithShape="1">
          <a:blip r:embed="rId3">
            <a:alphaModFix/>
          </a:blip>
          <a:srcRect b="-1905" l="0" r="0" t="-1405"/>
          <a:stretch/>
        </p:blipFill>
        <p:spPr>
          <a:xfrm>
            <a:off x="1764976" y="1524000"/>
            <a:ext cx="5598225" cy="4846320"/>
          </a:xfrm>
          <a:prstGeom prst="rect">
            <a:avLst/>
          </a:prstGeom>
          <a:noFill/>
          <a:ln>
            <a:noFill/>
          </a:ln>
        </p:spPr>
      </p:pic>
      <p:sp>
        <p:nvSpPr>
          <p:cNvPr id="197" name="Google Shape;197;p25"/>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198" name="Google Shape;198;p2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Types of Harm</a:t>
            </a:r>
            <a:endParaRPr/>
          </a:p>
        </p:txBody>
      </p:sp>
      <p:pic>
        <p:nvPicPr>
          <p:cNvPr descr="fig01-05.eps" id="205" name="Google Shape;205;p26"/>
          <p:cNvPicPr preferRelativeResize="0"/>
          <p:nvPr/>
        </p:nvPicPr>
        <p:blipFill rotWithShape="1">
          <a:blip r:embed="rId3">
            <a:alphaModFix/>
          </a:blip>
          <a:srcRect b="0" l="0" r="0" t="0"/>
          <a:stretch/>
        </p:blipFill>
        <p:spPr>
          <a:xfrm>
            <a:off x="1245509" y="1523999"/>
            <a:ext cx="6642054" cy="4846320"/>
          </a:xfrm>
          <a:prstGeom prst="rect">
            <a:avLst/>
          </a:prstGeom>
          <a:noFill/>
          <a:ln>
            <a:noFill/>
          </a:ln>
        </p:spPr>
      </p:pic>
      <p:sp>
        <p:nvSpPr>
          <p:cNvPr id="206" name="Google Shape;206;p26"/>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207" name="Google Shape;207;p2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Method—Opportunity--Motive</a:t>
            </a:r>
            <a:endParaRPr/>
          </a:p>
        </p:txBody>
      </p:sp>
      <p:pic>
        <p:nvPicPr>
          <p:cNvPr descr="fig01-11.eps" id="214" name="Google Shape;214;p27"/>
          <p:cNvPicPr preferRelativeResize="0"/>
          <p:nvPr>
            <p:ph idx="1" type="body"/>
          </p:nvPr>
        </p:nvPicPr>
        <p:blipFill rotWithShape="1">
          <a:blip r:embed="rId3">
            <a:alphaModFix/>
          </a:blip>
          <a:srcRect b="0" l="0" r="0" t="0"/>
          <a:stretch/>
        </p:blipFill>
        <p:spPr>
          <a:xfrm>
            <a:off x="2897124" y="2013457"/>
            <a:ext cx="3327549" cy="4297680"/>
          </a:xfrm>
          <a:prstGeom prst="rect">
            <a:avLst/>
          </a:prstGeom>
          <a:noFill/>
          <a:ln>
            <a:noFill/>
          </a:ln>
        </p:spPr>
      </p:pic>
      <p:sp>
        <p:nvSpPr>
          <p:cNvPr id="215" name="Google Shape;215;p27"/>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216" name="Google Shape;216;p2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Controls/Countermeasures</a:t>
            </a:r>
            <a:endParaRPr/>
          </a:p>
        </p:txBody>
      </p:sp>
      <p:pic>
        <p:nvPicPr>
          <p:cNvPr descr="fig01-13.eps" id="223" name="Google Shape;223;p28"/>
          <p:cNvPicPr preferRelativeResize="0"/>
          <p:nvPr/>
        </p:nvPicPr>
        <p:blipFill rotWithShape="1">
          <a:blip r:embed="rId3">
            <a:alphaModFix/>
          </a:blip>
          <a:srcRect b="0" l="0" r="0" t="0"/>
          <a:stretch/>
        </p:blipFill>
        <p:spPr>
          <a:xfrm>
            <a:off x="1476659" y="1524000"/>
            <a:ext cx="6173409" cy="5029200"/>
          </a:xfrm>
          <a:prstGeom prst="rect">
            <a:avLst/>
          </a:prstGeom>
          <a:noFill/>
          <a:ln>
            <a:noFill/>
          </a:ln>
        </p:spPr>
      </p:pic>
      <p:sp>
        <p:nvSpPr>
          <p:cNvPr id="224" name="Google Shape;224;p28"/>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225" name="Google Shape;225;p2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Different Types of Controls</a:t>
            </a:r>
            <a:endParaRPr/>
          </a:p>
        </p:txBody>
      </p:sp>
      <p:pic>
        <p:nvPicPr>
          <p:cNvPr descr="fig01-12.eps" id="232" name="Google Shape;232;p29"/>
          <p:cNvPicPr preferRelativeResize="0"/>
          <p:nvPr/>
        </p:nvPicPr>
        <p:blipFill rotWithShape="1">
          <a:blip r:embed="rId3">
            <a:alphaModFix/>
          </a:blip>
          <a:srcRect b="0" l="0" r="0" t="0"/>
          <a:stretch/>
        </p:blipFill>
        <p:spPr>
          <a:xfrm>
            <a:off x="314699" y="2062692"/>
            <a:ext cx="8488431" cy="3879813"/>
          </a:xfrm>
          <a:prstGeom prst="rect">
            <a:avLst/>
          </a:prstGeom>
          <a:noFill/>
          <a:ln>
            <a:noFill/>
          </a:ln>
        </p:spPr>
      </p:pic>
      <p:sp>
        <p:nvSpPr>
          <p:cNvPr id="233" name="Google Shape;233;p29"/>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234" name="Google Shape;234;p2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000"/>
              <a:buFont typeface="Arial"/>
              <a:buNone/>
            </a:pPr>
            <a:r>
              <a:rPr lang="en-US"/>
              <a:t>Summary</a:t>
            </a:r>
            <a:endParaRPr/>
          </a:p>
        </p:txBody>
      </p:sp>
      <p:sp>
        <p:nvSpPr>
          <p:cNvPr id="240" name="Google Shape;240;p30"/>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SzPts val="2040"/>
              <a:buChar char="•"/>
            </a:pPr>
            <a:r>
              <a:rPr lang="en-US"/>
              <a:t>Vulnerabilities are weaknesses in a system; threats exploit those weaknesses; controls protect those weaknesses from exploitation</a:t>
            </a:r>
            <a:endParaRPr/>
          </a:p>
          <a:p>
            <a:pPr indent="-182880" lvl="0" marL="182880" rtl="0" algn="l">
              <a:spcBef>
                <a:spcPts val="480"/>
              </a:spcBef>
              <a:spcAft>
                <a:spcPts val="0"/>
              </a:spcAft>
              <a:buSzPts val="2040"/>
              <a:buChar char="•"/>
            </a:pPr>
            <a:r>
              <a:rPr lang="en-US"/>
              <a:t>Confidentiality, integrity, and availability are the three basic security primitives</a:t>
            </a:r>
            <a:endParaRPr/>
          </a:p>
          <a:p>
            <a:pPr indent="-182880" lvl="0" marL="182880" rtl="0" algn="l">
              <a:spcBef>
                <a:spcPts val="480"/>
              </a:spcBef>
              <a:spcAft>
                <a:spcPts val="0"/>
              </a:spcAft>
              <a:buSzPts val="2040"/>
              <a:buChar char="•"/>
            </a:pPr>
            <a:r>
              <a:rPr lang="en-US"/>
              <a:t>Different attackers pose different kinds of threats based on their capabilities and motivations</a:t>
            </a:r>
            <a:endParaRPr/>
          </a:p>
          <a:p>
            <a:pPr indent="-182880" lvl="0" marL="182880" rtl="0" algn="l">
              <a:spcBef>
                <a:spcPts val="480"/>
              </a:spcBef>
              <a:spcAft>
                <a:spcPts val="0"/>
              </a:spcAft>
              <a:buSzPts val="2040"/>
              <a:buChar char="•"/>
            </a:pPr>
            <a:r>
              <a:rPr lang="en-US"/>
              <a:t>Different controls address different threats; controls come in many flavors and can exist at various points in the system</a:t>
            </a:r>
            <a:endParaRPr/>
          </a:p>
        </p:txBody>
      </p:sp>
      <p:sp>
        <p:nvSpPr>
          <p:cNvPr id="241" name="Google Shape;241;p30"/>
          <p:cNvSpPr txBox="1"/>
          <p:nvPr>
            <p:ph idx="11" type="ftr"/>
          </p:nvPr>
        </p:nvSpPr>
        <p:spPr>
          <a:xfrm>
            <a:off x="0" y="6535229"/>
            <a:ext cx="9144000" cy="32918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Arial"/>
                <a:ea typeface="Arial"/>
                <a:cs typeface="Arial"/>
                <a:sym typeface="Arial"/>
              </a:rPr>
              <a:t>From </a:t>
            </a:r>
            <a:r>
              <a:rPr i="1" lang="en-US">
                <a:latin typeface="Arial"/>
                <a:ea typeface="Arial"/>
                <a:cs typeface="Arial"/>
                <a:sym typeface="Arial"/>
              </a:rPr>
              <a:t>Security in Computing, Fifth Edition</a:t>
            </a:r>
            <a:r>
              <a:rPr lang="en-US">
                <a:latin typeface="Arial"/>
                <a:ea typeface="Arial"/>
                <a:cs typeface="Arial"/>
                <a:sym typeface="Arial"/>
              </a:rPr>
              <a:t>, by Charles P. Pfleeger, et al. (ISBN: 9780134085043). Copyright 2015 by Pearson Education, Inc. All rights reserved.</a:t>
            </a:r>
            <a:endParaRPr>
              <a:latin typeface="Arial"/>
              <a:ea typeface="Arial"/>
              <a:cs typeface="Arial"/>
              <a:sym typeface="Arial"/>
            </a:endParaRPr>
          </a:p>
        </p:txBody>
      </p:sp>
      <p:sp>
        <p:nvSpPr>
          <p:cNvPr id="242" name="Google Shape;242;p3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