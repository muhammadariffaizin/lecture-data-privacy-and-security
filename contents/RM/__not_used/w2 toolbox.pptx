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d177d65d1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d177d65d1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2d177d65d1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Alhough this data is from an old study, more recent studies have reaffirmed the results. The vast majority of passwords used on the Internet are extremely easy to crack.</a:t>
            </a:r>
            <a:endParaRPr/>
          </a:p>
        </p:txBody>
      </p:sp>
      <p:sp>
        <p:nvSpPr>
          <p:cNvPr id="131" name="Google Shape;13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Passwords should never be stored in plaintext but rather should always be concealed. We talk more about proper password storage later.</a:t>
            </a:r>
            <a:endParaRPr/>
          </a:p>
        </p:txBody>
      </p:sp>
      <p:sp>
        <p:nvSpPr>
          <p:cNvPr id="140" name="Google Shape;14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Handprints and fingerprints are two among many examples of biometrics.</a:t>
            </a:r>
            <a:endParaRPr/>
          </a:p>
        </p:txBody>
      </p:sp>
      <p:sp>
        <p:nvSpPr>
          <p:cNvPr id="152" name="Google Shape;152;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Recent advances in smartphones have begun to make biometrics cheaper and easier to use. Biometrics are still inadequate for extremely sensitive applications, but their convenience makes them a great alternative to weak passwords.</a:t>
            </a:r>
            <a:endParaRPr/>
          </a:p>
        </p:txBody>
      </p:sp>
      <p:sp>
        <p:nvSpPr>
          <p:cNvPr id="161" name="Google Shape;161;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 RSA SecurID with a code that changes every 60 seconds. Physical possession of the token should be necessary for successful authentication.</a:t>
            </a:r>
            <a:endParaRPr/>
          </a:p>
        </p:txBody>
      </p:sp>
      <p:sp>
        <p:nvSpPr>
          <p:cNvPr id="170" name="Google Shape;170;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federated identity management scheme is a union of separate identification and authentication systems. Authentication is performed in one place, and separate processes and systems determine that an already authenticated user is to be activated. Federated identity management is discussed in much greater detail in Chapter 8.</a:t>
            </a:r>
            <a:endParaRPr/>
          </a:p>
        </p:txBody>
      </p:sp>
      <p:sp>
        <p:nvSpPr>
          <p:cNvPr id="179" name="Google Shape;17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Single sign-on lets a user log on once per session but access many different applications/systems. It often works in conjunction with federated identity management, with the federated identity provider acting as the source of authentication for all the applications.</a:t>
            </a:r>
            <a:endParaRPr/>
          </a:p>
        </p:txBody>
      </p:sp>
      <p:sp>
        <p:nvSpPr>
          <p:cNvPr id="188" name="Google Shape;18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Many of these items are shown in more detail in the following slides. Access control directories, matrixes, and lists are shown in self-explanatory visual representations.</a:t>
            </a:r>
            <a:endParaRPr/>
          </a:p>
        </p:txBody>
      </p:sp>
      <p:sp>
        <p:nvSpPr>
          <p:cNvPr id="214" name="Google Shape;214;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reference monitor is the primary access control enforcement mechanism of the operating system. It is discussed in more detail in Chapter 5.</a:t>
            </a:r>
            <a:endParaRPr/>
          </a:p>
        </p:txBody>
      </p:sp>
      <p:sp>
        <p:nvSpPr>
          <p:cNvPr id="223" name="Google Shape;22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basic process of encrypting and then decrypting data. </a:t>
            </a:r>
            <a:endParaRPr/>
          </a:p>
        </p:txBody>
      </p:sp>
      <p:sp>
        <p:nvSpPr>
          <p:cNvPr id="273" name="Google Shape;273;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critical difference between symmetric and asymmetric is that symmetric uses a single key for both encryption and decryption, whereas asymmetric uses complementary keys.</a:t>
            </a:r>
            <a:endParaRPr/>
          </a:p>
        </p:txBody>
      </p:sp>
      <p:sp>
        <p:nvSpPr>
          <p:cNvPr id="282" name="Google Shape;28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stream ciphers, each byte of the data stream is encrypted separately. This is as opposed to block ciphers, which are shown on the next slide.</a:t>
            </a:r>
            <a:endParaRPr/>
          </a:p>
        </p:txBody>
      </p:sp>
      <p:sp>
        <p:nvSpPr>
          <p:cNvPr id="291" name="Google Shape;29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Unlike a stream cipher, a block cipher encrypts a group of plaintext symbols as a single block. The pros and cons of each model are discussed on the next slide.</a:t>
            </a:r>
            <a:endParaRPr/>
          </a:p>
        </p:txBody>
      </p:sp>
      <p:sp>
        <p:nvSpPr>
          <p:cNvPr id="300" name="Google Shape;300;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AES has become the dominant symmetric encryption algorithm in use today. We discuss DES in this book both for historical purposes and because it is a relatively simple algorithm to use to explain how cryptographic primitives work.</a:t>
            </a:r>
            <a:endParaRPr/>
          </a:p>
        </p:txBody>
      </p:sp>
      <p:sp>
        <p:nvSpPr>
          <p:cNvPr id="336" name="Google Shape;336;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Symmetric and asymmetric algorithms have complementary strengths and weaknesses and are therefore used both for different purposes and in concert with each other.</a:t>
            </a:r>
            <a:endParaRPr/>
          </a:p>
        </p:txBody>
      </p:sp>
      <p:sp>
        <p:nvSpPr>
          <p:cNvPr id="353" name="Google Shape;35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great example of asymmetric and symmetric encryption being used together. We need asymmetric to perform the initial exchange securely, but thereafter we can benefit from the speed of a symmetric algorithm.</a:t>
            </a:r>
            <a:endParaRPr/>
          </a:p>
        </p:txBody>
      </p:sp>
      <p:sp>
        <p:nvSpPr>
          <p:cNvPr id="362" name="Google Shape;362;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exchange is the same as on the previous slide, but with an attacker in the middle. This attack can be defeated using the simple tweak described on pp. 107–108 of the textbook. This is an interesting problem to have students brainstorm or work on for homework.</a:t>
            </a:r>
            <a:endParaRPr/>
          </a:p>
        </p:txBody>
      </p:sp>
      <p:sp>
        <p:nvSpPr>
          <p:cNvPr id="371" name="Google Shape;371;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Diana’s certificate is made using Edward’s signature. Delwyn’s certificate includes Diana’s certificate so that it can effectively be tied back to Edward, creating a chain of trust.</a:t>
            </a:r>
            <a:endParaRPr/>
          </a:p>
        </p:txBody>
      </p:sp>
      <p:sp>
        <p:nvSpPr>
          <p:cNvPr id="424" name="Google Shape;424;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685800" y="1371600"/>
            <a:ext cx="7848600" cy="19272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rmAutofit/>
          </a:bodyPr>
          <a:lstStyle>
            <a:lvl1pPr lvl="0" algn="l">
              <a:spcBef>
                <a:spcPts val="480"/>
              </a:spcBef>
              <a:spcAft>
                <a:spcPts val="0"/>
              </a:spcAft>
              <a:buSzPts val="2040"/>
              <a:buNone/>
              <a:defRPr>
                <a:solidFill>
                  <a:srgbClr val="55556F"/>
                </a:solidFill>
              </a:defRPr>
            </a:lvl1pPr>
            <a:lvl2pPr lvl="1" algn="ctr">
              <a:spcBef>
                <a:spcPts val="400"/>
              </a:spcBef>
              <a:spcAft>
                <a:spcPts val="0"/>
              </a:spcAft>
              <a:buSzPts val="1700"/>
              <a:buNone/>
              <a:defRPr>
                <a:solidFill>
                  <a:srgbClr val="8B8B8D"/>
                </a:solidFill>
              </a:defRPr>
            </a:lvl2pPr>
            <a:lvl3pPr lvl="2" algn="ctr">
              <a:spcBef>
                <a:spcPts val="360"/>
              </a:spcBef>
              <a:spcAft>
                <a:spcPts val="0"/>
              </a:spcAft>
              <a:buSzPts val="1620"/>
              <a:buNone/>
              <a:defRPr>
                <a:solidFill>
                  <a:srgbClr val="8B8B8D"/>
                </a:solidFill>
              </a:defRPr>
            </a:lvl3pPr>
            <a:lvl4pPr lvl="3" algn="ctr">
              <a:spcBef>
                <a:spcPts val="320"/>
              </a:spcBef>
              <a:spcAft>
                <a:spcPts val="0"/>
              </a:spcAft>
              <a:buSzPts val="1600"/>
              <a:buNone/>
              <a:defRPr>
                <a:solidFill>
                  <a:srgbClr val="8B8B8D"/>
                </a:solidFill>
              </a:defRPr>
            </a:lvl4pPr>
            <a:lvl5pPr lvl="4" algn="ctr">
              <a:spcBef>
                <a:spcPts val="280"/>
              </a:spcBef>
              <a:spcAft>
                <a:spcPts val="0"/>
              </a:spcAft>
              <a:buSzPts val="1400"/>
              <a:buNone/>
              <a:defRPr>
                <a:solidFill>
                  <a:srgbClr val="8B8B8D"/>
                </a:solidFill>
              </a:defRPr>
            </a:lvl5pPr>
            <a:lvl6pPr lvl="5" algn="ctr">
              <a:spcBef>
                <a:spcPts val="260"/>
              </a:spcBef>
              <a:spcAft>
                <a:spcPts val="0"/>
              </a:spcAft>
              <a:buSzPts val="1300"/>
              <a:buNone/>
              <a:defRPr>
                <a:solidFill>
                  <a:srgbClr val="8B8B8D"/>
                </a:solidFill>
              </a:defRPr>
            </a:lvl6pPr>
            <a:lvl7pPr lvl="6" algn="ctr">
              <a:spcBef>
                <a:spcPts val="260"/>
              </a:spcBef>
              <a:spcAft>
                <a:spcPts val="0"/>
              </a:spcAft>
              <a:buSzPts val="1300"/>
              <a:buNone/>
              <a:defRPr>
                <a:solidFill>
                  <a:srgbClr val="8B8B8D"/>
                </a:solidFill>
              </a:defRPr>
            </a:lvl7pPr>
            <a:lvl8pPr lvl="7" algn="ctr">
              <a:spcBef>
                <a:spcPts val="260"/>
              </a:spcBef>
              <a:spcAft>
                <a:spcPts val="0"/>
              </a:spcAft>
              <a:buSzPts val="1300"/>
              <a:buNone/>
              <a:defRPr>
                <a:solidFill>
                  <a:srgbClr val="8B8B8D"/>
                </a:solidFill>
              </a:defRPr>
            </a:lvl8pPr>
            <a:lvl9pPr lvl="8" algn="ctr">
              <a:spcBef>
                <a:spcPts val="260"/>
              </a:spcBef>
              <a:spcAft>
                <a:spcPts val="0"/>
              </a:spcAft>
              <a:buSzPts val="1300"/>
              <a:buNone/>
              <a:defRPr>
                <a:solidFill>
                  <a:srgbClr val="8B8B8D"/>
                </a:solidFill>
              </a:defRPr>
            </a:lvl9pPr>
          </a:lstStyle>
          <a:p/>
        </p:txBody>
      </p:sp>
      <p:sp>
        <p:nvSpPr>
          <p:cNvPr id="20" name="Google Shape;20;p2"/>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23" name="Google Shape;23;p2"/>
          <p:cNvCxnSpPr/>
          <p:nvPr/>
        </p:nvCxnSpPr>
        <p:spPr>
          <a:xfrm>
            <a:off x="685800" y="3398520"/>
            <a:ext cx="784860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7" name="Google Shape;27;p3"/>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0" name="Shape 30"/>
        <p:cNvGrpSpPr/>
        <p:nvPr/>
      </p:nvGrpSpPr>
      <p:grpSpPr>
        <a:xfrm>
          <a:off x="0" y="0"/>
          <a:ext cx="0" cy="0"/>
          <a:chOff x="0" y="0"/>
          <a:chExt cx="0" cy="0"/>
        </a:xfrm>
      </p:grpSpPr>
      <p:sp>
        <p:nvSpPr>
          <p:cNvPr id="31" name="Google Shape;31;p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3" name="Google Shape;33;p4"/>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4"/>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36" name="Shape 36"/>
        <p:cNvGrpSpPr/>
        <p:nvPr/>
      </p:nvGrpSpPr>
      <p:grpSpPr>
        <a:xfrm>
          <a:off x="0" y="0"/>
          <a:ext cx="0" cy="0"/>
          <a:chOff x="0" y="0"/>
          <a:chExt cx="0" cy="0"/>
        </a:xfrm>
      </p:grpSpPr>
      <p:sp>
        <p:nvSpPr>
          <p:cNvPr id="37" name="Google Shape;37;p5"/>
          <p:cNvSpPr txBox="1"/>
          <p:nvPr>
            <p:ph type="title"/>
          </p:nvPr>
        </p:nvSpPr>
        <p:spPr>
          <a:xfrm>
            <a:off x="722313" y="2362200"/>
            <a:ext cx="7772400" cy="22002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ph idx="1" type="body"/>
          </p:nvPr>
        </p:nvSpPr>
        <p:spPr>
          <a:xfrm>
            <a:off x="722313" y="4626864"/>
            <a:ext cx="7772400" cy="1500187"/>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39" name="Google Shape;39;p5"/>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41" name="Google Shape;41;p5"/>
          <p:cNvCxnSpPr/>
          <p:nvPr/>
        </p:nvCxnSpPr>
        <p:spPr>
          <a:xfrm>
            <a:off x="731520" y="4599432"/>
            <a:ext cx="7848600" cy="1588"/>
          </a:xfrm>
          <a:prstGeom prst="straightConnector1">
            <a:avLst/>
          </a:prstGeom>
          <a:noFill/>
          <a:ln cap="flat" cmpd="sng" w="19050">
            <a:solidFill>
              <a:schemeClr val="lt2"/>
            </a:solidFill>
            <a:prstDash val="solid"/>
            <a:round/>
            <a:headEnd len="sm" w="sm" type="none"/>
            <a:tailEnd len="sm" w="sm" type="none"/>
          </a:ln>
        </p:spPr>
      </p:cxnSp>
      <p:sp>
        <p:nvSpPr>
          <p:cNvPr id="42" name="Google Shape;42;p5"/>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body"/>
          </p:nvPr>
        </p:nvSpPr>
        <p:spPr>
          <a:xfrm>
            <a:off x="457200" y="1673352"/>
            <a:ext cx="4038600" cy="4718304"/>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46" name="Google Shape;46;p6"/>
          <p:cNvSpPr txBox="1"/>
          <p:nvPr>
            <p:ph idx="2" type="body"/>
          </p:nvPr>
        </p:nvSpPr>
        <p:spPr>
          <a:xfrm>
            <a:off x="4648200" y="1673352"/>
            <a:ext cx="4038600" cy="4718304"/>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47" name="Google Shape;47;p6"/>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49" name="Google Shape;49;p6"/>
          <p:cNvSpPr txBox="1"/>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950">
                <a:solidFill>
                  <a:schemeClr val="dk1"/>
                </a:solidFill>
                <a:latin typeface="Arial"/>
                <a:ea typeface="Arial"/>
                <a:cs typeface="Arial"/>
                <a:sym typeface="Arial"/>
              </a:rPr>
              <a:t>From </a:t>
            </a:r>
            <a:r>
              <a:rPr i="1" lang="en-US" sz="950">
                <a:solidFill>
                  <a:schemeClr val="dk1"/>
                </a:solidFill>
                <a:latin typeface="Arial"/>
                <a:ea typeface="Arial"/>
                <a:cs typeface="Arial"/>
                <a:sym typeface="Arial"/>
              </a:rPr>
              <a:t>Security in Computing, Fifth Edition</a:t>
            </a:r>
            <a:r>
              <a:rPr lang="en-US" sz="950">
                <a:solidFill>
                  <a:schemeClr val="dk1"/>
                </a:solidFill>
                <a:latin typeface="Arial"/>
                <a:ea typeface="Arial"/>
                <a:cs typeface="Arial"/>
                <a:sym typeface="Arial"/>
              </a:rPr>
              <a:t>, by Charles P. Pfleeger, et al. (ISBN: 9780134085043). Copyright 2015 by Pearson Education, Inc. All rights reserved.</a:t>
            </a:r>
            <a:endParaRPr sz="95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 type="body"/>
          </p:nvPr>
        </p:nvSpPr>
        <p:spPr>
          <a:xfrm>
            <a:off x="45720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3" name="Google Shape;53;p7"/>
          <p:cNvSpPr txBox="1"/>
          <p:nvPr>
            <p:ph idx="2" type="body"/>
          </p:nvPr>
        </p:nvSpPr>
        <p:spPr>
          <a:xfrm>
            <a:off x="457200" y="2438400"/>
            <a:ext cx="3931920" cy="3951288"/>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4" name="Google Shape;54;p7"/>
          <p:cNvSpPr txBox="1"/>
          <p:nvPr>
            <p:ph idx="3" type="body"/>
          </p:nvPr>
        </p:nvSpPr>
        <p:spPr>
          <a:xfrm>
            <a:off x="475488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5" name="Google Shape;55;p7"/>
          <p:cNvSpPr txBox="1"/>
          <p:nvPr>
            <p:ph idx="4" type="body"/>
          </p:nvPr>
        </p:nvSpPr>
        <p:spPr>
          <a:xfrm>
            <a:off x="4754880" y="2438400"/>
            <a:ext cx="3931920" cy="3951288"/>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6" name="Google Shape;56;p7"/>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58" name="Google Shape;58;p7"/>
          <p:cNvCxnSpPr/>
          <p:nvPr/>
        </p:nvCxnSpPr>
        <p:spPr>
          <a:xfrm rot="5400000">
            <a:off x="2217817" y="4045823"/>
            <a:ext cx="4709160" cy="794"/>
          </a:xfrm>
          <a:prstGeom prst="straightConnector1">
            <a:avLst/>
          </a:prstGeom>
          <a:noFill/>
          <a:ln cap="flat" cmpd="sng" w="19050">
            <a:solidFill>
              <a:schemeClr val="dk2"/>
            </a:solidFill>
            <a:prstDash val="solid"/>
            <a:round/>
            <a:headEnd len="sm" w="sm" type="none"/>
            <a:tailEnd len="sm" w="sm" type="none"/>
          </a:ln>
        </p:spPr>
      </p:cxnSp>
      <p:sp>
        <p:nvSpPr>
          <p:cNvPr id="59" name="Google Shape;59;p7"/>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8"/>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64" name="Google Shape;64;p8"/>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9"/>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68" name="Google Shape;68;p9"/>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457200" y="792080"/>
            <a:ext cx="2139696" cy="126187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0"/>
          <p:cNvSpPr txBox="1"/>
          <p:nvPr>
            <p:ph idx="1" type="body"/>
          </p:nvPr>
        </p:nvSpPr>
        <p:spPr>
          <a:xfrm>
            <a:off x="2971800" y="792080"/>
            <a:ext cx="5715000" cy="5577840"/>
          </a:xfrm>
          <a:prstGeom prst="rect">
            <a:avLst/>
          </a:prstGeom>
          <a:noFill/>
          <a:ln>
            <a:noFill/>
          </a:ln>
        </p:spPr>
        <p:txBody>
          <a:bodyPr anchorCtr="0" anchor="t" bIns="45700" lIns="91425" spcFirstLastPara="1" rIns="91425" wrap="square" tIns="45700">
            <a:norm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72" name="Google Shape;72;p10"/>
          <p:cNvSpPr txBox="1"/>
          <p:nvPr>
            <p:ph idx="2" type="body"/>
          </p:nvPr>
        </p:nvSpPr>
        <p:spPr>
          <a:xfrm>
            <a:off x="457201" y="2130552"/>
            <a:ext cx="2139696" cy="4243615"/>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73" name="Google Shape;73;p10"/>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75" name="Google Shape;75;p10"/>
          <p:cNvCxnSpPr/>
          <p:nvPr/>
        </p:nvCxnSpPr>
        <p:spPr>
          <a:xfrm rot="5400000">
            <a:off x="-13116" y="3580206"/>
            <a:ext cx="5577840" cy="1588"/>
          </a:xfrm>
          <a:prstGeom prst="straightConnector1">
            <a:avLst/>
          </a:prstGeom>
          <a:noFill/>
          <a:ln cap="flat" cmpd="sng" w="19050">
            <a:solidFill>
              <a:schemeClr val="dk2"/>
            </a:solidFill>
            <a:prstDash val="solid"/>
            <a:round/>
            <a:headEnd len="sm" w="sm" type="none"/>
            <a:tailEnd len="sm" w="sm" type="none"/>
          </a:ln>
        </p:spPr>
      </p:cxnSp>
      <p:sp>
        <p:nvSpPr>
          <p:cNvPr id="76" name="Google Shape;76;p10"/>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11"/>
          <p:cNvSpPr txBox="1"/>
          <p:nvPr>
            <p:ph type="title"/>
          </p:nvPr>
        </p:nvSpPr>
        <p:spPr>
          <a:xfrm>
            <a:off x="457200" y="792480"/>
            <a:ext cx="2142680" cy="126492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1"/>
          <p:cNvSpPr/>
          <p:nvPr>
            <p:ph idx="2" type="pic"/>
          </p:nvPr>
        </p:nvSpPr>
        <p:spPr>
          <a:xfrm>
            <a:off x="2858610" y="838201"/>
            <a:ext cx="5904390" cy="5500456"/>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sp>
      <p:sp>
        <p:nvSpPr>
          <p:cNvPr id="80" name="Google Shape;80;p11"/>
          <p:cNvSpPr txBox="1"/>
          <p:nvPr>
            <p:ph idx="1" type="body"/>
          </p:nvPr>
        </p:nvSpPr>
        <p:spPr>
          <a:xfrm>
            <a:off x="457200" y="2133600"/>
            <a:ext cx="2139696" cy="424281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81" name="Google Shape;81;p11"/>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83" name="Google Shape;83;p11"/>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1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2"/>
          <p:cNvSpPr txBox="1"/>
          <p:nvPr>
            <p:ph idx="1" type="body"/>
          </p:nvPr>
        </p:nvSpPr>
        <p:spPr>
          <a:xfrm rot="5400000">
            <a:off x="2133600" y="-76200"/>
            <a:ext cx="48768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7" name="Google Shape;87;p12"/>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89" name="Google Shape;89;p12"/>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13"/>
          <p:cNvSpPr txBox="1"/>
          <p:nvPr>
            <p:ph type="title"/>
          </p:nvPr>
        </p:nvSpPr>
        <p:spPr>
          <a:xfrm rot="5400000">
            <a:off x="4724400" y="2514600"/>
            <a:ext cx="586740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3"/>
          <p:cNvSpPr txBox="1"/>
          <p:nvPr>
            <p:ph idx="1" type="body"/>
          </p:nvPr>
        </p:nvSpPr>
        <p:spPr>
          <a:xfrm rot="5400000">
            <a:off x="533400" y="533400"/>
            <a:ext cx="586740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 name="Google Shape;93;p13"/>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95" name="Google Shape;95;p13"/>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220786"/>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1" name="Google Shape;11;p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13" name="Google Shape;13;p1"/>
          <p:cNvSpPr/>
          <p:nvPr/>
        </p:nvSpPr>
        <p:spPr>
          <a:xfrm>
            <a:off x="0" y="0"/>
            <a:ext cx="9144000" cy="3657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4" name="Google Shape;14;p1"/>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1400" u="none" cap="none" strike="noStrike">
                <a:solidFill>
                  <a:srgbClr val="FFFFFF"/>
                </a:solidFill>
                <a:latin typeface="Arial"/>
                <a:ea typeface="Arial"/>
                <a:cs typeface="Arial"/>
                <a:sym typeface="Arial"/>
              </a:defRPr>
            </a:lvl1pPr>
            <a:lvl2pPr indent="0" lvl="1" marL="0" marR="0" rtl="0" algn="l">
              <a:spcBef>
                <a:spcPts val="0"/>
              </a:spcBef>
              <a:buNone/>
              <a:defRPr b="1" i="0" sz="1400" u="none" cap="none" strike="noStrike">
                <a:solidFill>
                  <a:srgbClr val="FFFFFF"/>
                </a:solidFill>
                <a:latin typeface="Arial"/>
                <a:ea typeface="Arial"/>
                <a:cs typeface="Arial"/>
                <a:sym typeface="Arial"/>
              </a:defRPr>
            </a:lvl2pPr>
            <a:lvl3pPr indent="0" lvl="2" marL="0" marR="0" rtl="0" algn="l">
              <a:spcBef>
                <a:spcPts val="0"/>
              </a:spcBef>
              <a:buNone/>
              <a:defRPr b="1" i="0" sz="1400" u="none" cap="none" strike="noStrike">
                <a:solidFill>
                  <a:srgbClr val="FFFFFF"/>
                </a:solidFill>
                <a:latin typeface="Arial"/>
                <a:ea typeface="Arial"/>
                <a:cs typeface="Arial"/>
                <a:sym typeface="Arial"/>
              </a:defRPr>
            </a:lvl3pPr>
            <a:lvl4pPr indent="0" lvl="3" marL="0" marR="0" rtl="0" algn="l">
              <a:spcBef>
                <a:spcPts val="0"/>
              </a:spcBef>
              <a:buNone/>
              <a:defRPr b="1" i="0" sz="1400" u="none" cap="none" strike="noStrike">
                <a:solidFill>
                  <a:srgbClr val="FFFFFF"/>
                </a:solidFill>
                <a:latin typeface="Arial"/>
                <a:ea typeface="Arial"/>
                <a:cs typeface="Arial"/>
                <a:sym typeface="Arial"/>
              </a:defRPr>
            </a:lvl4pPr>
            <a:lvl5pPr indent="0" lvl="4" marL="0" marR="0" rtl="0" algn="l">
              <a:spcBef>
                <a:spcPts val="0"/>
              </a:spcBef>
              <a:buNone/>
              <a:defRPr b="1" i="0" sz="1400" u="none" cap="none" strike="noStrike">
                <a:solidFill>
                  <a:srgbClr val="FFFFFF"/>
                </a:solidFill>
                <a:latin typeface="Arial"/>
                <a:ea typeface="Arial"/>
                <a:cs typeface="Arial"/>
                <a:sym typeface="Arial"/>
              </a:defRPr>
            </a:lvl5pPr>
            <a:lvl6pPr indent="0" lvl="5" marL="0" marR="0" rtl="0" algn="l">
              <a:spcBef>
                <a:spcPts val="0"/>
              </a:spcBef>
              <a:buNone/>
              <a:defRPr b="1" i="0" sz="1400" u="none" cap="none" strike="noStrike">
                <a:solidFill>
                  <a:srgbClr val="FFFFFF"/>
                </a:solidFill>
                <a:latin typeface="Arial"/>
                <a:ea typeface="Arial"/>
                <a:cs typeface="Arial"/>
                <a:sym typeface="Arial"/>
              </a:defRPr>
            </a:lvl6pPr>
            <a:lvl7pPr indent="0" lvl="6" marL="0" marR="0" rtl="0" algn="l">
              <a:spcBef>
                <a:spcPts val="0"/>
              </a:spcBef>
              <a:buNone/>
              <a:defRPr b="1" i="0" sz="1400" u="none" cap="none" strike="noStrike">
                <a:solidFill>
                  <a:srgbClr val="FFFFFF"/>
                </a:solidFill>
                <a:latin typeface="Arial"/>
                <a:ea typeface="Arial"/>
                <a:cs typeface="Arial"/>
                <a:sym typeface="Arial"/>
              </a:defRPr>
            </a:lvl7pPr>
            <a:lvl8pPr indent="0" lvl="7" marL="0" marR="0" rtl="0" algn="l">
              <a:spcBef>
                <a:spcPts val="0"/>
              </a:spcBef>
              <a:buNone/>
              <a:defRPr b="1" i="0" sz="1400" u="none" cap="none" strike="noStrike">
                <a:solidFill>
                  <a:srgbClr val="FFFFFF"/>
                </a:solidFill>
                <a:latin typeface="Arial"/>
                <a:ea typeface="Arial"/>
                <a:cs typeface="Arial"/>
                <a:sym typeface="Arial"/>
              </a:defRPr>
            </a:lvl8pPr>
            <a:lvl9pPr indent="0" lvl="8" marL="0" marR="0" rtl="0" algn="l">
              <a:spcBef>
                <a:spcPts val="0"/>
              </a:spcBef>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txBox="1"/>
          <p:nvPr>
            <p:ph type="ctrTitle"/>
          </p:nvPr>
        </p:nvSpPr>
        <p:spPr>
          <a:xfrm>
            <a:off x="685800" y="1371600"/>
            <a:ext cx="7848600" cy="1927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Toolbox: Authentication, Access Control, and Cryptography</a:t>
            </a:r>
            <a:endParaRPr/>
          </a:p>
        </p:txBody>
      </p:sp>
      <p:sp>
        <p:nvSpPr>
          <p:cNvPr id="102" name="Google Shape;102;p14"/>
          <p:cNvSpPr txBox="1"/>
          <p:nvPr>
            <p:ph idx="1" type="subTitle"/>
          </p:nvPr>
        </p:nvSpPr>
        <p:spPr>
          <a:xfrm>
            <a:off x="685800" y="3505200"/>
            <a:ext cx="6400800" cy="17526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a:p>
        </p:txBody>
      </p:sp>
      <p:sp>
        <p:nvSpPr>
          <p:cNvPr id="103" name="Google Shape;103;p14"/>
          <p:cNvSpPr txBox="1"/>
          <p:nvPr>
            <p:ph idx="12" type="sldNum"/>
          </p:nvPr>
        </p:nvSpPr>
        <p:spPr>
          <a:xfrm>
            <a:off x="7620000" y="18288"/>
            <a:ext cx="1066800" cy="329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Objectives </a:t>
            </a:r>
            <a:endParaRPr/>
          </a:p>
        </p:txBody>
      </p:sp>
      <p:sp>
        <p:nvSpPr>
          <p:cNvPr id="109" name="Google Shape;109;p1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Survey authentication mechanisms</a:t>
            </a:r>
            <a:endParaRPr/>
          </a:p>
          <a:p>
            <a:pPr indent="-182880" lvl="0" marL="182880" rtl="0" algn="l">
              <a:spcBef>
                <a:spcPts val="480"/>
              </a:spcBef>
              <a:spcAft>
                <a:spcPts val="0"/>
              </a:spcAft>
              <a:buSzPts val="2040"/>
              <a:buChar char="•"/>
            </a:pPr>
            <a:r>
              <a:rPr lang="en-US"/>
              <a:t>List available access control implementation options</a:t>
            </a:r>
            <a:endParaRPr/>
          </a:p>
          <a:p>
            <a:pPr indent="-182880" lvl="0" marL="182880" rtl="0" algn="l">
              <a:spcBef>
                <a:spcPts val="480"/>
              </a:spcBef>
              <a:spcAft>
                <a:spcPts val="0"/>
              </a:spcAft>
              <a:buSzPts val="2040"/>
              <a:buChar char="•"/>
            </a:pPr>
            <a:r>
              <a:rPr lang="en-US"/>
              <a:t>Explain the problems encryption is designed to solve</a:t>
            </a:r>
            <a:endParaRPr/>
          </a:p>
          <a:p>
            <a:pPr indent="-182880" lvl="0" marL="182880" rtl="0" algn="l">
              <a:spcBef>
                <a:spcPts val="480"/>
              </a:spcBef>
              <a:spcAft>
                <a:spcPts val="0"/>
              </a:spcAft>
              <a:buSzPts val="2040"/>
              <a:buChar char="•"/>
            </a:pPr>
            <a:r>
              <a:rPr lang="en-US"/>
              <a:t>Understand the various categories of encryption tools as well as the strengths, weaknesses, and applications of each</a:t>
            </a:r>
            <a:endParaRPr/>
          </a:p>
          <a:p>
            <a:pPr indent="-182880" lvl="0" marL="182880" rtl="0" algn="l">
              <a:spcBef>
                <a:spcPts val="480"/>
              </a:spcBef>
              <a:spcAft>
                <a:spcPts val="0"/>
              </a:spcAft>
              <a:buSzPts val="2040"/>
              <a:buChar char="•"/>
            </a:pPr>
            <a:r>
              <a:rPr lang="en-US"/>
              <a:t>Learn about certificates and certificate authorities</a:t>
            </a:r>
            <a:endParaRPr/>
          </a:p>
        </p:txBody>
      </p:sp>
      <p:sp>
        <p:nvSpPr>
          <p:cNvPr id="110" name="Google Shape;110;p1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1" name="Google Shape;111;p15"/>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Authentication</a:t>
            </a:r>
            <a:endParaRPr/>
          </a:p>
        </p:txBody>
      </p:sp>
      <p:sp>
        <p:nvSpPr>
          <p:cNvPr id="117" name="Google Shape;117;p1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380"/>
              <a:buChar char="•"/>
            </a:pPr>
            <a:r>
              <a:rPr lang="en-US" sz="2800"/>
              <a:t>The act of proving that a user is who she says she is</a:t>
            </a:r>
            <a:endParaRPr/>
          </a:p>
          <a:p>
            <a:pPr indent="-182880" lvl="0" marL="182880" rtl="0" algn="l">
              <a:spcBef>
                <a:spcPts val="560"/>
              </a:spcBef>
              <a:spcAft>
                <a:spcPts val="0"/>
              </a:spcAft>
              <a:buSzPts val="2380"/>
              <a:buChar char="•"/>
            </a:pPr>
            <a:r>
              <a:rPr lang="en-US" sz="2800"/>
              <a:t>Methods:</a:t>
            </a:r>
            <a:endParaRPr/>
          </a:p>
          <a:p>
            <a:pPr indent="-182880" lvl="1" marL="457200" rtl="0" algn="l">
              <a:spcBef>
                <a:spcPts val="480"/>
              </a:spcBef>
              <a:spcAft>
                <a:spcPts val="0"/>
              </a:spcAft>
              <a:buSzPts val="2040"/>
              <a:buChar char="•"/>
            </a:pPr>
            <a:r>
              <a:rPr lang="en-US" sz="2400"/>
              <a:t>Something the user </a:t>
            </a:r>
            <a:r>
              <a:rPr i="1" lang="en-US" sz="2400"/>
              <a:t>knows</a:t>
            </a:r>
            <a:endParaRPr/>
          </a:p>
          <a:p>
            <a:pPr indent="-182880" lvl="1" marL="457200" rtl="0" algn="l">
              <a:spcBef>
                <a:spcPts val="480"/>
              </a:spcBef>
              <a:spcAft>
                <a:spcPts val="0"/>
              </a:spcAft>
              <a:buSzPts val="2040"/>
              <a:buChar char="•"/>
            </a:pPr>
            <a:r>
              <a:rPr lang="en-US" sz="2400"/>
              <a:t>Something the user </a:t>
            </a:r>
            <a:r>
              <a:rPr i="1" lang="en-US" sz="2400"/>
              <a:t>is</a:t>
            </a:r>
            <a:endParaRPr/>
          </a:p>
          <a:p>
            <a:pPr indent="-182880" lvl="1" marL="457200" rtl="0" algn="l">
              <a:spcBef>
                <a:spcPts val="480"/>
              </a:spcBef>
              <a:spcAft>
                <a:spcPts val="0"/>
              </a:spcAft>
              <a:buSzPts val="2040"/>
              <a:buChar char="•"/>
            </a:pPr>
            <a:r>
              <a:rPr lang="en-US" sz="2400"/>
              <a:t>Something user </a:t>
            </a:r>
            <a:r>
              <a:rPr i="1" lang="en-US" sz="2400"/>
              <a:t>has</a:t>
            </a:r>
            <a:endParaRPr i="1" sz="2400"/>
          </a:p>
        </p:txBody>
      </p:sp>
      <p:sp>
        <p:nvSpPr>
          <p:cNvPr id="118" name="Google Shape;118;p1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9" name="Google Shape;119;p16"/>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Something You Know</a:t>
            </a:r>
            <a:endParaRPr/>
          </a:p>
        </p:txBody>
      </p:sp>
      <p:sp>
        <p:nvSpPr>
          <p:cNvPr id="125" name="Google Shape;125;p1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380"/>
              <a:buChar char="•"/>
            </a:pPr>
            <a:r>
              <a:rPr lang="en-US" sz="2800"/>
              <a:t>Passwords</a:t>
            </a:r>
            <a:endParaRPr/>
          </a:p>
          <a:p>
            <a:pPr indent="-182880" lvl="0" marL="182880" rtl="0" algn="l">
              <a:spcBef>
                <a:spcPts val="560"/>
              </a:spcBef>
              <a:spcAft>
                <a:spcPts val="0"/>
              </a:spcAft>
              <a:buSzPts val="2380"/>
              <a:buChar char="•"/>
            </a:pPr>
            <a:r>
              <a:rPr lang="en-US" sz="2800"/>
              <a:t>Security questions</a:t>
            </a:r>
            <a:endParaRPr/>
          </a:p>
          <a:p>
            <a:pPr indent="-182880" lvl="0" marL="182880" rtl="0" algn="l">
              <a:spcBef>
                <a:spcPts val="560"/>
              </a:spcBef>
              <a:spcAft>
                <a:spcPts val="0"/>
              </a:spcAft>
              <a:buSzPts val="2380"/>
              <a:buChar char="•"/>
            </a:pPr>
            <a:r>
              <a:rPr lang="en-US" sz="2800"/>
              <a:t>Attacks on “something you know”:</a:t>
            </a:r>
            <a:endParaRPr/>
          </a:p>
          <a:p>
            <a:pPr indent="-182880" lvl="1" marL="457200" rtl="0" algn="l">
              <a:spcBef>
                <a:spcPts val="480"/>
              </a:spcBef>
              <a:spcAft>
                <a:spcPts val="0"/>
              </a:spcAft>
              <a:buSzPts val="2040"/>
              <a:buChar char="•"/>
            </a:pPr>
            <a:r>
              <a:rPr lang="en-US" sz="2400"/>
              <a:t>Dictionary attacks</a:t>
            </a:r>
            <a:endParaRPr/>
          </a:p>
          <a:p>
            <a:pPr indent="-182880" lvl="1" marL="457200" rtl="0" algn="l">
              <a:spcBef>
                <a:spcPts val="480"/>
              </a:spcBef>
              <a:spcAft>
                <a:spcPts val="0"/>
              </a:spcAft>
              <a:buSzPts val="2040"/>
              <a:buChar char="•"/>
            </a:pPr>
            <a:r>
              <a:rPr lang="en-US" sz="2400"/>
              <a:t>Inferring likely passwords/answers</a:t>
            </a:r>
            <a:endParaRPr/>
          </a:p>
          <a:p>
            <a:pPr indent="-182880" lvl="1" marL="457200" rtl="0" algn="l">
              <a:spcBef>
                <a:spcPts val="480"/>
              </a:spcBef>
              <a:spcAft>
                <a:spcPts val="0"/>
              </a:spcAft>
              <a:buSzPts val="2040"/>
              <a:buChar char="•"/>
            </a:pPr>
            <a:r>
              <a:rPr lang="en-US" sz="2400"/>
              <a:t>Guessing</a:t>
            </a:r>
            <a:endParaRPr/>
          </a:p>
          <a:p>
            <a:pPr indent="-182880" lvl="1" marL="457200" rtl="0" algn="l">
              <a:spcBef>
                <a:spcPts val="480"/>
              </a:spcBef>
              <a:spcAft>
                <a:spcPts val="0"/>
              </a:spcAft>
              <a:buSzPts val="2040"/>
              <a:buChar char="•"/>
            </a:pPr>
            <a:r>
              <a:rPr lang="en-US" sz="2400"/>
              <a:t>Defeating concealment</a:t>
            </a:r>
            <a:endParaRPr/>
          </a:p>
          <a:p>
            <a:pPr indent="-182880" lvl="1" marL="457200" rtl="0" algn="l">
              <a:spcBef>
                <a:spcPts val="480"/>
              </a:spcBef>
              <a:spcAft>
                <a:spcPts val="0"/>
              </a:spcAft>
              <a:buSzPts val="2040"/>
              <a:buChar char="•"/>
            </a:pPr>
            <a:r>
              <a:rPr lang="en-US" sz="2400"/>
              <a:t>Exhaustive or brute-force attack</a:t>
            </a:r>
            <a:endParaRPr/>
          </a:p>
          <a:p>
            <a:pPr indent="-182880" lvl="1" marL="457200" rtl="0" algn="l">
              <a:spcBef>
                <a:spcPts val="480"/>
              </a:spcBef>
              <a:spcAft>
                <a:spcPts val="0"/>
              </a:spcAft>
              <a:buSzPts val="2040"/>
              <a:buChar char="•"/>
            </a:pPr>
            <a:r>
              <a:rPr lang="en-US" sz="2400"/>
              <a:t>Rainbow tables</a:t>
            </a:r>
            <a:endParaRPr sz="2400"/>
          </a:p>
        </p:txBody>
      </p:sp>
      <p:sp>
        <p:nvSpPr>
          <p:cNvPr id="126" name="Google Shape;126;p1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27" name="Google Shape;127;p17"/>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Distribution of Password Types</a:t>
            </a:r>
            <a:endParaRPr/>
          </a:p>
        </p:txBody>
      </p:sp>
      <p:sp>
        <p:nvSpPr>
          <p:cNvPr id="134" name="Google Shape;134;p1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01.eps" id="135" name="Google Shape;135;p18"/>
          <p:cNvPicPr preferRelativeResize="0"/>
          <p:nvPr/>
        </p:nvPicPr>
        <p:blipFill rotWithShape="1">
          <a:blip r:embed="rId3">
            <a:alphaModFix/>
          </a:blip>
          <a:srcRect b="0" l="0" r="0" t="0"/>
          <a:stretch/>
        </p:blipFill>
        <p:spPr>
          <a:xfrm>
            <a:off x="1602303" y="1524000"/>
            <a:ext cx="5909448" cy="4937760"/>
          </a:xfrm>
          <a:prstGeom prst="rect">
            <a:avLst/>
          </a:prstGeom>
          <a:noFill/>
          <a:ln>
            <a:noFill/>
          </a:ln>
        </p:spPr>
      </p:pic>
      <p:sp>
        <p:nvSpPr>
          <p:cNvPr id="136" name="Google Shape;136;p18"/>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Password Storage</a:t>
            </a:r>
            <a:endParaRPr/>
          </a:p>
        </p:txBody>
      </p:sp>
      <p:pic>
        <p:nvPicPr>
          <p:cNvPr descr="Untitled1.png" id="143" name="Google Shape;143;p19"/>
          <p:cNvPicPr preferRelativeResize="0"/>
          <p:nvPr/>
        </p:nvPicPr>
        <p:blipFill rotWithShape="1">
          <a:blip r:embed="rId3">
            <a:alphaModFix/>
          </a:blip>
          <a:srcRect b="0" l="0" r="52557" t="0"/>
          <a:stretch/>
        </p:blipFill>
        <p:spPr>
          <a:xfrm>
            <a:off x="267312" y="1937756"/>
            <a:ext cx="4291319" cy="2799684"/>
          </a:xfrm>
          <a:prstGeom prst="rect">
            <a:avLst/>
          </a:prstGeom>
          <a:noFill/>
          <a:ln>
            <a:noFill/>
          </a:ln>
        </p:spPr>
      </p:pic>
      <p:pic>
        <p:nvPicPr>
          <p:cNvPr descr="Untitled2.png" id="144" name="Google Shape;144;p19"/>
          <p:cNvPicPr preferRelativeResize="0"/>
          <p:nvPr/>
        </p:nvPicPr>
        <p:blipFill rotWithShape="1">
          <a:blip r:embed="rId4">
            <a:alphaModFix/>
          </a:blip>
          <a:srcRect b="0" l="0" r="51844" t="0"/>
          <a:stretch/>
        </p:blipFill>
        <p:spPr>
          <a:xfrm>
            <a:off x="4678892" y="1937756"/>
            <a:ext cx="4340546" cy="2799684"/>
          </a:xfrm>
          <a:prstGeom prst="rect">
            <a:avLst/>
          </a:prstGeom>
          <a:noFill/>
          <a:ln>
            <a:noFill/>
          </a:ln>
        </p:spPr>
      </p:pic>
      <p:sp>
        <p:nvSpPr>
          <p:cNvPr id="145" name="Google Shape;145;p19"/>
          <p:cNvSpPr txBox="1"/>
          <p:nvPr/>
        </p:nvSpPr>
        <p:spPr>
          <a:xfrm>
            <a:off x="1771287" y="4385071"/>
            <a:ext cx="12833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292934"/>
                </a:solidFill>
                <a:latin typeface="Arial"/>
                <a:ea typeface="Arial"/>
                <a:cs typeface="Arial"/>
                <a:sym typeface="Arial"/>
              </a:rPr>
              <a:t>Plaintext</a:t>
            </a:r>
            <a:endParaRPr/>
          </a:p>
        </p:txBody>
      </p:sp>
      <p:sp>
        <p:nvSpPr>
          <p:cNvPr id="146" name="Google Shape;146;p19"/>
          <p:cNvSpPr txBox="1"/>
          <p:nvPr/>
        </p:nvSpPr>
        <p:spPr>
          <a:xfrm>
            <a:off x="6043049" y="4385071"/>
            <a:ext cx="16122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292934"/>
                </a:solidFill>
                <a:latin typeface="Arial"/>
                <a:ea typeface="Arial"/>
                <a:cs typeface="Arial"/>
                <a:sym typeface="Arial"/>
              </a:rPr>
              <a:t>Concealed</a:t>
            </a:r>
            <a:endParaRPr/>
          </a:p>
        </p:txBody>
      </p:sp>
      <p:sp>
        <p:nvSpPr>
          <p:cNvPr id="147" name="Google Shape;147;p1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48" name="Google Shape;148;p19"/>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Biometrics: Something You Are</a:t>
            </a:r>
            <a:endParaRPr/>
          </a:p>
        </p:txBody>
      </p:sp>
      <p:sp>
        <p:nvSpPr>
          <p:cNvPr id="155" name="Google Shape;155;p2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02.tif" id="156" name="Google Shape;156;p20"/>
          <p:cNvPicPr preferRelativeResize="0"/>
          <p:nvPr/>
        </p:nvPicPr>
        <p:blipFill rotWithShape="1">
          <a:blip r:embed="rId3">
            <a:alphaModFix/>
          </a:blip>
          <a:srcRect b="0" l="0" r="0" t="0"/>
          <a:stretch/>
        </p:blipFill>
        <p:spPr>
          <a:xfrm>
            <a:off x="1663135" y="1493764"/>
            <a:ext cx="5807121" cy="4846320"/>
          </a:xfrm>
          <a:prstGeom prst="rect">
            <a:avLst/>
          </a:prstGeom>
          <a:noFill/>
          <a:ln>
            <a:noFill/>
          </a:ln>
        </p:spPr>
      </p:pic>
      <p:sp>
        <p:nvSpPr>
          <p:cNvPr id="157" name="Google Shape;157;p20"/>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Problems with Biometrics</a:t>
            </a:r>
            <a:endParaRPr/>
          </a:p>
        </p:txBody>
      </p:sp>
      <p:sp>
        <p:nvSpPr>
          <p:cNvPr id="164" name="Google Shape;164;p2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Intrusive</a:t>
            </a:r>
            <a:endParaRPr/>
          </a:p>
          <a:p>
            <a:pPr indent="-182880" lvl="0" marL="182880" rtl="0" algn="l">
              <a:spcBef>
                <a:spcPts val="480"/>
              </a:spcBef>
              <a:spcAft>
                <a:spcPts val="0"/>
              </a:spcAft>
              <a:buSzPts val="2040"/>
              <a:buChar char="•"/>
            </a:pPr>
            <a:r>
              <a:rPr lang="en-US"/>
              <a:t>Expensive</a:t>
            </a:r>
            <a:endParaRPr/>
          </a:p>
          <a:p>
            <a:pPr indent="-182880" lvl="0" marL="182880" rtl="0" algn="l">
              <a:spcBef>
                <a:spcPts val="480"/>
              </a:spcBef>
              <a:spcAft>
                <a:spcPts val="0"/>
              </a:spcAft>
              <a:buSzPts val="2040"/>
              <a:buChar char="•"/>
            </a:pPr>
            <a:r>
              <a:rPr lang="en-US"/>
              <a:t>Single point of failure</a:t>
            </a:r>
            <a:endParaRPr/>
          </a:p>
          <a:p>
            <a:pPr indent="-182880" lvl="0" marL="182880" rtl="0" algn="l">
              <a:spcBef>
                <a:spcPts val="480"/>
              </a:spcBef>
              <a:spcAft>
                <a:spcPts val="0"/>
              </a:spcAft>
              <a:buSzPts val="2040"/>
              <a:buChar char="•"/>
            </a:pPr>
            <a:r>
              <a:rPr lang="en-US"/>
              <a:t>Sampling error</a:t>
            </a:r>
            <a:endParaRPr/>
          </a:p>
          <a:p>
            <a:pPr indent="-182880" lvl="0" marL="182880" rtl="0" algn="l">
              <a:spcBef>
                <a:spcPts val="480"/>
              </a:spcBef>
              <a:spcAft>
                <a:spcPts val="0"/>
              </a:spcAft>
              <a:buSzPts val="2040"/>
              <a:buChar char="•"/>
            </a:pPr>
            <a:r>
              <a:rPr lang="en-US"/>
              <a:t>False readings</a:t>
            </a:r>
            <a:endParaRPr/>
          </a:p>
          <a:p>
            <a:pPr indent="-182880" lvl="0" marL="182880" rtl="0" algn="l">
              <a:spcBef>
                <a:spcPts val="480"/>
              </a:spcBef>
              <a:spcAft>
                <a:spcPts val="0"/>
              </a:spcAft>
              <a:buSzPts val="2040"/>
              <a:buChar char="•"/>
            </a:pPr>
            <a:r>
              <a:rPr lang="en-US"/>
              <a:t>Speed</a:t>
            </a:r>
            <a:endParaRPr/>
          </a:p>
          <a:p>
            <a:pPr indent="-182880" lvl="0" marL="182880" rtl="0" algn="l">
              <a:spcBef>
                <a:spcPts val="480"/>
              </a:spcBef>
              <a:spcAft>
                <a:spcPts val="0"/>
              </a:spcAft>
              <a:buSzPts val="2040"/>
              <a:buChar char="•"/>
            </a:pPr>
            <a:r>
              <a:rPr lang="en-US"/>
              <a:t>Forgery</a:t>
            </a:r>
            <a:endParaRPr/>
          </a:p>
        </p:txBody>
      </p:sp>
      <p:sp>
        <p:nvSpPr>
          <p:cNvPr id="165" name="Google Shape;165;p2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66" name="Google Shape;166;p21"/>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Tokens: Something You Have</a:t>
            </a:r>
            <a:endParaRPr/>
          </a:p>
        </p:txBody>
      </p:sp>
      <p:sp>
        <p:nvSpPr>
          <p:cNvPr id="173" name="Google Shape;173;p2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06.eps" id="174" name="Google Shape;174;p22"/>
          <p:cNvPicPr preferRelativeResize="0"/>
          <p:nvPr>
            <p:ph idx="1" type="body"/>
          </p:nvPr>
        </p:nvPicPr>
        <p:blipFill rotWithShape="1">
          <a:blip r:embed="rId3">
            <a:alphaModFix/>
          </a:blip>
          <a:srcRect b="0" l="-334" r="-30" t="0"/>
          <a:stretch/>
        </p:blipFill>
        <p:spPr>
          <a:xfrm>
            <a:off x="217070" y="1600200"/>
            <a:ext cx="8699935" cy="4846320"/>
          </a:xfrm>
          <a:prstGeom prst="rect">
            <a:avLst/>
          </a:prstGeom>
          <a:noFill/>
          <a:ln>
            <a:noFill/>
          </a:ln>
        </p:spPr>
      </p:pic>
      <p:sp>
        <p:nvSpPr>
          <p:cNvPr id="175" name="Google Shape;175;p22"/>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Federated Identity Management</a:t>
            </a:r>
            <a:endParaRPr/>
          </a:p>
        </p:txBody>
      </p:sp>
      <p:sp>
        <p:nvSpPr>
          <p:cNvPr id="182" name="Google Shape;182;p2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07.eps" id="183" name="Google Shape;183;p23"/>
          <p:cNvPicPr preferRelativeResize="0"/>
          <p:nvPr>
            <p:ph idx="1" type="body"/>
          </p:nvPr>
        </p:nvPicPr>
        <p:blipFill rotWithShape="1">
          <a:blip r:embed="rId3">
            <a:alphaModFix/>
          </a:blip>
          <a:srcRect b="-241" l="0" r="0" t="-1468"/>
          <a:stretch/>
        </p:blipFill>
        <p:spPr>
          <a:xfrm>
            <a:off x="850320" y="1554236"/>
            <a:ext cx="7178999" cy="4846320"/>
          </a:xfrm>
          <a:prstGeom prst="rect">
            <a:avLst/>
          </a:prstGeom>
          <a:noFill/>
          <a:ln>
            <a:noFill/>
          </a:ln>
        </p:spPr>
      </p:pic>
      <p:sp>
        <p:nvSpPr>
          <p:cNvPr id="184" name="Google Shape;184;p23"/>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Single Sign-On</a:t>
            </a:r>
            <a:endParaRPr/>
          </a:p>
        </p:txBody>
      </p:sp>
      <p:sp>
        <p:nvSpPr>
          <p:cNvPr id="191" name="Google Shape;191;p2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08.eps" id="192" name="Google Shape;192;p24"/>
          <p:cNvPicPr preferRelativeResize="0"/>
          <p:nvPr>
            <p:ph idx="1" type="body"/>
          </p:nvPr>
        </p:nvPicPr>
        <p:blipFill rotWithShape="1">
          <a:blip r:embed="rId3">
            <a:alphaModFix/>
          </a:blip>
          <a:srcRect b="-1061" l="0" r="0" t="296"/>
          <a:stretch/>
        </p:blipFill>
        <p:spPr>
          <a:xfrm>
            <a:off x="659076" y="1642750"/>
            <a:ext cx="7823659" cy="4846320"/>
          </a:xfrm>
          <a:prstGeom prst="rect">
            <a:avLst/>
          </a:prstGeom>
          <a:noFill/>
          <a:ln>
            <a:noFill/>
          </a:ln>
        </p:spPr>
      </p:pic>
      <p:sp>
        <p:nvSpPr>
          <p:cNvPr id="193" name="Google Shape;193;p24"/>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Access Control</a:t>
            </a:r>
            <a:endParaRPr/>
          </a:p>
        </p:txBody>
      </p:sp>
      <p:pic>
        <p:nvPicPr>
          <p:cNvPr descr="Screen Shot 2015-09-08 at 6.32.21 AM.png" id="200" name="Google Shape;200;p25"/>
          <p:cNvPicPr preferRelativeResize="0"/>
          <p:nvPr>
            <p:ph idx="1" type="body"/>
          </p:nvPr>
        </p:nvPicPr>
        <p:blipFill rotWithShape="1">
          <a:blip r:embed="rId3">
            <a:alphaModFix/>
          </a:blip>
          <a:srcRect b="10623" l="0" r="0" t="5074"/>
          <a:stretch/>
        </p:blipFill>
        <p:spPr>
          <a:xfrm>
            <a:off x="968258" y="1654625"/>
            <a:ext cx="7207484" cy="4572000"/>
          </a:xfrm>
          <a:prstGeom prst="rect">
            <a:avLst/>
          </a:prstGeom>
          <a:noFill/>
          <a:ln>
            <a:noFill/>
          </a:ln>
        </p:spPr>
      </p:pic>
      <p:sp>
        <p:nvSpPr>
          <p:cNvPr id="201" name="Google Shape;201;p2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02" name="Google Shape;202;p25"/>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Access Policies</a:t>
            </a:r>
            <a:endParaRPr/>
          </a:p>
        </p:txBody>
      </p:sp>
      <p:sp>
        <p:nvSpPr>
          <p:cNvPr id="208" name="Google Shape;208;p2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Goals:</a:t>
            </a:r>
            <a:endParaRPr/>
          </a:p>
          <a:p>
            <a:pPr indent="-182880" lvl="1" marL="457200" rtl="0" algn="l">
              <a:spcBef>
                <a:spcPts val="400"/>
              </a:spcBef>
              <a:spcAft>
                <a:spcPts val="0"/>
              </a:spcAft>
              <a:buSzPts val="1700"/>
              <a:buChar char="•"/>
            </a:pPr>
            <a:r>
              <a:rPr lang="en-US"/>
              <a:t>Check every access</a:t>
            </a:r>
            <a:endParaRPr/>
          </a:p>
          <a:p>
            <a:pPr indent="-182880" lvl="1" marL="457200" rtl="0" algn="l">
              <a:spcBef>
                <a:spcPts val="400"/>
              </a:spcBef>
              <a:spcAft>
                <a:spcPts val="0"/>
              </a:spcAft>
              <a:buSzPts val="1700"/>
              <a:buChar char="•"/>
            </a:pPr>
            <a:r>
              <a:rPr lang="en-US"/>
              <a:t>Enforce least privilege</a:t>
            </a:r>
            <a:endParaRPr/>
          </a:p>
          <a:p>
            <a:pPr indent="-182880" lvl="1" marL="457200" rtl="0" algn="l">
              <a:spcBef>
                <a:spcPts val="400"/>
              </a:spcBef>
              <a:spcAft>
                <a:spcPts val="0"/>
              </a:spcAft>
              <a:buSzPts val="1700"/>
              <a:buChar char="•"/>
            </a:pPr>
            <a:r>
              <a:rPr lang="en-US"/>
              <a:t>Verify acceptable usage</a:t>
            </a:r>
            <a:endParaRPr/>
          </a:p>
          <a:p>
            <a:pPr indent="-182880" lvl="0" marL="182880" rtl="0" algn="l">
              <a:spcBef>
                <a:spcPts val="480"/>
              </a:spcBef>
              <a:spcAft>
                <a:spcPts val="0"/>
              </a:spcAft>
              <a:buSzPts val="2040"/>
              <a:buChar char="•"/>
            </a:pPr>
            <a:r>
              <a:rPr lang="en-US"/>
              <a:t>Track users’ access</a:t>
            </a:r>
            <a:endParaRPr/>
          </a:p>
          <a:p>
            <a:pPr indent="-182880" lvl="0" marL="182880" rtl="0" algn="l">
              <a:spcBef>
                <a:spcPts val="480"/>
              </a:spcBef>
              <a:spcAft>
                <a:spcPts val="0"/>
              </a:spcAft>
              <a:buSzPts val="2040"/>
              <a:buChar char="•"/>
            </a:pPr>
            <a:r>
              <a:rPr lang="en-US"/>
              <a:t>Enforce at appropriate granularity</a:t>
            </a:r>
            <a:endParaRPr/>
          </a:p>
          <a:p>
            <a:pPr indent="-182880" lvl="0" marL="182880" rtl="0" algn="l">
              <a:spcBef>
                <a:spcPts val="480"/>
              </a:spcBef>
              <a:spcAft>
                <a:spcPts val="0"/>
              </a:spcAft>
              <a:buSzPts val="2040"/>
              <a:buChar char="•"/>
            </a:pPr>
            <a:r>
              <a:rPr lang="en-US"/>
              <a:t>Use audit logging to track accesses</a:t>
            </a:r>
            <a:endParaRPr/>
          </a:p>
        </p:txBody>
      </p:sp>
      <p:sp>
        <p:nvSpPr>
          <p:cNvPr id="209" name="Google Shape;209;p2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10" name="Google Shape;210;p26"/>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Implementing Access Control</a:t>
            </a:r>
            <a:endParaRPr/>
          </a:p>
        </p:txBody>
      </p:sp>
      <p:sp>
        <p:nvSpPr>
          <p:cNvPr id="217" name="Google Shape;217;p2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Reference monitor</a:t>
            </a:r>
            <a:endParaRPr/>
          </a:p>
          <a:p>
            <a:pPr indent="-182880" lvl="0" marL="182880" rtl="0" algn="l">
              <a:spcBef>
                <a:spcPts val="480"/>
              </a:spcBef>
              <a:spcAft>
                <a:spcPts val="0"/>
              </a:spcAft>
              <a:buSzPts val="2040"/>
              <a:buChar char="•"/>
            </a:pPr>
            <a:r>
              <a:rPr lang="en-US"/>
              <a:t>Access control directory</a:t>
            </a:r>
            <a:endParaRPr/>
          </a:p>
          <a:p>
            <a:pPr indent="-182880" lvl="0" marL="182880" rtl="0" algn="l">
              <a:spcBef>
                <a:spcPts val="480"/>
              </a:spcBef>
              <a:spcAft>
                <a:spcPts val="0"/>
              </a:spcAft>
              <a:buSzPts val="2040"/>
              <a:buChar char="•"/>
            </a:pPr>
            <a:r>
              <a:rPr lang="en-US"/>
              <a:t>Access control matrix</a:t>
            </a:r>
            <a:endParaRPr/>
          </a:p>
          <a:p>
            <a:pPr indent="-182880" lvl="0" marL="182880" rtl="0" algn="l">
              <a:spcBef>
                <a:spcPts val="480"/>
              </a:spcBef>
              <a:spcAft>
                <a:spcPts val="0"/>
              </a:spcAft>
              <a:buSzPts val="2040"/>
              <a:buChar char="•"/>
            </a:pPr>
            <a:r>
              <a:rPr lang="en-US"/>
              <a:t>Access control list</a:t>
            </a:r>
            <a:endParaRPr/>
          </a:p>
          <a:p>
            <a:pPr indent="-182880" lvl="0" marL="182880" rtl="0" algn="l">
              <a:spcBef>
                <a:spcPts val="480"/>
              </a:spcBef>
              <a:spcAft>
                <a:spcPts val="0"/>
              </a:spcAft>
              <a:buSzPts val="2040"/>
              <a:buChar char="•"/>
            </a:pPr>
            <a:r>
              <a:rPr lang="en-US"/>
              <a:t>Privilege list</a:t>
            </a:r>
            <a:endParaRPr/>
          </a:p>
          <a:p>
            <a:pPr indent="-182880" lvl="0" marL="182880" rtl="0" algn="l">
              <a:spcBef>
                <a:spcPts val="480"/>
              </a:spcBef>
              <a:spcAft>
                <a:spcPts val="0"/>
              </a:spcAft>
              <a:buSzPts val="2040"/>
              <a:buChar char="•"/>
            </a:pPr>
            <a:r>
              <a:rPr lang="en-US"/>
              <a:t>Capability</a:t>
            </a:r>
            <a:endParaRPr/>
          </a:p>
          <a:p>
            <a:pPr indent="-182880" lvl="0" marL="182880" rtl="0" algn="l">
              <a:spcBef>
                <a:spcPts val="480"/>
              </a:spcBef>
              <a:spcAft>
                <a:spcPts val="0"/>
              </a:spcAft>
              <a:buSzPts val="2040"/>
              <a:buChar char="•"/>
            </a:pPr>
            <a:r>
              <a:rPr lang="en-US"/>
              <a:t>Procedure-oriented access control</a:t>
            </a:r>
            <a:endParaRPr/>
          </a:p>
          <a:p>
            <a:pPr indent="-182880" lvl="0" marL="182880" rtl="0" algn="l">
              <a:spcBef>
                <a:spcPts val="480"/>
              </a:spcBef>
              <a:spcAft>
                <a:spcPts val="0"/>
              </a:spcAft>
              <a:buSzPts val="2040"/>
              <a:buChar char="•"/>
            </a:pPr>
            <a:r>
              <a:rPr lang="en-US"/>
              <a:t>Role-based access control</a:t>
            </a:r>
            <a:endParaRPr/>
          </a:p>
        </p:txBody>
      </p:sp>
      <p:sp>
        <p:nvSpPr>
          <p:cNvPr id="218" name="Google Shape;218;p2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19" name="Google Shape;219;p27"/>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Reference Monitor</a:t>
            </a:r>
            <a:endParaRPr/>
          </a:p>
        </p:txBody>
      </p:sp>
      <p:pic>
        <p:nvPicPr>
          <p:cNvPr id="226" name="Google Shape;226;p28"/>
          <p:cNvPicPr preferRelativeResize="0"/>
          <p:nvPr/>
        </p:nvPicPr>
        <p:blipFill rotWithShape="1">
          <a:blip r:embed="rId3">
            <a:alphaModFix/>
          </a:blip>
          <a:srcRect b="9197" l="0" r="0" t="0"/>
          <a:stretch/>
        </p:blipFill>
        <p:spPr>
          <a:xfrm>
            <a:off x="842725" y="1554235"/>
            <a:ext cx="7439430" cy="5007069"/>
          </a:xfrm>
          <a:prstGeom prst="rect">
            <a:avLst/>
          </a:prstGeom>
          <a:noFill/>
          <a:ln>
            <a:noFill/>
          </a:ln>
        </p:spPr>
      </p:pic>
      <p:sp>
        <p:nvSpPr>
          <p:cNvPr id="227" name="Google Shape;227;p2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28" name="Google Shape;228;p28"/>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Access Control Directory</a:t>
            </a:r>
            <a:endParaRPr/>
          </a:p>
        </p:txBody>
      </p:sp>
      <p:sp>
        <p:nvSpPr>
          <p:cNvPr id="235" name="Google Shape;235;p2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09.eps" id="236" name="Google Shape;236;p29"/>
          <p:cNvPicPr preferRelativeResize="0"/>
          <p:nvPr/>
        </p:nvPicPr>
        <p:blipFill rotWithShape="1">
          <a:blip r:embed="rId3">
            <a:alphaModFix/>
          </a:blip>
          <a:srcRect b="0" l="0" r="0" t="0"/>
          <a:stretch/>
        </p:blipFill>
        <p:spPr>
          <a:xfrm>
            <a:off x="1025270" y="1547749"/>
            <a:ext cx="7084612" cy="4937760"/>
          </a:xfrm>
          <a:prstGeom prst="rect">
            <a:avLst/>
          </a:prstGeom>
          <a:noFill/>
          <a:ln>
            <a:noFill/>
          </a:ln>
        </p:spPr>
      </p:pic>
      <p:sp>
        <p:nvSpPr>
          <p:cNvPr id="237" name="Google Shape;237;p29"/>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Access Control Matrix</a:t>
            </a:r>
            <a:endParaRPr/>
          </a:p>
        </p:txBody>
      </p:sp>
      <p:pic>
        <p:nvPicPr>
          <p:cNvPr descr="Screen Shot 2015-09-08 at 12.33.00 PM.png" id="243" name="Google Shape;243;p30"/>
          <p:cNvPicPr preferRelativeResize="0"/>
          <p:nvPr/>
        </p:nvPicPr>
        <p:blipFill rotWithShape="1">
          <a:blip r:embed="rId3">
            <a:alphaModFix/>
          </a:blip>
          <a:srcRect b="0" l="0" r="0" t="0"/>
          <a:stretch/>
        </p:blipFill>
        <p:spPr>
          <a:xfrm>
            <a:off x="546100" y="2120222"/>
            <a:ext cx="8039100" cy="3086100"/>
          </a:xfrm>
          <a:prstGeom prst="rect">
            <a:avLst/>
          </a:prstGeom>
          <a:noFill/>
          <a:ln>
            <a:noFill/>
          </a:ln>
        </p:spPr>
      </p:pic>
      <p:sp>
        <p:nvSpPr>
          <p:cNvPr id="244" name="Google Shape;244;p3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45" name="Google Shape;245;p30"/>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Access Control List</a:t>
            </a:r>
            <a:endParaRPr/>
          </a:p>
        </p:txBody>
      </p:sp>
      <p:sp>
        <p:nvSpPr>
          <p:cNvPr id="251" name="Google Shape;251;p3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13.eps" id="252" name="Google Shape;252;p31"/>
          <p:cNvPicPr preferRelativeResize="0"/>
          <p:nvPr/>
        </p:nvPicPr>
        <p:blipFill rotWithShape="1">
          <a:blip r:embed="rId3">
            <a:alphaModFix/>
          </a:blip>
          <a:srcRect b="0" l="0" r="0" t="0"/>
          <a:stretch/>
        </p:blipFill>
        <p:spPr>
          <a:xfrm>
            <a:off x="1984938" y="1564886"/>
            <a:ext cx="5170129" cy="4975313"/>
          </a:xfrm>
          <a:prstGeom prst="rect">
            <a:avLst/>
          </a:prstGeom>
          <a:noFill/>
          <a:ln>
            <a:noFill/>
          </a:ln>
        </p:spPr>
      </p:pic>
      <p:sp>
        <p:nvSpPr>
          <p:cNvPr id="253" name="Google Shape;253;p31"/>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Problems Addressed by Encryption</a:t>
            </a:r>
            <a:endParaRPr/>
          </a:p>
        </p:txBody>
      </p:sp>
      <p:sp>
        <p:nvSpPr>
          <p:cNvPr id="259" name="Google Shape;259;p3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380"/>
              <a:buChar char="•"/>
            </a:pPr>
            <a:r>
              <a:rPr lang="en-US" sz="2800"/>
              <a:t>Suppose a sender wants to send a message to a recipient. An attacker may attempt to</a:t>
            </a:r>
            <a:endParaRPr/>
          </a:p>
          <a:p>
            <a:pPr indent="-182880" lvl="1" marL="457200" rtl="0" algn="l">
              <a:spcBef>
                <a:spcPts val="480"/>
              </a:spcBef>
              <a:spcAft>
                <a:spcPts val="0"/>
              </a:spcAft>
              <a:buSzPts val="2040"/>
              <a:buChar char="•"/>
            </a:pPr>
            <a:r>
              <a:rPr lang="en-US" sz="2400"/>
              <a:t>Block the message</a:t>
            </a:r>
            <a:endParaRPr/>
          </a:p>
          <a:p>
            <a:pPr indent="-182880" lvl="1" marL="457200" rtl="0" algn="l">
              <a:spcBef>
                <a:spcPts val="480"/>
              </a:spcBef>
              <a:spcAft>
                <a:spcPts val="0"/>
              </a:spcAft>
              <a:buSzPts val="2040"/>
              <a:buChar char="•"/>
            </a:pPr>
            <a:r>
              <a:rPr lang="en-US" sz="2400"/>
              <a:t>Intercept the message</a:t>
            </a:r>
            <a:endParaRPr/>
          </a:p>
          <a:p>
            <a:pPr indent="-182880" lvl="1" marL="457200" rtl="0" algn="l">
              <a:spcBef>
                <a:spcPts val="480"/>
              </a:spcBef>
              <a:spcAft>
                <a:spcPts val="0"/>
              </a:spcAft>
              <a:buSzPts val="2040"/>
              <a:buChar char="•"/>
            </a:pPr>
            <a:r>
              <a:rPr lang="en-US" sz="2400"/>
              <a:t>Modify the message</a:t>
            </a:r>
            <a:endParaRPr/>
          </a:p>
          <a:p>
            <a:pPr indent="-182880" lvl="1" marL="457200" rtl="0" algn="l">
              <a:spcBef>
                <a:spcPts val="480"/>
              </a:spcBef>
              <a:spcAft>
                <a:spcPts val="0"/>
              </a:spcAft>
              <a:buSzPts val="2040"/>
              <a:buChar char="•"/>
            </a:pPr>
            <a:r>
              <a:rPr lang="en-US" sz="2400"/>
              <a:t>Fabricate an authentic-looking alternate message</a:t>
            </a:r>
            <a:endParaRPr sz="2400"/>
          </a:p>
        </p:txBody>
      </p:sp>
      <p:sp>
        <p:nvSpPr>
          <p:cNvPr id="260" name="Google Shape;260;p3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61" name="Google Shape;261;p32"/>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Encryption Terminology</a:t>
            </a:r>
            <a:endParaRPr/>
          </a:p>
        </p:txBody>
      </p:sp>
      <p:sp>
        <p:nvSpPr>
          <p:cNvPr id="267" name="Google Shape;267;p3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Sender</a:t>
            </a:r>
            <a:endParaRPr/>
          </a:p>
          <a:p>
            <a:pPr indent="-182880" lvl="0" marL="182880" rtl="0" algn="l">
              <a:spcBef>
                <a:spcPts val="480"/>
              </a:spcBef>
              <a:spcAft>
                <a:spcPts val="0"/>
              </a:spcAft>
              <a:buSzPts val="2040"/>
              <a:buChar char="•"/>
            </a:pPr>
            <a:r>
              <a:rPr lang="en-US"/>
              <a:t>Recipient</a:t>
            </a:r>
            <a:endParaRPr/>
          </a:p>
          <a:p>
            <a:pPr indent="-182880" lvl="0" marL="182880" rtl="0" algn="l">
              <a:spcBef>
                <a:spcPts val="480"/>
              </a:spcBef>
              <a:spcAft>
                <a:spcPts val="0"/>
              </a:spcAft>
              <a:buSzPts val="2040"/>
              <a:buChar char="•"/>
            </a:pPr>
            <a:r>
              <a:rPr lang="en-US"/>
              <a:t>Transmission medium</a:t>
            </a:r>
            <a:endParaRPr/>
          </a:p>
          <a:p>
            <a:pPr indent="-182880" lvl="0" marL="182880" rtl="0" algn="l">
              <a:spcBef>
                <a:spcPts val="480"/>
              </a:spcBef>
              <a:spcAft>
                <a:spcPts val="0"/>
              </a:spcAft>
              <a:buSzPts val="2040"/>
              <a:buChar char="•"/>
            </a:pPr>
            <a:r>
              <a:rPr lang="en-US"/>
              <a:t>Interceptor/intruder</a:t>
            </a:r>
            <a:endParaRPr/>
          </a:p>
          <a:p>
            <a:pPr indent="-182880" lvl="0" marL="182880" rtl="0" algn="l">
              <a:spcBef>
                <a:spcPts val="480"/>
              </a:spcBef>
              <a:spcAft>
                <a:spcPts val="0"/>
              </a:spcAft>
              <a:buSzPts val="2040"/>
              <a:buChar char="•"/>
            </a:pPr>
            <a:r>
              <a:rPr lang="en-US"/>
              <a:t>Encrypt, encode, or encipher</a:t>
            </a:r>
            <a:endParaRPr/>
          </a:p>
          <a:p>
            <a:pPr indent="-182880" lvl="0" marL="182880" rtl="0" algn="l">
              <a:spcBef>
                <a:spcPts val="480"/>
              </a:spcBef>
              <a:spcAft>
                <a:spcPts val="0"/>
              </a:spcAft>
              <a:buSzPts val="2040"/>
              <a:buChar char="•"/>
            </a:pPr>
            <a:r>
              <a:rPr lang="en-US"/>
              <a:t>Decrypt, decode, or decipher</a:t>
            </a:r>
            <a:endParaRPr/>
          </a:p>
          <a:p>
            <a:pPr indent="-182880" lvl="0" marL="182880" rtl="0" algn="l">
              <a:spcBef>
                <a:spcPts val="480"/>
              </a:spcBef>
              <a:spcAft>
                <a:spcPts val="0"/>
              </a:spcAft>
              <a:buSzPts val="2040"/>
              <a:buChar char="•"/>
            </a:pPr>
            <a:r>
              <a:rPr lang="en-US"/>
              <a:t>Cryptosystem</a:t>
            </a:r>
            <a:endParaRPr/>
          </a:p>
          <a:p>
            <a:pPr indent="-182880" lvl="0" marL="182880" rtl="0" algn="l">
              <a:spcBef>
                <a:spcPts val="480"/>
              </a:spcBef>
              <a:spcAft>
                <a:spcPts val="0"/>
              </a:spcAft>
              <a:buSzPts val="2040"/>
              <a:buChar char="•"/>
            </a:pPr>
            <a:r>
              <a:rPr lang="en-US"/>
              <a:t>Plaintext</a:t>
            </a:r>
            <a:endParaRPr/>
          </a:p>
          <a:p>
            <a:pPr indent="-182880" lvl="0" marL="182880" rtl="0" algn="l">
              <a:spcBef>
                <a:spcPts val="480"/>
              </a:spcBef>
              <a:spcAft>
                <a:spcPts val="0"/>
              </a:spcAft>
              <a:buSzPts val="2040"/>
              <a:buChar char="•"/>
            </a:pPr>
            <a:r>
              <a:rPr lang="en-US"/>
              <a:t>Ciphertext</a:t>
            </a:r>
            <a:endParaRPr/>
          </a:p>
          <a:p>
            <a:pPr indent="-53339" lvl="0" marL="182880" rtl="0" algn="l">
              <a:spcBef>
                <a:spcPts val="480"/>
              </a:spcBef>
              <a:spcAft>
                <a:spcPts val="0"/>
              </a:spcAft>
              <a:buSzPts val="2040"/>
              <a:buNone/>
            </a:pPr>
            <a:r>
              <a:t/>
            </a:r>
            <a:endParaRPr/>
          </a:p>
        </p:txBody>
      </p:sp>
      <p:sp>
        <p:nvSpPr>
          <p:cNvPr id="268" name="Google Shape;268;p3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69" name="Google Shape;269;p33"/>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Encryption/Decryption Process</a:t>
            </a:r>
            <a:endParaRPr/>
          </a:p>
        </p:txBody>
      </p:sp>
      <p:sp>
        <p:nvSpPr>
          <p:cNvPr id="276" name="Google Shape;276;p3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18.eps" id="277" name="Google Shape;277;p34"/>
          <p:cNvPicPr preferRelativeResize="0"/>
          <p:nvPr/>
        </p:nvPicPr>
        <p:blipFill rotWithShape="1">
          <a:blip r:embed="rId3">
            <a:alphaModFix/>
          </a:blip>
          <a:srcRect b="0" l="0" r="0" t="0"/>
          <a:stretch/>
        </p:blipFill>
        <p:spPr>
          <a:xfrm>
            <a:off x="545944" y="2368879"/>
            <a:ext cx="8155054" cy="2106110"/>
          </a:xfrm>
          <a:prstGeom prst="rect">
            <a:avLst/>
          </a:prstGeom>
          <a:noFill/>
          <a:ln>
            <a:noFill/>
          </a:ln>
        </p:spPr>
      </p:pic>
      <p:sp>
        <p:nvSpPr>
          <p:cNvPr id="278" name="Google Shape;278;p34"/>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Symmetric vs. Asymmetric</a:t>
            </a:r>
            <a:endParaRPr/>
          </a:p>
        </p:txBody>
      </p:sp>
      <p:sp>
        <p:nvSpPr>
          <p:cNvPr id="285" name="Google Shape;285;p3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19.eps" id="286" name="Google Shape;286;p35"/>
          <p:cNvPicPr preferRelativeResize="0"/>
          <p:nvPr/>
        </p:nvPicPr>
        <p:blipFill rotWithShape="1">
          <a:blip r:embed="rId3">
            <a:alphaModFix/>
          </a:blip>
          <a:srcRect b="0" l="0" r="0" t="0"/>
          <a:stretch/>
        </p:blipFill>
        <p:spPr>
          <a:xfrm>
            <a:off x="457200" y="1523999"/>
            <a:ext cx="8229600" cy="4784651"/>
          </a:xfrm>
          <a:prstGeom prst="rect">
            <a:avLst/>
          </a:prstGeom>
          <a:noFill/>
          <a:ln>
            <a:noFill/>
          </a:ln>
        </p:spPr>
      </p:pic>
      <p:sp>
        <p:nvSpPr>
          <p:cNvPr id="287" name="Google Shape;287;p35"/>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Stream Ciphers</a:t>
            </a:r>
            <a:endParaRPr/>
          </a:p>
        </p:txBody>
      </p:sp>
      <p:sp>
        <p:nvSpPr>
          <p:cNvPr id="294" name="Google Shape;294;p3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20.eps" id="295" name="Google Shape;295;p36"/>
          <p:cNvPicPr preferRelativeResize="0"/>
          <p:nvPr/>
        </p:nvPicPr>
        <p:blipFill rotWithShape="1">
          <a:blip r:embed="rId3">
            <a:alphaModFix/>
          </a:blip>
          <a:srcRect b="0" l="0" r="0" t="0"/>
          <a:stretch/>
        </p:blipFill>
        <p:spPr>
          <a:xfrm>
            <a:off x="457199" y="2108199"/>
            <a:ext cx="8229601" cy="2787878"/>
          </a:xfrm>
          <a:prstGeom prst="rect">
            <a:avLst/>
          </a:prstGeom>
          <a:noFill/>
          <a:ln>
            <a:noFill/>
          </a:ln>
        </p:spPr>
      </p:pic>
      <p:sp>
        <p:nvSpPr>
          <p:cNvPr id="296" name="Google Shape;296;p36"/>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Block Ciphers</a:t>
            </a:r>
            <a:endParaRPr/>
          </a:p>
        </p:txBody>
      </p:sp>
      <p:sp>
        <p:nvSpPr>
          <p:cNvPr id="303" name="Google Shape;303;p3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21.eps" id="304" name="Google Shape;304;p37"/>
          <p:cNvPicPr preferRelativeResize="0"/>
          <p:nvPr/>
        </p:nvPicPr>
        <p:blipFill rotWithShape="1">
          <a:blip r:embed="rId3">
            <a:alphaModFix/>
          </a:blip>
          <a:srcRect b="0" l="0" r="0" t="0"/>
          <a:stretch/>
        </p:blipFill>
        <p:spPr>
          <a:xfrm>
            <a:off x="1239864" y="1565754"/>
            <a:ext cx="6380136" cy="5131849"/>
          </a:xfrm>
          <a:prstGeom prst="rect">
            <a:avLst/>
          </a:prstGeom>
          <a:noFill/>
          <a:ln>
            <a:noFill/>
          </a:ln>
        </p:spPr>
      </p:pic>
      <p:sp>
        <p:nvSpPr>
          <p:cNvPr id="305" name="Google Shape;305;p37"/>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Stream vs. Block</a:t>
            </a:r>
            <a:endParaRPr/>
          </a:p>
        </p:txBody>
      </p:sp>
      <p:pic>
        <p:nvPicPr>
          <p:cNvPr id="311" name="Google Shape;311;p38"/>
          <p:cNvPicPr preferRelativeResize="0"/>
          <p:nvPr/>
        </p:nvPicPr>
        <p:blipFill rotWithShape="1">
          <a:blip r:embed="rId3">
            <a:alphaModFix/>
          </a:blip>
          <a:srcRect b="0" l="0" r="0" t="0"/>
          <a:stretch/>
        </p:blipFill>
        <p:spPr>
          <a:xfrm>
            <a:off x="641350" y="2043113"/>
            <a:ext cx="7920038" cy="4037012"/>
          </a:xfrm>
          <a:prstGeom prst="rect">
            <a:avLst/>
          </a:prstGeom>
          <a:noFill/>
          <a:ln>
            <a:noFill/>
          </a:ln>
        </p:spPr>
      </p:pic>
      <p:sp>
        <p:nvSpPr>
          <p:cNvPr id="312" name="Google Shape;312;p3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13" name="Google Shape;313;p38"/>
          <p:cNvSpPr txBox="1"/>
          <p:nvPr>
            <p:ph idx="11" type="ftr"/>
          </p:nvPr>
        </p:nvSpPr>
        <p:spPr>
          <a:xfrm>
            <a:off x="0" y="6472657"/>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DES: The Data Encryption Standard</a:t>
            </a:r>
            <a:endParaRPr/>
          </a:p>
        </p:txBody>
      </p:sp>
      <p:sp>
        <p:nvSpPr>
          <p:cNvPr id="319" name="Google Shape;319;p39"/>
          <p:cNvSpPr txBox="1"/>
          <p:nvPr>
            <p:ph idx="1" type="body"/>
          </p:nvPr>
        </p:nvSpPr>
        <p:spPr>
          <a:xfrm>
            <a:off x="457200" y="141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Symmetric block cipher</a:t>
            </a:r>
            <a:endParaRPr/>
          </a:p>
          <a:p>
            <a:pPr indent="-182880" lvl="0" marL="182880" rtl="0" algn="l">
              <a:spcBef>
                <a:spcPts val="480"/>
              </a:spcBef>
              <a:spcAft>
                <a:spcPts val="0"/>
              </a:spcAft>
              <a:buSzPts val="2040"/>
              <a:buChar char="•"/>
            </a:pPr>
            <a:r>
              <a:rPr lang="en-US"/>
              <a:t>Developed in 1976 by IBM for the US National Institute of Standards and Technology (NIST)</a:t>
            </a:r>
            <a:endParaRPr/>
          </a:p>
        </p:txBody>
      </p:sp>
      <p:sp>
        <p:nvSpPr>
          <p:cNvPr id="320" name="Google Shape;320;p3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21" name="Google Shape;321;p39"/>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pic>
        <p:nvPicPr>
          <p:cNvPr id="322" name="Google Shape;322;p39"/>
          <p:cNvPicPr preferRelativeResize="0"/>
          <p:nvPr/>
        </p:nvPicPr>
        <p:blipFill rotWithShape="1">
          <a:blip r:embed="rId3">
            <a:alphaModFix/>
          </a:blip>
          <a:srcRect b="0" l="0" r="0" t="0"/>
          <a:stretch/>
        </p:blipFill>
        <p:spPr>
          <a:xfrm>
            <a:off x="903288" y="2787650"/>
            <a:ext cx="7077075" cy="386556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AES: Advanced Encryption System</a:t>
            </a:r>
            <a:endParaRPr/>
          </a:p>
        </p:txBody>
      </p:sp>
      <p:sp>
        <p:nvSpPr>
          <p:cNvPr id="329" name="Google Shape;329;p40"/>
          <p:cNvSpPr txBox="1"/>
          <p:nvPr>
            <p:ph idx="1" type="body"/>
          </p:nvPr>
        </p:nvSpPr>
        <p:spPr>
          <a:xfrm>
            <a:off x="550775" y="1600200"/>
            <a:ext cx="378059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Symmetric block cipher</a:t>
            </a:r>
            <a:endParaRPr/>
          </a:p>
          <a:p>
            <a:pPr indent="-182880" lvl="0" marL="182880" rtl="0" algn="l">
              <a:spcBef>
                <a:spcPts val="480"/>
              </a:spcBef>
              <a:spcAft>
                <a:spcPts val="0"/>
              </a:spcAft>
              <a:buSzPts val="2040"/>
              <a:buChar char="•"/>
            </a:pPr>
            <a:r>
              <a:rPr lang="en-US"/>
              <a:t>Developed in 1999 by independent Dutch cryptographers</a:t>
            </a:r>
            <a:endParaRPr/>
          </a:p>
          <a:p>
            <a:pPr indent="-182880" lvl="0" marL="182880" rtl="0" algn="l">
              <a:spcBef>
                <a:spcPts val="480"/>
              </a:spcBef>
              <a:spcAft>
                <a:spcPts val="0"/>
              </a:spcAft>
              <a:buSzPts val="2040"/>
              <a:buChar char="•"/>
            </a:pPr>
            <a:r>
              <a:rPr lang="en-US"/>
              <a:t>Still in common use</a:t>
            </a:r>
            <a:endParaRPr/>
          </a:p>
        </p:txBody>
      </p:sp>
      <p:pic>
        <p:nvPicPr>
          <p:cNvPr id="330" name="Google Shape;330;p40"/>
          <p:cNvPicPr preferRelativeResize="0"/>
          <p:nvPr/>
        </p:nvPicPr>
        <p:blipFill rotWithShape="1">
          <a:blip r:embed="rId3">
            <a:alphaModFix/>
          </a:blip>
          <a:srcRect b="0" l="0" r="0" t="0"/>
          <a:stretch/>
        </p:blipFill>
        <p:spPr>
          <a:xfrm>
            <a:off x="4581293" y="1524000"/>
            <a:ext cx="3586676" cy="4937760"/>
          </a:xfrm>
          <a:prstGeom prst="rect">
            <a:avLst/>
          </a:prstGeom>
          <a:noFill/>
          <a:ln>
            <a:noFill/>
          </a:ln>
        </p:spPr>
      </p:pic>
      <p:sp>
        <p:nvSpPr>
          <p:cNvPr id="331" name="Google Shape;331;p4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32" name="Google Shape;332;p40"/>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DES vs. AES</a:t>
            </a:r>
            <a:endParaRPr/>
          </a:p>
        </p:txBody>
      </p:sp>
      <p:sp>
        <p:nvSpPr>
          <p:cNvPr id="339" name="Google Shape;339;p4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40" name="Google Shape;340;p41"/>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pic>
        <p:nvPicPr>
          <p:cNvPr id="341" name="Google Shape;341;p41"/>
          <p:cNvPicPr preferRelativeResize="0"/>
          <p:nvPr/>
        </p:nvPicPr>
        <p:blipFill rotWithShape="1">
          <a:blip r:embed="rId3">
            <a:alphaModFix/>
          </a:blip>
          <a:srcRect b="0" l="0" r="0" t="0"/>
          <a:stretch/>
        </p:blipFill>
        <p:spPr>
          <a:xfrm>
            <a:off x="582613" y="1646238"/>
            <a:ext cx="8039100" cy="4864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Arial"/>
              <a:buNone/>
            </a:pPr>
            <a:r>
              <a:rPr lang="en-US"/>
              <a:t>Public Key (Asymmetric) Cryptography</a:t>
            </a:r>
            <a:endParaRPr/>
          </a:p>
        </p:txBody>
      </p:sp>
      <p:sp>
        <p:nvSpPr>
          <p:cNvPr id="347" name="Google Shape;347;p4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720"/>
              <a:buChar char="•"/>
            </a:pPr>
            <a:r>
              <a:rPr lang="en-US" sz="3200"/>
              <a:t>Instead of two users sharing one secret key, each user has two keys: one public and one private</a:t>
            </a:r>
            <a:endParaRPr/>
          </a:p>
          <a:p>
            <a:pPr indent="-182880" lvl="0" marL="182880" rtl="0" algn="l">
              <a:spcBef>
                <a:spcPts val="640"/>
              </a:spcBef>
              <a:spcAft>
                <a:spcPts val="0"/>
              </a:spcAft>
              <a:buSzPts val="2720"/>
              <a:buChar char="•"/>
            </a:pPr>
            <a:r>
              <a:rPr lang="en-US" sz="3200"/>
              <a:t>Messages encrypted using the user’s public key can only be decrypted using the user’s private key, and vice versa</a:t>
            </a:r>
            <a:endParaRPr/>
          </a:p>
        </p:txBody>
      </p:sp>
      <p:sp>
        <p:nvSpPr>
          <p:cNvPr id="348" name="Google Shape;348;p4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49" name="Google Shape;349;p42"/>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Secret Key vs. Public Key Encryption</a:t>
            </a:r>
            <a:endParaRPr/>
          </a:p>
        </p:txBody>
      </p:sp>
      <p:pic>
        <p:nvPicPr>
          <p:cNvPr id="356" name="Google Shape;356;p43"/>
          <p:cNvPicPr preferRelativeResize="0"/>
          <p:nvPr/>
        </p:nvPicPr>
        <p:blipFill rotWithShape="1">
          <a:blip r:embed="rId3">
            <a:alphaModFix/>
          </a:blip>
          <a:srcRect b="0" l="0" r="0" t="0"/>
          <a:stretch/>
        </p:blipFill>
        <p:spPr>
          <a:xfrm>
            <a:off x="181476" y="1791360"/>
            <a:ext cx="8797468" cy="4726405"/>
          </a:xfrm>
          <a:prstGeom prst="rect">
            <a:avLst/>
          </a:prstGeom>
          <a:noFill/>
          <a:ln>
            <a:noFill/>
          </a:ln>
        </p:spPr>
      </p:pic>
      <p:sp>
        <p:nvSpPr>
          <p:cNvPr id="357" name="Google Shape;357;p4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58" name="Google Shape;358;p43"/>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Public Key to Exchange Secret Keys</a:t>
            </a:r>
            <a:endParaRPr/>
          </a:p>
        </p:txBody>
      </p:sp>
      <p:sp>
        <p:nvSpPr>
          <p:cNvPr id="365" name="Google Shape;365;p4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24.eps" id="366" name="Google Shape;366;p44"/>
          <p:cNvPicPr preferRelativeResize="0"/>
          <p:nvPr>
            <p:ph idx="1" type="body"/>
          </p:nvPr>
        </p:nvPicPr>
        <p:blipFill rotWithShape="1">
          <a:blip r:embed="rId3">
            <a:alphaModFix/>
          </a:blip>
          <a:srcRect b="0" l="113" r="350" t="0"/>
          <a:stretch/>
        </p:blipFill>
        <p:spPr>
          <a:xfrm>
            <a:off x="71822" y="1887662"/>
            <a:ext cx="8996578" cy="3969489"/>
          </a:xfrm>
          <a:prstGeom prst="rect">
            <a:avLst/>
          </a:prstGeom>
          <a:noFill/>
          <a:ln>
            <a:noFill/>
          </a:ln>
        </p:spPr>
      </p:pic>
      <p:sp>
        <p:nvSpPr>
          <p:cNvPr id="367" name="Google Shape;367;p44"/>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Key Exchange Man in the Middle</a:t>
            </a:r>
            <a:endParaRPr/>
          </a:p>
        </p:txBody>
      </p:sp>
      <p:sp>
        <p:nvSpPr>
          <p:cNvPr id="374" name="Google Shape;374;p4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25.eps" id="375" name="Google Shape;375;p45"/>
          <p:cNvPicPr preferRelativeResize="0"/>
          <p:nvPr>
            <p:ph idx="1" type="body"/>
          </p:nvPr>
        </p:nvPicPr>
        <p:blipFill rotWithShape="1">
          <a:blip r:embed="rId3">
            <a:alphaModFix/>
          </a:blip>
          <a:srcRect b="-1394" l="0" r="0" t="196"/>
          <a:stretch/>
        </p:blipFill>
        <p:spPr>
          <a:xfrm>
            <a:off x="1753954" y="1554236"/>
            <a:ext cx="5095647" cy="4846320"/>
          </a:xfrm>
          <a:prstGeom prst="rect">
            <a:avLst/>
          </a:prstGeom>
          <a:noFill/>
          <a:ln>
            <a:noFill/>
          </a:ln>
        </p:spPr>
      </p:pic>
      <p:sp>
        <p:nvSpPr>
          <p:cNvPr id="376" name="Google Shape;376;p45"/>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Error Detecting Codes</a:t>
            </a:r>
            <a:endParaRPr/>
          </a:p>
        </p:txBody>
      </p:sp>
      <p:sp>
        <p:nvSpPr>
          <p:cNvPr id="382" name="Google Shape;382;p4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Demonstrates that a block of data has been modified</a:t>
            </a:r>
            <a:endParaRPr/>
          </a:p>
          <a:p>
            <a:pPr indent="-182880" lvl="0" marL="182880" rtl="0" algn="l">
              <a:spcBef>
                <a:spcPts val="480"/>
              </a:spcBef>
              <a:spcAft>
                <a:spcPts val="0"/>
              </a:spcAft>
              <a:buSzPts val="2040"/>
              <a:buChar char="•"/>
            </a:pPr>
            <a:r>
              <a:rPr lang="en-US"/>
              <a:t>Simple error detecting codes:</a:t>
            </a:r>
            <a:endParaRPr/>
          </a:p>
          <a:p>
            <a:pPr indent="-182880" lvl="1" marL="457200" rtl="0" algn="l">
              <a:spcBef>
                <a:spcPts val="400"/>
              </a:spcBef>
              <a:spcAft>
                <a:spcPts val="0"/>
              </a:spcAft>
              <a:buSzPts val="1700"/>
              <a:buChar char="•"/>
            </a:pPr>
            <a:r>
              <a:rPr lang="en-US"/>
              <a:t>Parity checks</a:t>
            </a:r>
            <a:endParaRPr/>
          </a:p>
          <a:p>
            <a:pPr indent="-182880" lvl="1" marL="457200" rtl="0" algn="l">
              <a:spcBef>
                <a:spcPts val="400"/>
              </a:spcBef>
              <a:spcAft>
                <a:spcPts val="0"/>
              </a:spcAft>
              <a:buSzPts val="1700"/>
              <a:buChar char="•"/>
            </a:pPr>
            <a:r>
              <a:rPr lang="en-US"/>
              <a:t>Cyclic redundancy checks</a:t>
            </a:r>
            <a:endParaRPr/>
          </a:p>
          <a:p>
            <a:pPr indent="-182880" lvl="0" marL="182880" rtl="0" algn="l">
              <a:spcBef>
                <a:spcPts val="480"/>
              </a:spcBef>
              <a:spcAft>
                <a:spcPts val="0"/>
              </a:spcAft>
              <a:buSzPts val="2040"/>
              <a:buChar char="•"/>
            </a:pPr>
            <a:r>
              <a:rPr lang="en-US"/>
              <a:t>Cryptographic error detecting codes:</a:t>
            </a:r>
            <a:endParaRPr/>
          </a:p>
          <a:p>
            <a:pPr indent="-182880" lvl="1" marL="457200" rtl="0" algn="l">
              <a:spcBef>
                <a:spcPts val="400"/>
              </a:spcBef>
              <a:spcAft>
                <a:spcPts val="0"/>
              </a:spcAft>
              <a:buSzPts val="1700"/>
              <a:buChar char="•"/>
            </a:pPr>
            <a:r>
              <a:rPr lang="en-US"/>
              <a:t>One-way hash functions</a:t>
            </a:r>
            <a:endParaRPr/>
          </a:p>
          <a:p>
            <a:pPr indent="-182880" lvl="1" marL="457200" rtl="0" algn="l">
              <a:spcBef>
                <a:spcPts val="400"/>
              </a:spcBef>
              <a:spcAft>
                <a:spcPts val="0"/>
              </a:spcAft>
              <a:buSzPts val="1700"/>
              <a:buChar char="•"/>
            </a:pPr>
            <a:r>
              <a:rPr lang="en-US"/>
              <a:t>Cryptographic checksums</a:t>
            </a:r>
            <a:endParaRPr/>
          </a:p>
          <a:p>
            <a:pPr indent="-182880" lvl="1" marL="457200" rtl="0" algn="l">
              <a:spcBef>
                <a:spcPts val="400"/>
              </a:spcBef>
              <a:spcAft>
                <a:spcPts val="0"/>
              </a:spcAft>
              <a:buSzPts val="1700"/>
              <a:buChar char="•"/>
            </a:pPr>
            <a:r>
              <a:rPr lang="en-US"/>
              <a:t>Digital signatures</a:t>
            </a:r>
            <a:endParaRPr/>
          </a:p>
        </p:txBody>
      </p:sp>
      <p:sp>
        <p:nvSpPr>
          <p:cNvPr id="383" name="Google Shape;383;p4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84" name="Google Shape;384;p46"/>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Parity Check</a:t>
            </a:r>
            <a:endParaRPr/>
          </a:p>
        </p:txBody>
      </p:sp>
      <p:grpSp>
        <p:nvGrpSpPr>
          <p:cNvPr id="390" name="Google Shape;390;p47"/>
          <p:cNvGrpSpPr/>
          <p:nvPr/>
        </p:nvGrpSpPr>
        <p:grpSpPr>
          <a:xfrm>
            <a:off x="737929" y="2194168"/>
            <a:ext cx="8339220" cy="4057269"/>
            <a:chOff x="737929" y="2194168"/>
            <a:chExt cx="8339220" cy="4057269"/>
          </a:xfrm>
        </p:grpSpPr>
        <p:pic>
          <p:nvPicPr>
            <p:cNvPr id="391" name="Google Shape;391;p47"/>
            <p:cNvPicPr preferRelativeResize="0"/>
            <p:nvPr/>
          </p:nvPicPr>
          <p:blipFill rotWithShape="1">
            <a:blip r:embed="rId3">
              <a:alphaModFix/>
            </a:blip>
            <a:srcRect b="0" l="0" r="0" t="0"/>
            <a:stretch/>
          </p:blipFill>
          <p:spPr>
            <a:xfrm>
              <a:off x="737929" y="2194168"/>
              <a:ext cx="8339220" cy="3407220"/>
            </a:xfrm>
            <a:prstGeom prst="rect">
              <a:avLst/>
            </a:prstGeom>
            <a:noFill/>
            <a:ln>
              <a:noFill/>
            </a:ln>
          </p:spPr>
        </p:pic>
        <p:sp>
          <p:nvSpPr>
            <p:cNvPr id="392" name="Google Shape;392;p47"/>
            <p:cNvSpPr txBox="1"/>
            <p:nvPr/>
          </p:nvSpPr>
          <p:spPr>
            <a:xfrm>
              <a:off x="2138947" y="5882105"/>
              <a:ext cx="1846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292934"/>
                </a:solidFill>
                <a:latin typeface="Arial"/>
                <a:ea typeface="Arial"/>
                <a:cs typeface="Arial"/>
                <a:sym typeface="Arial"/>
              </a:endParaRPr>
            </a:p>
          </p:txBody>
        </p:sp>
      </p:grpSp>
      <p:sp>
        <p:nvSpPr>
          <p:cNvPr id="393" name="Google Shape;393;p4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94" name="Google Shape;394;p47"/>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One-Way Hash Function</a:t>
            </a:r>
            <a:endParaRPr/>
          </a:p>
        </p:txBody>
      </p:sp>
      <p:sp>
        <p:nvSpPr>
          <p:cNvPr id="400" name="Google Shape;400;p4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grpSp>
        <p:nvGrpSpPr>
          <p:cNvPr id="401" name="Google Shape;401;p48"/>
          <p:cNvGrpSpPr/>
          <p:nvPr/>
        </p:nvGrpSpPr>
        <p:grpSpPr>
          <a:xfrm>
            <a:off x="2907563" y="1599590"/>
            <a:ext cx="3309214" cy="4754880"/>
            <a:chOff x="2814505" y="1599590"/>
            <a:chExt cx="3309214" cy="5050906"/>
          </a:xfrm>
        </p:grpSpPr>
        <p:pic>
          <p:nvPicPr>
            <p:cNvPr descr="fig02-33.eps" id="402" name="Google Shape;402;p48"/>
            <p:cNvPicPr preferRelativeResize="0"/>
            <p:nvPr/>
          </p:nvPicPr>
          <p:blipFill rotWithShape="1">
            <a:blip r:embed="rId3">
              <a:alphaModFix/>
            </a:blip>
            <a:srcRect b="0" l="0" r="0" t="0"/>
            <a:stretch/>
          </p:blipFill>
          <p:spPr>
            <a:xfrm>
              <a:off x="2814505" y="1599590"/>
              <a:ext cx="3309214" cy="5050906"/>
            </a:xfrm>
            <a:prstGeom prst="rect">
              <a:avLst/>
            </a:prstGeom>
            <a:noFill/>
            <a:ln>
              <a:noFill/>
            </a:ln>
          </p:spPr>
        </p:pic>
        <p:sp>
          <p:nvSpPr>
            <p:cNvPr id="403" name="Google Shape;403;p48"/>
            <p:cNvSpPr/>
            <p:nvPr/>
          </p:nvSpPr>
          <p:spPr>
            <a:xfrm>
              <a:off x="5125781" y="2600333"/>
              <a:ext cx="997938" cy="695438"/>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404" name="Google Shape;404;p48"/>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Digital Signature</a:t>
            </a:r>
            <a:endParaRPr/>
          </a:p>
        </p:txBody>
      </p:sp>
      <p:sp>
        <p:nvSpPr>
          <p:cNvPr id="410" name="Google Shape;410;p4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26.eps" id="411" name="Google Shape;411;p49"/>
          <p:cNvPicPr preferRelativeResize="0"/>
          <p:nvPr/>
        </p:nvPicPr>
        <p:blipFill rotWithShape="1">
          <a:blip r:embed="rId3">
            <a:alphaModFix/>
          </a:blip>
          <a:srcRect b="0" l="0" r="0" t="0"/>
          <a:stretch/>
        </p:blipFill>
        <p:spPr>
          <a:xfrm>
            <a:off x="457199" y="2184431"/>
            <a:ext cx="8324281" cy="2396384"/>
          </a:xfrm>
          <a:prstGeom prst="rect">
            <a:avLst/>
          </a:prstGeom>
          <a:noFill/>
          <a:ln>
            <a:noFill/>
          </a:ln>
        </p:spPr>
      </p:pic>
      <p:sp>
        <p:nvSpPr>
          <p:cNvPr id="412" name="Google Shape;412;p49"/>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Arial"/>
              <a:buNone/>
            </a:pPr>
            <a:r>
              <a:rPr lang="en-US"/>
              <a:t>Certificates: Trustable Identities and Public Keys</a:t>
            </a:r>
            <a:endParaRPr/>
          </a:p>
        </p:txBody>
      </p:sp>
      <p:sp>
        <p:nvSpPr>
          <p:cNvPr id="418" name="Google Shape;418;p50"/>
          <p:cNvSpPr txBox="1"/>
          <p:nvPr>
            <p:ph idx="1" type="body"/>
          </p:nvPr>
        </p:nvSpPr>
        <p:spPr>
          <a:xfrm>
            <a:off x="457200" y="1766498"/>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720"/>
              <a:buChar char="•"/>
            </a:pPr>
            <a:r>
              <a:rPr lang="en-US" sz="3200"/>
              <a:t>A certificate is a public key and an identity bound together and signed by a certificate authority.</a:t>
            </a:r>
            <a:endParaRPr/>
          </a:p>
          <a:p>
            <a:pPr indent="-182880" lvl="0" marL="182880" rtl="0" algn="l">
              <a:spcBef>
                <a:spcPts val="640"/>
              </a:spcBef>
              <a:spcAft>
                <a:spcPts val="0"/>
              </a:spcAft>
              <a:buSzPts val="2720"/>
              <a:buChar char="•"/>
            </a:pPr>
            <a:r>
              <a:rPr lang="en-US" sz="3200"/>
              <a:t>A certificate authority is an authority that users trust to accurately verify identities before generating certificates that bind those identities to keys.</a:t>
            </a:r>
            <a:endParaRPr sz="3200"/>
          </a:p>
        </p:txBody>
      </p:sp>
      <p:sp>
        <p:nvSpPr>
          <p:cNvPr id="419" name="Google Shape;419;p5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20" name="Google Shape;420;p50"/>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Certificate Signing and Hierarchy</a:t>
            </a:r>
            <a:endParaRPr/>
          </a:p>
        </p:txBody>
      </p:sp>
      <p:sp>
        <p:nvSpPr>
          <p:cNvPr id="427" name="Google Shape;427;p5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descr="fig02-31.eps" id="428" name="Google Shape;428;p51"/>
          <p:cNvPicPr preferRelativeResize="0"/>
          <p:nvPr/>
        </p:nvPicPr>
        <p:blipFill rotWithShape="1">
          <a:blip r:embed="rId3">
            <a:alphaModFix/>
          </a:blip>
          <a:srcRect b="0" l="0" r="0" t="0"/>
          <a:stretch/>
        </p:blipFill>
        <p:spPr>
          <a:xfrm>
            <a:off x="1288123" y="1523999"/>
            <a:ext cx="6549389" cy="4937760"/>
          </a:xfrm>
          <a:prstGeom prst="rect">
            <a:avLst/>
          </a:prstGeom>
          <a:noFill/>
          <a:ln>
            <a:noFill/>
          </a:ln>
        </p:spPr>
      </p:pic>
      <p:sp>
        <p:nvSpPr>
          <p:cNvPr id="429" name="Google Shape;429;p51"/>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Cryptographic Tool Summary</a:t>
            </a:r>
            <a:endParaRPr/>
          </a:p>
        </p:txBody>
      </p:sp>
      <p:pic>
        <p:nvPicPr>
          <p:cNvPr id="435" name="Google Shape;435;p52"/>
          <p:cNvPicPr preferRelativeResize="0"/>
          <p:nvPr/>
        </p:nvPicPr>
        <p:blipFill rotWithShape="1">
          <a:blip r:embed="rId3">
            <a:alphaModFix/>
          </a:blip>
          <a:srcRect b="0" l="0" r="0" t="0"/>
          <a:stretch/>
        </p:blipFill>
        <p:spPr>
          <a:xfrm>
            <a:off x="417096" y="1657680"/>
            <a:ext cx="8379326" cy="4861144"/>
          </a:xfrm>
          <a:prstGeom prst="rect">
            <a:avLst/>
          </a:prstGeom>
          <a:noFill/>
          <a:ln>
            <a:noFill/>
          </a:ln>
        </p:spPr>
      </p:pic>
      <p:sp>
        <p:nvSpPr>
          <p:cNvPr id="436" name="Google Shape;436;p5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37" name="Google Shape;437;p52"/>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Summary</a:t>
            </a:r>
            <a:endParaRPr/>
          </a:p>
        </p:txBody>
      </p:sp>
      <p:sp>
        <p:nvSpPr>
          <p:cNvPr id="444" name="Google Shape;444;p5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Users can authenticate using something they know, something they are, or something they have</a:t>
            </a:r>
            <a:endParaRPr/>
          </a:p>
          <a:p>
            <a:pPr indent="-182880" lvl="0" marL="182880" rtl="0" algn="l">
              <a:spcBef>
                <a:spcPts val="480"/>
              </a:spcBef>
              <a:spcAft>
                <a:spcPts val="0"/>
              </a:spcAft>
              <a:buSzPts val="2040"/>
              <a:buChar char="•"/>
            </a:pPr>
            <a:r>
              <a:rPr lang="en-US"/>
              <a:t>Systems may use a variety of mechanisms to implement access control</a:t>
            </a:r>
            <a:endParaRPr/>
          </a:p>
          <a:p>
            <a:pPr indent="-182880" lvl="0" marL="182880" rtl="0" algn="l">
              <a:spcBef>
                <a:spcPts val="480"/>
              </a:spcBef>
              <a:spcAft>
                <a:spcPts val="0"/>
              </a:spcAft>
              <a:buSzPts val="2040"/>
              <a:buChar char="•"/>
            </a:pPr>
            <a:r>
              <a:rPr lang="en-US"/>
              <a:t>Encryption helps prevent attackers from revealing, modifying, or fabricating messages</a:t>
            </a:r>
            <a:endParaRPr/>
          </a:p>
          <a:p>
            <a:pPr indent="-182880" lvl="0" marL="182880" rtl="0" algn="l">
              <a:spcBef>
                <a:spcPts val="480"/>
              </a:spcBef>
              <a:spcAft>
                <a:spcPts val="0"/>
              </a:spcAft>
              <a:buSzPts val="2040"/>
              <a:buChar char="•"/>
            </a:pPr>
            <a:r>
              <a:rPr lang="en-US"/>
              <a:t>Symmetric and asymmetric encryption have complementary strengths and weaknesses</a:t>
            </a:r>
            <a:endParaRPr/>
          </a:p>
          <a:p>
            <a:pPr indent="-182880" lvl="0" marL="182880" rtl="0" algn="l">
              <a:spcBef>
                <a:spcPts val="480"/>
              </a:spcBef>
              <a:spcAft>
                <a:spcPts val="0"/>
              </a:spcAft>
              <a:buSzPts val="2040"/>
              <a:buChar char="•"/>
            </a:pPr>
            <a:r>
              <a:rPr lang="en-US"/>
              <a:t>Certificates bind identities to digital signatures</a:t>
            </a:r>
            <a:endParaRPr/>
          </a:p>
        </p:txBody>
      </p:sp>
      <p:sp>
        <p:nvSpPr>
          <p:cNvPr id="445" name="Google Shape;445;p5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46" name="Google Shape;446;p53"/>
          <p:cNvSpPr txBox="1"/>
          <p:nvPr>
            <p:ph idx="11" type="ftr"/>
          </p:nvPr>
        </p:nvSpPr>
        <p:spPr>
          <a:xfrm>
            <a:off x="0" y="6531731"/>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From </a:t>
            </a:r>
            <a:r>
              <a:rPr i="1" lang="en-US"/>
              <a:t>Security in Computing, Fifth Edition</a:t>
            </a:r>
            <a:r>
              <a:rPr lang="en-US"/>
              <a:t>, by Charles P. Pfleeger, et al. (ISBN: 9780134085043). Copyright 2015 by Pearson Education, Inc. All rights reserved.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