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 name="Google Shape;6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While hardware and software may be expensive, unique data cannot be replaced if it is lost.</a:t>
            </a:r>
            <a:endParaRPr/>
          </a:p>
        </p:txBody>
      </p:sp>
      <p:sp>
        <p:nvSpPr>
          <p:cNvPr id="86" name="Google Shape;86;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There will be further discussion of each later in the chapter.</a:t>
            </a:r>
            <a:endParaRPr/>
          </a:p>
        </p:txBody>
      </p:sp>
      <p:sp>
        <p:nvSpPr>
          <p:cNvPr id="95" name="Google Shape;95;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water is the threat, the crack the vulnerability, and the finger the control (for now).</a:t>
            </a:r>
            <a:endParaRPr/>
          </a:p>
        </p:txBody>
      </p:sp>
      <p:sp>
        <p:nvSpPr>
          <p:cNvPr id="110" name="Google Shape;110;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Visual explanation of basic access control terms</a:t>
            </a:r>
            <a:endParaRPr/>
          </a:p>
        </p:txBody>
      </p:sp>
      <p:sp>
        <p:nvSpPr>
          <p:cNvPr id="129" name="Google Shape;129;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diagram shows threats categorized according to whether they are human-caused, malicious, or directed. These characteristics will affect security planning in important ways later.</a:t>
            </a:r>
            <a:endParaRPr/>
          </a:p>
        </p:txBody>
      </p:sp>
      <p:sp>
        <p:nvSpPr>
          <p:cNvPr id="138" name="Google Shape;138;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APT is a special type of threat that has only been taken seriously by the broad security community over the past decade. In general, security experts believe that no one who becomes a high-priority target can truly be safe from APT.</a:t>
            </a:r>
            <a:endParaRPr/>
          </a:p>
        </p:txBody>
      </p:sp>
      <p:sp>
        <p:nvSpPr>
          <p:cNvPr id="147" name="Google Shape;147;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of these attacker types is associated with a different set of resources, capabilities, and motivations. Understanding the different types will help later in considering threats.</a:t>
            </a:r>
            <a:endParaRPr/>
          </a:p>
        </p:txBody>
      </p:sp>
      <p:sp>
        <p:nvSpPr>
          <p:cNvPr id="156" name="Google Shape;156;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primary types of harm against system data and functions. Understanding these possibilities is important to considering threat and risk.</a:t>
            </a:r>
            <a:endParaRPr/>
          </a:p>
        </p:txBody>
      </p:sp>
      <p:sp>
        <p:nvSpPr>
          <p:cNvPr id="165" name="Google Shape;165;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Understanding method, motive, and opportunity can be a good way to think about potential threats. Reducing any of those dimensions can lower the risk to the system.</a:t>
            </a:r>
            <a:endParaRPr/>
          </a:p>
        </p:txBody>
      </p:sp>
      <p:sp>
        <p:nvSpPr>
          <p:cNvPr id="180" name="Google Shape;180;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representation shows the three dimensions by which a control can be categorized. Thinking about controls in this way enables you to easily map the controls against the threats they help address.</a:t>
            </a:r>
            <a:endParaRPr/>
          </a:p>
        </p:txBody>
      </p:sp>
      <p:sp>
        <p:nvSpPr>
          <p:cNvPr id="195" name="Google Shape;195;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a:ea typeface="Times"/>
              <a:cs typeface="Times"/>
              <a:sym typeface="Times"/>
            </a:endParaRPr>
          </a:p>
        </p:txBody>
      </p:sp>
      <p:sp>
        <p:nvSpPr>
          <p:cNvPr id="210" name="Google Shape;210;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a:ea typeface="Times"/>
                <a:cs typeface="Times"/>
                <a:sym typeface="Times"/>
              </a:rPr>
              <a:t>‹#›</a:t>
            </a:fld>
            <a:endParaRPr sz="1200">
              <a:solidFill>
                <a:schemeClr val="dk1"/>
              </a:solidFill>
              <a:latin typeface="Times"/>
              <a:ea typeface="Times"/>
              <a:cs typeface="Times"/>
              <a:sym typeface="Time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a:ea typeface="Times"/>
                <a:cs typeface="Times"/>
                <a:sym typeface="Times"/>
              </a:rPr>
              <a:t>‹#›</a:t>
            </a:fld>
            <a:endParaRPr sz="1200">
              <a:solidFill>
                <a:schemeClr val="dk1"/>
              </a:solidFill>
              <a:latin typeface="Times"/>
              <a:ea typeface="Times"/>
              <a:cs typeface="Times"/>
              <a:sym typeface="Times"/>
            </a:endParaRPr>
          </a:p>
        </p:txBody>
      </p:sp>
      <p:sp>
        <p:nvSpPr>
          <p:cNvPr id="219" name="Google Shape;21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 name="Google Shape;220;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a:ea typeface="Times"/>
              <a:cs typeface="Times"/>
              <a:sym typeface="Time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a:ea typeface="Times"/>
                <a:cs typeface="Times"/>
                <a:sym typeface="Times"/>
              </a:rPr>
              <a:t>‹#›</a:t>
            </a:fld>
            <a:endParaRPr sz="1200">
              <a:solidFill>
                <a:schemeClr val="dk1"/>
              </a:solidFill>
              <a:latin typeface="Times"/>
              <a:ea typeface="Times"/>
              <a:cs typeface="Times"/>
              <a:sym typeface="Times"/>
            </a:endParaRPr>
          </a:p>
        </p:txBody>
      </p:sp>
      <p:sp>
        <p:nvSpPr>
          <p:cNvPr id="227" name="Google Shape;22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a:ea typeface="Times"/>
              <a:cs typeface="Times"/>
              <a:sym typeface="Time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this simple representation of a networked system, it is easy to see all the touch points where controls can be placed, as well as some different types of controls, including deterrence, deflection, response, prevention, and preemption.</a:t>
            </a:r>
            <a:endParaRPr/>
          </a:p>
        </p:txBody>
      </p:sp>
      <p:sp>
        <p:nvSpPr>
          <p:cNvPr id="236" name="Google Shape;236;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sp>
        <p:nvSpPr>
          <p:cNvPr id="55" name="Google Shape;55;p13"/>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6" name="Google Shape;56;p13"/>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1200"/>
              </a:spcBef>
              <a:spcAft>
                <a:spcPts val="0"/>
              </a:spcAft>
              <a:buSzPts val="1530"/>
              <a:buChar char="○"/>
              <a:defRPr/>
            </a:lvl2pPr>
            <a:lvl3pPr indent="-331469" lvl="2" marL="1371600" algn="l">
              <a:spcBef>
                <a:spcPts val="1200"/>
              </a:spcBef>
              <a:spcAft>
                <a:spcPts val="0"/>
              </a:spcAft>
              <a:buSzPts val="1620"/>
              <a:buChar char="■"/>
              <a:defRPr/>
            </a:lvl3pPr>
            <a:lvl4pPr indent="-342900" lvl="3" marL="1828800" algn="l">
              <a:spcBef>
                <a:spcPts val="1200"/>
              </a:spcBef>
              <a:spcAft>
                <a:spcPts val="0"/>
              </a:spcAft>
              <a:buSzPts val="1800"/>
              <a:buChar char="●"/>
              <a:defRPr/>
            </a:lvl4pPr>
            <a:lvl5pPr indent="-342900" lvl="4" marL="2286000" algn="l">
              <a:spcBef>
                <a:spcPts val="1200"/>
              </a:spcBef>
              <a:spcAft>
                <a:spcPts val="0"/>
              </a:spcAft>
              <a:buSzPts val="1800"/>
              <a:buChar char="○"/>
              <a:defRPr/>
            </a:lvl5pPr>
            <a:lvl6pPr indent="-342900" lvl="5" marL="2743200" algn="l">
              <a:spcBef>
                <a:spcPts val="1200"/>
              </a:spcBef>
              <a:spcAft>
                <a:spcPts val="0"/>
              </a:spcAft>
              <a:buSzPts val="1800"/>
              <a:buChar char="■"/>
              <a:defRPr/>
            </a:lvl6pPr>
            <a:lvl7pPr indent="-342900" lvl="6" marL="3200400" algn="l">
              <a:spcBef>
                <a:spcPts val="1200"/>
              </a:spcBef>
              <a:spcAft>
                <a:spcPts val="0"/>
              </a:spcAft>
              <a:buSzPts val="1800"/>
              <a:buChar char="●"/>
              <a:defRPr/>
            </a:lvl7pPr>
            <a:lvl8pPr indent="-342900" lvl="7" marL="3657600" algn="l">
              <a:spcBef>
                <a:spcPts val="1200"/>
              </a:spcBef>
              <a:spcAft>
                <a:spcPts val="0"/>
              </a:spcAft>
              <a:buSzPts val="1800"/>
              <a:buChar char="○"/>
              <a:defRPr/>
            </a:lvl8pPr>
            <a:lvl9pPr indent="-342900" lvl="8" marL="4114800" algn="l">
              <a:spcBef>
                <a:spcPts val="1200"/>
              </a:spcBef>
              <a:spcAft>
                <a:spcPts val="1200"/>
              </a:spcAft>
              <a:buSzPts val="1800"/>
              <a:buChar char="■"/>
              <a:defRPr/>
            </a:lvl9pPr>
          </a:lstStyle>
          <a:p/>
        </p:txBody>
      </p:sp>
      <p:sp>
        <p:nvSpPr>
          <p:cNvPr id="57" name="Google Shape;57;p13"/>
          <p:cNvSpPr txBox="1"/>
          <p:nvPr>
            <p:ph idx="10" type="dt"/>
          </p:nvPr>
        </p:nvSpPr>
        <p:spPr>
          <a:xfrm>
            <a:off x="457200" y="18288"/>
            <a:ext cx="2895600" cy="32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3"/>
          <p:cNvSpPr txBox="1"/>
          <p:nvPr>
            <p:ph idx="12" type="sldNum"/>
          </p:nvPr>
        </p:nvSpPr>
        <p:spPr>
          <a:xfrm>
            <a:off x="7620000" y="18288"/>
            <a:ext cx="1066800" cy="329100"/>
          </a:xfrm>
          <a:prstGeom prst="rect">
            <a:avLst/>
          </a:prstGeom>
          <a:noFill/>
          <a:ln>
            <a:noFill/>
          </a:ln>
        </p:spPr>
        <p:txBody>
          <a:bodyPr anchorCtr="0" anchor="ctr" bIns="45700" lIns="91425" spcFirstLastPara="1" rIns="91425" wrap="square" tIns="45700">
            <a:norm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 name="Google Shape;11;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2" name="Google Shape;12;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Objectives</a:t>
            </a:r>
            <a:endParaRPr/>
          </a:p>
        </p:txBody>
      </p:sp>
      <p:sp>
        <p:nvSpPr>
          <p:cNvPr id="64" name="Google Shape;64;p14"/>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Define </a:t>
            </a:r>
            <a:r>
              <a:rPr i="1" lang="en-US"/>
              <a:t>computer security</a:t>
            </a:r>
            <a:r>
              <a:rPr lang="en-US"/>
              <a:t> as well as basic computer security terms</a:t>
            </a:r>
            <a:endParaRPr/>
          </a:p>
          <a:p>
            <a:pPr indent="-182880" lvl="0" marL="182880" rtl="0" algn="l">
              <a:spcBef>
                <a:spcPts val="480"/>
              </a:spcBef>
              <a:spcAft>
                <a:spcPts val="0"/>
              </a:spcAft>
              <a:buSzPts val="2040"/>
              <a:buChar char="●"/>
            </a:pPr>
            <a:r>
              <a:rPr lang="en-US"/>
              <a:t>Introduce the C-I-A Triad</a:t>
            </a:r>
            <a:endParaRPr/>
          </a:p>
          <a:p>
            <a:pPr indent="-182880" lvl="0" marL="182880" rtl="0" algn="l">
              <a:spcBef>
                <a:spcPts val="480"/>
              </a:spcBef>
              <a:spcAft>
                <a:spcPts val="0"/>
              </a:spcAft>
              <a:buSzPts val="2040"/>
              <a:buChar char="●"/>
            </a:pPr>
            <a:r>
              <a:rPr lang="en-US"/>
              <a:t>Introduce basic access control terminology</a:t>
            </a:r>
            <a:endParaRPr/>
          </a:p>
          <a:p>
            <a:pPr indent="-182880" lvl="0" marL="182880" rtl="0" algn="l">
              <a:spcBef>
                <a:spcPts val="480"/>
              </a:spcBef>
              <a:spcAft>
                <a:spcPts val="0"/>
              </a:spcAft>
              <a:buSzPts val="2040"/>
              <a:buChar char="●"/>
            </a:pPr>
            <a:r>
              <a:rPr lang="en-US"/>
              <a:t>Explain basic </a:t>
            </a:r>
            <a:r>
              <a:rPr lang="en-US" u="sng"/>
              <a:t>threats</a:t>
            </a:r>
            <a:r>
              <a:rPr lang="en-US"/>
              <a:t>, </a:t>
            </a:r>
            <a:r>
              <a:rPr lang="en-US" u="sng"/>
              <a:t>vulnerabilities</a:t>
            </a:r>
            <a:r>
              <a:rPr lang="en-US"/>
              <a:t>, and </a:t>
            </a:r>
            <a:r>
              <a:rPr lang="en-US" u="sng"/>
              <a:t>attacks</a:t>
            </a:r>
            <a:endParaRPr/>
          </a:p>
          <a:p>
            <a:pPr indent="-182880" lvl="0" marL="182880" rtl="0" algn="l">
              <a:spcBef>
                <a:spcPts val="480"/>
              </a:spcBef>
              <a:spcAft>
                <a:spcPts val="1200"/>
              </a:spcAft>
              <a:buSzPts val="2040"/>
              <a:buChar char="●"/>
            </a:pPr>
            <a:r>
              <a:rPr lang="en-US"/>
              <a:t>Show how controls map to threats</a:t>
            </a:r>
            <a:endParaRPr/>
          </a:p>
        </p:txBody>
      </p:sp>
      <p:sp>
        <p:nvSpPr>
          <p:cNvPr id="65" name="Google Shape;65;p14"/>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66" name="Google Shape;66;p14"/>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593367"/>
            <a:ext cx="8520600" cy="7635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chemeClr val="dk2"/>
              </a:buClr>
              <a:buSzPts val="4000"/>
              <a:buFont typeface="Arial"/>
              <a:buNone/>
            </a:pPr>
            <a:r>
              <a:rPr lang="en-US"/>
              <a:t>What Is Computer Security?</a:t>
            </a:r>
            <a:endParaRPr/>
          </a:p>
        </p:txBody>
      </p:sp>
      <p:sp>
        <p:nvSpPr>
          <p:cNvPr id="72" name="Google Shape;72;p15"/>
          <p:cNvSpPr txBox="1"/>
          <p:nvPr>
            <p:ph idx="1" type="body"/>
          </p:nvPr>
        </p:nvSpPr>
        <p:spPr>
          <a:xfrm>
            <a:off x="311700" y="1536633"/>
            <a:ext cx="8520600" cy="45552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720"/>
              <a:buChar char="●"/>
            </a:pPr>
            <a:r>
              <a:rPr lang="en-US" sz="3200"/>
              <a:t>The protection of the assets of a computer system</a:t>
            </a:r>
            <a:endParaRPr/>
          </a:p>
          <a:p>
            <a:pPr indent="-182880" lvl="1" marL="457200" rtl="0" algn="l">
              <a:spcBef>
                <a:spcPts val="560"/>
              </a:spcBef>
              <a:spcAft>
                <a:spcPts val="0"/>
              </a:spcAft>
              <a:buSzPts val="2380"/>
              <a:buChar char="○"/>
            </a:pPr>
            <a:r>
              <a:rPr lang="en-US" sz="2800"/>
              <a:t>Hardware</a:t>
            </a:r>
            <a:endParaRPr/>
          </a:p>
          <a:p>
            <a:pPr indent="-182880" lvl="1" marL="457200" rtl="0" algn="l">
              <a:spcBef>
                <a:spcPts val="560"/>
              </a:spcBef>
              <a:spcAft>
                <a:spcPts val="0"/>
              </a:spcAft>
              <a:buSzPts val="2380"/>
              <a:buChar char="○"/>
            </a:pPr>
            <a:r>
              <a:rPr lang="en-US" sz="2800"/>
              <a:t>Software</a:t>
            </a:r>
            <a:endParaRPr/>
          </a:p>
          <a:p>
            <a:pPr indent="-182880" lvl="1" marL="457200" rtl="0" algn="l">
              <a:spcBef>
                <a:spcPts val="560"/>
              </a:spcBef>
              <a:spcAft>
                <a:spcPts val="1200"/>
              </a:spcAft>
              <a:buSzPts val="2380"/>
              <a:buChar char="○"/>
            </a:pPr>
            <a:r>
              <a:rPr lang="en-US" sz="2800"/>
              <a:t>Data</a:t>
            </a:r>
            <a:endParaRPr sz="2800"/>
          </a:p>
        </p:txBody>
      </p:sp>
      <p:sp>
        <p:nvSpPr>
          <p:cNvPr id="73" name="Google Shape;73;p15"/>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74" name="Google Shape;74;p15"/>
          <p:cNvSpPr txBox="1"/>
          <p:nvPr>
            <p:ph idx="12" type="sldNum"/>
          </p:nvPr>
        </p:nvSpPr>
        <p:spPr>
          <a:xfrm>
            <a:off x="8472458" y="6217622"/>
            <a:ext cx="548700" cy="524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Assets</a:t>
            </a:r>
            <a:endParaRPr/>
          </a:p>
        </p:txBody>
      </p:sp>
      <p:pic>
        <p:nvPicPr>
          <p:cNvPr descr="fig01-02.eps" id="80" name="Google Shape;80;p16"/>
          <p:cNvPicPr preferRelativeResize="0"/>
          <p:nvPr/>
        </p:nvPicPr>
        <p:blipFill rotWithShape="1">
          <a:blip r:embed="rId3">
            <a:alphaModFix/>
          </a:blip>
          <a:srcRect b="0" l="0" r="0" t="0"/>
          <a:stretch/>
        </p:blipFill>
        <p:spPr>
          <a:xfrm>
            <a:off x="1122479" y="1286499"/>
            <a:ext cx="6830784" cy="5048840"/>
          </a:xfrm>
          <a:prstGeom prst="rect">
            <a:avLst/>
          </a:prstGeom>
          <a:noFill/>
          <a:ln>
            <a:noFill/>
          </a:ln>
        </p:spPr>
      </p:pic>
      <p:sp>
        <p:nvSpPr>
          <p:cNvPr id="81" name="Google Shape;81;p16"/>
          <p:cNvSpPr txBox="1"/>
          <p:nvPr>
            <p:ph idx="10" type="dt"/>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82" name="Google Shape;82;p16"/>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nvSpPr>
        <p:spPr>
          <a:xfrm>
            <a:off x="457200" y="533400"/>
            <a:ext cx="82296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2533C"/>
              </a:buClr>
              <a:buSzPts val="4000"/>
              <a:buFont typeface="Arial"/>
              <a:buNone/>
            </a:pPr>
            <a:r>
              <a:rPr b="0" i="0" lang="en-US" sz="4000" u="none" cap="none" strike="noStrike">
                <a:solidFill>
                  <a:srgbClr val="D2533C"/>
                </a:solidFill>
                <a:latin typeface="Arial"/>
                <a:ea typeface="Arial"/>
                <a:cs typeface="Arial"/>
                <a:sym typeface="Arial"/>
              </a:rPr>
              <a:t>Values of Assets</a:t>
            </a:r>
            <a:endParaRPr b="0" i="0" sz="4000" u="none" cap="none" strike="noStrike">
              <a:solidFill>
                <a:srgbClr val="D2533C"/>
              </a:solidFill>
              <a:latin typeface="Arial"/>
              <a:ea typeface="Arial"/>
              <a:cs typeface="Arial"/>
              <a:sym typeface="Arial"/>
            </a:endParaRPr>
          </a:p>
        </p:txBody>
      </p:sp>
      <p:pic>
        <p:nvPicPr>
          <p:cNvPr descr="fig01-03.eps" id="89" name="Google Shape;89;p17"/>
          <p:cNvPicPr preferRelativeResize="0"/>
          <p:nvPr/>
        </p:nvPicPr>
        <p:blipFill rotWithShape="1">
          <a:blip r:embed="rId3">
            <a:alphaModFix/>
          </a:blip>
          <a:srcRect b="0" l="0" r="0" t="0"/>
          <a:stretch/>
        </p:blipFill>
        <p:spPr>
          <a:xfrm>
            <a:off x="1349279" y="1227125"/>
            <a:ext cx="6120129" cy="5115680"/>
          </a:xfrm>
          <a:prstGeom prst="rect">
            <a:avLst/>
          </a:prstGeom>
          <a:noFill/>
          <a:ln>
            <a:noFill/>
          </a:ln>
        </p:spPr>
      </p:pic>
      <p:sp>
        <p:nvSpPr>
          <p:cNvPr id="90" name="Google Shape;90;p17"/>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Security in </a:t>
            </a:r>
            <a:r>
              <a:rPr i="1" lang="en-US">
                <a:latin typeface="Arial"/>
                <a:ea typeface="Arial"/>
                <a:cs typeface="Arial"/>
                <a:sym typeface="Arial"/>
              </a:rPr>
              <a:t>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91" name="Google Shape;91;p17"/>
          <p:cNvSpPr txBox="1"/>
          <p:nvPr>
            <p:ph idx="12" type="sldNum"/>
          </p:nvPr>
        </p:nvSpPr>
        <p:spPr>
          <a:xfrm>
            <a:off x="8472458" y="6217622"/>
            <a:ext cx="548700" cy="524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Basic Terms</a:t>
            </a:r>
            <a:endParaRPr/>
          </a:p>
        </p:txBody>
      </p:sp>
      <p:sp>
        <p:nvSpPr>
          <p:cNvPr id="98" name="Google Shape;98;p18"/>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94310" lvl="0" marL="182880" rtl="0" algn="l">
              <a:spcBef>
                <a:spcPts val="0"/>
              </a:spcBef>
              <a:spcAft>
                <a:spcPts val="0"/>
              </a:spcAft>
              <a:buSzPts val="3060"/>
              <a:buChar char="●"/>
            </a:pPr>
            <a:r>
              <a:rPr lang="en-US" sz="3600"/>
              <a:t>Vulnerability</a:t>
            </a:r>
            <a:endParaRPr/>
          </a:p>
          <a:p>
            <a:pPr indent="-194310" lvl="0" marL="182880" rtl="0" algn="l">
              <a:spcBef>
                <a:spcPts val="720"/>
              </a:spcBef>
              <a:spcAft>
                <a:spcPts val="0"/>
              </a:spcAft>
              <a:buSzPts val="3060"/>
              <a:buChar char="●"/>
            </a:pPr>
            <a:r>
              <a:rPr lang="en-US" sz="3600"/>
              <a:t>Threat</a:t>
            </a:r>
            <a:endParaRPr/>
          </a:p>
          <a:p>
            <a:pPr indent="-194310" lvl="0" marL="182880" rtl="0" algn="l">
              <a:spcBef>
                <a:spcPts val="720"/>
              </a:spcBef>
              <a:spcAft>
                <a:spcPts val="0"/>
              </a:spcAft>
              <a:buSzPts val="3060"/>
              <a:buChar char="●"/>
            </a:pPr>
            <a:r>
              <a:rPr lang="en-US" sz="3600"/>
              <a:t>Attack</a:t>
            </a:r>
            <a:endParaRPr/>
          </a:p>
          <a:p>
            <a:pPr indent="-194310" lvl="0" marL="182880" rtl="0" algn="l">
              <a:spcBef>
                <a:spcPts val="720"/>
              </a:spcBef>
              <a:spcAft>
                <a:spcPts val="1200"/>
              </a:spcAft>
              <a:buSzPts val="3060"/>
              <a:buChar char="●"/>
            </a:pPr>
            <a:r>
              <a:rPr lang="en-US" sz="3600"/>
              <a:t>Countermeasure or control</a:t>
            </a:r>
            <a:endParaRPr sz="3600"/>
          </a:p>
        </p:txBody>
      </p:sp>
      <p:sp>
        <p:nvSpPr>
          <p:cNvPr id="99" name="Google Shape;99;p18"/>
          <p:cNvSpPr txBox="1"/>
          <p:nvPr>
            <p:ph idx="10" type="dt"/>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00" name="Google Shape;100;p18"/>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159327" y="523153"/>
            <a:ext cx="8950036" cy="9556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000"/>
              <a:buFont typeface="Arial"/>
              <a:buNone/>
            </a:pPr>
            <a:r>
              <a:rPr lang="en-US"/>
              <a:t>Vulnerabilities, Threats, Attacks, Controls</a:t>
            </a:r>
            <a:endParaRPr/>
          </a:p>
        </p:txBody>
      </p:sp>
      <p:sp>
        <p:nvSpPr>
          <p:cNvPr id="106" name="Google Shape;106;p19"/>
          <p:cNvSpPr txBox="1"/>
          <p:nvPr>
            <p:ph idx="1" type="body"/>
          </p:nvPr>
        </p:nvSpPr>
        <p:spPr>
          <a:xfrm>
            <a:off x="318655" y="1478828"/>
            <a:ext cx="8631381" cy="5247553"/>
          </a:xfrm>
          <a:prstGeom prst="rect">
            <a:avLst/>
          </a:prstGeom>
          <a:noFill/>
          <a:ln>
            <a:noFill/>
          </a:ln>
        </p:spPr>
        <p:txBody>
          <a:bodyPr anchorCtr="0" anchor="t" bIns="45700" lIns="91425" spcFirstLastPara="1" rIns="91425" wrap="square" tIns="45700">
            <a:normAutofit fontScale="77500" lnSpcReduction="20000"/>
          </a:bodyPr>
          <a:lstStyle/>
          <a:p>
            <a:pPr indent="-153733" lvl="0" marL="182880" rtl="0" algn="l">
              <a:spcBef>
                <a:spcPts val="0"/>
              </a:spcBef>
              <a:spcAft>
                <a:spcPts val="0"/>
              </a:spcAft>
              <a:buSzPct val="85000"/>
              <a:buChar char="●"/>
            </a:pPr>
            <a:r>
              <a:rPr b="1" lang="en-US" sz="2400">
                <a:solidFill>
                  <a:srgbClr val="FF0000"/>
                </a:solidFill>
              </a:rPr>
              <a:t>Vulnerability</a:t>
            </a:r>
            <a:r>
              <a:rPr lang="en-US" sz="2400">
                <a:solidFill>
                  <a:srgbClr val="FF0000"/>
                </a:solidFill>
              </a:rPr>
              <a:t> </a:t>
            </a:r>
            <a:r>
              <a:rPr lang="en-US" sz="2400"/>
              <a:t>is a weakness in the security system </a:t>
            </a:r>
            <a:endParaRPr/>
          </a:p>
          <a:p>
            <a:pPr indent="-158591" lvl="1" marL="457200" rtl="0" algn="l">
              <a:spcBef>
                <a:spcPts val="400"/>
              </a:spcBef>
              <a:spcAft>
                <a:spcPts val="0"/>
              </a:spcAft>
              <a:buSzPct val="121428"/>
              <a:buChar char="○"/>
            </a:pPr>
            <a:r>
              <a:rPr lang="en-US"/>
              <a:t>(i.e., in procedures, design, or implementation), that might be exploited to </a:t>
            </a:r>
            <a:r>
              <a:rPr i="1" lang="en-US"/>
              <a:t>cause </a:t>
            </a:r>
            <a:r>
              <a:rPr i="1" lang="en-US">
                <a:solidFill>
                  <a:srgbClr val="0070C0"/>
                </a:solidFill>
              </a:rPr>
              <a:t>loss</a:t>
            </a:r>
            <a:r>
              <a:rPr i="1" lang="en-US"/>
              <a:t> or </a:t>
            </a:r>
            <a:r>
              <a:rPr i="1" lang="en-US">
                <a:solidFill>
                  <a:srgbClr val="0070C0"/>
                </a:solidFill>
              </a:rPr>
              <a:t>harm</a:t>
            </a:r>
            <a:r>
              <a:rPr lang="en-US"/>
              <a:t>.</a:t>
            </a:r>
            <a:endParaRPr/>
          </a:p>
          <a:p>
            <a:pPr indent="-126206" lvl="1" marL="457200" rtl="0" algn="l">
              <a:spcBef>
                <a:spcPts val="210"/>
              </a:spcBef>
              <a:spcAft>
                <a:spcPts val="0"/>
              </a:spcAft>
              <a:buSzPct val="85000"/>
              <a:buNone/>
            </a:pPr>
            <a:r>
              <a:t/>
            </a:r>
            <a:endParaRPr sz="1050"/>
          </a:p>
          <a:p>
            <a:pPr indent="-153733" lvl="0" marL="182880" rtl="0" algn="l">
              <a:spcBef>
                <a:spcPts val="480"/>
              </a:spcBef>
              <a:spcAft>
                <a:spcPts val="0"/>
              </a:spcAft>
              <a:buSzPct val="85000"/>
              <a:buChar char="●"/>
            </a:pPr>
            <a:r>
              <a:rPr b="1" lang="en-US" sz="2400">
                <a:solidFill>
                  <a:srgbClr val="FF0000"/>
                </a:solidFill>
              </a:rPr>
              <a:t>Threat</a:t>
            </a:r>
            <a:r>
              <a:rPr lang="en-US" sz="2400">
                <a:solidFill>
                  <a:srgbClr val="FF0000"/>
                </a:solidFill>
              </a:rPr>
              <a:t> </a:t>
            </a:r>
            <a:r>
              <a:rPr lang="en-US" sz="2400"/>
              <a:t>to a computing system is a set of circumstances that has the </a:t>
            </a:r>
            <a:r>
              <a:rPr i="1" lang="en-US" sz="2400" u="sng"/>
              <a:t>potential to cause loss or harm</a:t>
            </a:r>
            <a:r>
              <a:rPr lang="en-US" sz="2400"/>
              <a:t>.</a:t>
            </a:r>
            <a:endParaRPr/>
          </a:p>
          <a:p>
            <a:pPr indent="-158591" lvl="1" marL="457200" rtl="0" algn="l">
              <a:spcBef>
                <a:spcPts val="400"/>
              </a:spcBef>
              <a:spcAft>
                <a:spcPts val="0"/>
              </a:spcAft>
              <a:buSzPct val="121428"/>
              <a:buChar char="○"/>
            </a:pPr>
            <a:r>
              <a:rPr lang="en-US"/>
              <a:t>a potential violation of security</a:t>
            </a:r>
            <a:endParaRPr/>
          </a:p>
          <a:p>
            <a:pPr indent="-107315" lvl="0" marL="182880" rtl="0" algn="l">
              <a:spcBef>
                <a:spcPts val="280"/>
              </a:spcBef>
              <a:spcAft>
                <a:spcPts val="0"/>
              </a:spcAft>
              <a:buSzPct val="85000"/>
              <a:buNone/>
            </a:pPr>
            <a:r>
              <a:t/>
            </a:r>
            <a:endParaRPr sz="1400"/>
          </a:p>
          <a:p>
            <a:pPr indent="-153733" lvl="0" marL="182880" rtl="0" algn="l">
              <a:spcBef>
                <a:spcPts val="480"/>
              </a:spcBef>
              <a:spcAft>
                <a:spcPts val="0"/>
              </a:spcAft>
              <a:buSzPct val="85000"/>
              <a:buChar char="●"/>
            </a:pPr>
            <a:r>
              <a:rPr lang="en-US" sz="2400"/>
              <a:t>A human (</a:t>
            </a:r>
            <a:r>
              <a:rPr i="1" lang="en-US" sz="2400"/>
              <a:t>criminal</a:t>
            </a:r>
            <a:r>
              <a:rPr lang="en-US" sz="2400"/>
              <a:t>) who exploits a vulnerability perpetrates an </a:t>
            </a:r>
            <a:r>
              <a:rPr b="1" lang="en-US" sz="2400">
                <a:solidFill>
                  <a:srgbClr val="FF0000"/>
                </a:solidFill>
              </a:rPr>
              <a:t>attack</a:t>
            </a:r>
            <a:r>
              <a:rPr lang="en-US" sz="2400">
                <a:solidFill>
                  <a:srgbClr val="FF0000"/>
                </a:solidFill>
              </a:rPr>
              <a:t> </a:t>
            </a:r>
            <a:r>
              <a:rPr lang="en-US" sz="2400"/>
              <a:t>on the system.</a:t>
            </a:r>
            <a:endParaRPr/>
          </a:p>
          <a:p>
            <a:pPr indent="-107315" lvl="0" marL="182880" rtl="0" algn="l">
              <a:spcBef>
                <a:spcPts val="280"/>
              </a:spcBef>
              <a:spcAft>
                <a:spcPts val="0"/>
              </a:spcAft>
              <a:buSzPct val="85000"/>
              <a:buNone/>
            </a:pPr>
            <a:r>
              <a:t/>
            </a:r>
            <a:endParaRPr sz="1400"/>
          </a:p>
          <a:p>
            <a:pPr indent="-153733" lvl="0" marL="182880" rtl="0" algn="l">
              <a:spcBef>
                <a:spcPts val="480"/>
              </a:spcBef>
              <a:spcAft>
                <a:spcPts val="0"/>
              </a:spcAft>
              <a:buSzPct val="85000"/>
              <a:buChar char="●"/>
            </a:pPr>
            <a:r>
              <a:rPr lang="en-US" sz="2400"/>
              <a:t>How do we address these problems? </a:t>
            </a:r>
            <a:endParaRPr/>
          </a:p>
          <a:p>
            <a:pPr indent="-158591" lvl="1" marL="457200" rtl="0" algn="l">
              <a:spcBef>
                <a:spcPts val="400"/>
              </a:spcBef>
              <a:spcAft>
                <a:spcPts val="0"/>
              </a:spcAft>
              <a:buSzPct val="85000"/>
              <a:buChar char="○"/>
            </a:pPr>
            <a:r>
              <a:rPr lang="en-US" sz="2000"/>
              <a:t>We use a </a:t>
            </a:r>
            <a:r>
              <a:rPr b="1" lang="en-US" sz="2000">
                <a:solidFill>
                  <a:srgbClr val="FF0000"/>
                </a:solidFill>
              </a:rPr>
              <a:t>control</a:t>
            </a:r>
            <a:r>
              <a:rPr lang="en-US" sz="2000">
                <a:solidFill>
                  <a:srgbClr val="FF0000"/>
                </a:solidFill>
              </a:rPr>
              <a:t> </a:t>
            </a:r>
            <a:r>
              <a:rPr lang="en-US" sz="2000"/>
              <a:t>as a protective measure. </a:t>
            </a:r>
            <a:endParaRPr/>
          </a:p>
          <a:p>
            <a:pPr indent="-158591" lvl="1" marL="457200" rtl="0" algn="l">
              <a:spcBef>
                <a:spcPts val="400"/>
              </a:spcBef>
              <a:spcAft>
                <a:spcPts val="0"/>
              </a:spcAft>
              <a:buSzPct val="85000"/>
              <a:buChar char="○"/>
            </a:pPr>
            <a:r>
              <a:rPr lang="en-US" sz="2000"/>
              <a:t>That is, a control is an action, device, procedure, or technique that </a:t>
            </a:r>
            <a:r>
              <a:rPr i="1" lang="en-US" sz="2000" u="sng"/>
              <a:t>removes or reduces a vulnerability</a:t>
            </a:r>
            <a:r>
              <a:rPr lang="en-US" sz="2000"/>
              <a:t>.</a:t>
            </a:r>
            <a:endParaRPr/>
          </a:p>
          <a:p>
            <a:pPr indent="-53339" lvl="0" marL="182880" rtl="0" algn="l">
              <a:spcBef>
                <a:spcPts val="480"/>
              </a:spcBef>
              <a:spcAft>
                <a:spcPts val="0"/>
              </a:spcAft>
              <a:buSzPct val="85000"/>
              <a:buNone/>
            </a:pPr>
            <a:r>
              <a:t/>
            </a:r>
            <a:endParaRPr sz="2400"/>
          </a:p>
          <a:p>
            <a:pPr indent="-53339" lvl="0" marL="182880" rtl="0" algn="l">
              <a:spcBef>
                <a:spcPts val="480"/>
              </a:spcBef>
              <a:spcAft>
                <a:spcPts val="0"/>
              </a:spcAft>
              <a:buSzPct val="85000"/>
              <a:buNone/>
            </a:pPr>
            <a:r>
              <a:t/>
            </a:r>
            <a:endParaRPr sz="2400"/>
          </a:p>
          <a:p>
            <a:pPr indent="-53339" lvl="0" marL="182880" rtl="0" algn="l">
              <a:spcBef>
                <a:spcPts val="480"/>
              </a:spcBef>
              <a:spcAft>
                <a:spcPts val="0"/>
              </a:spcAft>
              <a:buSzPct val="85000"/>
              <a:buNone/>
            </a:pPr>
            <a:r>
              <a:t/>
            </a:r>
            <a:endParaRPr sz="2400"/>
          </a:p>
          <a:p>
            <a:pPr indent="-53339" lvl="0" marL="182880" rtl="0" algn="l">
              <a:spcBef>
                <a:spcPts val="480"/>
              </a:spcBef>
              <a:spcAft>
                <a:spcPts val="1200"/>
              </a:spcAft>
              <a:buSzPct val="85000"/>
              <a:buNone/>
            </a:pPr>
            <a:r>
              <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Threat and Vulnerability</a:t>
            </a:r>
            <a:endParaRPr/>
          </a:p>
        </p:txBody>
      </p:sp>
      <p:pic>
        <p:nvPicPr>
          <p:cNvPr descr="fig01-04.eps" id="113" name="Google Shape;113;p20"/>
          <p:cNvPicPr preferRelativeResize="0"/>
          <p:nvPr/>
        </p:nvPicPr>
        <p:blipFill rotWithShape="1">
          <a:blip r:embed="rId3">
            <a:alphaModFix/>
          </a:blip>
          <a:srcRect b="0" l="0" r="0" t="0"/>
          <a:stretch/>
        </p:blipFill>
        <p:spPr>
          <a:xfrm>
            <a:off x="4145821" y="3038573"/>
            <a:ext cx="4636514" cy="2870908"/>
          </a:xfrm>
          <a:prstGeom prst="rect">
            <a:avLst/>
          </a:prstGeom>
          <a:noFill/>
          <a:ln>
            <a:noFill/>
          </a:ln>
        </p:spPr>
      </p:pic>
      <p:sp>
        <p:nvSpPr>
          <p:cNvPr id="114" name="Google Shape;114;p20"/>
          <p:cNvSpPr txBox="1"/>
          <p:nvPr>
            <p:ph idx="10" type="dt"/>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15" name="Google Shape;115;p20"/>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
        <p:nvSpPr>
          <p:cNvPr id="116" name="Google Shape;116;p20"/>
          <p:cNvSpPr txBox="1"/>
          <p:nvPr/>
        </p:nvSpPr>
        <p:spPr>
          <a:xfrm>
            <a:off x="277091" y="1524000"/>
            <a:ext cx="8409709"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Relationship among threats, controls, and vulnerabilities:</a:t>
            </a:r>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A threat is blocked by control of a vulnerability.</a:t>
            </a:r>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To devise controls, we must </a:t>
            </a:r>
            <a:r>
              <a:rPr i="1" lang="en-US" sz="2000" u="sng">
                <a:solidFill>
                  <a:schemeClr val="dk1"/>
                </a:solidFill>
                <a:latin typeface="Arial"/>
                <a:ea typeface="Arial"/>
                <a:cs typeface="Arial"/>
                <a:sym typeface="Arial"/>
              </a:rPr>
              <a:t>know as much about threats as possible</a:t>
            </a:r>
            <a:r>
              <a:rPr lang="en-US" sz="2000">
                <a:solidFill>
                  <a:schemeClr val="dk1"/>
                </a:solidFill>
                <a:latin typeface="Arial"/>
                <a:ea typeface="Arial"/>
                <a:cs typeface="Arial"/>
                <a:sym typeface="Arial"/>
              </a:rPr>
              <a:t>.</a:t>
            </a:r>
            <a:endParaRPr/>
          </a:p>
        </p:txBody>
      </p:sp>
      <p:sp>
        <p:nvSpPr>
          <p:cNvPr id="117" name="Google Shape;117;p20"/>
          <p:cNvSpPr txBox="1"/>
          <p:nvPr/>
        </p:nvSpPr>
        <p:spPr>
          <a:xfrm>
            <a:off x="277091" y="3439236"/>
            <a:ext cx="3432412"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The fact that the violation might occur means that the actions that might cause it should be guarder against.</a:t>
            </a:r>
            <a:endParaRPr sz="24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311700" y="593367"/>
            <a:ext cx="8520600" cy="763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C-I-A Triad</a:t>
            </a:r>
            <a:endParaRPr/>
          </a:p>
        </p:txBody>
      </p:sp>
      <p:sp>
        <p:nvSpPr>
          <p:cNvPr id="123" name="Google Shape;123;p21"/>
          <p:cNvSpPr txBox="1"/>
          <p:nvPr>
            <p:ph idx="1" type="body"/>
          </p:nvPr>
        </p:nvSpPr>
        <p:spPr>
          <a:xfrm>
            <a:off x="311700" y="1536633"/>
            <a:ext cx="8520600" cy="4555200"/>
          </a:xfrm>
          <a:prstGeom prst="rect">
            <a:avLst/>
          </a:prstGeom>
          <a:noFill/>
          <a:ln>
            <a:noFill/>
          </a:ln>
        </p:spPr>
        <p:txBody>
          <a:bodyPr anchorCtr="0" anchor="t" bIns="45700" lIns="91425" spcFirstLastPara="1" rIns="91425" wrap="square" tIns="45700">
            <a:normAutofit lnSpcReduction="10000"/>
          </a:bodyPr>
          <a:lstStyle/>
          <a:p>
            <a:pPr indent="-182880" lvl="0" marL="182880" rtl="0" algn="l">
              <a:spcBef>
                <a:spcPts val="0"/>
              </a:spcBef>
              <a:spcAft>
                <a:spcPts val="0"/>
              </a:spcAft>
              <a:buSzPts val="2380"/>
              <a:buChar char="●"/>
            </a:pPr>
            <a:r>
              <a:rPr lang="en-US" sz="2800"/>
              <a:t>Confidentiality</a:t>
            </a:r>
            <a:endParaRPr/>
          </a:p>
          <a:p>
            <a:pPr indent="-182880" lvl="0" marL="182880" rtl="0" algn="l">
              <a:spcBef>
                <a:spcPts val="560"/>
              </a:spcBef>
              <a:spcAft>
                <a:spcPts val="0"/>
              </a:spcAft>
              <a:buSzPts val="2380"/>
              <a:buChar char="●"/>
            </a:pPr>
            <a:r>
              <a:rPr lang="en-US" sz="2800"/>
              <a:t>Integrity</a:t>
            </a:r>
            <a:endParaRPr/>
          </a:p>
          <a:p>
            <a:pPr indent="-182880" lvl="0" marL="182880" rtl="0" algn="l">
              <a:spcBef>
                <a:spcPts val="560"/>
              </a:spcBef>
              <a:spcAft>
                <a:spcPts val="0"/>
              </a:spcAft>
              <a:buSzPts val="2380"/>
              <a:buChar char="●"/>
            </a:pPr>
            <a:r>
              <a:rPr lang="en-US" sz="2800"/>
              <a:t>Availability</a:t>
            </a:r>
            <a:endParaRPr/>
          </a:p>
          <a:p>
            <a:pPr indent="-182880" lvl="0" marL="182880" rtl="0" algn="l">
              <a:spcBef>
                <a:spcPts val="560"/>
              </a:spcBef>
              <a:spcAft>
                <a:spcPts val="0"/>
              </a:spcAft>
              <a:buSzPts val="2380"/>
              <a:buChar char="●"/>
            </a:pPr>
            <a:r>
              <a:rPr lang="en-US" sz="2800"/>
              <a:t>Sometimes two other desirable characteristics:</a:t>
            </a:r>
            <a:endParaRPr/>
          </a:p>
          <a:p>
            <a:pPr indent="-182880" lvl="1" marL="457200" rtl="0" algn="l">
              <a:spcBef>
                <a:spcPts val="480"/>
              </a:spcBef>
              <a:spcAft>
                <a:spcPts val="0"/>
              </a:spcAft>
              <a:buSzPts val="2040"/>
              <a:buChar char="○"/>
            </a:pPr>
            <a:r>
              <a:rPr lang="en-US" sz="2400"/>
              <a:t>Authentication</a:t>
            </a:r>
            <a:endParaRPr/>
          </a:p>
          <a:p>
            <a:pPr indent="-182879" lvl="2" marL="731520" rtl="0" algn="l">
              <a:spcBef>
                <a:spcPts val="360"/>
              </a:spcBef>
              <a:spcAft>
                <a:spcPts val="0"/>
              </a:spcAft>
              <a:buSzPts val="1620"/>
              <a:buChar char="■"/>
            </a:pPr>
            <a:r>
              <a:rPr lang="en-US"/>
              <a:t>the process or action of proving or showing </a:t>
            </a:r>
            <a:r>
              <a:rPr lang="en-US">
                <a:solidFill>
                  <a:srgbClr val="0070C0"/>
                </a:solidFill>
              </a:rPr>
              <a:t>something to be true, genuine, or valid</a:t>
            </a:r>
            <a:r>
              <a:rPr lang="en-US"/>
              <a:t>.</a:t>
            </a:r>
            <a:endParaRPr sz="2200"/>
          </a:p>
          <a:p>
            <a:pPr indent="-182880" lvl="1" marL="457200" rtl="0" algn="l">
              <a:spcBef>
                <a:spcPts val="480"/>
              </a:spcBef>
              <a:spcAft>
                <a:spcPts val="0"/>
              </a:spcAft>
              <a:buSzPts val="2040"/>
              <a:buChar char="○"/>
            </a:pPr>
            <a:r>
              <a:rPr lang="en-US" sz="2400"/>
              <a:t>Nonrepudiation</a:t>
            </a:r>
            <a:endParaRPr/>
          </a:p>
          <a:p>
            <a:pPr indent="-182879" lvl="2" marL="731520" rtl="0" algn="l">
              <a:spcBef>
                <a:spcPts val="360"/>
              </a:spcBef>
              <a:spcAft>
                <a:spcPts val="0"/>
              </a:spcAft>
              <a:buSzPts val="1620"/>
              <a:buChar char="■"/>
            </a:pPr>
            <a:r>
              <a:rPr lang="en-US"/>
              <a:t>is the assurance that someone cannot deny something. </a:t>
            </a:r>
            <a:endParaRPr/>
          </a:p>
          <a:p>
            <a:pPr indent="-182879" lvl="2" marL="731520" rtl="0" algn="l">
              <a:spcBef>
                <a:spcPts val="360"/>
              </a:spcBef>
              <a:spcAft>
                <a:spcPts val="1200"/>
              </a:spcAft>
              <a:buSzPts val="1620"/>
              <a:buChar char="■"/>
            </a:pPr>
            <a:r>
              <a:rPr lang="en-US"/>
              <a:t>i.e. </a:t>
            </a:r>
            <a:r>
              <a:rPr b="1" lang="en-US"/>
              <a:t>nonrepudiation</a:t>
            </a:r>
            <a:r>
              <a:rPr lang="en-US"/>
              <a:t> refers to the ability to ensure that a party to a contract or a communication </a:t>
            </a:r>
            <a:r>
              <a:rPr lang="en-US">
                <a:solidFill>
                  <a:srgbClr val="0070C0"/>
                </a:solidFill>
              </a:rPr>
              <a:t>cannot deny the authenticity of their signature </a:t>
            </a:r>
            <a:r>
              <a:rPr lang="en-US"/>
              <a:t>on a document or the sending of a message that they originated</a:t>
            </a:r>
            <a:endParaRPr sz="2200"/>
          </a:p>
        </p:txBody>
      </p:sp>
      <p:sp>
        <p:nvSpPr>
          <p:cNvPr id="124" name="Google Shape;124;p21"/>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25" name="Google Shape;125;p21"/>
          <p:cNvSpPr txBox="1"/>
          <p:nvPr>
            <p:ph idx="12" type="sldNum"/>
          </p:nvPr>
        </p:nvSpPr>
        <p:spPr>
          <a:xfrm>
            <a:off x="8472458" y="6217622"/>
            <a:ext cx="548700" cy="524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457200" y="413331"/>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Access Control</a:t>
            </a:r>
            <a:endParaRPr/>
          </a:p>
        </p:txBody>
      </p:sp>
      <p:pic>
        <p:nvPicPr>
          <p:cNvPr descr="fig01-06.eps" id="132" name="Google Shape;132;p22"/>
          <p:cNvPicPr preferRelativeResize="0"/>
          <p:nvPr>
            <p:ph idx="1" type="body"/>
          </p:nvPr>
        </p:nvPicPr>
        <p:blipFill rotWithShape="1">
          <a:blip r:embed="rId3">
            <a:alphaModFix/>
          </a:blip>
          <a:srcRect b="0" l="0" r="0" t="0"/>
          <a:stretch/>
        </p:blipFill>
        <p:spPr>
          <a:xfrm>
            <a:off x="802889" y="1495810"/>
            <a:ext cx="6886660" cy="5039419"/>
          </a:xfrm>
          <a:prstGeom prst="rect">
            <a:avLst/>
          </a:prstGeom>
          <a:noFill/>
          <a:ln>
            <a:noFill/>
          </a:ln>
        </p:spPr>
      </p:pic>
      <p:sp>
        <p:nvSpPr>
          <p:cNvPr id="133" name="Google Shape;133;p22"/>
          <p:cNvSpPr txBox="1"/>
          <p:nvPr>
            <p:ph idx="10" type="dt"/>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34" name="Google Shape;134;p22"/>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txBox="1"/>
          <p:nvPr>
            <p:ph type="title"/>
          </p:nvPr>
        </p:nvSpPr>
        <p:spPr>
          <a:xfrm>
            <a:off x="311700" y="593367"/>
            <a:ext cx="8520600" cy="763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Types of Threats</a:t>
            </a:r>
            <a:endParaRPr/>
          </a:p>
        </p:txBody>
      </p:sp>
      <p:pic>
        <p:nvPicPr>
          <p:cNvPr descr="fig01-09.eps" id="141" name="Google Shape;141;p23"/>
          <p:cNvPicPr preferRelativeResize="0"/>
          <p:nvPr/>
        </p:nvPicPr>
        <p:blipFill rotWithShape="1">
          <a:blip r:embed="rId3">
            <a:alphaModFix/>
          </a:blip>
          <a:srcRect b="0" l="0" r="0" t="0"/>
          <a:stretch/>
        </p:blipFill>
        <p:spPr>
          <a:xfrm>
            <a:off x="1424879" y="1523999"/>
            <a:ext cx="5977128" cy="4846320"/>
          </a:xfrm>
          <a:prstGeom prst="rect">
            <a:avLst/>
          </a:prstGeom>
          <a:noFill/>
          <a:ln>
            <a:noFill/>
          </a:ln>
        </p:spPr>
      </p:pic>
      <p:sp>
        <p:nvSpPr>
          <p:cNvPr id="142" name="Google Shape;142;p23"/>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43" name="Google Shape;143;p23"/>
          <p:cNvSpPr txBox="1"/>
          <p:nvPr>
            <p:ph idx="12" type="sldNum"/>
          </p:nvPr>
        </p:nvSpPr>
        <p:spPr>
          <a:xfrm>
            <a:off x="8472458" y="6217622"/>
            <a:ext cx="548700" cy="524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type="title"/>
          </p:nvPr>
        </p:nvSpPr>
        <p:spPr>
          <a:xfrm>
            <a:off x="311700" y="593367"/>
            <a:ext cx="8520600" cy="763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Advanced Persistent Threat (APT)</a:t>
            </a:r>
            <a:endParaRPr/>
          </a:p>
        </p:txBody>
      </p:sp>
      <p:sp>
        <p:nvSpPr>
          <p:cNvPr id="150" name="Google Shape;150;p24"/>
          <p:cNvSpPr txBox="1"/>
          <p:nvPr>
            <p:ph idx="1" type="body"/>
          </p:nvPr>
        </p:nvSpPr>
        <p:spPr>
          <a:xfrm>
            <a:off x="311700" y="1536633"/>
            <a:ext cx="8520600" cy="45552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Organized</a:t>
            </a:r>
            <a:endParaRPr/>
          </a:p>
          <a:p>
            <a:pPr indent="-182880" lvl="0" marL="182880" rtl="0" algn="l">
              <a:spcBef>
                <a:spcPts val="480"/>
              </a:spcBef>
              <a:spcAft>
                <a:spcPts val="0"/>
              </a:spcAft>
              <a:buSzPts val="2040"/>
              <a:buChar char="●"/>
            </a:pPr>
            <a:r>
              <a:rPr lang="en-US"/>
              <a:t>Directed</a:t>
            </a:r>
            <a:endParaRPr/>
          </a:p>
          <a:p>
            <a:pPr indent="-182880" lvl="0" marL="182880" rtl="0" algn="l">
              <a:spcBef>
                <a:spcPts val="480"/>
              </a:spcBef>
              <a:spcAft>
                <a:spcPts val="0"/>
              </a:spcAft>
              <a:buSzPts val="2040"/>
              <a:buChar char="●"/>
            </a:pPr>
            <a:r>
              <a:rPr lang="en-US"/>
              <a:t>Well financed</a:t>
            </a:r>
            <a:endParaRPr/>
          </a:p>
          <a:p>
            <a:pPr indent="-182880" lvl="0" marL="182880" rtl="0" algn="l">
              <a:spcBef>
                <a:spcPts val="480"/>
              </a:spcBef>
              <a:spcAft>
                <a:spcPts val="0"/>
              </a:spcAft>
              <a:buSzPts val="2040"/>
              <a:buChar char="●"/>
            </a:pPr>
            <a:r>
              <a:rPr lang="en-US"/>
              <a:t>Patient</a:t>
            </a:r>
            <a:endParaRPr/>
          </a:p>
          <a:p>
            <a:pPr indent="-182880" lvl="0" marL="182880" rtl="0" algn="l">
              <a:spcBef>
                <a:spcPts val="480"/>
              </a:spcBef>
              <a:spcAft>
                <a:spcPts val="1200"/>
              </a:spcAft>
              <a:buSzPts val="2040"/>
              <a:buChar char="●"/>
            </a:pPr>
            <a:r>
              <a:rPr lang="en-US"/>
              <a:t>Silent</a:t>
            </a:r>
            <a:endParaRPr/>
          </a:p>
        </p:txBody>
      </p:sp>
      <p:sp>
        <p:nvSpPr>
          <p:cNvPr id="151" name="Google Shape;151;p24"/>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52" name="Google Shape;152;p24"/>
          <p:cNvSpPr txBox="1"/>
          <p:nvPr>
            <p:ph idx="12" type="sldNum"/>
          </p:nvPr>
        </p:nvSpPr>
        <p:spPr>
          <a:xfrm>
            <a:off x="8472458" y="6217622"/>
            <a:ext cx="548700" cy="524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Types of Attackers</a:t>
            </a:r>
            <a:endParaRPr/>
          </a:p>
        </p:txBody>
      </p:sp>
      <p:pic>
        <p:nvPicPr>
          <p:cNvPr descr="fig01-10.eps" id="159" name="Google Shape;159;p25"/>
          <p:cNvPicPr preferRelativeResize="0"/>
          <p:nvPr>
            <p:ph idx="1" type="body"/>
          </p:nvPr>
        </p:nvPicPr>
        <p:blipFill rotWithShape="1">
          <a:blip r:embed="rId3">
            <a:alphaModFix/>
          </a:blip>
          <a:srcRect b="-1905" l="0" r="0" t="-1405"/>
          <a:stretch/>
        </p:blipFill>
        <p:spPr>
          <a:xfrm>
            <a:off x="1764976" y="1524000"/>
            <a:ext cx="5598225" cy="4846320"/>
          </a:xfrm>
          <a:prstGeom prst="rect">
            <a:avLst/>
          </a:prstGeom>
          <a:noFill/>
          <a:ln>
            <a:noFill/>
          </a:ln>
        </p:spPr>
      </p:pic>
      <p:sp>
        <p:nvSpPr>
          <p:cNvPr id="160" name="Google Shape;160;p25"/>
          <p:cNvSpPr txBox="1"/>
          <p:nvPr>
            <p:ph idx="10" type="dt"/>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61" name="Google Shape;161;p25"/>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Types of Harm</a:t>
            </a:r>
            <a:endParaRPr/>
          </a:p>
        </p:txBody>
      </p:sp>
      <p:pic>
        <p:nvPicPr>
          <p:cNvPr descr="fig01-05.eps" id="168" name="Google Shape;168;p26"/>
          <p:cNvPicPr preferRelativeResize="0"/>
          <p:nvPr/>
        </p:nvPicPr>
        <p:blipFill rotWithShape="1">
          <a:blip r:embed="rId3">
            <a:alphaModFix/>
          </a:blip>
          <a:srcRect b="0" l="0" r="0" t="0"/>
          <a:stretch/>
        </p:blipFill>
        <p:spPr>
          <a:xfrm>
            <a:off x="1245509" y="1523999"/>
            <a:ext cx="6642054" cy="4846320"/>
          </a:xfrm>
          <a:prstGeom prst="rect">
            <a:avLst/>
          </a:prstGeom>
          <a:noFill/>
          <a:ln>
            <a:noFill/>
          </a:ln>
        </p:spPr>
      </p:pic>
      <p:sp>
        <p:nvSpPr>
          <p:cNvPr id="169" name="Google Shape;169;p26"/>
          <p:cNvSpPr txBox="1"/>
          <p:nvPr>
            <p:ph idx="10" type="dt"/>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70" name="Google Shape;170;p26"/>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Threats</a:t>
            </a:r>
            <a:endParaRPr/>
          </a:p>
        </p:txBody>
      </p:sp>
      <p:sp>
        <p:nvSpPr>
          <p:cNvPr id="176" name="Google Shape;176;p27"/>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In an </a:t>
            </a:r>
            <a:r>
              <a:rPr b="1" lang="en-US">
                <a:solidFill>
                  <a:srgbClr val="FF0000"/>
                </a:solidFill>
              </a:rPr>
              <a:t>interception</a:t>
            </a:r>
            <a:r>
              <a:rPr lang="en-US">
                <a:solidFill>
                  <a:srgbClr val="FF0000"/>
                </a:solidFill>
              </a:rPr>
              <a:t> </a:t>
            </a:r>
            <a:r>
              <a:rPr lang="en-US"/>
              <a:t>means that some unauthorized party has gained access to an asset.</a:t>
            </a:r>
            <a:endParaRPr/>
          </a:p>
          <a:p>
            <a:pPr indent="-53339" lvl="0" marL="182880" rtl="0" algn="l">
              <a:spcBef>
                <a:spcPts val="480"/>
              </a:spcBef>
              <a:spcAft>
                <a:spcPts val="0"/>
              </a:spcAft>
              <a:buSzPts val="2040"/>
              <a:buNone/>
            </a:pPr>
            <a:r>
              <a:t/>
            </a:r>
            <a:endParaRPr/>
          </a:p>
          <a:p>
            <a:pPr indent="-182880" lvl="0" marL="182880" rtl="0" algn="l">
              <a:spcBef>
                <a:spcPts val="480"/>
              </a:spcBef>
              <a:spcAft>
                <a:spcPts val="0"/>
              </a:spcAft>
              <a:buSzPts val="2040"/>
              <a:buChar char="●"/>
            </a:pPr>
            <a:r>
              <a:rPr lang="en-US"/>
              <a:t>In an </a:t>
            </a:r>
            <a:r>
              <a:rPr b="1" lang="en-US">
                <a:solidFill>
                  <a:srgbClr val="FF0000"/>
                </a:solidFill>
              </a:rPr>
              <a:t>interruption</a:t>
            </a:r>
            <a:r>
              <a:rPr lang="en-US"/>
              <a:t>, an asset of the system becomes lost, unavailable, or unusable.</a:t>
            </a:r>
            <a:endParaRPr/>
          </a:p>
          <a:p>
            <a:pPr indent="-53339" lvl="0" marL="182880" rtl="0" algn="l">
              <a:spcBef>
                <a:spcPts val="480"/>
              </a:spcBef>
              <a:spcAft>
                <a:spcPts val="0"/>
              </a:spcAft>
              <a:buSzPts val="2040"/>
              <a:buNone/>
            </a:pPr>
            <a:r>
              <a:t/>
            </a:r>
            <a:endParaRPr/>
          </a:p>
          <a:p>
            <a:pPr indent="-182880" lvl="0" marL="182880" rtl="0" algn="l">
              <a:spcBef>
                <a:spcPts val="480"/>
              </a:spcBef>
              <a:spcAft>
                <a:spcPts val="0"/>
              </a:spcAft>
              <a:buSzPts val="2040"/>
              <a:buChar char="●"/>
            </a:pPr>
            <a:r>
              <a:rPr lang="en-US"/>
              <a:t>If an unauthorized party not only accesses but </a:t>
            </a:r>
            <a:r>
              <a:rPr b="1" lang="en-US"/>
              <a:t>tampers</a:t>
            </a:r>
            <a:r>
              <a:rPr lang="en-US"/>
              <a:t> (forges) with an asset, the threat is a </a:t>
            </a:r>
            <a:r>
              <a:rPr b="1" lang="en-US">
                <a:solidFill>
                  <a:srgbClr val="FF0000"/>
                </a:solidFill>
              </a:rPr>
              <a:t>modification</a:t>
            </a:r>
            <a:r>
              <a:rPr lang="en-US"/>
              <a:t>.</a:t>
            </a:r>
            <a:endParaRPr/>
          </a:p>
          <a:p>
            <a:pPr indent="-53339" lvl="0" marL="182880" rtl="0" algn="l">
              <a:spcBef>
                <a:spcPts val="480"/>
              </a:spcBef>
              <a:spcAft>
                <a:spcPts val="0"/>
              </a:spcAft>
              <a:buSzPts val="2040"/>
              <a:buNone/>
            </a:pPr>
            <a:r>
              <a:t/>
            </a:r>
            <a:endParaRPr/>
          </a:p>
          <a:p>
            <a:pPr indent="-182880" lvl="0" marL="182880" rtl="0" algn="l">
              <a:spcBef>
                <a:spcPts val="480"/>
              </a:spcBef>
              <a:spcAft>
                <a:spcPts val="0"/>
              </a:spcAft>
              <a:buSzPts val="2040"/>
              <a:buChar char="●"/>
            </a:pPr>
            <a:r>
              <a:rPr lang="en-US"/>
              <a:t>Finally, an unauthorized party might create a </a:t>
            </a:r>
            <a:r>
              <a:rPr b="1" lang="en-US">
                <a:solidFill>
                  <a:srgbClr val="FF0000"/>
                </a:solidFill>
              </a:rPr>
              <a:t>fabrication</a:t>
            </a:r>
            <a:r>
              <a:rPr lang="en-US">
                <a:solidFill>
                  <a:srgbClr val="FF0000"/>
                </a:solidFill>
              </a:rPr>
              <a:t> </a:t>
            </a:r>
            <a:r>
              <a:rPr lang="en-US"/>
              <a:t>of </a:t>
            </a:r>
            <a:r>
              <a:rPr b="1" i="1" lang="en-US" u="sng"/>
              <a:t>counterfeit</a:t>
            </a:r>
            <a:r>
              <a:rPr lang="en-US"/>
              <a:t> objects on a computing system.</a:t>
            </a:r>
            <a:endParaRPr/>
          </a:p>
          <a:p>
            <a:pPr indent="-53339" lvl="0" marL="182880" rtl="0" algn="l">
              <a:spcBef>
                <a:spcPts val="480"/>
              </a:spcBef>
              <a:spcAft>
                <a:spcPts val="1200"/>
              </a:spcAft>
              <a:buSzPts val="204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Method—Opportunity—Motive (MOM)</a:t>
            </a:r>
            <a:endParaRPr/>
          </a:p>
        </p:txBody>
      </p:sp>
      <p:pic>
        <p:nvPicPr>
          <p:cNvPr descr="fig01-11.eps" id="183" name="Google Shape;183;p28"/>
          <p:cNvPicPr preferRelativeResize="0"/>
          <p:nvPr>
            <p:ph idx="1" type="body"/>
          </p:nvPr>
        </p:nvPicPr>
        <p:blipFill rotWithShape="1">
          <a:blip r:embed="rId3">
            <a:alphaModFix/>
          </a:blip>
          <a:srcRect b="0" l="0" r="0" t="0"/>
          <a:stretch/>
        </p:blipFill>
        <p:spPr>
          <a:xfrm>
            <a:off x="2897124" y="2013457"/>
            <a:ext cx="3327549" cy="4297680"/>
          </a:xfrm>
          <a:prstGeom prst="rect">
            <a:avLst/>
          </a:prstGeom>
          <a:noFill/>
          <a:ln>
            <a:noFill/>
          </a:ln>
        </p:spPr>
      </p:pic>
      <p:sp>
        <p:nvSpPr>
          <p:cNvPr id="184" name="Google Shape;184;p28"/>
          <p:cNvSpPr txBox="1"/>
          <p:nvPr>
            <p:ph idx="10" type="dt"/>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85" name="Google Shape;185;p28"/>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2"/>
              </a:buClr>
              <a:buSzPts val="4000"/>
              <a:buFont typeface="Arial"/>
              <a:buNone/>
            </a:pPr>
            <a:r>
              <a:rPr lang="en-US"/>
              <a:t>Method, Opportunity, and Motive</a:t>
            </a:r>
            <a:endParaRPr/>
          </a:p>
        </p:txBody>
      </p:sp>
      <p:sp>
        <p:nvSpPr>
          <p:cNvPr id="191" name="Google Shape;191;p29"/>
          <p:cNvSpPr txBox="1"/>
          <p:nvPr>
            <p:ph idx="1" type="body"/>
          </p:nvPr>
        </p:nvSpPr>
        <p:spPr>
          <a:xfrm>
            <a:off x="232012" y="1600200"/>
            <a:ext cx="8789158" cy="4876800"/>
          </a:xfrm>
          <a:prstGeom prst="rect">
            <a:avLst/>
          </a:prstGeom>
          <a:noFill/>
          <a:ln>
            <a:noFill/>
          </a:ln>
        </p:spPr>
        <p:txBody>
          <a:bodyPr anchorCtr="0" anchor="t" bIns="45700" lIns="91425" spcFirstLastPara="1" rIns="91425" wrap="square" tIns="45700">
            <a:normAutofit lnSpcReduction="20000"/>
          </a:bodyPr>
          <a:lstStyle/>
          <a:p>
            <a:pPr indent="-182880" lvl="0" marL="182880" rtl="0" algn="l">
              <a:spcBef>
                <a:spcPts val="0"/>
              </a:spcBef>
              <a:spcAft>
                <a:spcPts val="0"/>
              </a:spcAft>
              <a:buSzPts val="2380"/>
              <a:buChar char="●"/>
            </a:pPr>
            <a:r>
              <a:rPr lang="en-US" sz="2800"/>
              <a:t>A malicious attacker must have </a:t>
            </a:r>
            <a:r>
              <a:rPr b="1" lang="en-US" sz="2800">
                <a:solidFill>
                  <a:srgbClr val="FF0000"/>
                </a:solidFill>
              </a:rPr>
              <a:t>three things (MOM)</a:t>
            </a:r>
            <a:r>
              <a:rPr lang="en-US" sz="2800"/>
              <a:t>:</a:t>
            </a:r>
            <a:endParaRPr/>
          </a:p>
          <a:p>
            <a:pPr indent="-53340" lvl="1" marL="457200" rtl="0" algn="l">
              <a:spcBef>
                <a:spcPts val="480"/>
              </a:spcBef>
              <a:spcAft>
                <a:spcPts val="0"/>
              </a:spcAft>
              <a:buSzPts val="2040"/>
              <a:buNone/>
            </a:pPr>
            <a:r>
              <a:t/>
            </a:r>
            <a:endParaRPr i="1" sz="2400">
              <a:solidFill>
                <a:srgbClr val="FF0000"/>
              </a:solidFill>
            </a:endParaRPr>
          </a:p>
          <a:p>
            <a:pPr indent="-182880" lvl="1" marL="457200" rtl="0" algn="l">
              <a:spcBef>
                <a:spcPts val="480"/>
              </a:spcBef>
              <a:spcAft>
                <a:spcPts val="0"/>
              </a:spcAft>
              <a:buSzPts val="2040"/>
              <a:buChar char="○"/>
            </a:pPr>
            <a:r>
              <a:rPr i="1" lang="en-US" sz="2400">
                <a:solidFill>
                  <a:srgbClr val="FF0000"/>
                </a:solidFill>
              </a:rPr>
              <a:t>method</a:t>
            </a:r>
            <a:r>
              <a:rPr i="1" lang="en-US" sz="2400"/>
              <a:t>:</a:t>
            </a:r>
            <a:r>
              <a:rPr lang="en-US" sz="2400"/>
              <a:t> the </a:t>
            </a:r>
            <a:r>
              <a:rPr b="1" lang="en-US" sz="2400" u="sng"/>
              <a:t>skills</a:t>
            </a:r>
            <a:r>
              <a:rPr lang="en-US" sz="2400"/>
              <a:t>, </a:t>
            </a:r>
            <a:r>
              <a:rPr b="1" lang="en-US" sz="2400" u="sng"/>
              <a:t>knowledge</a:t>
            </a:r>
            <a:r>
              <a:rPr lang="en-US" sz="2400"/>
              <a:t>, </a:t>
            </a:r>
            <a:r>
              <a:rPr b="1" lang="en-US" sz="2400" u="sng"/>
              <a:t>tools</a:t>
            </a:r>
            <a:r>
              <a:rPr lang="en-US" sz="2400"/>
              <a:t>, and other things with which to be able to pull off the attack</a:t>
            </a:r>
            <a:endParaRPr/>
          </a:p>
          <a:p>
            <a:pPr indent="-182879" lvl="2" marL="731520" rtl="0" algn="l">
              <a:spcBef>
                <a:spcPts val="400"/>
              </a:spcBef>
              <a:spcAft>
                <a:spcPts val="0"/>
              </a:spcAft>
              <a:buSzPts val="1800"/>
              <a:buChar char="■"/>
            </a:pPr>
            <a:r>
              <a:rPr lang="en-US" sz="2000"/>
              <a:t>Knowledge of systems are widely available</a:t>
            </a:r>
            <a:endParaRPr/>
          </a:p>
          <a:p>
            <a:pPr indent="-53340" lvl="1" marL="457200" rtl="0" algn="l">
              <a:spcBef>
                <a:spcPts val="480"/>
              </a:spcBef>
              <a:spcAft>
                <a:spcPts val="0"/>
              </a:spcAft>
              <a:buSzPts val="2040"/>
              <a:buNone/>
            </a:pPr>
            <a:r>
              <a:t/>
            </a:r>
            <a:endParaRPr i="1" sz="2400">
              <a:solidFill>
                <a:srgbClr val="FF0000"/>
              </a:solidFill>
            </a:endParaRPr>
          </a:p>
          <a:p>
            <a:pPr indent="-182880" lvl="1" marL="457200" rtl="0" algn="l">
              <a:spcBef>
                <a:spcPts val="480"/>
              </a:spcBef>
              <a:spcAft>
                <a:spcPts val="0"/>
              </a:spcAft>
              <a:buSzPts val="2040"/>
              <a:buChar char="○"/>
            </a:pPr>
            <a:r>
              <a:rPr i="1" lang="en-US" sz="2400">
                <a:solidFill>
                  <a:srgbClr val="FF0000"/>
                </a:solidFill>
              </a:rPr>
              <a:t>opportunity</a:t>
            </a:r>
            <a:r>
              <a:rPr i="1" lang="en-US" sz="2400"/>
              <a:t>:</a:t>
            </a:r>
            <a:r>
              <a:rPr lang="en-US" sz="2400"/>
              <a:t> the </a:t>
            </a:r>
            <a:r>
              <a:rPr b="1" lang="en-US" sz="2400" u="sng"/>
              <a:t>time</a:t>
            </a:r>
            <a:r>
              <a:rPr lang="en-US" sz="2400"/>
              <a:t> and </a:t>
            </a:r>
            <a:r>
              <a:rPr b="1" lang="en-US" sz="2400" u="sng"/>
              <a:t>access</a:t>
            </a:r>
            <a:r>
              <a:rPr lang="en-US" sz="2400"/>
              <a:t> to accomplish the attack</a:t>
            </a:r>
            <a:endParaRPr/>
          </a:p>
          <a:p>
            <a:pPr indent="-182879" lvl="2" marL="731520" rtl="0" algn="l">
              <a:spcBef>
                <a:spcPts val="400"/>
              </a:spcBef>
              <a:spcAft>
                <a:spcPts val="0"/>
              </a:spcAft>
              <a:buSzPts val="1800"/>
              <a:buChar char="■"/>
            </a:pPr>
            <a:r>
              <a:rPr lang="en-US" sz="2000"/>
              <a:t>Systems available to the public are accessible to them</a:t>
            </a:r>
            <a:endParaRPr/>
          </a:p>
          <a:p>
            <a:pPr indent="-53340" lvl="1" marL="457200" rtl="0" algn="l">
              <a:spcBef>
                <a:spcPts val="480"/>
              </a:spcBef>
              <a:spcAft>
                <a:spcPts val="0"/>
              </a:spcAft>
              <a:buSzPts val="2040"/>
              <a:buNone/>
            </a:pPr>
            <a:r>
              <a:t/>
            </a:r>
            <a:endParaRPr i="1" sz="2400">
              <a:solidFill>
                <a:srgbClr val="FF0000"/>
              </a:solidFill>
            </a:endParaRPr>
          </a:p>
          <a:p>
            <a:pPr indent="-182880" lvl="1" marL="457200" rtl="0" algn="l">
              <a:spcBef>
                <a:spcPts val="480"/>
              </a:spcBef>
              <a:spcAft>
                <a:spcPts val="0"/>
              </a:spcAft>
              <a:buSzPts val="2040"/>
              <a:buChar char="○"/>
            </a:pPr>
            <a:r>
              <a:rPr i="1" lang="en-US" sz="2400">
                <a:solidFill>
                  <a:srgbClr val="FF0000"/>
                </a:solidFill>
              </a:rPr>
              <a:t>motive</a:t>
            </a:r>
            <a:r>
              <a:rPr i="1" lang="en-US" sz="2400"/>
              <a:t>:</a:t>
            </a:r>
            <a:r>
              <a:rPr lang="en-US" sz="2400"/>
              <a:t> a </a:t>
            </a:r>
            <a:r>
              <a:rPr b="1" lang="en-US" sz="2400" u="sng"/>
              <a:t>reason</a:t>
            </a:r>
            <a:r>
              <a:rPr lang="en-US" sz="2400"/>
              <a:t> to want to perform this attack against this system</a:t>
            </a:r>
            <a:endParaRPr/>
          </a:p>
          <a:p>
            <a:pPr indent="-31750" lvl="0" marL="182880" rtl="0" algn="l">
              <a:spcBef>
                <a:spcPts val="560"/>
              </a:spcBef>
              <a:spcAft>
                <a:spcPts val="1200"/>
              </a:spcAft>
              <a:buSzPts val="2380"/>
              <a:buNone/>
            </a:pPr>
            <a:r>
              <a:t/>
            </a:r>
            <a:endParaRPr sz="2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ph type="title"/>
          </p:nvPr>
        </p:nvSpPr>
        <p:spPr>
          <a:xfrm>
            <a:off x="457200" y="533400"/>
            <a:ext cx="8229600" cy="80408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2"/>
              </a:buClr>
              <a:buSzPts val="4000"/>
              <a:buFont typeface="Arial"/>
              <a:buNone/>
            </a:pPr>
            <a:r>
              <a:rPr lang="en-US"/>
              <a:t>Controls/Countermeasures</a:t>
            </a:r>
            <a:endParaRPr/>
          </a:p>
        </p:txBody>
      </p:sp>
      <p:pic>
        <p:nvPicPr>
          <p:cNvPr descr="fig01-13.eps" id="198" name="Google Shape;198;p30"/>
          <p:cNvPicPr preferRelativeResize="0"/>
          <p:nvPr/>
        </p:nvPicPr>
        <p:blipFill rotWithShape="1">
          <a:blip r:embed="rId3">
            <a:alphaModFix/>
          </a:blip>
          <a:srcRect b="0" l="0" r="0" t="0"/>
          <a:stretch/>
        </p:blipFill>
        <p:spPr>
          <a:xfrm>
            <a:off x="1476659" y="1524000"/>
            <a:ext cx="6173409" cy="5029200"/>
          </a:xfrm>
          <a:prstGeom prst="rect">
            <a:avLst/>
          </a:prstGeom>
          <a:noFill/>
          <a:ln>
            <a:noFill/>
          </a:ln>
        </p:spPr>
      </p:pic>
      <p:sp>
        <p:nvSpPr>
          <p:cNvPr id="199" name="Google Shape;199;p30"/>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200" name="Google Shape;200;p30"/>
          <p:cNvSpPr txBox="1"/>
          <p:nvPr>
            <p:ph idx="12" type="sldNum"/>
          </p:nvPr>
        </p:nvSpPr>
        <p:spPr>
          <a:xfrm>
            <a:off x="8472458" y="6217622"/>
            <a:ext cx="548700" cy="524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type="title"/>
          </p:nvPr>
        </p:nvSpPr>
        <p:spPr>
          <a:xfrm>
            <a:off x="457200" y="423746"/>
            <a:ext cx="8229600" cy="75828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Security Goals</a:t>
            </a:r>
            <a:endParaRPr/>
          </a:p>
        </p:txBody>
      </p:sp>
      <p:sp>
        <p:nvSpPr>
          <p:cNvPr id="206" name="Google Shape;206;p31"/>
          <p:cNvSpPr txBox="1"/>
          <p:nvPr>
            <p:ph idx="1" type="body"/>
          </p:nvPr>
        </p:nvSpPr>
        <p:spPr>
          <a:xfrm>
            <a:off x="223024" y="1382751"/>
            <a:ext cx="8631044" cy="5296829"/>
          </a:xfrm>
          <a:prstGeom prst="rect">
            <a:avLst/>
          </a:prstGeom>
          <a:noFill/>
          <a:ln>
            <a:noFill/>
          </a:ln>
        </p:spPr>
        <p:txBody>
          <a:bodyPr anchorCtr="0" anchor="t" bIns="45700" lIns="91425" spcFirstLastPara="1" rIns="91425" wrap="square" tIns="45700">
            <a:normAutofit fontScale="85000" lnSpcReduction="10000"/>
          </a:bodyPr>
          <a:lstStyle/>
          <a:p>
            <a:pPr indent="-182880" lvl="0" marL="182880" rtl="0" algn="l">
              <a:spcBef>
                <a:spcPts val="0"/>
              </a:spcBef>
              <a:spcAft>
                <a:spcPts val="0"/>
              </a:spcAft>
              <a:buSzPct val="113333"/>
              <a:buChar char="●"/>
            </a:pPr>
            <a:r>
              <a:rPr lang="en-US"/>
              <a:t>When we talk about computer security, we mean that we are addressing three important aspects of any computer-related system</a:t>
            </a:r>
            <a:r>
              <a:rPr lang="en-US">
                <a:solidFill>
                  <a:srgbClr val="FF0000"/>
                </a:solidFill>
              </a:rPr>
              <a:t>: </a:t>
            </a:r>
            <a:r>
              <a:rPr b="1" lang="en-US">
                <a:solidFill>
                  <a:srgbClr val="FF0000"/>
                </a:solidFill>
              </a:rPr>
              <a:t>confidentiality</a:t>
            </a:r>
            <a:r>
              <a:rPr lang="en-US">
                <a:solidFill>
                  <a:srgbClr val="FF0000"/>
                </a:solidFill>
              </a:rPr>
              <a:t>, </a:t>
            </a:r>
            <a:r>
              <a:rPr b="1" lang="en-US">
                <a:solidFill>
                  <a:srgbClr val="FF0000"/>
                </a:solidFill>
              </a:rPr>
              <a:t>integrity,</a:t>
            </a:r>
            <a:r>
              <a:rPr lang="en-US">
                <a:solidFill>
                  <a:srgbClr val="FF0000"/>
                </a:solidFill>
              </a:rPr>
              <a:t> &amp; </a:t>
            </a:r>
            <a:r>
              <a:rPr b="1" lang="en-US">
                <a:solidFill>
                  <a:srgbClr val="FF0000"/>
                </a:solidFill>
              </a:rPr>
              <a:t>availability (CIA)</a:t>
            </a:r>
            <a:endParaRPr/>
          </a:p>
          <a:p>
            <a:pPr indent="-91122" lvl="1" marL="457200" rtl="0" algn="l">
              <a:spcBef>
                <a:spcPts val="340"/>
              </a:spcBef>
              <a:spcAft>
                <a:spcPts val="0"/>
              </a:spcAft>
              <a:buSzPct val="121428"/>
              <a:buNone/>
            </a:pPr>
            <a:r>
              <a:t/>
            </a:r>
            <a:endParaRPr b="1">
              <a:solidFill>
                <a:srgbClr val="FF0000"/>
              </a:solidFill>
            </a:endParaRPr>
          </a:p>
          <a:p>
            <a:pPr indent="-182880" lvl="1" marL="457200" rtl="0" algn="l">
              <a:spcBef>
                <a:spcPts val="442"/>
              </a:spcBef>
              <a:spcAft>
                <a:spcPts val="0"/>
              </a:spcAft>
              <a:buSzPct val="85000"/>
              <a:buChar char="○"/>
            </a:pPr>
            <a:r>
              <a:rPr b="1" lang="en-US" sz="2600">
                <a:solidFill>
                  <a:srgbClr val="FF0000"/>
                </a:solidFill>
              </a:rPr>
              <a:t>Confidentiality</a:t>
            </a:r>
            <a:r>
              <a:rPr lang="en-US" sz="2600">
                <a:solidFill>
                  <a:srgbClr val="FF0000"/>
                </a:solidFill>
              </a:rPr>
              <a:t> </a:t>
            </a:r>
            <a:r>
              <a:rPr lang="en-US" sz="2600"/>
              <a:t>ensures that computer-related assets are accessed only by authorized parties.</a:t>
            </a:r>
            <a:endParaRPr/>
          </a:p>
          <a:p>
            <a:pPr indent="-182879" lvl="2" marL="731520" rtl="0" algn="l">
              <a:spcBef>
                <a:spcPts val="408"/>
              </a:spcBef>
              <a:spcAft>
                <a:spcPts val="0"/>
              </a:spcAft>
              <a:buSzPct val="90000"/>
              <a:buChar char="■"/>
            </a:pPr>
            <a:r>
              <a:rPr b="1" lang="en-US" sz="2400">
                <a:solidFill>
                  <a:srgbClr val="FF0000"/>
                </a:solidFill>
              </a:rPr>
              <a:t>i.e</a:t>
            </a:r>
            <a:r>
              <a:rPr lang="en-US" sz="2400">
                <a:solidFill>
                  <a:srgbClr val="FF0000"/>
                </a:solidFill>
              </a:rPr>
              <a:t>. </a:t>
            </a:r>
            <a:r>
              <a:rPr lang="en-US" sz="2400" u="sng">
                <a:solidFill>
                  <a:srgbClr val="0070C0"/>
                </a:solidFill>
              </a:rPr>
              <a:t>reading</a:t>
            </a:r>
            <a:r>
              <a:rPr lang="en-US" sz="2400"/>
              <a:t>, </a:t>
            </a:r>
            <a:r>
              <a:rPr lang="en-US" sz="2400" u="sng">
                <a:solidFill>
                  <a:srgbClr val="0070C0"/>
                </a:solidFill>
              </a:rPr>
              <a:t>viewing</a:t>
            </a:r>
            <a:r>
              <a:rPr lang="en-US" sz="2400"/>
              <a:t>, </a:t>
            </a:r>
            <a:r>
              <a:rPr lang="en-US" sz="2400" u="sng">
                <a:solidFill>
                  <a:srgbClr val="0070C0"/>
                </a:solidFill>
              </a:rPr>
              <a:t>printing</a:t>
            </a:r>
            <a:r>
              <a:rPr lang="en-US" sz="2400"/>
              <a:t>, or even </a:t>
            </a:r>
            <a:r>
              <a:rPr lang="en-US" sz="2400" u="sng">
                <a:solidFill>
                  <a:srgbClr val="0070C0"/>
                </a:solidFill>
              </a:rPr>
              <a:t>knowing their existence</a:t>
            </a:r>
            <a:endParaRPr/>
          </a:p>
          <a:p>
            <a:pPr indent="-182879" lvl="2" marL="731520" rtl="0" algn="l">
              <a:spcBef>
                <a:spcPts val="408"/>
              </a:spcBef>
              <a:spcAft>
                <a:spcPts val="0"/>
              </a:spcAft>
              <a:buSzPct val="90000"/>
              <a:buChar char="■"/>
            </a:pPr>
            <a:r>
              <a:rPr lang="en-US" sz="2400"/>
              <a:t>Secrecy or privacy</a:t>
            </a:r>
            <a:endParaRPr/>
          </a:p>
          <a:p>
            <a:pPr indent="-86534" lvl="1" marL="457200" rtl="0" algn="l">
              <a:spcBef>
                <a:spcPts val="357"/>
              </a:spcBef>
              <a:spcAft>
                <a:spcPts val="0"/>
              </a:spcAft>
              <a:buSzPct val="85000"/>
              <a:buNone/>
            </a:pPr>
            <a:r>
              <a:t/>
            </a:r>
            <a:endParaRPr b="1" sz="2100">
              <a:solidFill>
                <a:srgbClr val="FF0000"/>
              </a:solidFill>
            </a:endParaRPr>
          </a:p>
          <a:p>
            <a:pPr indent="-182880" lvl="1" marL="457200" rtl="0" algn="l">
              <a:spcBef>
                <a:spcPts val="442"/>
              </a:spcBef>
              <a:spcAft>
                <a:spcPts val="0"/>
              </a:spcAft>
              <a:buSzPct val="85000"/>
              <a:buChar char="○"/>
            </a:pPr>
            <a:r>
              <a:rPr b="1" lang="en-US" sz="2600">
                <a:solidFill>
                  <a:srgbClr val="FF0000"/>
                </a:solidFill>
              </a:rPr>
              <a:t>Integrity</a:t>
            </a:r>
            <a:r>
              <a:rPr lang="en-US" sz="2600">
                <a:solidFill>
                  <a:srgbClr val="FF0000"/>
                </a:solidFill>
              </a:rPr>
              <a:t> </a:t>
            </a:r>
            <a:r>
              <a:rPr lang="en-US" sz="2600"/>
              <a:t>means that assets can be modified only by authorized parties or only in authorized ways.</a:t>
            </a:r>
            <a:endParaRPr/>
          </a:p>
          <a:p>
            <a:pPr indent="-182879" lvl="2" marL="731520" rtl="0" algn="l">
              <a:spcBef>
                <a:spcPts val="408"/>
              </a:spcBef>
              <a:spcAft>
                <a:spcPts val="0"/>
              </a:spcAft>
              <a:buSzPct val="90000"/>
              <a:buChar char="■"/>
            </a:pPr>
            <a:r>
              <a:rPr b="1" lang="en-US" sz="2400">
                <a:solidFill>
                  <a:srgbClr val="FF0000"/>
                </a:solidFill>
              </a:rPr>
              <a:t>i.e</a:t>
            </a:r>
            <a:r>
              <a:rPr lang="en-US" sz="2400">
                <a:solidFill>
                  <a:srgbClr val="FF0000"/>
                </a:solidFill>
              </a:rPr>
              <a:t>. </a:t>
            </a:r>
            <a:r>
              <a:rPr lang="en-US" sz="2400" u="sng">
                <a:solidFill>
                  <a:srgbClr val="0070C0"/>
                </a:solidFill>
              </a:rPr>
              <a:t>writing</a:t>
            </a:r>
            <a:r>
              <a:rPr lang="en-US" sz="2400"/>
              <a:t>, </a:t>
            </a:r>
            <a:r>
              <a:rPr lang="en-US" sz="2400" u="sng">
                <a:solidFill>
                  <a:srgbClr val="0070C0"/>
                </a:solidFill>
              </a:rPr>
              <a:t>changing</a:t>
            </a:r>
            <a:r>
              <a:rPr lang="en-US" sz="2400"/>
              <a:t>, </a:t>
            </a:r>
            <a:r>
              <a:rPr lang="en-US" sz="2400" u="sng">
                <a:solidFill>
                  <a:srgbClr val="0070C0"/>
                </a:solidFill>
              </a:rPr>
              <a:t>deleting</a:t>
            </a:r>
            <a:r>
              <a:rPr lang="en-US" sz="2400"/>
              <a:t>, </a:t>
            </a:r>
            <a:r>
              <a:rPr lang="en-US" sz="2400" u="sng">
                <a:solidFill>
                  <a:srgbClr val="0070C0"/>
                </a:solidFill>
              </a:rPr>
              <a:t>creating</a:t>
            </a:r>
            <a:endParaRPr/>
          </a:p>
          <a:p>
            <a:pPr indent="-95710" lvl="1" marL="457200" rtl="0" algn="l">
              <a:spcBef>
                <a:spcPts val="323"/>
              </a:spcBef>
              <a:spcAft>
                <a:spcPts val="0"/>
              </a:spcAft>
              <a:buSzPct val="85000"/>
              <a:buNone/>
            </a:pPr>
            <a:r>
              <a:t/>
            </a:r>
            <a:endParaRPr b="1" sz="1900">
              <a:solidFill>
                <a:srgbClr val="FF0000"/>
              </a:solidFill>
            </a:endParaRPr>
          </a:p>
          <a:p>
            <a:pPr indent="-182880" lvl="1" marL="457200" rtl="0" algn="l">
              <a:spcBef>
                <a:spcPts val="442"/>
              </a:spcBef>
              <a:spcAft>
                <a:spcPts val="0"/>
              </a:spcAft>
              <a:buSzPct val="85000"/>
              <a:buChar char="○"/>
            </a:pPr>
            <a:r>
              <a:rPr b="1" lang="en-US" sz="2600">
                <a:solidFill>
                  <a:srgbClr val="FF0000"/>
                </a:solidFill>
              </a:rPr>
              <a:t>Availability</a:t>
            </a:r>
            <a:r>
              <a:rPr lang="en-US" sz="2600">
                <a:solidFill>
                  <a:srgbClr val="FF0000"/>
                </a:solidFill>
              </a:rPr>
              <a:t> </a:t>
            </a:r>
            <a:r>
              <a:rPr lang="en-US" sz="2600"/>
              <a:t>means that assets are accessible to authorized parties at appropriate times. </a:t>
            </a:r>
            <a:endParaRPr/>
          </a:p>
          <a:p>
            <a:pPr indent="-182879" lvl="2" marL="731520" rtl="0" algn="l">
              <a:spcBef>
                <a:spcPts val="408"/>
              </a:spcBef>
              <a:spcAft>
                <a:spcPts val="1200"/>
              </a:spcAft>
              <a:buSzPct val="90000"/>
              <a:buChar char="■"/>
            </a:pPr>
            <a:r>
              <a:rPr lang="en-US" sz="2400">
                <a:solidFill>
                  <a:srgbClr val="FF0000"/>
                </a:solidFill>
              </a:rPr>
              <a:t>i.e.</a:t>
            </a:r>
            <a:r>
              <a:rPr lang="en-US" sz="2400"/>
              <a:t> often, availability is known by its opposite, </a:t>
            </a:r>
            <a:r>
              <a:rPr lang="en-US" sz="2400" u="sng">
                <a:solidFill>
                  <a:srgbClr val="0070C0"/>
                </a:solidFill>
              </a:rPr>
              <a:t>denial of service</a:t>
            </a:r>
            <a:r>
              <a:rPr lang="en-US" sz="2400"/>
              <a:t>.</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2"/>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3600"/>
              <a:buFont typeface="Arial"/>
              <a:buNone/>
            </a:pPr>
            <a:r>
              <a:rPr lang="en-US" sz="3600"/>
              <a:t>Relationship between Confidentiality Integrity and Availability</a:t>
            </a:r>
            <a:endParaRPr/>
          </a:p>
        </p:txBody>
      </p:sp>
      <p:sp>
        <p:nvSpPr>
          <p:cNvPr id="213" name="Google Shape;213;p32"/>
          <p:cNvSpPr/>
          <p:nvPr/>
        </p:nvSpPr>
        <p:spPr>
          <a:xfrm>
            <a:off x="2141033" y="3854472"/>
            <a:ext cx="2631688" cy="2435475"/>
          </a:xfrm>
          <a:prstGeom prst="ellipse">
            <a:avLst/>
          </a:prstGeom>
          <a:solidFill>
            <a:srgbClr val="00FF00">
              <a:alpha val="24705"/>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1600"/>
              <a:buFont typeface="Times"/>
              <a:buNone/>
            </a:pPr>
            <a:r>
              <a:t/>
            </a:r>
            <a:endParaRPr sz="1600">
              <a:solidFill>
                <a:schemeClr val="dk1"/>
              </a:solidFill>
              <a:latin typeface="Times"/>
              <a:ea typeface="Times"/>
              <a:cs typeface="Times"/>
              <a:sym typeface="Times"/>
            </a:endParaRPr>
          </a:p>
          <a:p>
            <a:pPr indent="-342900" lvl="0" marL="342900" marR="0" rtl="0" algn="l">
              <a:spcBef>
                <a:spcPts val="0"/>
              </a:spcBef>
              <a:spcAft>
                <a:spcPts val="0"/>
              </a:spcAft>
              <a:buClr>
                <a:schemeClr val="dk1"/>
              </a:buClr>
              <a:buSzPts val="1600"/>
              <a:buFont typeface="Times"/>
              <a:buNone/>
            </a:pPr>
            <a:r>
              <a:t/>
            </a:r>
            <a:endParaRPr sz="1600">
              <a:solidFill>
                <a:schemeClr val="dk1"/>
              </a:solidFill>
              <a:latin typeface="Times"/>
              <a:ea typeface="Times"/>
              <a:cs typeface="Times"/>
              <a:sym typeface="Times"/>
            </a:endParaRPr>
          </a:p>
          <a:p>
            <a:pPr indent="-342900" lvl="0" marL="342900" marR="0" rtl="0" algn="l">
              <a:spcBef>
                <a:spcPts val="0"/>
              </a:spcBef>
              <a:spcAft>
                <a:spcPts val="0"/>
              </a:spcAft>
              <a:buClr>
                <a:schemeClr val="dk1"/>
              </a:buClr>
              <a:buSzPts val="1600"/>
              <a:buFont typeface="Times"/>
              <a:buNone/>
            </a:pPr>
            <a:r>
              <a:rPr lang="en-US" sz="1600">
                <a:solidFill>
                  <a:schemeClr val="dk1"/>
                </a:solidFill>
                <a:latin typeface="Times"/>
                <a:ea typeface="Times"/>
                <a:cs typeface="Times"/>
                <a:sym typeface="Times"/>
              </a:rPr>
              <a:t>Integrity</a:t>
            </a:r>
            <a:endParaRPr/>
          </a:p>
        </p:txBody>
      </p:sp>
      <p:sp>
        <p:nvSpPr>
          <p:cNvPr id="214" name="Google Shape;214;p32"/>
          <p:cNvSpPr/>
          <p:nvPr>
            <p:ph idx="1" type="body"/>
          </p:nvPr>
        </p:nvSpPr>
        <p:spPr>
          <a:xfrm>
            <a:off x="3021979" y="2988526"/>
            <a:ext cx="2631688" cy="2381353"/>
          </a:xfrm>
          <a:prstGeom prst="ellipse">
            <a:avLst/>
          </a:prstGeom>
          <a:solidFill>
            <a:srgbClr val="FF0000">
              <a:alpha val="24705"/>
            </a:srgb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rtl="0" algn="l">
              <a:spcBef>
                <a:spcPts val="0"/>
              </a:spcBef>
              <a:spcAft>
                <a:spcPts val="1200"/>
              </a:spcAft>
              <a:buClr>
                <a:schemeClr val="dk1"/>
              </a:buClr>
              <a:buSzPts val="1600"/>
              <a:buFont typeface="Arial"/>
              <a:buNone/>
            </a:pPr>
            <a:r>
              <a:rPr lang="en-US" sz="1600"/>
              <a:t>        Confidentiality</a:t>
            </a:r>
            <a:endParaRPr/>
          </a:p>
        </p:txBody>
      </p:sp>
      <p:sp>
        <p:nvSpPr>
          <p:cNvPr id="215" name="Google Shape;215;p32"/>
          <p:cNvSpPr/>
          <p:nvPr/>
        </p:nvSpPr>
        <p:spPr>
          <a:xfrm>
            <a:off x="3463435" y="3908594"/>
            <a:ext cx="2892760" cy="2381353"/>
          </a:xfrm>
          <a:prstGeom prst="ellipse">
            <a:avLst/>
          </a:prstGeom>
          <a:solidFill>
            <a:srgbClr val="FFFF00">
              <a:alpha val="24705"/>
            </a:srgb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1600"/>
              <a:buFont typeface="Times"/>
              <a:buNone/>
            </a:pPr>
            <a:r>
              <a:t/>
            </a:r>
            <a:endParaRPr sz="1600">
              <a:solidFill>
                <a:schemeClr val="dk1"/>
              </a:solidFill>
              <a:latin typeface="Times"/>
              <a:ea typeface="Times"/>
              <a:cs typeface="Times"/>
              <a:sym typeface="Times"/>
            </a:endParaRPr>
          </a:p>
          <a:p>
            <a:pPr indent="-342900" lvl="0" marL="342900" marR="0" rtl="0" algn="l">
              <a:spcBef>
                <a:spcPts val="0"/>
              </a:spcBef>
              <a:spcAft>
                <a:spcPts val="0"/>
              </a:spcAft>
              <a:buClr>
                <a:schemeClr val="dk1"/>
              </a:buClr>
              <a:buSzPts val="1600"/>
              <a:buFont typeface="Times"/>
              <a:buNone/>
            </a:pPr>
            <a:r>
              <a:t/>
            </a:r>
            <a:endParaRPr sz="1600">
              <a:solidFill>
                <a:schemeClr val="dk1"/>
              </a:solidFill>
              <a:latin typeface="Times"/>
              <a:ea typeface="Times"/>
              <a:cs typeface="Times"/>
              <a:sym typeface="Times"/>
            </a:endParaRPr>
          </a:p>
          <a:p>
            <a:pPr indent="-342900" lvl="0" marL="342900" marR="0" rtl="0" algn="l">
              <a:spcBef>
                <a:spcPts val="0"/>
              </a:spcBef>
              <a:spcAft>
                <a:spcPts val="0"/>
              </a:spcAft>
              <a:buClr>
                <a:schemeClr val="dk1"/>
              </a:buClr>
              <a:buSzPts val="1600"/>
              <a:buFont typeface="Times"/>
              <a:buNone/>
            </a:pPr>
            <a:r>
              <a:rPr lang="en-US" sz="1600">
                <a:solidFill>
                  <a:schemeClr val="dk1"/>
                </a:solidFill>
                <a:latin typeface="Times"/>
                <a:ea typeface="Times"/>
                <a:cs typeface="Times"/>
                <a:sym typeface="Times"/>
              </a:rPr>
              <a:t>Secure</a:t>
            </a:r>
            <a:endParaRPr/>
          </a:p>
          <a:p>
            <a:pPr indent="-342900" lvl="0" marL="342900" marR="0" rtl="0" algn="l">
              <a:spcBef>
                <a:spcPts val="0"/>
              </a:spcBef>
              <a:spcAft>
                <a:spcPts val="0"/>
              </a:spcAft>
              <a:buClr>
                <a:schemeClr val="dk1"/>
              </a:buClr>
              <a:buSzPts val="1600"/>
              <a:buFont typeface="Times"/>
              <a:buNone/>
            </a:pPr>
            <a:r>
              <a:t/>
            </a:r>
            <a:endParaRPr sz="1600">
              <a:solidFill>
                <a:schemeClr val="dk1"/>
              </a:solidFill>
              <a:latin typeface="Times"/>
              <a:ea typeface="Times"/>
              <a:cs typeface="Times"/>
              <a:sym typeface="Times"/>
            </a:endParaRPr>
          </a:p>
          <a:p>
            <a:pPr indent="-342900" lvl="0" marL="342900" marR="0" rtl="0" algn="l">
              <a:spcBef>
                <a:spcPts val="0"/>
              </a:spcBef>
              <a:spcAft>
                <a:spcPts val="0"/>
              </a:spcAft>
              <a:buClr>
                <a:schemeClr val="dk1"/>
              </a:buClr>
              <a:buSzPts val="1600"/>
              <a:buFont typeface="Times"/>
              <a:buNone/>
            </a:pPr>
            <a:r>
              <a:rPr lang="en-US" sz="1600">
                <a:solidFill>
                  <a:schemeClr val="dk1"/>
                </a:solidFill>
                <a:latin typeface="Times"/>
                <a:ea typeface="Times"/>
                <a:cs typeface="Times"/>
                <a:sym typeface="Times"/>
              </a:rPr>
              <a:t>                 Availability</a:t>
            </a:r>
            <a:endParaRPr sz="1600">
              <a:solidFill>
                <a:schemeClr val="dk1"/>
              </a:solidFill>
              <a:latin typeface="Times"/>
              <a:ea typeface="Times"/>
              <a:cs typeface="Times"/>
              <a:sym typeface="Times"/>
            </a:endParaRPr>
          </a:p>
        </p:txBody>
      </p:sp>
      <p:sp>
        <p:nvSpPr>
          <p:cNvPr id="216" name="Google Shape;216;p32"/>
          <p:cNvSpPr txBox="1"/>
          <p:nvPr/>
        </p:nvSpPr>
        <p:spPr>
          <a:xfrm>
            <a:off x="457200" y="1600200"/>
            <a:ext cx="8084634" cy="875371"/>
          </a:xfrm>
          <a:prstGeom prst="rect">
            <a:avLst/>
          </a:prstGeom>
          <a:noFill/>
          <a:ln>
            <a:noFill/>
          </a:ln>
        </p:spPr>
        <p:txBody>
          <a:bodyPr anchorCtr="0" anchor="t" bIns="45700" lIns="91425" spcFirstLastPara="1" rIns="91425" wrap="square" tIns="45700">
            <a:normAutofit/>
          </a:bodyPr>
          <a:lstStyle/>
          <a:p>
            <a:pPr indent="-182880" lvl="0" marL="182880" marR="0" rtl="0" algn="l">
              <a:spcBef>
                <a:spcPts val="0"/>
              </a:spcBef>
              <a:spcAft>
                <a:spcPts val="0"/>
              </a:spcAft>
              <a:buClr>
                <a:schemeClr val="accent1"/>
              </a:buClr>
              <a:buSzPts val="2040"/>
              <a:buFont typeface="Arial"/>
              <a:buChar char="•"/>
            </a:pPr>
            <a:r>
              <a:rPr lang="en-US" sz="2400">
                <a:solidFill>
                  <a:schemeClr val="dk1"/>
                </a:solidFill>
                <a:latin typeface="Arial"/>
                <a:ea typeface="Arial"/>
                <a:cs typeface="Arial"/>
                <a:sym typeface="Arial"/>
              </a:rPr>
              <a:t>In fact, these three </a:t>
            </a:r>
            <a:r>
              <a:rPr lang="en-US" sz="2400">
                <a:solidFill>
                  <a:srgbClr val="FF0000"/>
                </a:solidFill>
                <a:latin typeface="Arial"/>
                <a:ea typeface="Arial"/>
                <a:cs typeface="Arial"/>
                <a:sym typeface="Arial"/>
              </a:rPr>
              <a:t>characteristics</a:t>
            </a:r>
            <a:r>
              <a:rPr lang="en-US" sz="2400">
                <a:solidFill>
                  <a:schemeClr val="dk1"/>
                </a:solidFill>
                <a:latin typeface="Arial"/>
                <a:ea typeface="Arial"/>
                <a:cs typeface="Arial"/>
                <a:sym typeface="Arial"/>
              </a:rPr>
              <a:t> can be </a:t>
            </a:r>
            <a:r>
              <a:rPr lang="en-US" sz="2400">
                <a:solidFill>
                  <a:srgbClr val="0070C0"/>
                </a:solidFill>
                <a:latin typeface="Arial"/>
                <a:ea typeface="Arial"/>
                <a:cs typeface="Arial"/>
                <a:sym typeface="Arial"/>
              </a:rPr>
              <a:t>independent</a:t>
            </a:r>
            <a:r>
              <a:rPr lang="en-US" sz="2400">
                <a:solidFill>
                  <a:schemeClr val="dk1"/>
                </a:solidFill>
                <a:latin typeface="Arial"/>
                <a:ea typeface="Arial"/>
                <a:cs typeface="Arial"/>
                <a:sym typeface="Arial"/>
              </a:rPr>
              <a:t>, can </a:t>
            </a:r>
            <a:r>
              <a:rPr lang="en-US" sz="2400">
                <a:solidFill>
                  <a:srgbClr val="0070C0"/>
                </a:solidFill>
                <a:latin typeface="Arial"/>
                <a:ea typeface="Arial"/>
                <a:cs typeface="Arial"/>
                <a:sym typeface="Arial"/>
              </a:rPr>
              <a:t>overlap</a:t>
            </a:r>
            <a:r>
              <a:rPr lang="en-US" sz="2400">
                <a:solidFill>
                  <a:schemeClr val="dk1"/>
                </a:solidFill>
                <a:latin typeface="Arial"/>
                <a:ea typeface="Arial"/>
                <a:cs typeface="Arial"/>
                <a:sym typeface="Arial"/>
              </a:rPr>
              <a:t>, and can even be </a:t>
            </a:r>
            <a:r>
              <a:rPr lang="en-US" sz="2400">
                <a:solidFill>
                  <a:srgbClr val="0070C0"/>
                </a:solidFill>
                <a:latin typeface="Arial"/>
                <a:ea typeface="Arial"/>
                <a:cs typeface="Arial"/>
                <a:sym typeface="Arial"/>
              </a:rPr>
              <a:t>mutually exclusive</a:t>
            </a:r>
            <a:r>
              <a:rPr lang="en-US" sz="2400">
                <a:solidFill>
                  <a:schemeClr val="dk1"/>
                </a:solidFill>
                <a:latin typeface="Arial"/>
                <a:ea typeface="Arial"/>
                <a:cs typeface="Arial"/>
                <a:sym typeface="Arial"/>
              </a:rPr>
              <a:t>.</a:t>
            </a:r>
            <a:endParaRPr/>
          </a:p>
          <a:p>
            <a:pPr indent="-53339" lvl="0" marL="182880" marR="0" rtl="0" algn="l">
              <a:spcBef>
                <a:spcPts val="480"/>
              </a:spcBef>
              <a:spcAft>
                <a:spcPts val="0"/>
              </a:spcAft>
              <a:buClr>
                <a:schemeClr val="accent1"/>
              </a:buClr>
              <a:buSzPts val="2040"/>
              <a:buFont typeface="Arial"/>
              <a:buNone/>
            </a:pPr>
            <a:r>
              <a:t/>
            </a:r>
            <a:endParaRPr sz="2400">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3"/>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
        <p:nvSpPr>
          <p:cNvPr id="223" name="Google Shape;223;p33"/>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Goals of Security</a:t>
            </a:r>
            <a:endParaRPr/>
          </a:p>
        </p:txBody>
      </p:sp>
      <p:sp>
        <p:nvSpPr>
          <p:cNvPr id="224" name="Google Shape;224;p33"/>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lnSpc>
                <a:spcPct val="90000"/>
              </a:lnSpc>
              <a:spcBef>
                <a:spcPts val="0"/>
              </a:spcBef>
              <a:spcAft>
                <a:spcPts val="0"/>
              </a:spcAft>
              <a:buSzPts val="2380"/>
              <a:buChar char="●"/>
            </a:pPr>
            <a:r>
              <a:rPr lang="en-US" sz="2800"/>
              <a:t>Prevention</a:t>
            </a:r>
            <a:endParaRPr/>
          </a:p>
          <a:p>
            <a:pPr indent="-182880" lvl="1" marL="457200" rtl="0" algn="l">
              <a:lnSpc>
                <a:spcPct val="90000"/>
              </a:lnSpc>
              <a:spcBef>
                <a:spcPts val="480"/>
              </a:spcBef>
              <a:spcAft>
                <a:spcPts val="0"/>
              </a:spcAft>
              <a:buSzPts val="2040"/>
              <a:buChar char="○"/>
            </a:pPr>
            <a:r>
              <a:rPr lang="en-US" sz="2400">
                <a:solidFill>
                  <a:srgbClr val="0070C0"/>
                </a:solidFill>
              </a:rPr>
              <a:t>Prevent</a:t>
            </a:r>
            <a:r>
              <a:rPr lang="en-US" sz="2400"/>
              <a:t> attackers from violating </a:t>
            </a:r>
            <a:r>
              <a:rPr lang="en-US" sz="2400">
                <a:solidFill>
                  <a:srgbClr val="0070C0"/>
                </a:solidFill>
              </a:rPr>
              <a:t>security policy</a:t>
            </a:r>
            <a:endParaRPr/>
          </a:p>
          <a:p>
            <a:pPr indent="-31750" lvl="0" marL="182880" rtl="0" algn="l">
              <a:lnSpc>
                <a:spcPct val="90000"/>
              </a:lnSpc>
              <a:spcBef>
                <a:spcPts val="560"/>
              </a:spcBef>
              <a:spcAft>
                <a:spcPts val="0"/>
              </a:spcAft>
              <a:buSzPts val="2380"/>
              <a:buNone/>
            </a:pPr>
            <a:r>
              <a:t/>
            </a:r>
            <a:endParaRPr sz="2800"/>
          </a:p>
          <a:p>
            <a:pPr indent="-182880" lvl="0" marL="182880" rtl="0" algn="l">
              <a:lnSpc>
                <a:spcPct val="90000"/>
              </a:lnSpc>
              <a:spcBef>
                <a:spcPts val="560"/>
              </a:spcBef>
              <a:spcAft>
                <a:spcPts val="0"/>
              </a:spcAft>
              <a:buSzPts val="2380"/>
              <a:buChar char="●"/>
            </a:pPr>
            <a:r>
              <a:rPr lang="en-US" sz="2800"/>
              <a:t>Detection</a:t>
            </a:r>
            <a:endParaRPr/>
          </a:p>
          <a:p>
            <a:pPr indent="-182880" lvl="1" marL="457200" rtl="0" algn="l">
              <a:lnSpc>
                <a:spcPct val="90000"/>
              </a:lnSpc>
              <a:spcBef>
                <a:spcPts val="480"/>
              </a:spcBef>
              <a:spcAft>
                <a:spcPts val="0"/>
              </a:spcAft>
              <a:buSzPts val="2040"/>
              <a:buChar char="○"/>
            </a:pPr>
            <a:r>
              <a:rPr lang="en-US" sz="2400">
                <a:solidFill>
                  <a:srgbClr val="0070C0"/>
                </a:solidFill>
              </a:rPr>
              <a:t>Detect</a:t>
            </a:r>
            <a:r>
              <a:rPr lang="en-US" sz="2400"/>
              <a:t> attackers’ violation of </a:t>
            </a:r>
            <a:r>
              <a:rPr lang="en-US" sz="2400">
                <a:solidFill>
                  <a:srgbClr val="0070C0"/>
                </a:solidFill>
              </a:rPr>
              <a:t>security policy</a:t>
            </a:r>
            <a:endParaRPr/>
          </a:p>
          <a:p>
            <a:pPr indent="-31750" lvl="0" marL="182880" rtl="0" algn="l">
              <a:lnSpc>
                <a:spcPct val="90000"/>
              </a:lnSpc>
              <a:spcBef>
                <a:spcPts val="560"/>
              </a:spcBef>
              <a:spcAft>
                <a:spcPts val="0"/>
              </a:spcAft>
              <a:buSzPts val="2380"/>
              <a:buNone/>
            </a:pPr>
            <a:r>
              <a:t/>
            </a:r>
            <a:endParaRPr sz="2800"/>
          </a:p>
          <a:p>
            <a:pPr indent="-182880" lvl="0" marL="182880" rtl="0" algn="l">
              <a:lnSpc>
                <a:spcPct val="90000"/>
              </a:lnSpc>
              <a:spcBef>
                <a:spcPts val="560"/>
              </a:spcBef>
              <a:spcAft>
                <a:spcPts val="0"/>
              </a:spcAft>
              <a:buSzPts val="2380"/>
              <a:buChar char="●"/>
            </a:pPr>
            <a:r>
              <a:rPr lang="en-US" sz="2800"/>
              <a:t>Recovery</a:t>
            </a:r>
            <a:endParaRPr/>
          </a:p>
          <a:p>
            <a:pPr indent="-182880" lvl="1" marL="457200" rtl="0" algn="l">
              <a:lnSpc>
                <a:spcPct val="90000"/>
              </a:lnSpc>
              <a:spcBef>
                <a:spcPts val="480"/>
              </a:spcBef>
              <a:spcAft>
                <a:spcPts val="0"/>
              </a:spcAft>
              <a:buSzPts val="2040"/>
              <a:buChar char="○"/>
            </a:pPr>
            <a:r>
              <a:rPr lang="en-US" sz="2400"/>
              <a:t>Stop attack, assess and </a:t>
            </a:r>
            <a:r>
              <a:rPr lang="en-US" sz="2400">
                <a:solidFill>
                  <a:srgbClr val="0070C0"/>
                </a:solidFill>
              </a:rPr>
              <a:t>repair damage</a:t>
            </a:r>
            <a:endParaRPr/>
          </a:p>
          <a:p>
            <a:pPr indent="-182880" lvl="1" marL="457200" rtl="0" algn="l">
              <a:lnSpc>
                <a:spcPct val="90000"/>
              </a:lnSpc>
              <a:spcBef>
                <a:spcPts val="480"/>
              </a:spcBef>
              <a:spcAft>
                <a:spcPts val="1200"/>
              </a:spcAft>
              <a:buSzPts val="2040"/>
              <a:buChar char="○"/>
            </a:pPr>
            <a:r>
              <a:rPr lang="en-US" sz="2400"/>
              <a:t>Continue to function correctly even if attack succeeds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4"/>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
        <p:nvSpPr>
          <p:cNvPr id="231" name="Google Shape;231;p3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Trust and Assumptions</a:t>
            </a:r>
            <a:endParaRPr/>
          </a:p>
        </p:txBody>
      </p:sp>
      <p:sp>
        <p:nvSpPr>
          <p:cNvPr id="232" name="Google Shape;232;p34"/>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380"/>
              <a:buChar char="●"/>
            </a:pPr>
            <a:r>
              <a:rPr lang="en-US" sz="2800">
                <a:solidFill>
                  <a:srgbClr val="FF0000"/>
                </a:solidFill>
              </a:rPr>
              <a:t>Trust</a:t>
            </a:r>
            <a:r>
              <a:rPr lang="en-US" sz="2800"/>
              <a:t> underlies </a:t>
            </a:r>
            <a:r>
              <a:rPr i="1" lang="en-US" sz="2800"/>
              <a:t>all</a:t>
            </a:r>
            <a:r>
              <a:rPr lang="en-US" sz="2800"/>
              <a:t> aspects of security</a:t>
            </a:r>
            <a:endParaRPr/>
          </a:p>
          <a:p>
            <a:pPr indent="-31750" lvl="0" marL="182880" rtl="0" algn="l">
              <a:spcBef>
                <a:spcPts val="560"/>
              </a:spcBef>
              <a:spcAft>
                <a:spcPts val="0"/>
              </a:spcAft>
              <a:buSzPts val="2380"/>
              <a:buNone/>
            </a:pPr>
            <a:r>
              <a:t/>
            </a:r>
            <a:endParaRPr sz="2800"/>
          </a:p>
          <a:p>
            <a:pPr indent="-182880" lvl="0" marL="182880" rtl="0" algn="l">
              <a:spcBef>
                <a:spcPts val="560"/>
              </a:spcBef>
              <a:spcAft>
                <a:spcPts val="0"/>
              </a:spcAft>
              <a:buSzPts val="2380"/>
              <a:buChar char="●"/>
            </a:pPr>
            <a:r>
              <a:rPr lang="en-US" sz="2800"/>
              <a:t>Policies</a:t>
            </a:r>
            <a:endParaRPr/>
          </a:p>
          <a:p>
            <a:pPr indent="-182880" lvl="1" marL="457200" rtl="0" algn="l">
              <a:spcBef>
                <a:spcPts val="480"/>
              </a:spcBef>
              <a:spcAft>
                <a:spcPts val="0"/>
              </a:spcAft>
              <a:buSzPts val="2040"/>
              <a:buChar char="○"/>
            </a:pPr>
            <a:r>
              <a:rPr lang="en-US" sz="2400"/>
              <a:t>Unambiguously partition system states</a:t>
            </a:r>
            <a:endParaRPr/>
          </a:p>
          <a:p>
            <a:pPr indent="-182880" lvl="1" marL="457200" rtl="0" algn="l">
              <a:spcBef>
                <a:spcPts val="480"/>
              </a:spcBef>
              <a:spcAft>
                <a:spcPts val="0"/>
              </a:spcAft>
              <a:buSzPts val="2040"/>
              <a:buChar char="○"/>
            </a:pPr>
            <a:r>
              <a:rPr lang="en-US" sz="2400"/>
              <a:t>Correctly capture security requirements</a:t>
            </a:r>
            <a:endParaRPr/>
          </a:p>
          <a:p>
            <a:pPr indent="-31750" lvl="0" marL="182880" rtl="0" algn="l">
              <a:spcBef>
                <a:spcPts val="560"/>
              </a:spcBef>
              <a:spcAft>
                <a:spcPts val="0"/>
              </a:spcAft>
              <a:buSzPts val="2380"/>
              <a:buNone/>
            </a:pPr>
            <a:r>
              <a:t/>
            </a:r>
            <a:endParaRPr sz="2800"/>
          </a:p>
          <a:p>
            <a:pPr indent="-182880" lvl="0" marL="182880" rtl="0" algn="l">
              <a:spcBef>
                <a:spcPts val="560"/>
              </a:spcBef>
              <a:spcAft>
                <a:spcPts val="0"/>
              </a:spcAft>
              <a:buSzPts val="2380"/>
              <a:buChar char="●"/>
            </a:pPr>
            <a:r>
              <a:rPr lang="en-US" sz="2800"/>
              <a:t>Mechanisms</a:t>
            </a:r>
            <a:endParaRPr/>
          </a:p>
          <a:p>
            <a:pPr indent="-182880" lvl="1" marL="457200" rtl="0" algn="l">
              <a:spcBef>
                <a:spcPts val="480"/>
              </a:spcBef>
              <a:spcAft>
                <a:spcPts val="0"/>
              </a:spcAft>
              <a:buSzPts val="2040"/>
              <a:buChar char="○"/>
            </a:pPr>
            <a:r>
              <a:rPr lang="en-US" sz="2400"/>
              <a:t>Assumed to enforce policy</a:t>
            </a:r>
            <a:endParaRPr/>
          </a:p>
          <a:p>
            <a:pPr indent="-182880" lvl="1" marL="457200" rtl="0" algn="l">
              <a:spcBef>
                <a:spcPts val="480"/>
              </a:spcBef>
              <a:spcAft>
                <a:spcPts val="1200"/>
              </a:spcAft>
              <a:buSzPts val="2040"/>
              <a:buChar char="○"/>
            </a:pPr>
            <a:r>
              <a:rPr lang="en-US" sz="2400"/>
              <a:t>Support mechanisms work correctly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5"/>
          <p:cNvSpPr txBox="1"/>
          <p:nvPr>
            <p:ph type="title"/>
          </p:nvPr>
        </p:nvSpPr>
        <p:spPr>
          <a:xfrm>
            <a:off x="311700" y="593367"/>
            <a:ext cx="8520600" cy="763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Different Types of Controls</a:t>
            </a:r>
            <a:endParaRPr/>
          </a:p>
        </p:txBody>
      </p:sp>
      <p:pic>
        <p:nvPicPr>
          <p:cNvPr descr="fig01-12.eps" id="239" name="Google Shape;239;p35"/>
          <p:cNvPicPr preferRelativeResize="0"/>
          <p:nvPr/>
        </p:nvPicPr>
        <p:blipFill rotWithShape="1">
          <a:blip r:embed="rId3">
            <a:alphaModFix/>
          </a:blip>
          <a:srcRect b="0" l="0" r="0" t="0"/>
          <a:stretch/>
        </p:blipFill>
        <p:spPr>
          <a:xfrm>
            <a:off x="314699" y="2062692"/>
            <a:ext cx="8488431" cy="3879813"/>
          </a:xfrm>
          <a:prstGeom prst="rect">
            <a:avLst/>
          </a:prstGeom>
          <a:noFill/>
          <a:ln>
            <a:noFill/>
          </a:ln>
        </p:spPr>
      </p:pic>
      <p:sp>
        <p:nvSpPr>
          <p:cNvPr id="240" name="Google Shape;240;p35"/>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241" name="Google Shape;241;p35"/>
          <p:cNvSpPr txBox="1"/>
          <p:nvPr>
            <p:ph idx="12" type="sldNum"/>
          </p:nvPr>
        </p:nvSpPr>
        <p:spPr>
          <a:xfrm>
            <a:off x="8472458" y="6217622"/>
            <a:ext cx="548700" cy="524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6"/>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Controls Available</a:t>
            </a:r>
            <a:endParaRPr/>
          </a:p>
        </p:txBody>
      </p:sp>
      <p:sp>
        <p:nvSpPr>
          <p:cNvPr id="247" name="Google Shape;247;p36"/>
          <p:cNvSpPr txBox="1"/>
          <p:nvPr>
            <p:ph idx="1" type="body"/>
          </p:nvPr>
        </p:nvSpPr>
        <p:spPr>
          <a:xfrm>
            <a:off x="457200" y="15240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b="1" lang="en-US"/>
              <a:t>Encryption</a:t>
            </a:r>
            <a:endParaRPr/>
          </a:p>
          <a:p>
            <a:pPr indent="-182880" lvl="1" marL="457200" rtl="0" algn="l">
              <a:spcBef>
                <a:spcPts val="400"/>
              </a:spcBef>
              <a:spcAft>
                <a:spcPts val="0"/>
              </a:spcAft>
              <a:buSzPts val="1700"/>
              <a:buChar char="○"/>
            </a:pPr>
            <a:r>
              <a:rPr lang="en-US"/>
              <a:t>We take data in their normal, unscrambled state, called:</a:t>
            </a:r>
            <a:endParaRPr/>
          </a:p>
          <a:p>
            <a:pPr indent="-182879" lvl="2" marL="731520" rtl="0" algn="l">
              <a:spcBef>
                <a:spcPts val="360"/>
              </a:spcBef>
              <a:spcAft>
                <a:spcPts val="0"/>
              </a:spcAft>
              <a:buSzPts val="1620"/>
              <a:buChar char="■"/>
            </a:pPr>
            <a:r>
              <a:rPr b="1" lang="en-US">
                <a:solidFill>
                  <a:srgbClr val="0070C0"/>
                </a:solidFill>
              </a:rPr>
              <a:t>cleartext</a:t>
            </a:r>
            <a:r>
              <a:rPr lang="en-US"/>
              <a:t> or </a:t>
            </a:r>
            <a:r>
              <a:rPr b="1" lang="en-US">
                <a:solidFill>
                  <a:srgbClr val="0070C0"/>
                </a:solidFill>
              </a:rPr>
              <a:t>plaintext</a:t>
            </a:r>
            <a:r>
              <a:rPr lang="en-US"/>
              <a:t>, and </a:t>
            </a:r>
            <a:r>
              <a:rPr lang="en-US">
                <a:solidFill>
                  <a:srgbClr val="FF0000"/>
                </a:solidFill>
              </a:rPr>
              <a:t>transform</a:t>
            </a:r>
            <a:r>
              <a:rPr lang="en-US"/>
              <a:t> them so that they are unintelligible to the outside observer; the transformed data are called </a:t>
            </a:r>
            <a:r>
              <a:rPr b="1" lang="en-US">
                <a:solidFill>
                  <a:srgbClr val="0070C0"/>
                </a:solidFill>
              </a:rPr>
              <a:t>enciphered</a:t>
            </a:r>
            <a:r>
              <a:rPr lang="en-US"/>
              <a:t> text or </a:t>
            </a:r>
            <a:r>
              <a:rPr b="1" lang="en-US">
                <a:solidFill>
                  <a:srgbClr val="0070C0"/>
                </a:solidFill>
              </a:rPr>
              <a:t>ciphertext</a:t>
            </a:r>
            <a:r>
              <a:rPr lang="en-US"/>
              <a:t>.</a:t>
            </a:r>
            <a:endParaRPr/>
          </a:p>
          <a:p>
            <a:pPr indent="-74929" lvl="1" marL="457200" rtl="0" algn="l">
              <a:spcBef>
                <a:spcPts val="400"/>
              </a:spcBef>
              <a:spcAft>
                <a:spcPts val="0"/>
              </a:spcAft>
              <a:buSzPts val="1700"/>
              <a:buNone/>
            </a:pPr>
            <a:r>
              <a:t/>
            </a:r>
            <a:endParaRPr b="1"/>
          </a:p>
          <a:p>
            <a:pPr indent="-182880" lvl="1" marL="457200" rtl="0" algn="l">
              <a:spcBef>
                <a:spcPts val="400"/>
              </a:spcBef>
              <a:spcAft>
                <a:spcPts val="0"/>
              </a:spcAft>
              <a:buSzPts val="1700"/>
              <a:buChar char="○"/>
            </a:pPr>
            <a:r>
              <a:rPr b="1" lang="en-US"/>
              <a:t>Encryption</a:t>
            </a:r>
            <a:r>
              <a:rPr lang="en-US"/>
              <a:t> clearly addresses the need for </a:t>
            </a:r>
            <a:r>
              <a:rPr b="1" lang="en-US"/>
              <a:t>confidentiality</a:t>
            </a:r>
            <a:r>
              <a:rPr lang="en-US"/>
              <a:t> of data. </a:t>
            </a:r>
            <a:endParaRPr/>
          </a:p>
          <a:p>
            <a:pPr indent="-74929" lvl="1" marL="457200" rtl="0" algn="l">
              <a:spcBef>
                <a:spcPts val="400"/>
              </a:spcBef>
              <a:spcAft>
                <a:spcPts val="0"/>
              </a:spcAft>
              <a:buSzPts val="1700"/>
              <a:buNone/>
            </a:pPr>
            <a:r>
              <a:t/>
            </a:r>
            <a:endParaRPr/>
          </a:p>
          <a:p>
            <a:pPr indent="-182880" lvl="1" marL="457200" rtl="0" algn="l">
              <a:spcBef>
                <a:spcPts val="400"/>
              </a:spcBef>
              <a:spcAft>
                <a:spcPts val="0"/>
              </a:spcAft>
              <a:buSzPts val="1700"/>
              <a:buChar char="○"/>
            </a:pPr>
            <a:r>
              <a:rPr lang="en-US"/>
              <a:t>Additionally, it can be used to ensure </a:t>
            </a:r>
            <a:r>
              <a:rPr b="1" lang="en-US"/>
              <a:t>integrity</a:t>
            </a:r>
            <a:r>
              <a:rPr lang="en-US"/>
              <a:t>; </a:t>
            </a:r>
            <a:endParaRPr/>
          </a:p>
          <a:p>
            <a:pPr indent="-182879" lvl="2" marL="731520" rtl="0" algn="l">
              <a:spcBef>
                <a:spcPts val="360"/>
              </a:spcBef>
              <a:spcAft>
                <a:spcPts val="1200"/>
              </a:spcAft>
              <a:buSzPts val="1620"/>
              <a:buChar char="■"/>
            </a:pPr>
            <a:r>
              <a:rPr i="1" lang="en-US"/>
              <a:t>data that cannot be read generally cannot easily be changed in a meaningful manner.</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7"/>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Controls Available</a:t>
            </a:r>
            <a:endParaRPr/>
          </a:p>
        </p:txBody>
      </p:sp>
      <p:sp>
        <p:nvSpPr>
          <p:cNvPr id="253" name="Google Shape;253;p37"/>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lnSpcReduction="20000"/>
          </a:bodyPr>
          <a:lstStyle/>
          <a:p>
            <a:pPr indent="-182880" lvl="0" marL="182880" rtl="0" algn="l">
              <a:spcBef>
                <a:spcPts val="0"/>
              </a:spcBef>
              <a:spcAft>
                <a:spcPts val="0"/>
              </a:spcAft>
              <a:buSzPts val="2040"/>
              <a:buChar char="●"/>
            </a:pPr>
            <a:r>
              <a:rPr b="1" lang="en-US" sz="2400"/>
              <a:t>Encryption</a:t>
            </a:r>
            <a:r>
              <a:rPr lang="en-US" sz="2400"/>
              <a:t> </a:t>
            </a:r>
            <a:r>
              <a:rPr lang="en-US" sz="2400">
                <a:solidFill>
                  <a:srgbClr val="FF0000"/>
                </a:solidFill>
              </a:rPr>
              <a:t>does</a:t>
            </a:r>
            <a:r>
              <a:rPr lang="en-US" sz="2400"/>
              <a:t> </a:t>
            </a:r>
            <a:r>
              <a:rPr b="1" lang="en-US" sz="2400"/>
              <a:t>not solve all </a:t>
            </a:r>
            <a:r>
              <a:rPr lang="en-US" sz="2400"/>
              <a:t>computer security problems, and other tools must complement its use. </a:t>
            </a:r>
            <a:endParaRPr/>
          </a:p>
          <a:p>
            <a:pPr indent="-182880" lvl="1" marL="457200" rtl="0" algn="l">
              <a:spcBef>
                <a:spcPts val="400"/>
              </a:spcBef>
              <a:spcAft>
                <a:spcPts val="0"/>
              </a:spcAft>
              <a:buSzPts val="1700"/>
              <a:buChar char="○"/>
            </a:pPr>
            <a:r>
              <a:rPr lang="en-US"/>
              <a:t>if encryption is not used properly, it may have no effect on security or could even degrade the performance of the entire system.</a:t>
            </a:r>
            <a:endParaRPr/>
          </a:p>
          <a:p>
            <a:pPr indent="-53339" lvl="0" marL="182880" rtl="0" algn="l">
              <a:spcBef>
                <a:spcPts val="480"/>
              </a:spcBef>
              <a:spcAft>
                <a:spcPts val="0"/>
              </a:spcAft>
              <a:buSzPts val="2040"/>
              <a:buNone/>
            </a:pPr>
            <a:r>
              <a:t/>
            </a:r>
            <a:endParaRPr sz="2400"/>
          </a:p>
          <a:p>
            <a:pPr indent="-182880" lvl="0" marL="182880" rtl="0" algn="l">
              <a:spcBef>
                <a:spcPts val="480"/>
              </a:spcBef>
              <a:spcAft>
                <a:spcPts val="0"/>
              </a:spcAft>
              <a:buSzPts val="2040"/>
              <a:buChar char="●"/>
            </a:pPr>
            <a:r>
              <a:rPr b="1" lang="en-US" sz="2400"/>
              <a:t>Weak encryption </a:t>
            </a:r>
            <a:r>
              <a:rPr lang="en-US" sz="2400"/>
              <a:t>can actually be </a:t>
            </a:r>
            <a:r>
              <a:rPr b="1" lang="en-US" sz="2400"/>
              <a:t>worse than no encryption</a:t>
            </a:r>
            <a:r>
              <a:rPr lang="en-US" sz="2400"/>
              <a:t> at all, </a:t>
            </a:r>
            <a:endParaRPr/>
          </a:p>
          <a:p>
            <a:pPr indent="-182880" lvl="1" marL="457200" rtl="0" algn="l">
              <a:spcBef>
                <a:spcPts val="400"/>
              </a:spcBef>
              <a:spcAft>
                <a:spcPts val="0"/>
              </a:spcAft>
              <a:buSzPts val="1700"/>
              <a:buChar char="○"/>
            </a:pPr>
            <a:r>
              <a:rPr lang="en-US"/>
              <a:t>because it gives users an unwarranted sense of protection. </a:t>
            </a:r>
            <a:endParaRPr/>
          </a:p>
          <a:p>
            <a:pPr indent="-53339" lvl="0" marL="182880" rtl="0" algn="l">
              <a:spcBef>
                <a:spcPts val="480"/>
              </a:spcBef>
              <a:spcAft>
                <a:spcPts val="0"/>
              </a:spcAft>
              <a:buSzPts val="2040"/>
              <a:buNone/>
            </a:pPr>
            <a:r>
              <a:t/>
            </a:r>
            <a:endParaRPr sz="2400"/>
          </a:p>
          <a:p>
            <a:pPr indent="-182880" lvl="0" marL="182880" rtl="0" algn="l">
              <a:spcBef>
                <a:spcPts val="480"/>
              </a:spcBef>
              <a:spcAft>
                <a:spcPts val="0"/>
              </a:spcAft>
              <a:buSzPts val="2040"/>
              <a:buChar char="●"/>
            </a:pPr>
            <a:r>
              <a:rPr i="1" lang="en-US" sz="2400"/>
              <a:t>Therefore, </a:t>
            </a:r>
            <a:r>
              <a:rPr i="1" lang="en-US" sz="2400">
                <a:solidFill>
                  <a:srgbClr val="0070C0"/>
                </a:solidFill>
              </a:rPr>
              <a:t>we must understand those situations </a:t>
            </a:r>
            <a:r>
              <a:rPr i="1" lang="en-US" sz="2400"/>
              <a:t>in which encryption is </a:t>
            </a:r>
            <a:r>
              <a:rPr i="1" lang="en-US" sz="2400">
                <a:solidFill>
                  <a:srgbClr val="0070C0"/>
                </a:solidFill>
              </a:rPr>
              <a:t>most useful as well as ways to use it effectively</a:t>
            </a:r>
            <a:r>
              <a:rPr i="1" lang="en-US" sz="2400"/>
              <a:t>.</a:t>
            </a:r>
            <a:endParaRPr/>
          </a:p>
          <a:p>
            <a:pPr indent="-53339" lvl="0" marL="182880" rtl="0" algn="l">
              <a:spcBef>
                <a:spcPts val="480"/>
              </a:spcBef>
              <a:spcAft>
                <a:spcPts val="1200"/>
              </a:spcAft>
              <a:buSzPts val="2040"/>
              <a:buNone/>
            </a:pPr>
            <a:r>
              <a:t/>
            </a:r>
            <a:endParaRPr sz="24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8"/>
          <p:cNvSpPr txBox="1"/>
          <p:nvPr>
            <p:ph type="title"/>
          </p:nvPr>
        </p:nvSpPr>
        <p:spPr>
          <a:xfrm>
            <a:off x="457200" y="278642"/>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Controls Available</a:t>
            </a:r>
            <a:endParaRPr/>
          </a:p>
        </p:txBody>
      </p:sp>
      <p:sp>
        <p:nvSpPr>
          <p:cNvPr id="259" name="Google Shape;259;p38"/>
          <p:cNvSpPr txBox="1"/>
          <p:nvPr>
            <p:ph idx="1" type="body"/>
          </p:nvPr>
        </p:nvSpPr>
        <p:spPr>
          <a:xfrm>
            <a:off x="191069" y="1132764"/>
            <a:ext cx="8761862" cy="5344236"/>
          </a:xfrm>
          <a:prstGeom prst="rect">
            <a:avLst/>
          </a:prstGeom>
          <a:noFill/>
          <a:ln>
            <a:noFill/>
          </a:ln>
        </p:spPr>
        <p:txBody>
          <a:bodyPr anchorCtr="0" anchor="t" bIns="45700" lIns="91425" spcFirstLastPara="1" rIns="91425" wrap="square" tIns="45700">
            <a:normAutofit fontScale="92500" lnSpcReduction="10000"/>
          </a:bodyPr>
          <a:lstStyle/>
          <a:p>
            <a:pPr indent="-182880" lvl="0" marL="182880" rtl="0" algn="l">
              <a:spcBef>
                <a:spcPts val="0"/>
              </a:spcBef>
              <a:spcAft>
                <a:spcPts val="0"/>
              </a:spcAft>
              <a:buSzPct val="85000"/>
              <a:buChar char="●"/>
            </a:pPr>
            <a:r>
              <a:rPr b="1" lang="en-US" sz="2400"/>
              <a:t>Software/Program Controls</a:t>
            </a:r>
            <a:endParaRPr sz="2400"/>
          </a:p>
          <a:p>
            <a:pPr indent="-182879" lvl="1" marL="457200" rtl="0" algn="l">
              <a:spcBef>
                <a:spcPts val="370"/>
              </a:spcBef>
              <a:spcAft>
                <a:spcPts val="0"/>
              </a:spcAft>
              <a:buSzPct val="85000"/>
              <a:buChar char="○"/>
            </a:pPr>
            <a:r>
              <a:rPr lang="en-US" sz="2000"/>
              <a:t>Programs must be secure enough to </a:t>
            </a:r>
            <a:r>
              <a:rPr i="1" lang="en-US" sz="2000">
                <a:solidFill>
                  <a:srgbClr val="00B0F0"/>
                </a:solidFill>
              </a:rPr>
              <a:t>prevent outside attack</a:t>
            </a:r>
            <a:endParaRPr/>
          </a:p>
          <a:p>
            <a:pPr indent="-182879" lvl="1" marL="457200" rtl="0" algn="l">
              <a:spcBef>
                <a:spcPts val="370"/>
              </a:spcBef>
              <a:spcAft>
                <a:spcPts val="0"/>
              </a:spcAft>
              <a:buSzPct val="85000"/>
              <a:buChar char="○"/>
            </a:pPr>
            <a:r>
              <a:rPr lang="en-US" sz="2000"/>
              <a:t>They must also be developed and maintained so that we can be confident of the programs' dependability.</a:t>
            </a:r>
            <a:endParaRPr/>
          </a:p>
          <a:p>
            <a:pPr indent="-118002" lvl="0" marL="182880" rtl="0" algn="l">
              <a:spcBef>
                <a:spcPts val="240"/>
              </a:spcBef>
              <a:spcAft>
                <a:spcPts val="0"/>
              </a:spcAft>
              <a:buSzPct val="85000"/>
              <a:buNone/>
            </a:pPr>
            <a:r>
              <a:t/>
            </a:r>
            <a:endParaRPr b="1" sz="1300"/>
          </a:p>
          <a:p>
            <a:pPr indent="-182880" lvl="0" marL="182880" rtl="0" algn="l">
              <a:spcBef>
                <a:spcPts val="444"/>
              </a:spcBef>
              <a:spcAft>
                <a:spcPts val="0"/>
              </a:spcAft>
              <a:buSzPct val="85000"/>
              <a:buChar char="●"/>
            </a:pPr>
            <a:r>
              <a:rPr b="1" lang="en-US" sz="2400"/>
              <a:t>Program controls include the following:</a:t>
            </a:r>
            <a:endParaRPr/>
          </a:p>
          <a:p>
            <a:pPr indent="-182879" lvl="1" marL="457200" rtl="0" algn="l">
              <a:spcBef>
                <a:spcPts val="370"/>
              </a:spcBef>
              <a:spcAft>
                <a:spcPts val="0"/>
              </a:spcAft>
              <a:buSzPct val="85000"/>
              <a:buChar char="○"/>
            </a:pPr>
            <a:r>
              <a:rPr b="1" lang="en-US" sz="2000">
                <a:solidFill>
                  <a:srgbClr val="FF0000"/>
                </a:solidFill>
              </a:rPr>
              <a:t>Internal program controls</a:t>
            </a:r>
            <a:r>
              <a:rPr lang="en-US" sz="2000"/>
              <a:t>: parts of the program that enforce security restrictions, </a:t>
            </a:r>
            <a:endParaRPr/>
          </a:p>
          <a:p>
            <a:pPr indent="-182879" lvl="2" marL="731520" rtl="0" algn="l">
              <a:spcBef>
                <a:spcPts val="333"/>
              </a:spcBef>
              <a:spcAft>
                <a:spcPts val="0"/>
              </a:spcAft>
              <a:buSzPct val="115714"/>
              <a:buChar char="■"/>
            </a:pPr>
            <a:r>
              <a:rPr lang="en-US"/>
              <a:t>i.e. </a:t>
            </a:r>
            <a:r>
              <a:rPr i="1" lang="en-US">
                <a:solidFill>
                  <a:srgbClr val="00B0F0"/>
                </a:solidFill>
              </a:rPr>
              <a:t>access limitations in a database </a:t>
            </a:r>
            <a:r>
              <a:rPr lang="en-US"/>
              <a:t>management program</a:t>
            </a:r>
            <a:endParaRPr/>
          </a:p>
          <a:p>
            <a:pPr indent="-130470" lvl="1" marL="457200" rtl="0" algn="l">
              <a:spcBef>
                <a:spcPts val="194"/>
              </a:spcBef>
              <a:spcAft>
                <a:spcPts val="0"/>
              </a:spcAft>
              <a:buSzPct val="85000"/>
              <a:buNone/>
            </a:pPr>
            <a:r>
              <a:t/>
            </a:r>
            <a:endParaRPr b="1" sz="1050">
              <a:solidFill>
                <a:srgbClr val="FF0000"/>
              </a:solidFill>
            </a:endParaRPr>
          </a:p>
          <a:p>
            <a:pPr indent="-182879" lvl="1" marL="457200" rtl="0" algn="l">
              <a:spcBef>
                <a:spcPts val="370"/>
              </a:spcBef>
              <a:spcAft>
                <a:spcPts val="0"/>
              </a:spcAft>
              <a:buSzPct val="85000"/>
              <a:buChar char="○"/>
            </a:pPr>
            <a:r>
              <a:rPr b="1" lang="en-US" sz="2000">
                <a:solidFill>
                  <a:srgbClr val="FF0000"/>
                </a:solidFill>
              </a:rPr>
              <a:t>Operating system and network system controls</a:t>
            </a:r>
            <a:r>
              <a:rPr lang="en-US" sz="2000"/>
              <a:t>: </a:t>
            </a:r>
            <a:r>
              <a:rPr i="1" lang="en-US" sz="2000">
                <a:solidFill>
                  <a:srgbClr val="00B0F0"/>
                </a:solidFill>
              </a:rPr>
              <a:t>limitations enforced by the operating system</a:t>
            </a:r>
            <a:r>
              <a:rPr lang="en-US" sz="2000"/>
              <a:t> or network to protect each user from all other users</a:t>
            </a:r>
            <a:endParaRPr/>
          </a:p>
          <a:p>
            <a:pPr indent="-182879" lvl="2" marL="731520" rtl="0" algn="l">
              <a:spcBef>
                <a:spcPts val="333"/>
              </a:spcBef>
              <a:spcAft>
                <a:spcPts val="0"/>
              </a:spcAft>
              <a:buSzPct val="115714"/>
              <a:buChar char="■"/>
            </a:pPr>
            <a:r>
              <a:rPr lang="en-US"/>
              <a:t>i.e. chmod on UNIX: (</a:t>
            </a:r>
            <a:r>
              <a:rPr lang="en-US">
                <a:solidFill>
                  <a:srgbClr val="0070C0"/>
                </a:solidFill>
              </a:rPr>
              <a:t>Read</a:t>
            </a:r>
            <a:r>
              <a:rPr lang="en-US"/>
              <a:t>, </a:t>
            </a:r>
            <a:r>
              <a:rPr lang="en-US">
                <a:solidFill>
                  <a:srgbClr val="0070C0"/>
                </a:solidFill>
              </a:rPr>
              <a:t>Write</a:t>
            </a:r>
            <a:r>
              <a:rPr lang="en-US"/>
              <a:t>, </a:t>
            </a:r>
            <a:r>
              <a:rPr lang="en-US">
                <a:solidFill>
                  <a:srgbClr val="0070C0"/>
                </a:solidFill>
              </a:rPr>
              <a:t>Execute</a:t>
            </a:r>
            <a:r>
              <a:rPr lang="en-US"/>
              <a:t>) </a:t>
            </a:r>
            <a:r>
              <a:rPr b="1" i="1" lang="en-US">
                <a:solidFill>
                  <a:srgbClr val="FF0000"/>
                </a:solidFill>
              </a:rPr>
              <a:t>vs</a:t>
            </a:r>
            <a:r>
              <a:rPr lang="en-US"/>
              <a:t>. (</a:t>
            </a:r>
            <a:r>
              <a:rPr lang="en-US">
                <a:solidFill>
                  <a:srgbClr val="0070C0"/>
                </a:solidFill>
              </a:rPr>
              <a:t>Owner</a:t>
            </a:r>
            <a:r>
              <a:rPr lang="en-US"/>
              <a:t>, </a:t>
            </a:r>
            <a:r>
              <a:rPr lang="en-US">
                <a:solidFill>
                  <a:srgbClr val="0070C0"/>
                </a:solidFill>
              </a:rPr>
              <a:t>Group</a:t>
            </a:r>
            <a:r>
              <a:rPr lang="en-US"/>
              <a:t>, </a:t>
            </a:r>
            <a:r>
              <a:rPr lang="en-US">
                <a:solidFill>
                  <a:srgbClr val="0070C0"/>
                </a:solidFill>
              </a:rPr>
              <a:t>Other</a:t>
            </a:r>
            <a:r>
              <a:rPr lang="en-US"/>
              <a:t>)</a:t>
            </a:r>
            <a:endParaRPr/>
          </a:p>
          <a:p>
            <a:pPr indent="-112982" lvl="1" marL="457200" rtl="0" algn="l">
              <a:spcBef>
                <a:spcPts val="259"/>
              </a:spcBef>
              <a:spcAft>
                <a:spcPts val="0"/>
              </a:spcAft>
              <a:buSzPct val="85000"/>
              <a:buNone/>
            </a:pPr>
            <a:r>
              <a:t/>
            </a:r>
            <a:endParaRPr b="1" sz="1400">
              <a:solidFill>
                <a:srgbClr val="FF0000"/>
              </a:solidFill>
            </a:endParaRPr>
          </a:p>
          <a:p>
            <a:pPr indent="-182879" lvl="1" marL="457200" rtl="0" algn="l">
              <a:spcBef>
                <a:spcPts val="370"/>
              </a:spcBef>
              <a:spcAft>
                <a:spcPts val="0"/>
              </a:spcAft>
              <a:buSzPct val="85000"/>
              <a:buChar char="○"/>
            </a:pPr>
            <a:r>
              <a:rPr b="1" lang="en-US" sz="2000">
                <a:solidFill>
                  <a:srgbClr val="FF0000"/>
                </a:solidFill>
              </a:rPr>
              <a:t>Independent control programs</a:t>
            </a:r>
            <a:r>
              <a:rPr lang="en-US" sz="2000"/>
              <a:t>: application programs, </a:t>
            </a:r>
            <a:endParaRPr/>
          </a:p>
          <a:p>
            <a:pPr indent="-182879" lvl="2" marL="731520" rtl="0" algn="l">
              <a:spcBef>
                <a:spcPts val="333"/>
              </a:spcBef>
              <a:spcAft>
                <a:spcPts val="1200"/>
              </a:spcAft>
              <a:buSzPct val="115714"/>
              <a:buChar char="■"/>
            </a:pPr>
            <a:r>
              <a:rPr lang="en-US"/>
              <a:t>i.e. </a:t>
            </a:r>
            <a:r>
              <a:rPr i="1" lang="en-US">
                <a:solidFill>
                  <a:srgbClr val="00B0F0"/>
                </a:solidFill>
              </a:rPr>
              <a:t>password checkers</a:t>
            </a:r>
            <a:r>
              <a:rPr lang="en-US"/>
              <a:t>, intrusion detection utilities, or </a:t>
            </a:r>
            <a:r>
              <a:rPr i="1" lang="en-US">
                <a:solidFill>
                  <a:srgbClr val="00B0F0"/>
                </a:solidFill>
              </a:rPr>
              <a:t>virus scanners</a:t>
            </a:r>
            <a:r>
              <a:rPr lang="en-US"/>
              <a:t>, that protect against certain types of vulnerabilities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9"/>
          <p:cNvSpPr txBox="1"/>
          <p:nvPr>
            <p:ph type="title"/>
          </p:nvPr>
        </p:nvSpPr>
        <p:spPr>
          <a:xfrm>
            <a:off x="457200" y="402771"/>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Controls Available</a:t>
            </a:r>
            <a:endParaRPr/>
          </a:p>
        </p:txBody>
      </p:sp>
      <p:sp>
        <p:nvSpPr>
          <p:cNvPr id="265" name="Google Shape;265;p39"/>
          <p:cNvSpPr txBox="1"/>
          <p:nvPr>
            <p:ph idx="1" type="body"/>
          </p:nvPr>
        </p:nvSpPr>
        <p:spPr>
          <a:xfrm>
            <a:off x="457200" y="1393371"/>
            <a:ext cx="8229600" cy="5083629"/>
          </a:xfrm>
          <a:prstGeom prst="rect">
            <a:avLst/>
          </a:prstGeom>
          <a:noFill/>
          <a:ln>
            <a:noFill/>
          </a:ln>
        </p:spPr>
        <p:txBody>
          <a:bodyPr anchorCtr="0" anchor="t" bIns="45700" lIns="91425" spcFirstLastPara="1" rIns="91425" wrap="square" tIns="45700">
            <a:normAutofit lnSpcReduction="10000"/>
          </a:bodyPr>
          <a:lstStyle/>
          <a:p>
            <a:pPr indent="-182880" lvl="0" marL="182880" rtl="0" algn="l">
              <a:spcBef>
                <a:spcPts val="0"/>
              </a:spcBef>
              <a:spcAft>
                <a:spcPts val="0"/>
              </a:spcAft>
              <a:buSzPts val="2040"/>
              <a:buChar char="●"/>
            </a:pPr>
            <a:r>
              <a:rPr b="1" lang="en-US"/>
              <a:t>Development controls</a:t>
            </a:r>
            <a:r>
              <a:rPr lang="en-US"/>
              <a:t>: </a:t>
            </a:r>
            <a:endParaRPr/>
          </a:p>
          <a:p>
            <a:pPr indent="-182880" lvl="1" marL="457200" rtl="0" algn="l">
              <a:spcBef>
                <a:spcPts val="400"/>
              </a:spcBef>
              <a:spcAft>
                <a:spcPts val="0"/>
              </a:spcAft>
              <a:buSzPts val="1700"/>
              <a:buChar char="○"/>
            </a:pPr>
            <a:r>
              <a:rPr lang="en-US"/>
              <a:t>quality standards under which a program is </a:t>
            </a:r>
            <a:r>
              <a:rPr b="1" lang="en-US">
                <a:solidFill>
                  <a:srgbClr val="0070C0"/>
                </a:solidFill>
              </a:rPr>
              <a:t>designed</a:t>
            </a:r>
            <a:r>
              <a:rPr lang="en-US"/>
              <a:t>, </a:t>
            </a:r>
            <a:r>
              <a:rPr b="1" lang="en-US">
                <a:solidFill>
                  <a:srgbClr val="0070C0"/>
                </a:solidFill>
              </a:rPr>
              <a:t>coded (implementation)</a:t>
            </a:r>
            <a:r>
              <a:rPr lang="en-US"/>
              <a:t>, </a:t>
            </a:r>
            <a:r>
              <a:rPr b="1" lang="en-US">
                <a:solidFill>
                  <a:srgbClr val="0070C0"/>
                </a:solidFill>
              </a:rPr>
              <a:t>tested</a:t>
            </a:r>
            <a:r>
              <a:rPr lang="en-US"/>
              <a:t>, and maintained to prevent software faults from becoming exploitable vulnerabilities</a:t>
            </a:r>
            <a:endParaRPr/>
          </a:p>
          <a:p>
            <a:pPr indent="-182879" lvl="2" marL="731520" rtl="0" algn="l">
              <a:spcBef>
                <a:spcPts val="360"/>
              </a:spcBef>
              <a:spcAft>
                <a:spcPts val="0"/>
              </a:spcAft>
              <a:buSzPts val="1620"/>
              <a:buChar char="■"/>
            </a:pPr>
            <a:r>
              <a:rPr lang="en-US"/>
              <a:t>i.e. </a:t>
            </a:r>
            <a:r>
              <a:rPr b="1" lang="en-US">
                <a:solidFill>
                  <a:srgbClr val="FF0000"/>
                </a:solidFill>
              </a:rPr>
              <a:t>Penetration testing </a:t>
            </a:r>
            <a:r>
              <a:rPr lang="en-US"/>
              <a:t>(</a:t>
            </a:r>
            <a:r>
              <a:rPr lang="en-US">
                <a:solidFill>
                  <a:srgbClr val="00B0F0"/>
                </a:solidFill>
              </a:rPr>
              <a:t>pen testing or ethical hacking</a:t>
            </a:r>
            <a:r>
              <a:rPr lang="en-US"/>
              <a:t>), is the practice of testing a computer system, network or web application to </a:t>
            </a:r>
            <a:r>
              <a:rPr i="1" lang="en-US">
                <a:solidFill>
                  <a:srgbClr val="0070C0"/>
                </a:solidFill>
              </a:rPr>
              <a:t>find security vulnerabilities that an attacker could exploit</a:t>
            </a:r>
            <a:r>
              <a:rPr lang="en-US"/>
              <a:t>.</a:t>
            </a:r>
            <a:endParaRPr/>
          </a:p>
          <a:p>
            <a:pPr indent="-53339" lvl="0" marL="182880" rtl="0" algn="l">
              <a:spcBef>
                <a:spcPts val="480"/>
              </a:spcBef>
              <a:spcAft>
                <a:spcPts val="0"/>
              </a:spcAft>
              <a:buSzPts val="2040"/>
              <a:buNone/>
            </a:pPr>
            <a:r>
              <a:t/>
            </a:r>
            <a:endParaRPr sz="2400"/>
          </a:p>
          <a:p>
            <a:pPr indent="-182880" lvl="0" marL="182880" rtl="0" algn="l">
              <a:spcBef>
                <a:spcPts val="480"/>
              </a:spcBef>
              <a:spcAft>
                <a:spcPts val="0"/>
              </a:spcAft>
              <a:buSzPts val="2040"/>
              <a:buChar char="●"/>
            </a:pPr>
            <a:r>
              <a:rPr lang="en-US" sz="2400"/>
              <a:t>Software controls frequently affect users directly ? </a:t>
            </a:r>
            <a:endParaRPr/>
          </a:p>
          <a:p>
            <a:pPr indent="-182880" lvl="1" marL="457200" rtl="0" algn="l">
              <a:spcBef>
                <a:spcPts val="400"/>
              </a:spcBef>
              <a:spcAft>
                <a:spcPts val="0"/>
              </a:spcAft>
              <a:buSzPts val="1700"/>
              <a:buChar char="○"/>
            </a:pPr>
            <a:r>
              <a:rPr lang="en-US"/>
              <a:t>i.e. when the user is </a:t>
            </a:r>
            <a:r>
              <a:rPr lang="en-US">
                <a:solidFill>
                  <a:srgbClr val="0070C0"/>
                </a:solidFill>
              </a:rPr>
              <a:t>interrupted and asked for a password </a:t>
            </a:r>
            <a:r>
              <a:rPr lang="en-US"/>
              <a:t>before being given access to a program or data.</a:t>
            </a:r>
            <a:endParaRPr/>
          </a:p>
          <a:p>
            <a:pPr indent="-182880" lvl="1" marL="457200" rtl="0" algn="l">
              <a:spcBef>
                <a:spcPts val="400"/>
              </a:spcBef>
              <a:spcAft>
                <a:spcPts val="0"/>
              </a:spcAft>
              <a:buSzPts val="1700"/>
              <a:buChar char="○"/>
            </a:pPr>
            <a:r>
              <a:rPr lang="en-US" sz="2000"/>
              <a:t>Because they influence the usability of the system, software controls must be carefully designed. </a:t>
            </a:r>
            <a:endParaRPr/>
          </a:p>
          <a:p>
            <a:pPr indent="-182879" lvl="2" marL="731520" rtl="0" algn="l">
              <a:spcBef>
                <a:spcPts val="360"/>
              </a:spcBef>
              <a:spcAft>
                <a:spcPts val="0"/>
              </a:spcAft>
              <a:buSzPts val="1620"/>
              <a:buChar char="■"/>
            </a:pPr>
            <a:r>
              <a:rPr lang="en-US" u="sng">
                <a:solidFill>
                  <a:srgbClr val="00B0F0"/>
                </a:solidFill>
              </a:rPr>
              <a:t>Ease of use and capabilities are often competing goals </a:t>
            </a:r>
            <a:r>
              <a:rPr lang="en-US"/>
              <a:t>in the design of a collection of software controls.</a:t>
            </a:r>
            <a:endParaRPr/>
          </a:p>
          <a:p>
            <a:pPr indent="-53339" lvl="0" marL="182880" rtl="0" algn="l">
              <a:spcBef>
                <a:spcPts val="480"/>
              </a:spcBef>
              <a:spcAft>
                <a:spcPts val="1200"/>
              </a:spcAft>
              <a:buSzPts val="2040"/>
              <a:buNone/>
            </a:pPr>
            <a:r>
              <a:t/>
            </a:r>
            <a:endParaRPr sz="2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Controls Available</a:t>
            </a:r>
            <a:endParaRPr/>
          </a:p>
        </p:txBody>
      </p:sp>
      <p:sp>
        <p:nvSpPr>
          <p:cNvPr id="271" name="Google Shape;271;p40"/>
          <p:cNvSpPr txBox="1"/>
          <p:nvPr>
            <p:ph idx="1" type="body"/>
          </p:nvPr>
        </p:nvSpPr>
        <p:spPr>
          <a:xfrm>
            <a:off x="457200" y="1523999"/>
            <a:ext cx="8229600" cy="4734635"/>
          </a:xfrm>
          <a:prstGeom prst="rect">
            <a:avLst/>
          </a:prstGeom>
          <a:noFill/>
          <a:ln>
            <a:noFill/>
          </a:ln>
        </p:spPr>
        <p:txBody>
          <a:bodyPr anchorCtr="0" anchor="t" bIns="45700" lIns="91425" spcFirstLastPara="1" rIns="91425" wrap="square" tIns="45700">
            <a:normAutofit lnSpcReduction="20000"/>
          </a:bodyPr>
          <a:lstStyle/>
          <a:p>
            <a:pPr indent="-182880" lvl="0" marL="182880" rtl="0" algn="l">
              <a:spcBef>
                <a:spcPts val="0"/>
              </a:spcBef>
              <a:spcAft>
                <a:spcPts val="0"/>
              </a:spcAft>
              <a:buSzPts val="2380"/>
              <a:buChar char="●"/>
            </a:pPr>
            <a:r>
              <a:rPr b="1" lang="en-US" sz="2800"/>
              <a:t>Hardware Controls</a:t>
            </a:r>
            <a:endParaRPr/>
          </a:p>
          <a:p>
            <a:pPr indent="-182880" lvl="1" marL="457200" rtl="0" algn="l">
              <a:spcBef>
                <a:spcPts val="480"/>
              </a:spcBef>
              <a:spcAft>
                <a:spcPts val="0"/>
              </a:spcAft>
              <a:buSzPts val="2040"/>
              <a:buChar char="○"/>
            </a:pPr>
            <a:r>
              <a:rPr lang="en-US" sz="2400"/>
              <a:t>Numerous hardware devices have been created to assist in providing computer security. These devices include a variety of means, such as</a:t>
            </a:r>
            <a:endParaRPr/>
          </a:p>
          <a:p>
            <a:pPr indent="-182879" lvl="2" marL="731520" rtl="0" algn="l">
              <a:spcBef>
                <a:spcPts val="400"/>
              </a:spcBef>
              <a:spcAft>
                <a:spcPts val="0"/>
              </a:spcAft>
              <a:buSzPts val="1800"/>
              <a:buChar char="■"/>
            </a:pPr>
            <a:r>
              <a:rPr lang="en-US" sz="2000"/>
              <a:t>hardware or </a:t>
            </a:r>
            <a:r>
              <a:rPr lang="en-US" sz="2000" u="sng">
                <a:solidFill>
                  <a:srgbClr val="0070C0"/>
                </a:solidFill>
              </a:rPr>
              <a:t>smart card </a:t>
            </a:r>
            <a:r>
              <a:rPr lang="en-US" sz="2000"/>
              <a:t>implementations of encryption</a:t>
            </a:r>
            <a:endParaRPr/>
          </a:p>
          <a:p>
            <a:pPr indent="-182879" lvl="2" marL="731520" rtl="0" algn="l">
              <a:spcBef>
                <a:spcPts val="400"/>
              </a:spcBef>
              <a:spcAft>
                <a:spcPts val="0"/>
              </a:spcAft>
              <a:buSzPts val="1800"/>
              <a:buChar char="■"/>
            </a:pPr>
            <a:r>
              <a:rPr lang="en-US" sz="2000"/>
              <a:t>locks or cables </a:t>
            </a:r>
            <a:r>
              <a:rPr lang="en-US" sz="2000">
                <a:solidFill>
                  <a:srgbClr val="0070C0"/>
                </a:solidFill>
              </a:rPr>
              <a:t>limiting access </a:t>
            </a:r>
            <a:r>
              <a:rPr lang="en-US" sz="2000"/>
              <a:t>or deterring theft</a:t>
            </a:r>
            <a:endParaRPr/>
          </a:p>
          <a:p>
            <a:pPr indent="-182879" lvl="2" marL="731520" rtl="0" algn="l">
              <a:spcBef>
                <a:spcPts val="400"/>
              </a:spcBef>
              <a:spcAft>
                <a:spcPts val="0"/>
              </a:spcAft>
              <a:buSzPts val="1800"/>
              <a:buChar char="■"/>
            </a:pPr>
            <a:r>
              <a:rPr lang="en-US" sz="2000"/>
              <a:t>devices to verify users' identities</a:t>
            </a:r>
            <a:endParaRPr/>
          </a:p>
          <a:p>
            <a:pPr indent="-182879" lvl="2" marL="731520" rtl="0" algn="l">
              <a:spcBef>
                <a:spcPts val="400"/>
              </a:spcBef>
              <a:spcAft>
                <a:spcPts val="0"/>
              </a:spcAft>
              <a:buSzPts val="1800"/>
              <a:buChar char="■"/>
            </a:pPr>
            <a:r>
              <a:rPr lang="en-US" sz="2000"/>
              <a:t>firewalls</a:t>
            </a:r>
            <a:endParaRPr/>
          </a:p>
          <a:p>
            <a:pPr indent="-182879" lvl="2" marL="731520" rtl="0" algn="l">
              <a:spcBef>
                <a:spcPts val="400"/>
              </a:spcBef>
              <a:spcAft>
                <a:spcPts val="0"/>
              </a:spcAft>
              <a:buSzPts val="1800"/>
              <a:buChar char="■"/>
            </a:pPr>
            <a:r>
              <a:rPr lang="en-US" sz="2000"/>
              <a:t>intrusion detection systems</a:t>
            </a:r>
            <a:endParaRPr/>
          </a:p>
          <a:p>
            <a:pPr indent="-182879" lvl="2" marL="731520" rtl="0" algn="l">
              <a:spcBef>
                <a:spcPts val="400"/>
              </a:spcBef>
              <a:spcAft>
                <a:spcPts val="0"/>
              </a:spcAft>
              <a:buSzPts val="1800"/>
              <a:buChar char="■"/>
            </a:pPr>
            <a:r>
              <a:rPr lang="en-US" sz="2000"/>
              <a:t>circuit boards that control access to storage media</a:t>
            </a:r>
            <a:endParaRPr/>
          </a:p>
          <a:p>
            <a:pPr indent="0" lvl="1" marL="457200" rtl="0" algn="l">
              <a:spcBef>
                <a:spcPts val="480"/>
              </a:spcBef>
              <a:spcAft>
                <a:spcPts val="0"/>
              </a:spcAft>
              <a:buSzPts val="2040"/>
              <a:buFont typeface="Noto Sans Symbols"/>
              <a:buNone/>
            </a:pPr>
            <a:r>
              <a:t/>
            </a:r>
            <a:endParaRPr sz="2400"/>
          </a:p>
          <a:p>
            <a:pPr indent="-31750" lvl="0" marL="182880" rtl="0" algn="l">
              <a:spcBef>
                <a:spcPts val="560"/>
              </a:spcBef>
              <a:spcAft>
                <a:spcPts val="1200"/>
              </a:spcAft>
              <a:buSzPts val="2380"/>
              <a:buNone/>
            </a:pPr>
            <a:r>
              <a:t/>
            </a:r>
            <a:endParaRPr sz="28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1"/>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Controls Available</a:t>
            </a:r>
            <a:endParaRPr/>
          </a:p>
        </p:txBody>
      </p:sp>
      <p:sp>
        <p:nvSpPr>
          <p:cNvPr id="277" name="Google Shape;277;p41"/>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lnSpcReduction="20000"/>
          </a:bodyPr>
          <a:lstStyle/>
          <a:p>
            <a:pPr indent="-182880" lvl="0" marL="182880" rtl="0" algn="l">
              <a:spcBef>
                <a:spcPts val="0"/>
              </a:spcBef>
              <a:spcAft>
                <a:spcPts val="0"/>
              </a:spcAft>
              <a:buSzPts val="2040"/>
              <a:buChar char="●"/>
            </a:pPr>
            <a:r>
              <a:rPr b="1" lang="en-US" sz="2400"/>
              <a:t>Policies and Procedures</a:t>
            </a:r>
            <a:endParaRPr/>
          </a:p>
          <a:p>
            <a:pPr indent="-182880" lvl="1" marL="457200" rtl="0" algn="l">
              <a:spcBef>
                <a:spcPts val="400"/>
              </a:spcBef>
              <a:spcAft>
                <a:spcPts val="0"/>
              </a:spcAft>
              <a:buSzPts val="1700"/>
              <a:buChar char="○"/>
            </a:pPr>
            <a:r>
              <a:rPr lang="en-US" sz="2000"/>
              <a:t>Sometimes, we can rely on </a:t>
            </a:r>
            <a:r>
              <a:rPr lang="en-US" sz="2000" u="sng">
                <a:solidFill>
                  <a:srgbClr val="00B0F0"/>
                </a:solidFill>
              </a:rPr>
              <a:t>agreed-on procedures or policies </a:t>
            </a:r>
            <a:r>
              <a:rPr lang="en-US" sz="2000"/>
              <a:t>among users rather than enforcing security through hardware or software means </a:t>
            </a:r>
            <a:endParaRPr/>
          </a:p>
          <a:p>
            <a:pPr indent="-182879" lvl="2" marL="731520" rtl="0" algn="l">
              <a:spcBef>
                <a:spcPts val="360"/>
              </a:spcBef>
              <a:spcAft>
                <a:spcPts val="0"/>
              </a:spcAft>
              <a:buSzPts val="1620"/>
              <a:buChar char="■"/>
            </a:pPr>
            <a:r>
              <a:rPr lang="en-US"/>
              <a:t>i.e. </a:t>
            </a:r>
            <a:r>
              <a:rPr lang="en-US">
                <a:solidFill>
                  <a:srgbClr val="00B0F0"/>
                </a:solidFill>
              </a:rPr>
              <a:t>frequent changes of passwords</a:t>
            </a:r>
            <a:endParaRPr/>
          </a:p>
          <a:p>
            <a:pPr indent="-182880" lvl="1" marL="457200" rtl="0" algn="l">
              <a:spcBef>
                <a:spcPts val="400"/>
              </a:spcBef>
              <a:spcAft>
                <a:spcPts val="0"/>
              </a:spcAft>
              <a:buSzPts val="1700"/>
              <a:buChar char="○"/>
            </a:pPr>
            <a:r>
              <a:rPr lang="en-US" sz="2000"/>
              <a:t>We must not forget the value of community standards and expectations when we consider how to enforce security.</a:t>
            </a:r>
            <a:endParaRPr/>
          </a:p>
          <a:p>
            <a:pPr indent="-53339" lvl="0" marL="182880" rtl="0" algn="l">
              <a:spcBef>
                <a:spcPts val="480"/>
              </a:spcBef>
              <a:spcAft>
                <a:spcPts val="0"/>
              </a:spcAft>
              <a:buSzPts val="2040"/>
              <a:buNone/>
            </a:pPr>
            <a:r>
              <a:t/>
            </a:r>
            <a:endParaRPr sz="2400"/>
          </a:p>
          <a:p>
            <a:pPr indent="-182880" lvl="0" marL="182880" rtl="0" algn="l">
              <a:spcBef>
                <a:spcPts val="480"/>
              </a:spcBef>
              <a:spcAft>
                <a:spcPts val="0"/>
              </a:spcAft>
              <a:buSzPts val="2040"/>
              <a:buChar char="●"/>
            </a:pPr>
            <a:r>
              <a:rPr b="1" lang="en-US" sz="2400"/>
              <a:t>Physical Controls</a:t>
            </a:r>
            <a:endParaRPr/>
          </a:p>
          <a:p>
            <a:pPr indent="-182880" lvl="1" marL="457200" rtl="0" algn="l">
              <a:spcBef>
                <a:spcPts val="400"/>
              </a:spcBef>
              <a:spcAft>
                <a:spcPts val="0"/>
              </a:spcAft>
              <a:buSzPts val="1700"/>
              <a:buChar char="○"/>
            </a:pPr>
            <a:r>
              <a:rPr lang="en-US" sz="2000"/>
              <a:t>i.e. locks on doors, </a:t>
            </a:r>
            <a:endParaRPr/>
          </a:p>
          <a:p>
            <a:pPr indent="-182880" lvl="1" marL="457200" rtl="0" algn="l">
              <a:spcBef>
                <a:spcPts val="400"/>
              </a:spcBef>
              <a:spcAft>
                <a:spcPts val="0"/>
              </a:spcAft>
              <a:buSzPts val="1700"/>
              <a:buChar char="○"/>
            </a:pPr>
            <a:r>
              <a:rPr lang="en-US" sz="2000" u="sng">
                <a:solidFill>
                  <a:srgbClr val="0070C0"/>
                </a:solidFill>
              </a:rPr>
              <a:t>guards at entry points</a:t>
            </a:r>
            <a:r>
              <a:rPr lang="en-US" sz="2000"/>
              <a:t>, </a:t>
            </a:r>
            <a:endParaRPr/>
          </a:p>
          <a:p>
            <a:pPr indent="-182880" lvl="1" marL="457200" rtl="0" algn="l">
              <a:spcBef>
                <a:spcPts val="400"/>
              </a:spcBef>
              <a:spcAft>
                <a:spcPts val="0"/>
              </a:spcAft>
              <a:buSzPts val="1700"/>
              <a:buChar char="○"/>
            </a:pPr>
            <a:r>
              <a:rPr lang="en-US" sz="2000">
                <a:solidFill>
                  <a:srgbClr val="0070C0"/>
                </a:solidFill>
              </a:rPr>
              <a:t>backup copies </a:t>
            </a:r>
            <a:r>
              <a:rPr lang="en-US" sz="2000"/>
              <a:t>of important software and data, and </a:t>
            </a:r>
            <a:endParaRPr/>
          </a:p>
          <a:p>
            <a:pPr indent="-182880" lvl="1" marL="457200" rtl="0" algn="l">
              <a:spcBef>
                <a:spcPts val="400"/>
              </a:spcBef>
              <a:spcAft>
                <a:spcPts val="0"/>
              </a:spcAft>
              <a:buSzPts val="1700"/>
              <a:buChar char="○"/>
            </a:pPr>
            <a:r>
              <a:rPr lang="en-US" sz="2000"/>
              <a:t>physical site planning that reduces the risk of natural disasters.</a:t>
            </a:r>
            <a:endParaRPr/>
          </a:p>
          <a:p>
            <a:pPr indent="-53339" lvl="0" marL="182880" rtl="0" algn="l">
              <a:spcBef>
                <a:spcPts val="480"/>
              </a:spcBef>
              <a:spcAft>
                <a:spcPts val="1200"/>
              </a:spcAft>
              <a:buSzPts val="2040"/>
              <a:buNone/>
            </a:pPr>
            <a:r>
              <a:t/>
            </a:r>
            <a:endParaRPr sz="24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2"/>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Effectiveness of Controls</a:t>
            </a:r>
            <a:endParaRPr/>
          </a:p>
        </p:txBody>
      </p:sp>
      <p:sp>
        <p:nvSpPr>
          <p:cNvPr id="283" name="Google Shape;283;p42"/>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b="1" lang="en-US"/>
              <a:t>Awareness of Problem</a:t>
            </a:r>
            <a:endParaRPr/>
          </a:p>
          <a:p>
            <a:pPr indent="-182880" lvl="1" marL="457200" rtl="0" algn="l">
              <a:spcBef>
                <a:spcPts val="400"/>
              </a:spcBef>
              <a:spcAft>
                <a:spcPts val="0"/>
              </a:spcAft>
              <a:buSzPts val="1700"/>
              <a:buChar char="○"/>
            </a:pPr>
            <a:r>
              <a:rPr lang="en-US"/>
              <a:t>People using controls must be convinced of the need for security. That is, people will willingly cooperate with security requirements only if they understand </a:t>
            </a:r>
            <a:endParaRPr/>
          </a:p>
          <a:p>
            <a:pPr indent="-182879" lvl="2" marL="731520" rtl="0" algn="l">
              <a:spcBef>
                <a:spcPts val="400"/>
              </a:spcBef>
              <a:spcAft>
                <a:spcPts val="1200"/>
              </a:spcAft>
              <a:buSzPts val="1800"/>
              <a:buChar char="■"/>
            </a:pPr>
            <a:r>
              <a:rPr lang="en-US" sz="2000">
                <a:solidFill>
                  <a:srgbClr val="0070C0"/>
                </a:solidFill>
              </a:rPr>
              <a:t>why security is appropriate in a given situation</a:t>
            </a:r>
            <a:r>
              <a:rPr lang="en-US" sz="2000">
                <a:solidFill>
                  <a:srgbClr val="00B0F0"/>
                </a:solidFill>
              </a:rPr>
              <a: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3"/>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Effectiveness of Controls</a:t>
            </a:r>
            <a:endParaRPr/>
          </a:p>
        </p:txBody>
      </p:sp>
      <p:sp>
        <p:nvSpPr>
          <p:cNvPr id="289" name="Google Shape;289;p43"/>
          <p:cNvSpPr txBox="1"/>
          <p:nvPr>
            <p:ph idx="1" type="body"/>
          </p:nvPr>
        </p:nvSpPr>
        <p:spPr>
          <a:xfrm>
            <a:off x="289932" y="1416205"/>
            <a:ext cx="8396868" cy="5060795"/>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b="1" lang="en-US"/>
              <a:t>Likelihood of Use</a:t>
            </a:r>
            <a:endParaRPr/>
          </a:p>
          <a:p>
            <a:pPr indent="-182880" lvl="1" marL="457200" rtl="0" algn="l">
              <a:spcBef>
                <a:spcPts val="400"/>
              </a:spcBef>
              <a:spcAft>
                <a:spcPts val="0"/>
              </a:spcAft>
              <a:buSzPts val="1700"/>
              <a:buChar char="○"/>
            </a:pPr>
            <a:r>
              <a:rPr lang="en-US"/>
              <a:t>Of course, no control is effective unless it is used</a:t>
            </a:r>
            <a:endParaRPr/>
          </a:p>
          <a:p>
            <a:pPr indent="-107315" lvl="1" marL="457200" rtl="0" algn="l">
              <a:spcBef>
                <a:spcPts val="280"/>
              </a:spcBef>
              <a:spcAft>
                <a:spcPts val="0"/>
              </a:spcAft>
              <a:buSzPts val="1190"/>
              <a:buNone/>
            </a:pPr>
            <a:r>
              <a:t/>
            </a:r>
            <a:endParaRPr sz="1400"/>
          </a:p>
          <a:p>
            <a:pPr indent="-182880" lvl="1" marL="457200" rtl="0" algn="l">
              <a:spcBef>
                <a:spcPts val="400"/>
              </a:spcBef>
              <a:spcAft>
                <a:spcPts val="0"/>
              </a:spcAft>
              <a:buSzPts val="1700"/>
              <a:buChar char="○"/>
            </a:pPr>
            <a:r>
              <a:rPr b="1" lang="en-US"/>
              <a:t>Principle of Effectiveness:</a:t>
            </a:r>
            <a:r>
              <a:rPr lang="en-US"/>
              <a:t> </a:t>
            </a:r>
            <a:endParaRPr/>
          </a:p>
          <a:p>
            <a:pPr indent="-182879" lvl="2" marL="731520" rtl="0" algn="l">
              <a:spcBef>
                <a:spcPts val="400"/>
              </a:spcBef>
              <a:spcAft>
                <a:spcPts val="0"/>
              </a:spcAft>
              <a:buSzPts val="1800"/>
              <a:buChar char="■"/>
            </a:pPr>
            <a:r>
              <a:rPr lang="en-US" sz="2000"/>
              <a:t>Controls must be used properly to be effective. </a:t>
            </a:r>
            <a:endParaRPr/>
          </a:p>
          <a:p>
            <a:pPr indent="-182879" lvl="3" marL="1005839" rtl="0" algn="l">
              <a:spcBef>
                <a:spcPts val="360"/>
              </a:spcBef>
              <a:spcAft>
                <a:spcPts val="0"/>
              </a:spcAft>
              <a:buSzPts val="1800"/>
              <a:buChar char="●"/>
            </a:pPr>
            <a:r>
              <a:rPr lang="en-US" sz="1800"/>
              <a:t>They must be efficient, easy to use, and appropriate.</a:t>
            </a:r>
            <a:endParaRPr/>
          </a:p>
          <a:p>
            <a:pPr indent="-113029" lvl="3" marL="1005839" rtl="0" algn="l">
              <a:spcBef>
                <a:spcPts val="220"/>
              </a:spcBef>
              <a:spcAft>
                <a:spcPts val="0"/>
              </a:spcAft>
              <a:buSzPts val="1100"/>
              <a:buNone/>
            </a:pPr>
            <a:r>
              <a:t/>
            </a:r>
            <a:endParaRPr sz="1100"/>
          </a:p>
          <a:p>
            <a:pPr indent="-182879" lvl="2" marL="731520" rtl="0" algn="l">
              <a:spcBef>
                <a:spcPts val="400"/>
              </a:spcBef>
              <a:spcAft>
                <a:spcPts val="0"/>
              </a:spcAft>
              <a:buSzPts val="1800"/>
              <a:buChar char="■"/>
            </a:pPr>
            <a:r>
              <a:rPr lang="en-US" sz="2000"/>
              <a:t>This principle implies that computer security controls</a:t>
            </a:r>
            <a:endParaRPr/>
          </a:p>
          <a:p>
            <a:pPr indent="-182879" lvl="3" marL="1005839" rtl="0" algn="l">
              <a:spcBef>
                <a:spcPts val="400"/>
              </a:spcBef>
              <a:spcAft>
                <a:spcPts val="0"/>
              </a:spcAft>
              <a:buSzPts val="2000"/>
              <a:buChar char="●"/>
            </a:pPr>
            <a:r>
              <a:rPr lang="en-US" sz="2000"/>
              <a:t>must be efficient enough, in </a:t>
            </a:r>
            <a:r>
              <a:rPr lang="en-US" sz="2000" u="sng"/>
              <a:t>terms of time</a:t>
            </a:r>
            <a:r>
              <a:rPr lang="en-US" sz="2000"/>
              <a:t>, </a:t>
            </a:r>
            <a:r>
              <a:rPr lang="en-US" sz="2000" u="sng"/>
              <a:t>memory space</a:t>
            </a:r>
            <a:r>
              <a:rPr lang="en-US" sz="2000"/>
              <a:t>, human activity, or other resources used, </a:t>
            </a:r>
            <a:endParaRPr/>
          </a:p>
          <a:p>
            <a:pPr indent="-182879" lvl="3" marL="1005839" rtl="0" algn="l">
              <a:spcBef>
                <a:spcPts val="400"/>
              </a:spcBef>
              <a:spcAft>
                <a:spcPts val="0"/>
              </a:spcAft>
              <a:buSzPts val="2000"/>
              <a:buChar char="●"/>
            </a:pPr>
            <a:r>
              <a:rPr lang="en-US" sz="2000"/>
              <a:t>using the control </a:t>
            </a:r>
            <a:r>
              <a:rPr lang="en-US" sz="2000" u="sng"/>
              <a:t>does not seriously affect the task being protected</a:t>
            </a:r>
            <a:r>
              <a:rPr lang="en-US" sz="2000"/>
              <a:t>. </a:t>
            </a:r>
            <a:endParaRPr/>
          </a:p>
          <a:p>
            <a:pPr indent="-182879" lvl="3" marL="1005839" rtl="0" algn="l">
              <a:spcBef>
                <a:spcPts val="400"/>
              </a:spcBef>
              <a:spcAft>
                <a:spcPts val="1200"/>
              </a:spcAft>
              <a:buSzPts val="2000"/>
              <a:buChar char="●"/>
            </a:pPr>
            <a:r>
              <a:rPr lang="en-US" sz="2000"/>
              <a:t>Controls should be selective so that they </a:t>
            </a:r>
            <a:r>
              <a:rPr lang="en-US" sz="2000" u="sng"/>
              <a:t>do not exclude legitimate accesses</a:t>
            </a:r>
            <a:r>
              <a:rPr lang="en-US" sz="1800"/>
              <a: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Effectiveness of Controls</a:t>
            </a:r>
            <a:endParaRPr/>
          </a:p>
        </p:txBody>
      </p:sp>
      <p:sp>
        <p:nvSpPr>
          <p:cNvPr id="295" name="Google Shape;295;p44"/>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b="1" lang="en-US"/>
              <a:t>Overlapping Controls</a:t>
            </a:r>
            <a:endParaRPr/>
          </a:p>
          <a:p>
            <a:pPr indent="-182880" lvl="1" marL="457200" rtl="0" algn="l">
              <a:spcBef>
                <a:spcPts val="400"/>
              </a:spcBef>
              <a:spcAft>
                <a:spcPts val="0"/>
              </a:spcAft>
              <a:buSzPts val="1700"/>
              <a:buChar char="○"/>
            </a:pPr>
            <a:r>
              <a:rPr lang="en-US"/>
              <a:t>Several different controls may apply to address a single vulnerability. </a:t>
            </a:r>
            <a:endParaRPr/>
          </a:p>
          <a:p>
            <a:pPr indent="-74929" lvl="1" marL="457200" rtl="0" algn="l">
              <a:spcBef>
                <a:spcPts val="400"/>
              </a:spcBef>
              <a:spcAft>
                <a:spcPts val="0"/>
              </a:spcAft>
              <a:buSzPts val="1700"/>
              <a:buNone/>
            </a:pPr>
            <a:r>
              <a:t/>
            </a:r>
            <a:endParaRPr/>
          </a:p>
          <a:p>
            <a:pPr indent="-182880" lvl="0" marL="182880" rtl="0" algn="l">
              <a:spcBef>
                <a:spcPts val="480"/>
              </a:spcBef>
              <a:spcAft>
                <a:spcPts val="0"/>
              </a:spcAft>
              <a:buSzPts val="2040"/>
              <a:buChar char="●"/>
            </a:pPr>
            <a:r>
              <a:rPr b="1" lang="en-US"/>
              <a:t>Periodic Review</a:t>
            </a:r>
            <a:endParaRPr/>
          </a:p>
          <a:p>
            <a:pPr indent="-182880" lvl="1" marL="457200" rtl="0" algn="l">
              <a:spcBef>
                <a:spcPts val="400"/>
              </a:spcBef>
              <a:spcAft>
                <a:spcPts val="1200"/>
              </a:spcAft>
              <a:buSzPts val="1700"/>
              <a:buChar char="○"/>
            </a:pPr>
            <a:r>
              <a:rPr lang="en-US"/>
              <a:t>Just when the security specialist finds a way to secure assets against certain kinds of attacks, the opposition doubles its efforts in an attempt to defeat the security mechanisms. Thus, judging the effectiveness of a control is an ongoing task.</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5"/>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Principle of </a:t>
            </a:r>
            <a:r>
              <a:rPr lang="en-US">
                <a:solidFill>
                  <a:srgbClr val="FF0000"/>
                </a:solidFill>
              </a:rPr>
              <a:t>Weakest Link</a:t>
            </a:r>
            <a:endParaRPr/>
          </a:p>
        </p:txBody>
      </p:sp>
      <p:sp>
        <p:nvSpPr>
          <p:cNvPr id="301" name="Google Shape;301;p45"/>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b="1" lang="en-US">
                <a:solidFill>
                  <a:srgbClr val="0070C0"/>
                </a:solidFill>
              </a:rPr>
              <a:t>Security can be no stronger than its weakest link </a:t>
            </a:r>
            <a:r>
              <a:rPr lang="en-US">
                <a:solidFill>
                  <a:srgbClr val="FF0000"/>
                </a:solidFill>
              </a:rPr>
              <a:t>!!! </a:t>
            </a:r>
            <a:endParaRPr/>
          </a:p>
          <a:p>
            <a:pPr indent="-182880" lvl="1" marL="457200" rtl="0" algn="l">
              <a:spcBef>
                <a:spcPts val="400"/>
              </a:spcBef>
              <a:spcAft>
                <a:spcPts val="0"/>
              </a:spcAft>
              <a:buSzPts val="1700"/>
              <a:buChar char="○"/>
            </a:pPr>
            <a:r>
              <a:rPr lang="en-US"/>
              <a:t>Whether it is the power supply that powers the firewall or the operating system under the security application or the human who plans, implements, and administers controls, a failure of any control can lead to a security failure.</a:t>
            </a:r>
            <a:endParaRPr/>
          </a:p>
          <a:p>
            <a:pPr indent="-53339" lvl="0" marL="182880" rtl="0" algn="l">
              <a:spcBef>
                <a:spcPts val="480"/>
              </a:spcBef>
              <a:spcAft>
                <a:spcPts val="1200"/>
              </a:spcAft>
              <a:buSzPts val="204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6"/>
          <p:cNvSpPr txBox="1"/>
          <p:nvPr>
            <p:ph type="title"/>
          </p:nvPr>
        </p:nvSpPr>
        <p:spPr>
          <a:xfrm>
            <a:off x="311700" y="593367"/>
            <a:ext cx="8520600" cy="7635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Summary</a:t>
            </a:r>
            <a:endParaRPr/>
          </a:p>
        </p:txBody>
      </p:sp>
      <p:sp>
        <p:nvSpPr>
          <p:cNvPr id="307" name="Google Shape;307;p46"/>
          <p:cNvSpPr txBox="1"/>
          <p:nvPr>
            <p:ph idx="1" type="body"/>
          </p:nvPr>
        </p:nvSpPr>
        <p:spPr>
          <a:xfrm>
            <a:off x="311700" y="1536633"/>
            <a:ext cx="8520600" cy="45552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Vulnerabilities are weaknesses in a system; </a:t>
            </a:r>
            <a:endParaRPr/>
          </a:p>
          <a:p>
            <a:pPr indent="-182880" lvl="1" marL="457200" rtl="0" algn="l">
              <a:spcBef>
                <a:spcPts val="400"/>
              </a:spcBef>
              <a:spcAft>
                <a:spcPts val="0"/>
              </a:spcAft>
              <a:buSzPts val="1700"/>
              <a:buChar char="○"/>
            </a:pPr>
            <a:r>
              <a:rPr lang="en-US"/>
              <a:t>threats exploit those weaknesses; </a:t>
            </a:r>
            <a:endParaRPr/>
          </a:p>
          <a:p>
            <a:pPr indent="-182880" lvl="1" marL="457200" rtl="0" algn="l">
              <a:spcBef>
                <a:spcPts val="400"/>
              </a:spcBef>
              <a:spcAft>
                <a:spcPts val="0"/>
              </a:spcAft>
              <a:buSzPts val="1700"/>
              <a:buChar char="○"/>
            </a:pPr>
            <a:r>
              <a:rPr lang="en-US"/>
              <a:t>controls protect those weaknesses from exploitation</a:t>
            </a:r>
            <a:endParaRPr/>
          </a:p>
          <a:p>
            <a:pPr indent="-182880" lvl="0" marL="182880" rtl="0" algn="l">
              <a:spcBef>
                <a:spcPts val="480"/>
              </a:spcBef>
              <a:spcAft>
                <a:spcPts val="0"/>
              </a:spcAft>
              <a:buSzPts val="2040"/>
              <a:buChar char="●"/>
            </a:pPr>
            <a:r>
              <a:rPr lang="en-US"/>
              <a:t>Confidentiality, integrity, and availability are the three basic security primitives</a:t>
            </a:r>
            <a:endParaRPr/>
          </a:p>
          <a:p>
            <a:pPr indent="-182880" lvl="0" marL="182880" rtl="0" algn="l">
              <a:spcBef>
                <a:spcPts val="480"/>
              </a:spcBef>
              <a:spcAft>
                <a:spcPts val="0"/>
              </a:spcAft>
              <a:buSzPts val="2040"/>
              <a:buChar char="●"/>
            </a:pPr>
            <a:r>
              <a:rPr lang="en-US"/>
              <a:t>Different attackers pose different kinds of threats based on their capabilities and motivations</a:t>
            </a:r>
            <a:endParaRPr/>
          </a:p>
          <a:p>
            <a:pPr indent="-182880" lvl="0" marL="182880" rtl="0" algn="l">
              <a:spcBef>
                <a:spcPts val="480"/>
              </a:spcBef>
              <a:spcAft>
                <a:spcPts val="1200"/>
              </a:spcAft>
              <a:buSzPts val="2040"/>
              <a:buChar char="●"/>
            </a:pPr>
            <a:r>
              <a:rPr lang="en-US"/>
              <a:t>Different controls address different threats; controls come in many flavors and can exist at various points in the system</a:t>
            </a:r>
            <a:endParaRPr/>
          </a:p>
        </p:txBody>
      </p:sp>
      <p:sp>
        <p:nvSpPr>
          <p:cNvPr id="308" name="Google Shape;308;p46"/>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309" name="Google Shape;309;p46"/>
          <p:cNvSpPr txBox="1"/>
          <p:nvPr>
            <p:ph idx="12" type="sldNum"/>
          </p:nvPr>
        </p:nvSpPr>
        <p:spPr>
          <a:xfrm>
            <a:off x="8472458" y="6217622"/>
            <a:ext cx="548700" cy="524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