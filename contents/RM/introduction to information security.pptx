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77C546-752A-400F-95DF-76635B70464E}">
  <a:tblStyle styleId="{A977C546-752A-400F-95DF-76635B70464E}"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Upon completion of this material, you should be able to:</a:t>
            </a:r>
            <a:endParaRPr/>
          </a:p>
          <a:p>
            <a:pPr indent="0" lvl="1" marL="457200" rtl="0" algn="l">
              <a:spcBef>
                <a:spcPts val="360"/>
              </a:spcBef>
              <a:spcAft>
                <a:spcPts val="0"/>
              </a:spcAft>
              <a:buNone/>
            </a:pPr>
            <a:r>
              <a:rPr lang="en-GB"/>
              <a:t>Define information security</a:t>
            </a:r>
            <a:endParaRPr/>
          </a:p>
          <a:p>
            <a:pPr indent="0" lvl="1" marL="457200" rtl="0" algn="l">
              <a:spcBef>
                <a:spcPts val="360"/>
              </a:spcBef>
              <a:spcAft>
                <a:spcPts val="0"/>
              </a:spcAft>
              <a:buNone/>
            </a:pPr>
            <a:r>
              <a:rPr lang="en-GB"/>
              <a:t>Recount the history of computer security and how it evolved into information security</a:t>
            </a:r>
            <a:endParaRPr/>
          </a:p>
          <a:p>
            <a:pPr indent="0" lvl="1" marL="457200" rtl="0" algn="l">
              <a:spcBef>
                <a:spcPts val="360"/>
              </a:spcBef>
              <a:spcAft>
                <a:spcPts val="0"/>
              </a:spcAft>
              <a:buNone/>
            </a:pPr>
            <a:r>
              <a:rPr lang="en-GB"/>
              <a:t>Define key terms and critical concepts of information security</a:t>
            </a:r>
            <a:endParaRPr/>
          </a:p>
          <a:p>
            <a:pPr indent="0" lvl="1" marL="457200" rtl="0" algn="l">
              <a:spcBef>
                <a:spcPts val="360"/>
              </a:spcBef>
              <a:spcAft>
                <a:spcPts val="0"/>
              </a:spcAft>
              <a:buNone/>
            </a:pPr>
            <a:r>
              <a:rPr lang="en-GB"/>
              <a:t>List the phases of the security systems development life cycle</a:t>
            </a:r>
            <a:endParaRPr/>
          </a:p>
          <a:p>
            <a:pPr indent="0" lvl="1" marL="457200" rtl="0" algn="l">
              <a:spcBef>
                <a:spcPts val="360"/>
              </a:spcBef>
              <a:spcAft>
                <a:spcPts val="0"/>
              </a:spcAft>
              <a:buNone/>
            </a:pPr>
            <a:r>
              <a:rPr lang="en-GB"/>
              <a:t>Describe the information security roles of professionals within an organization</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38" name="Google Shape;3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What Is Information Security?</a:t>
            </a:r>
            <a:endParaRPr/>
          </a:p>
          <a:p>
            <a:pPr indent="0" lvl="0" marL="0" rtl="0" algn="l">
              <a:spcBef>
                <a:spcPts val="462"/>
              </a:spcBef>
              <a:spcAft>
                <a:spcPts val="0"/>
              </a:spcAft>
              <a:buNone/>
            </a:pPr>
            <a:r>
              <a:rPr lang="en-GB"/>
              <a:t>Information security in today’s enterprise is a “well-informed sense of assurance that the information risks and controls are in balance.” – Jim Anderson, Inovant (2002)‏</a:t>
            </a:r>
            <a:endParaRPr/>
          </a:p>
          <a:p>
            <a:pPr indent="0" lvl="0" marL="0" rtl="0" algn="l">
              <a:spcBef>
                <a:spcPts val="462"/>
              </a:spcBef>
              <a:spcAft>
                <a:spcPts val="0"/>
              </a:spcAft>
              <a:buNone/>
            </a:pPr>
            <a:r>
              <a:rPr lang="en-GB"/>
              <a:t>Before we can begin analyzing the details of information security, it is necessary to review the origins of this field and its impact on our understanding of information security today.</a:t>
            </a:r>
            <a:endParaRPr/>
          </a:p>
          <a:p>
            <a:pPr indent="0" lvl="0" marL="0" rtl="0" algn="l">
              <a:spcBef>
                <a:spcPts val="360"/>
              </a:spcBef>
              <a:spcAft>
                <a:spcPts val="0"/>
              </a:spcAft>
              <a:buNone/>
            </a:pPr>
            <a:r>
              <a:t/>
            </a:r>
            <a:endParaRPr/>
          </a:p>
        </p:txBody>
      </p:sp>
      <p:sp>
        <p:nvSpPr>
          <p:cNvPr id="45" name="Google Shape;4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930"/>
              <a:t>The History Of Information Security</a:t>
            </a:r>
            <a:endParaRPr/>
          </a:p>
          <a:p>
            <a:pPr indent="-327927" lvl="0" marL="347504" rtl="0" algn="l">
              <a:lnSpc>
                <a:spcPct val="80000"/>
              </a:lnSpc>
              <a:spcBef>
                <a:spcPts val="642"/>
              </a:spcBef>
              <a:spcAft>
                <a:spcPts val="0"/>
              </a:spcAft>
              <a:buClr>
                <a:srgbClr val="222222"/>
              </a:buClr>
              <a:buSzPts val="2092"/>
              <a:buFont typeface="Arial"/>
              <a:buChar char="•"/>
            </a:pPr>
            <a:r>
              <a:rPr lang="en-GB" sz="2092">
                <a:solidFill>
                  <a:srgbClr val="222222"/>
                </a:solidFill>
                <a:latin typeface="Arial"/>
                <a:ea typeface="Arial"/>
                <a:cs typeface="Arial"/>
                <a:sym typeface="Arial"/>
              </a:rPr>
              <a:t>Computer security began immediately after the first mainframes were developed </a:t>
            </a:r>
            <a:endParaRPr/>
          </a:p>
          <a:p>
            <a:pPr indent="-327927" lvl="1" marL="758636" rtl="0" algn="l">
              <a:lnSpc>
                <a:spcPct val="80000"/>
              </a:lnSpc>
              <a:spcBef>
                <a:spcPts val="642"/>
              </a:spcBef>
              <a:spcAft>
                <a:spcPts val="0"/>
              </a:spcAft>
              <a:buClr>
                <a:srgbClr val="222222"/>
              </a:buClr>
              <a:buSzPts val="1937"/>
              <a:buFont typeface="Arial"/>
              <a:buChar char="–"/>
            </a:pPr>
            <a:r>
              <a:rPr lang="en-GB" sz="1937">
                <a:solidFill>
                  <a:srgbClr val="222222"/>
                </a:solidFill>
                <a:latin typeface="Arial"/>
                <a:ea typeface="Arial"/>
                <a:cs typeface="Arial"/>
                <a:sym typeface="Arial"/>
              </a:rPr>
              <a:t>Groups developing code-breaking computations during World War II created the first modern computers</a:t>
            </a:r>
            <a:endParaRPr/>
          </a:p>
          <a:p>
            <a:pPr indent="-327927" lvl="1" marL="758636" rtl="0" algn="l">
              <a:lnSpc>
                <a:spcPct val="80000"/>
              </a:lnSpc>
              <a:spcBef>
                <a:spcPts val="642"/>
              </a:spcBef>
              <a:spcAft>
                <a:spcPts val="0"/>
              </a:spcAft>
              <a:buClr>
                <a:srgbClr val="222222"/>
              </a:buClr>
              <a:buSzPts val="1937"/>
              <a:buFont typeface="Arial"/>
              <a:buChar char="–"/>
            </a:pPr>
            <a:r>
              <a:rPr lang="en-GB" sz="1937">
                <a:solidFill>
                  <a:srgbClr val="222222"/>
                </a:solidFill>
                <a:latin typeface="Arial"/>
                <a:ea typeface="Arial"/>
                <a:cs typeface="Arial"/>
                <a:sym typeface="Arial"/>
              </a:rPr>
              <a:t>Multiple levels of security were implemented</a:t>
            </a:r>
            <a:endParaRPr/>
          </a:p>
          <a:p>
            <a:pPr indent="-327927" lvl="0" marL="347504" rtl="0" algn="l">
              <a:lnSpc>
                <a:spcPct val="80000"/>
              </a:lnSpc>
              <a:spcBef>
                <a:spcPts val="642"/>
              </a:spcBef>
              <a:spcAft>
                <a:spcPts val="0"/>
              </a:spcAft>
              <a:buClr>
                <a:srgbClr val="222222"/>
              </a:buClr>
              <a:buSzPts val="2092"/>
              <a:buFont typeface="Arial"/>
              <a:buChar char="•"/>
            </a:pPr>
            <a:r>
              <a:rPr lang="en-GB" sz="2092">
                <a:solidFill>
                  <a:srgbClr val="222222"/>
                </a:solidFill>
                <a:latin typeface="Arial"/>
                <a:ea typeface="Arial"/>
                <a:cs typeface="Arial"/>
                <a:sym typeface="Arial"/>
              </a:rPr>
              <a:t>Physical controls to limit access to sensitive military locations to authorized personnel</a:t>
            </a:r>
            <a:endParaRPr/>
          </a:p>
          <a:p>
            <a:pPr indent="-327927" lvl="0" marL="347504" rtl="0" algn="l">
              <a:lnSpc>
                <a:spcPct val="80000"/>
              </a:lnSpc>
              <a:spcBef>
                <a:spcPts val="642"/>
              </a:spcBef>
              <a:spcAft>
                <a:spcPts val="0"/>
              </a:spcAft>
              <a:buClr>
                <a:srgbClr val="222222"/>
              </a:buClr>
              <a:buSzPts val="2092"/>
              <a:buFont typeface="Arial"/>
              <a:buChar char="•"/>
            </a:pPr>
            <a:r>
              <a:rPr lang="en-GB" sz="2092">
                <a:solidFill>
                  <a:srgbClr val="222222"/>
                </a:solidFill>
                <a:latin typeface="Arial"/>
                <a:ea typeface="Arial"/>
                <a:cs typeface="Arial"/>
                <a:sym typeface="Arial"/>
              </a:rPr>
              <a:t>Rudimentary in defending against physical theft, espionage, and sabotage</a:t>
            </a:r>
            <a:endParaRPr/>
          </a:p>
          <a:p>
            <a:pPr indent="0" lvl="0" marL="0" rtl="0" algn="l">
              <a:lnSpc>
                <a:spcPct val="80000"/>
              </a:lnSpc>
              <a:spcBef>
                <a:spcPts val="462"/>
              </a:spcBef>
              <a:spcAft>
                <a:spcPts val="0"/>
              </a:spcAft>
              <a:buNone/>
            </a:pPr>
            <a:r>
              <a:t/>
            </a:r>
            <a:endParaRPr sz="930"/>
          </a:p>
          <a:p>
            <a:pPr indent="0" lvl="0" marL="0" rtl="0" algn="l">
              <a:lnSpc>
                <a:spcPct val="80000"/>
              </a:lnSpc>
              <a:spcBef>
                <a:spcPts val="462"/>
              </a:spcBef>
              <a:spcAft>
                <a:spcPts val="0"/>
              </a:spcAft>
              <a:buNone/>
            </a:pPr>
            <a:r>
              <a:t/>
            </a:r>
            <a:endParaRPr sz="930"/>
          </a:p>
          <a:p>
            <a:pPr indent="0" lvl="0" marL="0" rtl="0" algn="l">
              <a:lnSpc>
                <a:spcPct val="80000"/>
              </a:lnSpc>
              <a:spcBef>
                <a:spcPts val="279"/>
              </a:spcBef>
              <a:spcAft>
                <a:spcPts val="0"/>
              </a:spcAft>
              <a:buNone/>
            </a:pPr>
            <a:r>
              <a:t/>
            </a:r>
            <a:endParaRPr sz="930"/>
          </a:p>
        </p:txBody>
      </p:sp>
      <p:sp>
        <p:nvSpPr>
          <p:cNvPr id="52" name="Google Shape;5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 name="Google Shape;6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This picture shows a high-visibility artifact associated with the early days of information security – focusing on the confidentiality of information. This artifact is also part of the study of cryptography from Chapter 8.</a:t>
            </a:r>
            <a:endParaRPr/>
          </a:p>
          <a:p>
            <a:pPr indent="0" lvl="0" marL="0" rtl="0" algn="l">
              <a:spcBef>
                <a:spcPts val="360"/>
              </a:spcBef>
              <a:spcAft>
                <a:spcPts val="0"/>
              </a:spcAft>
              <a:buNone/>
            </a:pPr>
            <a:r>
              <a:t/>
            </a:r>
            <a:endParaRPr/>
          </a:p>
        </p:txBody>
      </p:sp>
      <p:sp>
        <p:nvSpPr>
          <p:cNvPr id="72" name="Google Shape;7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 name="Google Shape;7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The 1960s</a:t>
            </a:r>
            <a:endParaRPr/>
          </a:p>
          <a:p>
            <a:pPr indent="0" lvl="0" marL="0" rtl="0" algn="l">
              <a:spcBef>
                <a:spcPts val="462"/>
              </a:spcBef>
              <a:spcAft>
                <a:spcPts val="0"/>
              </a:spcAft>
              <a:buNone/>
            </a:pPr>
            <a:r>
              <a:rPr lang="en-GB"/>
              <a:t>During the 1960s, the Department of Defense’s Advanced Research Procurement Agency (ARPA) began examining the feasibility of a redundant networked communications system designed to support the military’s need to exchange information. </a:t>
            </a:r>
            <a:endParaRPr/>
          </a:p>
          <a:p>
            <a:pPr indent="0" lvl="0" marL="0" rtl="0" algn="l">
              <a:spcBef>
                <a:spcPts val="462"/>
              </a:spcBef>
              <a:spcAft>
                <a:spcPts val="0"/>
              </a:spcAft>
              <a:buNone/>
            </a:pPr>
            <a:r>
              <a:rPr lang="en-GB"/>
              <a:t>Larry Roberts, known as the founder of the Internet, developed the project from its inception.</a:t>
            </a:r>
            <a:endParaRPr/>
          </a:p>
          <a:p>
            <a:pPr indent="0" lvl="0" marL="0" rtl="0" algn="l">
              <a:spcBef>
                <a:spcPts val="462"/>
              </a:spcBef>
              <a:spcAft>
                <a:spcPts val="0"/>
              </a:spcAft>
              <a:buNone/>
            </a:pPr>
            <a:r>
              <a:t/>
            </a:r>
            <a:endParaRPr/>
          </a:p>
          <a:p>
            <a:pPr indent="0" lvl="0" marL="0" rtl="0" algn="l">
              <a:spcBef>
                <a:spcPts val="360"/>
              </a:spcBef>
              <a:spcAft>
                <a:spcPts val="0"/>
              </a:spcAft>
              <a:buNone/>
            </a:pPr>
            <a:r>
              <a:t/>
            </a:r>
            <a:endParaRPr/>
          </a:p>
        </p:txBody>
      </p:sp>
      <p:sp>
        <p:nvSpPr>
          <p:cNvPr id="86" name="Google Shape;8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This picture shows a high-visibility artifact associated with the early days of information security – focusing on the confidentiality of information. This artifact is also part of the study of cryptography from Chapter 8.</a:t>
            </a:r>
            <a:endParaRPr/>
          </a:p>
          <a:p>
            <a:pPr indent="0" lvl="0" marL="0" rtl="0" algn="l">
              <a:spcBef>
                <a:spcPts val="360"/>
              </a:spcBef>
              <a:spcAft>
                <a:spcPts val="0"/>
              </a:spcAft>
              <a:buNone/>
            </a:pPr>
            <a:r>
              <a:t/>
            </a:r>
            <a:endParaRPr/>
          </a:p>
        </p:txBody>
      </p:sp>
      <p:sp>
        <p:nvSpPr>
          <p:cNvPr id="93" name="Google Shape;9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110"/>
              <a:t>The 1970s and 80s</a:t>
            </a:r>
            <a:endParaRPr/>
          </a:p>
          <a:p>
            <a:pPr indent="-352398" lvl="0" marL="352398" rtl="0" algn="l">
              <a:lnSpc>
                <a:spcPct val="80000"/>
              </a:lnSpc>
              <a:spcBef>
                <a:spcPts val="642"/>
              </a:spcBef>
              <a:spcAft>
                <a:spcPts val="0"/>
              </a:spcAft>
              <a:buClr>
                <a:srgbClr val="222222"/>
              </a:buClr>
              <a:buSzPts val="2497"/>
              <a:buFont typeface="Arial"/>
              <a:buChar char="•"/>
            </a:pPr>
            <a:r>
              <a:rPr lang="en-GB" sz="2497">
                <a:solidFill>
                  <a:srgbClr val="222222"/>
                </a:solidFill>
                <a:latin typeface="Arial"/>
                <a:ea typeface="Arial"/>
                <a:cs typeface="Arial"/>
                <a:sym typeface="Arial"/>
              </a:rPr>
              <a:t>ARPANET grew in popularity as did its potential for misuse</a:t>
            </a:r>
            <a:endParaRPr/>
          </a:p>
          <a:p>
            <a:pPr indent="-352398" lvl="0" marL="352398" rtl="0" algn="l">
              <a:lnSpc>
                <a:spcPct val="80000"/>
              </a:lnSpc>
              <a:spcBef>
                <a:spcPts val="642"/>
              </a:spcBef>
              <a:spcAft>
                <a:spcPts val="0"/>
              </a:spcAft>
              <a:buClr>
                <a:srgbClr val="222222"/>
              </a:buClr>
              <a:buSzPts val="2497"/>
              <a:buFont typeface="Arial"/>
              <a:buChar char="•"/>
            </a:pPr>
            <a:r>
              <a:rPr lang="en-GB" sz="2497">
                <a:solidFill>
                  <a:srgbClr val="222222"/>
                </a:solidFill>
                <a:latin typeface="Arial"/>
                <a:ea typeface="Arial"/>
                <a:cs typeface="Arial"/>
                <a:sym typeface="Arial"/>
              </a:rPr>
              <a:t>Fundamental problems with ARPANET security were identified</a:t>
            </a:r>
            <a:endParaRPr/>
          </a:p>
          <a:p>
            <a:pPr indent="-293664" lvl="1" marL="763530" rtl="0" algn="l">
              <a:lnSpc>
                <a:spcPct val="80000"/>
              </a:lnSpc>
              <a:spcBef>
                <a:spcPts val="591"/>
              </a:spcBef>
              <a:spcAft>
                <a:spcPts val="0"/>
              </a:spcAft>
              <a:buClr>
                <a:srgbClr val="222222"/>
              </a:buClr>
              <a:buSzPts val="2312"/>
              <a:buFont typeface="Arial"/>
              <a:buChar char="–"/>
            </a:pPr>
            <a:r>
              <a:rPr lang="en-GB" sz="2312">
                <a:solidFill>
                  <a:srgbClr val="222222"/>
                </a:solidFill>
                <a:latin typeface="Arial"/>
                <a:ea typeface="Arial"/>
                <a:cs typeface="Arial"/>
                <a:sym typeface="Arial"/>
              </a:rPr>
              <a:t>No safety procedures for dial-up connections to ARPANET</a:t>
            </a:r>
            <a:endParaRPr/>
          </a:p>
          <a:p>
            <a:pPr indent="-293664" lvl="1" marL="763530" rtl="0" algn="l">
              <a:lnSpc>
                <a:spcPct val="80000"/>
              </a:lnSpc>
              <a:spcBef>
                <a:spcPts val="591"/>
              </a:spcBef>
              <a:spcAft>
                <a:spcPts val="0"/>
              </a:spcAft>
              <a:buClr>
                <a:srgbClr val="222222"/>
              </a:buClr>
              <a:buSzPts val="2312"/>
              <a:buFont typeface="Arial"/>
              <a:buChar char="–"/>
            </a:pPr>
            <a:r>
              <a:rPr lang="en-GB" sz="2312">
                <a:solidFill>
                  <a:srgbClr val="222222"/>
                </a:solidFill>
                <a:latin typeface="Arial"/>
                <a:ea typeface="Arial"/>
                <a:cs typeface="Arial"/>
                <a:sym typeface="Arial"/>
              </a:rPr>
              <a:t>Nonexistent user identification and authorization to system</a:t>
            </a:r>
            <a:endParaRPr/>
          </a:p>
          <a:p>
            <a:pPr indent="-352398" lvl="0" marL="352398" rtl="0" algn="l">
              <a:lnSpc>
                <a:spcPct val="80000"/>
              </a:lnSpc>
              <a:spcBef>
                <a:spcPts val="642"/>
              </a:spcBef>
              <a:spcAft>
                <a:spcPts val="0"/>
              </a:spcAft>
              <a:buClr>
                <a:srgbClr val="222222"/>
              </a:buClr>
              <a:buSzPts val="2497"/>
              <a:buFont typeface="Arial"/>
              <a:buChar char="•"/>
            </a:pPr>
            <a:r>
              <a:rPr lang="en-GB" sz="2497">
                <a:solidFill>
                  <a:srgbClr val="222222"/>
                </a:solidFill>
                <a:latin typeface="Arial"/>
                <a:ea typeface="Arial"/>
                <a:cs typeface="Arial"/>
                <a:sym typeface="Arial"/>
              </a:rPr>
              <a:t>Late 1970s: microprocessor expanded computing capabilities and security threats</a:t>
            </a:r>
            <a:endParaRPr/>
          </a:p>
          <a:p>
            <a:pPr indent="0" lvl="0" marL="0" rtl="0" algn="l">
              <a:lnSpc>
                <a:spcPct val="80000"/>
              </a:lnSpc>
              <a:spcBef>
                <a:spcPts val="333"/>
              </a:spcBef>
              <a:spcAft>
                <a:spcPts val="0"/>
              </a:spcAft>
              <a:buNone/>
            </a:pPr>
            <a:r>
              <a:t/>
            </a:r>
            <a:endParaRPr sz="1110"/>
          </a:p>
        </p:txBody>
      </p:sp>
      <p:sp>
        <p:nvSpPr>
          <p:cNvPr id="101" name="Google Shape;10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020"/>
              <a:t>The 1970s and 80s (cont’d.)</a:t>
            </a:r>
            <a:endParaRPr/>
          </a:p>
          <a:p>
            <a:pPr indent="-352398" lvl="0" marL="352398"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Information security began with Rand Report R-609 (paper that started the study of computer security and identified role of management and policy issues in it)‏</a:t>
            </a:r>
            <a:endParaRPr sz="2295">
              <a:solidFill>
                <a:srgbClr val="222222"/>
              </a:solidFill>
              <a:latin typeface="Arial"/>
              <a:ea typeface="Arial"/>
              <a:cs typeface="Arial"/>
              <a:sym typeface="Arial"/>
            </a:endParaRPr>
          </a:p>
          <a:p>
            <a:pPr indent="-352398" lvl="0" marL="352398"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Scope of computer security grew from physical security to include: </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Securing the data</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Limiting random and unauthorized access to data</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Involving personnel from multiple levels of the organization in information security</a:t>
            </a:r>
            <a:endParaRPr/>
          </a:p>
          <a:p>
            <a:pPr indent="0" lvl="0" marL="0" rtl="0" algn="l">
              <a:lnSpc>
                <a:spcPct val="80000"/>
              </a:lnSpc>
              <a:spcBef>
                <a:spcPts val="306"/>
              </a:spcBef>
              <a:spcAft>
                <a:spcPts val="0"/>
              </a:spcAft>
              <a:buNone/>
            </a:pPr>
            <a:r>
              <a:t/>
            </a:r>
            <a:endParaRPr sz="1020"/>
          </a:p>
        </p:txBody>
      </p:sp>
      <p:sp>
        <p:nvSpPr>
          <p:cNvPr id="108" name="Google Shape;10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 name="Google Shape;11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930"/>
              <a:t>MULTICS</a:t>
            </a:r>
            <a:endParaRPr/>
          </a:p>
          <a:p>
            <a:pPr indent="-352398" lvl="0" marL="352398" rtl="0" algn="l">
              <a:lnSpc>
                <a:spcPct val="80000"/>
              </a:lnSpc>
              <a:spcBef>
                <a:spcPts val="372"/>
              </a:spcBef>
              <a:spcAft>
                <a:spcPts val="0"/>
              </a:spcAft>
              <a:buClr>
                <a:srgbClr val="222222"/>
              </a:buClr>
              <a:buSzPts val="1860"/>
              <a:buFont typeface="Arial"/>
              <a:buChar char="•"/>
            </a:pPr>
            <a:r>
              <a:rPr lang="en-GB" sz="1860">
                <a:solidFill>
                  <a:srgbClr val="222222"/>
                </a:solidFill>
                <a:latin typeface="Arial"/>
                <a:ea typeface="Arial"/>
                <a:cs typeface="Arial"/>
                <a:sym typeface="Arial"/>
              </a:rPr>
              <a:t>Early focus of computer security research centered on a system called Multiplexed Information and Computing Service (MULTICS)‏</a:t>
            </a:r>
            <a:endParaRPr sz="1860">
              <a:solidFill>
                <a:srgbClr val="222222"/>
              </a:solidFill>
              <a:latin typeface="Arial"/>
              <a:ea typeface="Arial"/>
              <a:cs typeface="Arial"/>
              <a:sym typeface="Arial"/>
            </a:endParaRPr>
          </a:p>
          <a:p>
            <a:pPr indent="-352398" lvl="0" marL="352398" rtl="0" algn="l">
              <a:lnSpc>
                <a:spcPct val="80000"/>
              </a:lnSpc>
              <a:spcBef>
                <a:spcPts val="372"/>
              </a:spcBef>
              <a:spcAft>
                <a:spcPts val="0"/>
              </a:spcAft>
              <a:buClr>
                <a:srgbClr val="222222"/>
              </a:buClr>
              <a:buSzPts val="1860"/>
              <a:buFont typeface="Arial"/>
              <a:buChar char="•"/>
            </a:pPr>
            <a:r>
              <a:rPr lang="en-GB" sz="1860">
                <a:solidFill>
                  <a:srgbClr val="222222"/>
                </a:solidFill>
                <a:latin typeface="Arial"/>
                <a:ea typeface="Arial"/>
                <a:cs typeface="Arial"/>
                <a:sym typeface="Arial"/>
              </a:rPr>
              <a:t>First operating system created with security integrated into core functions</a:t>
            </a:r>
            <a:endParaRPr/>
          </a:p>
          <a:p>
            <a:pPr indent="-352398" lvl="0" marL="352398" rtl="0" algn="l">
              <a:lnSpc>
                <a:spcPct val="80000"/>
              </a:lnSpc>
              <a:spcBef>
                <a:spcPts val="372"/>
              </a:spcBef>
              <a:spcAft>
                <a:spcPts val="0"/>
              </a:spcAft>
              <a:buClr>
                <a:srgbClr val="222222"/>
              </a:buClr>
              <a:buSzPts val="1860"/>
              <a:buFont typeface="Arial"/>
              <a:buChar char="•"/>
            </a:pPr>
            <a:r>
              <a:rPr lang="en-GB" sz="1860">
                <a:solidFill>
                  <a:srgbClr val="222222"/>
                </a:solidFill>
                <a:latin typeface="Arial"/>
                <a:ea typeface="Arial"/>
                <a:cs typeface="Arial"/>
                <a:sym typeface="Arial"/>
              </a:rPr>
              <a:t>Mainframe, time-sharing OS developed in mid-1960s by General Electric (GE), Bell Labs, and Massachusetts Institute of Technology (MIT)‏</a:t>
            </a:r>
            <a:endParaRPr sz="1860">
              <a:solidFill>
                <a:srgbClr val="222222"/>
              </a:solidFill>
              <a:latin typeface="Arial"/>
              <a:ea typeface="Arial"/>
              <a:cs typeface="Arial"/>
              <a:sym typeface="Arial"/>
            </a:endParaRPr>
          </a:p>
          <a:p>
            <a:pPr indent="-352398" lvl="0" marL="352398" rtl="0" algn="l">
              <a:lnSpc>
                <a:spcPct val="80000"/>
              </a:lnSpc>
              <a:spcBef>
                <a:spcPts val="372"/>
              </a:spcBef>
              <a:spcAft>
                <a:spcPts val="0"/>
              </a:spcAft>
              <a:buClr>
                <a:srgbClr val="222222"/>
              </a:buClr>
              <a:buSzPts val="1860"/>
              <a:buFont typeface="Arial"/>
              <a:buChar char="•"/>
            </a:pPr>
            <a:r>
              <a:rPr lang="en-GB" sz="1860">
                <a:solidFill>
                  <a:srgbClr val="222222"/>
                </a:solidFill>
                <a:latin typeface="Arial"/>
                <a:ea typeface="Arial"/>
                <a:cs typeface="Arial"/>
                <a:sym typeface="Arial"/>
              </a:rPr>
              <a:t>Several MULTICS key players created UNIX</a:t>
            </a:r>
            <a:endParaRPr/>
          </a:p>
          <a:p>
            <a:pPr indent="-293664" lvl="1" marL="763530" rtl="0" algn="l">
              <a:lnSpc>
                <a:spcPct val="80000"/>
              </a:lnSpc>
              <a:spcBef>
                <a:spcPts val="341"/>
              </a:spcBef>
              <a:spcAft>
                <a:spcPts val="0"/>
              </a:spcAft>
              <a:buClr>
                <a:srgbClr val="222222"/>
              </a:buClr>
              <a:buSzPts val="1704"/>
              <a:buFont typeface="Arial"/>
              <a:buChar char="–"/>
            </a:pPr>
            <a:r>
              <a:rPr lang="en-GB" sz="1704">
                <a:solidFill>
                  <a:srgbClr val="222222"/>
                </a:solidFill>
                <a:latin typeface="Arial"/>
                <a:ea typeface="Arial"/>
                <a:cs typeface="Arial"/>
                <a:sym typeface="Arial"/>
              </a:rPr>
              <a:t>Primary purpose of UNIX was text processing</a:t>
            </a:r>
            <a:endParaRPr/>
          </a:p>
          <a:p>
            <a:pPr indent="-352398" lvl="0" marL="352398" rtl="0" algn="l">
              <a:lnSpc>
                <a:spcPct val="80000"/>
              </a:lnSpc>
              <a:spcBef>
                <a:spcPts val="372"/>
              </a:spcBef>
              <a:spcAft>
                <a:spcPts val="0"/>
              </a:spcAft>
              <a:buClr>
                <a:srgbClr val="222222"/>
              </a:buClr>
              <a:buSzPts val="1860"/>
              <a:buFont typeface="Arial"/>
              <a:buChar char="•"/>
            </a:pPr>
            <a:r>
              <a:rPr lang="en-GB" sz="1860">
                <a:solidFill>
                  <a:srgbClr val="222222"/>
                </a:solidFill>
                <a:latin typeface="Arial"/>
                <a:ea typeface="Arial"/>
                <a:cs typeface="Arial"/>
                <a:sym typeface="Arial"/>
              </a:rPr>
              <a:t>Late 1970s: microprocessor expanded computing capabilities and security threats</a:t>
            </a:r>
            <a:endParaRPr/>
          </a:p>
          <a:p>
            <a:pPr indent="0" lvl="0" marL="0" rtl="0" algn="l">
              <a:lnSpc>
                <a:spcPct val="80000"/>
              </a:lnSpc>
              <a:spcBef>
                <a:spcPts val="279"/>
              </a:spcBef>
              <a:spcAft>
                <a:spcPts val="0"/>
              </a:spcAft>
              <a:buNone/>
            </a:pPr>
            <a:r>
              <a:t/>
            </a:r>
            <a:endParaRPr sz="930"/>
          </a:p>
        </p:txBody>
      </p:sp>
      <p:sp>
        <p:nvSpPr>
          <p:cNvPr id="122" name="Google Shape;12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8" name="Google Shape;12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The 1990s</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Networks of computers became more common; so did the need to connect them to each other</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Internet became first global network of networks</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Initially based on de facto standards</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In early Internet deployments, security was treated as a low priority</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In 1993, DEFCON conference established for those interested in information security</a:t>
            </a:r>
            <a:endParaRPr/>
          </a:p>
          <a:p>
            <a:pPr indent="0" lvl="0" marL="0" rtl="0" algn="l">
              <a:spcBef>
                <a:spcPts val="385"/>
              </a:spcBef>
              <a:spcAft>
                <a:spcPts val="0"/>
              </a:spcAft>
              <a:buNone/>
            </a:pPr>
            <a:r>
              <a:t/>
            </a:r>
            <a:endParaRPr/>
          </a:p>
          <a:p>
            <a:pPr indent="0" lvl="0" marL="0" rtl="0" algn="l">
              <a:spcBef>
                <a:spcPts val="360"/>
              </a:spcBef>
              <a:spcAft>
                <a:spcPts val="0"/>
              </a:spcAft>
              <a:buNone/>
            </a:pPr>
            <a:r>
              <a:t/>
            </a:r>
            <a:endParaRPr/>
          </a:p>
        </p:txBody>
      </p:sp>
      <p:sp>
        <p:nvSpPr>
          <p:cNvPr id="135" name="Google Shape;13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020"/>
              <a:t>2000 to Present</a:t>
            </a:r>
            <a:endParaRPr/>
          </a:p>
          <a:p>
            <a:pPr indent="-352398" lvl="0" marL="355661"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The Internet brings millions of unsecured computer networks into continuous communication with each other</a:t>
            </a:r>
            <a:endParaRPr/>
          </a:p>
          <a:p>
            <a:pPr indent="-352398" lvl="0" marL="355661"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Ability to secure a computer’s data influenced by the security of every computer to which it is connected</a:t>
            </a:r>
            <a:endParaRPr/>
          </a:p>
          <a:p>
            <a:pPr indent="-352398" lvl="0" marL="355661"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Growing threat of cyber attacks has increased the awareness of need for improved security</a:t>
            </a:r>
            <a:endParaRPr/>
          </a:p>
          <a:p>
            <a:pPr indent="-293665" lvl="1" marL="766793" rtl="0" algn="l">
              <a:lnSpc>
                <a:spcPct val="80000"/>
              </a:lnSpc>
              <a:spcBef>
                <a:spcPts val="642"/>
              </a:spcBef>
              <a:spcAft>
                <a:spcPts val="0"/>
              </a:spcAft>
              <a:buClr>
                <a:srgbClr val="222222"/>
              </a:buClr>
              <a:buSzPts val="2125"/>
              <a:buFont typeface="Arial"/>
              <a:buChar char="–"/>
            </a:pPr>
            <a:r>
              <a:rPr lang="en-GB" sz="2125">
                <a:solidFill>
                  <a:srgbClr val="222222"/>
                </a:solidFill>
                <a:latin typeface="Arial"/>
                <a:ea typeface="Arial"/>
                <a:cs typeface="Arial"/>
                <a:sym typeface="Arial"/>
              </a:rPr>
              <a:t>Nation-states engaging in information warfare</a:t>
            </a:r>
            <a:endParaRPr/>
          </a:p>
          <a:p>
            <a:pPr indent="0" lvl="0" marL="0" rtl="0" algn="l">
              <a:lnSpc>
                <a:spcPct val="80000"/>
              </a:lnSpc>
              <a:spcBef>
                <a:spcPts val="306"/>
              </a:spcBef>
              <a:spcAft>
                <a:spcPts val="0"/>
              </a:spcAft>
              <a:buNone/>
            </a:pPr>
            <a:r>
              <a:t/>
            </a:r>
            <a:endParaRPr sz="1020"/>
          </a:p>
        </p:txBody>
      </p:sp>
      <p:sp>
        <p:nvSpPr>
          <p:cNvPr id="142" name="Google Shape;14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020"/>
              <a:t>What Is Security?</a:t>
            </a:r>
            <a:endParaRPr/>
          </a:p>
          <a:p>
            <a:pPr indent="-352398" lvl="0" marL="352398"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“A state of being secure and free from danger or harm; the actions taken to make someone or something secure”  </a:t>
            </a:r>
            <a:endParaRPr/>
          </a:p>
          <a:p>
            <a:pPr indent="-352398" lvl="0" marL="352398" rtl="0" algn="l">
              <a:lnSpc>
                <a:spcPct val="80000"/>
              </a:lnSpc>
              <a:spcBef>
                <a:spcPts val="642"/>
              </a:spcBef>
              <a:spcAft>
                <a:spcPts val="0"/>
              </a:spcAft>
              <a:buClr>
                <a:srgbClr val="222222"/>
              </a:buClr>
              <a:buSzPts val="2295"/>
              <a:buFont typeface="Arial"/>
              <a:buChar char="•"/>
            </a:pPr>
            <a:r>
              <a:rPr lang="en-GB" sz="2295">
                <a:solidFill>
                  <a:srgbClr val="222222"/>
                </a:solidFill>
                <a:latin typeface="Arial"/>
                <a:ea typeface="Arial"/>
                <a:cs typeface="Arial"/>
                <a:sym typeface="Arial"/>
              </a:rPr>
              <a:t>A successful organization should have multiple layers of security in place to protect: </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Operations</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Physical Infrastructure</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People</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Functions</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Communications</a:t>
            </a:r>
            <a:endParaRPr/>
          </a:p>
          <a:p>
            <a:pPr indent="-293664" lvl="1" marL="763530" rtl="0" algn="l">
              <a:lnSpc>
                <a:spcPct val="80000"/>
              </a:lnSpc>
              <a:spcBef>
                <a:spcPts val="591"/>
              </a:spcBef>
              <a:spcAft>
                <a:spcPts val="0"/>
              </a:spcAft>
              <a:buClr>
                <a:srgbClr val="222222"/>
              </a:buClr>
              <a:buSzPts val="2125"/>
              <a:buFont typeface="Arial"/>
              <a:buChar char="–"/>
            </a:pPr>
            <a:r>
              <a:rPr lang="en-GB" sz="2125">
                <a:solidFill>
                  <a:srgbClr val="222222"/>
                </a:solidFill>
                <a:latin typeface="Arial"/>
                <a:ea typeface="Arial"/>
                <a:cs typeface="Arial"/>
                <a:sym typeface="Arial"/>
              </a:rPr>
              <a:t>Information</a:t>
            </a:r>
            <a:endParaRPr/>
          </a:p>
          <a:p>
            <a:pPr indent="0" lvl="0" marL="0" rtl="0" algn="l">
              <a:lnSpc>
                <a:spcPct val="80000"/>
              </a:lnSpc>
              <a:spcBef>
                <a:spcPts val="306"/>
              </a:spcBef>
              <a:spcAft>
                <a:spcPts val="0"/>
              </a:spcAft>
              <a:buNone/>
            </a:pPr>
            <a:r>
              <a:t/>
            </a:r>
            <a:endParaRPr sz="1020"/>
          </a:p>
        </p:txBody>
      </p:sp>
      <p:sp>
        <p:nvSpPr>
          <p:cNvPr id="149" name="Google Shape;14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020"/>
              <a:t>What Is Security? (cont’d.)</a:t>
            </a:r>
            <a:endParaRPr/>
          </a:p>
          <a:p>
            <a:pPr indent="-352398" lvl="0" marL="352398" rtl="0" algn="l">
              <a:lnSpc>
                <a:spcPct val="80000"/>
              </a:lnSpc>
              <a:spcBef>
                <a:spcPts val="459"/>
              </a:spcBef>
              <a:spcAft>
                <a:spcPts val="0"/>
              </a:spcAft>
              <a:buClr>
                <a:srgbClr val="222222"/>
              </a:buClr>
              <a:buSzPts val="2295"/>
              <a:buFont typeface="Arial"/>
              <a:buChar char="•"/>
            </a:pPr>
            <a:r>
              <a:rPr lang="en-GB" sz="2295">
                <a:solidFill>
                  <a:srgbClr val="222222"/>
                </a:solidFill>
                <a:latin typeface="Arial"/>
                <a:ea typeface="Arial"/>
                <a:cs typeface="Arial"/>
                <a:sym typeface="Arial"/>
              </a:rPr>
              <a:t>The protection of information and its critical elements, including systems and hardware that use, store, and transmit that information </a:t>
            </a:r>
            <a:endParaRPr/>
          </a:p>
          <a:p>
            <a:pPr indent="-352398" lvl="0" marL="352398" rtl="0" algn="l">
              <a:lnSpc>
                <a:spcPct val="80000"/>
              </a:lnSpc>
              <a:spcBef>
                <a:spcPts val="459"/>
              </a:spcBef>
              <a:spcAft>
                <a:spcPts val="0"/>
              </a:spcAft>
              <a:buClr>
                <a:srgbClr val="222222"/>
              </a:buClr>
              <a:buSzPts val="2295"/>
              <a:buFont typeface="Arial"/>
              <a:buChar char="•"/>
            </a:pPr>
            <a:r>
              <a:rPr lang="en-GB" sz="2295">
                <a:solidFill>
                  <a:srgbClr val="222222"/>
                </a:solidFill>
                <a:latin typeface="Arial"/>
                <a:ea typeface="Arial"/>
                <a:cs typeface="Arial"/>
                <a:sym typeface="Arial"/>
              </a:rPr>
              <a:t>Includes information security management, data security, and network security</a:t>
            </a:r>
            <a:endParaRPr/>
          </a:p>
          <a:p>
            <a:pPr indent="-352398" lvl="0" marL="352398" rtl="0" algn="l">
              <a:lnSpc>
                <a:spcPct val="80000"/>
              </a:lnSpc>
              <a:spcBef>
                <a:spcPts val="459"/>
              </a:spcBef>
              <a:spcAft>
                <a:spcPts val="0"/>
              </a:spcAft>
              <a:buClr>
                <a:srgbClr val="222222"/>
              </a:buClr>
              <a:buSzPts val="2295"/>
              <a:buFont typeface="Arial"/>
              <a:buChar char="•"/>
            </a:pPr>
            <a:r>
              <a:rPr lang="en-GB" sz="2295">
                <a:solidFill>
                  <a:srgbClr val="222222"/>
                </a:solidFill>
                <a:latin typeface="Arial"/>
                <a:ea typeface="Arial"/>
                <a:cs typeface="Arial"/>
                <a:sym typeface="Arial"/>
              </a:rPr>
              <a:t>C.I.A. triangle</a:t>
            </a:r>
            <a:endParaRPr/>
          </a:p>
          <a:p>
            <a:pPr indent="-293664" lvl="1" marL="763530" rtl="0" algn="l">
              <a:lnSpc>
                <a:spcPct val="80000"/>
              </a:lnSpc>
              <a:spcBef>
                <a:spcPts val="425"/>
              </a:spcBef>
              <a:spcAft>
                <a:spcPts val="0"/>
              </a:spcAft>
              <a:buClr>
                <a:srgbClr val="222222"/>
              </a:buClr>
              <a:buSzPts val="2125"/>
              <a:buFont typeface="Arial"/>
              <a:buChar char="–"/>
            </a:pPr>
            <a:r>
              <a:rPr lang="en-GB" sz="2125">
                <a:solidFill>
                  <a:srgbClr val="222222"/>
                </a:solidFill>
                <a:latin typeface="Arial"/>
                <a:ea typeface="Arial"/>
                <a:cs typeface="Arial"/>
                <a:sym typeface="Arial"/>
              </a:rPr>
              <a:t>Is standard based on confidentiality, integrity, and availability, now viewed as inadequate</a:t>
            </a:r>
            <a:endParaRPr/>
          </a:p>
          <a:p>
            <a:pPr indent="-293664" lvl="1" marL="763530" rtl="0" algn="l">
              <a:lnSpc>
                <a:spcPct val="80000"/>
              </a:lnSpc>
              <a:spcBef>
                <a:spcPts val="425"/>
              </a:spcBef>
              <a:spcAft>
                <a:spcPts val="0"/>
              </a:spcAft>
              <a:buClr>
                <a:srgbClr val="222222"/>
              </a:buClr>
              <a:buSzPts val="2125"/>
              <a:buFont typeface="Arial"/>
              <a:buChar char="–"/>
            </a:pPr>
            <a:r>
              <a:rPr lang="en-GB" sz="2125">
                <a:solidFill>
                  <a:srgbClr val="222222"/>
                </a:solidFill>
                <a:latin typeface="Arial"/>
                <a:ea typeface="Arial"/>
                <a:cs typeface="Arial"/>
                <a:sym typeface="Arial"/>
              </a:rPr>
              <a:t>Expanded model consists of a list of critical characteristics of information</a:t>
            </a:r>
            <a:endParaRPr/>
          </a:p>
          <a:p>
            <a:pPr indent="0" lvl="0" marL="0" rtl="0" algn="l">
              <a:lnSpc>
                <a:spcPct val="80000"/>
              </a:lnSpc>
              <a:spcBef>
                <a:spcPts val="306"/>
              </a:spcBef>
              <a:spcAft>
                <a:spcPts val="0"/>
              </a:spcAft>
              <a:buNone/>
            </a:pPr>
            <a:r>
              <a:t/>
            </a:r>
            <a:endParaRPr sz="1020"/>
          </a:p>
        </p:txBody>
      </p:sp>
      <p:sp>
        <p:nvSpPr>
          <p:cNvPr id="156" name="Google Shape;156;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2" name="Google Shape;1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8" name="Google Shape;16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110"/>
              <a:t>Key Terms	</a:t>
            </a:r>
            <a:endParaRPr/>
          </a:p>
          <a:p>
            <a:pPr indent="0" lvl="0" marL="0" rtl="0" algn="l">
              <a:lnSpc>
                <a:spcPct val="80000"/>
              </a:lnSpc>
              <a:spcBef>
                <a:spcPts val="385"/>
              </a:spcBef>
              <a:spcAft>
                <a:spcPts val="0"/>
              </a:spcAft>
              <a:buNone/>
            </a:pPr>
            <a:r>
              <a:rPr lang="en-GB" sz="1110"/>
              <a:t>Access - a subject or object’s ability to use, manipulate, modify, or affect another subject or object.  </a:t>
            </a:r>
            <a:endParaRPr/>
          </a:p>
          <a:p>
            <a:pPr indent="0" lvl="0" marL="0" rtl="0" algn="l">
              <a:lnSpc>
                <a:spcPct val="80000"/>
              </a:lnSpc>
              <a:spcBef>
                <a:spcPts val="385"/>
              </a:spcBef>
              <a:spcAft>
                <a:spcPts val="0"/>
              </a:spcAft>
              <a:buNone/>
            </a:pPr>
            <a:r>
              <a:rPr lang="en-GB" sz="1110"/>
              <a:t>Asset - the organizational resource that is being protected. </a:t>
            </a:r>
            <a:endParaRPr/>
          </a:p>
          <a:p>
            <a:pPr indent="0" lvl="0" marL="0" rtl="0" algn="l">
              <a:lnSpc>
                <a:spcPct val="80000"/>
              </a:lnSpc>
              <a:spcBef>
                <a:spcPts val="385"/>
              </a:spcBef>
              <a:spcAft>
                <a:spcPts val="0"/>
              </a:spcAft>
              <a:buNone/>
            </a:pPr>
            <a:r>
              <a:rPr lang="en-GB" sz="1110"/>
              <a:t>Attack - an intentional or unintentional act that can damage or otherwise compromise information and the systems that support it.</a:t>
            </a:r>
            <a:endParaRPr/>
          </a:p>
          <a:p>
            <a:pPr indent="0" lvl="0" marL="0" rtl="0" algn="l">
              <a:lnSpc>
                <a:spcPct val="80000"/>
              </a:lnSpc>
              <a:spcBef>
                <a:spcPts val="385"/>
              </a:spcBef>
              <a:spcAft>
                <a:spcPts val="0"/>
              </a:spcAft>
              <a:buNone/>
            </a:pPr>
            <a:r>
              <a:rPr lang="en-GB" sz="1110"/>
              <a:t>Control, Safeguard, or Countermeasure - Security mechanisms, policies, or procedures that can successfully counter attacks, reduce risk, resolve vulnerabilities, and otherwise improve security within an organization.</a:t>
            </a:r>
            <a:endParaRPr/>
          </a:p>
          <a:p>
            <a:pPr indent="0" lvl="0" marL="0" rtl="0" algn="l">
              <a:lnSpc>
                <a:spcPct val="80000"/>
              </a:lnSpc>
              <a:spcBef>
                <a:spcPts val="385"/>
              </a:spcBef>
              <a:spcAft>
                <a:spcPts val="0"/>
              </a:spcAft>
              <a:buNone/>
            </a:pPr>
            <a:r>
              <a:rPr lang="en-GB" sz="1110"/>
              <a:t>Exploit – a technique used to compromise a system.</a:t>
            </a:r>
            <a:endParaRPr/>
          </a:p>
          <a:p>
            <a:pPr indent="0" lvl="0" marL="0" rtl="0" algn="l">
              <a:lnSpc>
                <a:spcPct val="80000"/>
              </a:lnSpc>
              <a:spcBef>
                <a:spcPts val="385"/>
              </a:spcBef>
              <a:spcAft>
                <a:spcPts val="0"/>
              </a:spcAft>
              <a:buNone/>
            </a:pPr>
            <a:r>
              <a:rPr lang="en-GB" sz="1110"/>
              <a:t>Exposure - a condition or state of being exposed.</a:t>
            </a:r>
            <a:endParaRPr/>
          </a:p>
          <a:p>
            <a:pPr indent="0" lvl="0" marL="0" rtl="0" algn="l">
              <a:lnSpc>
                <a:spcPct val="80000"/>
              </a:lnSpc>
              <a:spcBef>
                <a:spcPts val="385"/>
              </a:spcBef>
              <a:spcAft>
                <a:spcPts val="0"/>
              </a:spcAft>
              <a:buNone/>
            </a:pPr>
            <a:r>
              <a:rPr lang="en-GB" sz="1110"/>
              <a:t>Loss: A single instance of an information asset suffering damage or destruction, unintended or unauthorized modification or disclosure, or denial of use.</a:t>
            </a:r>
            <a:endParaRPr/>
          </a:p>
          <a:p>
            <a:pPr indent="0" lvl="0" marL="0" rtl="0" algn="l">
              <a:lnSpc>
                <a:spcPct val="80000"/>
              </a:lnSpc>
              <a:spcBef>
                <a:spcPts val="385"/>
              </a:spcBef>
              <a:spcAft>
                <a:spcPts val="0"/>
              </a:spcAft>
              <a:buNone/>
            </a:pPr>
            <a:r>
              <a:rPr lang="en-GB" sz="1110"/>
              <a:t>Protection Profile or Security Posture-entire set of controls and safeguards that the organization implements to protect the asset.</a:t>
            </a:r>
            <a:endParaRPr/>
          </a:p>
          <a:p>
            <a:pPr indent="0" lvl="0" marL="0" rtl="0" algn="l">
              <a:lnSpc>
                <a:spcPct val="80000"/>
              </a:lnSpc>
              <a:spcBef>
                <a:spcPts val="385"/>
              </a:spcBef>
              <a:spcAft>
                <a:spcPts val="0"/>
              </a:spcAft>
              <a:buNone/>
            </a:pPr>
            <a:r>
              <a:rPr lang="en-GB" sz="1110"/>
              <a:t>Risk - the probability of an unwanted occurrence.</a:t>
            </a:r>
            <a:endParaRPr/>
          </a:p>
          <a:p>
            <a:pPr indent="0" lvl="0" marL="0" rtl="0" algn="l">
              <a:lnSpc>
                <a:spcPct val="80000"/>
              </a:lnSpc>
              <a:spcBef>
                <a:spcPts val="385"/>
              </a:spcBef>
              <a:spcAft>
                <a:spcPts val="0"/>
              </a:spcAft>
              <a:buNone/>
            </a:pPr>
            <a:r>
              <a:rPr lang="en-GB" sz="1110"/>
              <a:t>Subjects and Objects – a computer can be either an agent entity used to conduct an attack, or the target entity.</a:t>
            </a:r>
            <a:endParaRPr/>
          </a:p>
          <a:p>
            <a:pPr indent="0" lvl="0" marL="0" rtl="0" algn="l">
              <a:lnSpc>
                <a:spcPct val="80000"/>
              </a:lnSpc>
              <a:spcBef>
                <a:spcPts val="385"/>
              </a:spcBef>
              <a:spcAft>
                <a:spcPts val="0"/>
              </a:spcAft>
              <a:buNone/>
            </a:pPr>
            <a:r>
              <a:rPr lang="en-GB" sz="1110"/>
              <a:t>Threat - a category of objects, people, or other entities that represents a danger to an asset. </a:t>
            </a:r>
            <a:endParaRPr/>
          </a:p>
          <a:p>
            <a:pPr indent="0" lvl="0" marL="0" rtl="0" algn="l">
              <a:lnSpc>
                <a:spcPct val="80000"/>
              </a:lnSpc>
              <a:spcBef>
                <a:spcPts val="385"/>
              </a:spcBef>
              <a:spcAft>
                <a:spcPts val="0"/>
              </a:spcAft>
              <a:buNone/>
            </a:pPr>
            <a:r>
              <a:rPr lang="en-GB" sz="1110"/>
              <a:t>Threat Agent – the specific instance or a component of a threat. </a:t>
            </a:r>
            <a:endParaRPr/>
          </a:p>
          <a:p>
            <a:pPr indent="0" lvl="0" marL="0" rtl="0" algn="l">
              <a:lnSpc>
                <a:spcPct val="80000"/>
              </a:lnSpc>
              <a:spcBef>
                <a:spcPts val="385"/>
              </a:spcBef>
              <a:spcAft>
                <a:spcPts val="0"/>
              </a:spcAft>
              <a:buNone/>
            </a:pPr>
            <a:r>
              <a:rPr lang="en-GB" sz="1110"/>
              <a:t>Vulnerability - weaknesses or faults in a system or protection mechanism that expose information to attack or damage. </a:t>
            </a:r>
            <a:endParaRPr/>
          </a:p>
          <a:p>
            <a:pPr indent="0" lvl="0" marL="0" rtl="0" algn="l">
              <a:lnSpc>
                <a:spcPct val="80000"/>
              </a:lnSpc>
              <a:spcBef>
                <a:spcPts val="385"/>
              </a:spcBef>
              <a:spcAft>
                <a:spcPts val="0"/>
              </a:spcAft>
              <a:buNone/>
            </a:pPr>
            <a:r>
              <a:t/>
            </a:r>
            <a:endParaRPr sz="1110"/>
          </a:p>
          <a:p>
            <a:pPr indent="0" lvl="0" marL="0" rtl="0" algn="l">
              <a:lnSpc>
                <a:spcPct val="80000"/>
              </a:lnSpc>
              <a:spcBef>
                <a:spcPts val="333"/>
              </a:spcBef>
              <a:spcAft>
                <a:spcPts val="0"/>
              </a:spcAft>
              <a:buNone/>
            </a:pPr>
            <a:r>
              <a:t/>
            </a:r>
            <a:endParaRPr sz="1110"/>
          </a:p>
        </p:txBody>
      </p:sp>
      <p:sp>
        <p:nvSpPr>
          <p:cNvPr id="175" name="Google Shape;17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Key Information Security Concepts</a:t>
            </a:r>
            <a:endParaRPr/>
          </a:p>
          <a:p>
            <a:pPr indent="0" lvl="0" marL="0" rtl="0" algn="l">
              <a:spcBef>
                <a:spcPts val="462"/>
              </a:spcBef>
              <a:spcAft>
                <a:spcPts val="0"/>
              </a:spcAft>
              <a:buNone/>
            </a:pPr>
            <a:r>
              <a:rPr lang="en-GB"/>
              <a:t>When considering the security of information systems components, it is important to understand the concept of the computer as the subject of an attack as opposed to the computer as the object of an attack.  </a:t>
            </a:r>
            <a:endParaRPr/>
          </a:p>
          <a:p>
            <a:pPr indent="0" lvl="0" marL="0" rtl="0" algn="l">
              <a:spcBef>
                <a:spcPts val="462"/>
              </a:spcBef>
              <a:spcAft>
                <a:spcPts val="0"/>
              </a:spcAft>
              <a:buNone/>
            </a:pPr>
            <a:r>
              <a:rPr lang="en-GB"/>
              <a:t>When a computer is the subject of an attack, it is used as an active tool to conduct the attack. When a computer is the object of an attack, it is the entity being attacked. </a:t>
            </a:r>
            <a:endParaRPr/>
          </a:p>
          <a:p>
            <a:pPr indent="0" lvl="0" marL="0" rtl="0" algn="l">
              <a:spcBef>
                <a:spcPts val="462"/>
              </a:spcBef>
              <a:spcAft>
                <a:spcPts val="0"/>
              </a:spcAft>
              <a:buNone/>
            </a:pPr>
            <a:r>
              <a:t/>
            </a:r>
            <a:endParaRPr/>
          </a:p>
          <a:p>
            <a:pPr indent="0" lvl="0" marL="0" rtl="0" algn="l">
              <a:spcBef>
                <a:spcPts val="360"/>
              </a:spcBef>
              <a:spcAft>
                <a:spcPts val="0"/>
              </a:spcAft>
              <a:buNone/>
            </a:pPr>
            <a:r>
              <a:t/>
            </a:r>
            <a:endParaRPr/>
          </a:p>
        </p:txBody>
      </p:sp>
      <p:sp>
        <p:nvSpPr>
          <p:cNvPr id="188" name="Google Shape;188;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rgbClr val="000000"/>
                </a:solidFill>
              </a:rPr>
              <a:t>‹#›</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 name="Google Shape;19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1110"/>
              <a:t>Critical Characteristics of Information</a:t>
            </a:r>
            <a:endParaRPr/>
          </a:p>
          <a:p>
            <a:pPr indent="0" lvl="0" marL="0" rtl="0" algn="l">
              <a:lnSpc>
                <a:spcPct val="80000"/>
              </a:lnSpc>
              <a:spcBef>
                <a:spcPts val="385"/>
              </a:spcBef>
              <a:spcAft>
                <a:spcPts val="0"/>
              </a:spcAft>
              <a:buNone/>
            </a:pPr>
            <a:r>
              <a:rPr lang="en-GB" sz="1110"/>
              <a:t>The value of information comes from the characteristics it possesses. </a:t>
            </a:r>
            <a:endParaRPr/>
          </a:p>
          <a:p>
            <a:pPr indent="0" lvl="0" marL="0" rtl="0" algn="l">
              <a:lnSpc>
                <a:spcPct val="80000"/>
              </a:lnSpc>
              <a:spcBef>
                <a:spcPts val="385"/>
              </a:spcBef>
              <a:spcAft>
                <a:spcPts val="0"/>
              </a:spcAft>
              <a:buNone/>
            </a:pPr>
            <a:r>
              <a:rPr lang="en-GB" sz="1110"/>
              <a:t>Availability – Enables users who need to access information to do so without interference or obstruction and in the required format. The information is said to be available to an authorized user when and where needed and in the correct format.  </a:t>
            </a:r>
            <a:endParaRPr/>
          </a:p>
          <a:p>
            <a:pPr indent="0" lvl="0" marL="0" rtl="0" algn="l">
              <a:lnSpc>
                <a:spcPct val="80000"/>
              </a:lnSpc>
              <a:spcBef>
                <a:spcPts val="385"/>
              </a:spcBef>
              <a:spcAft>
                <a:spcPts val="0"/>
              </a:spcAft>
              <a:buNone/>
            </a:pPr>
            <a:r>
              <a:rPr lang="en-GB" sz="1110"/>
              <a:t>Accuracy – Free from mistake or error and having the value that the end user expects. If information contains a value different from the user’s expectations due to the intentional or unintentional modification of its content, it is no longer accurate.</a:t>
            </a:r>
            <a:endParaRPr/>
          </a:p>
          <a:p>
            <a:pPr indent="0" lvl="0" marL="0" rtl="0" algn="l">
              <a:lnSpc>
                <a:spcPct val="80000"/>
              </a:lnSpc>
              <a:spcBef>
                <a:spcPts val="385"/>
              </a:spcBef>
              <a:spcAft>
                <a:spcPts val="0"/>
              </a:spcAft>
              <a:buNone/>
            </a:pPr>
            <a:r>
              <a:rPr lang="en-GB" sz="1110"/>
              <a:t>Authenticity –The quality or state of being genuine or original, rather than a reproduction or fabrication. Information is authentic when it is the information that was originally created, placed, stored, or transferred.  </a:t>
            </a:r>
            <a:endParaRPr/>
          </a:p>
          <a:p>
            <a:pPr indent="0" lvl="0" marL="0" rtl="0" algn="l">
              <a:lnSpc>
                <a:spcPct val="80000"/>
              </a:lnSpc>
              <a:spcBef>
                <a:spcPts val="385"/>
              </a:spcBef>
              <a:spcAft>
                <a:spcPts val="0"/>
              </a:spcAft>
              <a:buNone/>
            </a:pPr>
            <a:r>
              <a:rPr lang="en-GB" sz="1110"/>
              <a:t>Confidentiality – The quality or state of preventing disclosure or exposure to unauthorized individuals or systems.  </a:t>
            </a:r>
            <a:endParaRPr/>
          </a:p>
          <a:p>
            <a:pPr indent="0" lvl="0" marL="0" rtl="0" algn="l">
              <a:lnSpc>
                <a:spcPct val="80000"/>
              </a:lnSpc>
              <a:spcBef>
                <a:spcPts val="385"/>
              </a:spcBef>
              <a:spcAft>
                <a:spcPts val="0"/>
              </a:spcAft>
              <a:buNone/>
            </a:pPr>
            <a:r>
              <a:rPr lang="en-GB" sz="1110"/>
              <a:t>Integrity – The quality or state of being whole, complete, and uncorrupted.  The integrity of information is threatened when the information is exposed to corruption, damage, destruction, or other disruption of its authentic state. </a:t>
            </a:r>
            <a:endParaRPr/>
          </a:p>
          <a:p>
            <a:pPr indent="0" lvl="0" marL="0" rtl="0" algn="l">
              <a:lnSpc>
                <a:spcPct val="80000"/>
              </a:lnSpc>
              <a:spcBef>
                <a:spcPts val="385"/>
              </a:spcBef>
              <a:spcAft>
                <a:spcPts val="0"/>
              </a:spcAft>
              <a:buNone/>
            </a:pPr>
            <a:r>
              <a:rPr lang="en-GB" sz="1110"/>
              <a:t>Utility – The quality or state of having value for some purpose or end. Information has value when it serves a particular purpose. This means that if information is available, but not in a format meaningful to the end user, it is not useful.</a:t>
            </a:r>
            <a:endParaRPr/>
          </a:p>
          <a:p>
            <a:pPr indent="0" lvl="0" marL="0" rtl="0" algn="l">
              <a:lnSpc>
                <a:spcPct val="80000"/>
              </a:lnSpc>
              <a:spcBef>
                <a:spcPts val="385"/>
              </a:spcBef>
              <a:spcAft>
                <a:spcPts val="0"/>
              </a:spcAft>
              <a:buNone/>
            </a:pPr>
            <a:r>
              <a:rPr lang="en-GB" sz="1110"/>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endParaRPr/>
          </a:p>
          <a:p>
            <a:pPr indent="0" lvl="0" marL="0" rtl="0" algn="l">
              <a:lnSpc>
                <a:spcPct val="80000"/>
              </a:lnSpc>
              <a:spcBef>
                <a:spcPts val="333"/>
              </a:spcBef>
              <a:spcAft>
                <a:spcPts val="0"/>
              </a:spcAft>
              <a:buNone/>
            </a:pPr>
            <a:r>
              <a:t/>
            </a:r>
            <a:endParaRPr sz="1110"/>
          </a:p>
        </p:txBody>
      </p:sp>
      <p:sp>
        <p:nvSpPr>
          <p:cNvPr id="202" name="Google Shape;20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This graphic informs the fundamental approach of the chapter and can be used to illustrate the intersection of information states (x-axis), key objectives of C.I.A. (y-axis), and the three primary means to implement (policy, education, and technology).</a:t>
            </a:r>
            <a:endParaRPr/>
          </a:p>
          <a:p>
            <a:pPr indent="0" lvl="0" marL="0" rtl="0" algn="l">
              <a:spcBef>
                <a:spcPts val="360"/>
              </a:spcBef>
              <a:spcAft>
                <a:spcPts val="0"/>
              </a:spcAft>
              <a:buNone/>
            </a:pPr>
            <a:r>
              <a:t/>
            </a:r>
            <a:endParaRPr/>
          </a:p>
        </p:txBody>
      </p:sp>
      <p:sp>
        <p:nvSpPr>
          <p:cNvPr id="209" name="Google Shape;209;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GB" sz="1110"/>
              <a:t>Components of an Information System</a:t>
            </a:r>
            <a:endParaRPr/>
          </a:p>
          <a:p>
            <a:pPr indent="-352398" lvl="0" marL="352398" rtl="0" algn="l">
              <a:lnSpc>
                <a:spcPct val="90000"/>
              </a:lnSpc>
              <a:spcBef>
                <a:spcPts val="499"/>
              </a:spcBef>
              <a:spcAft>
                <a:spcPts val="0"/>
              </a:spcAft>
              <a:buClr>
                <a:srgbClr val="222222"/>
              </a:buClr>
              <a:buSzPts val="2497"/>
              <a:buFont typeface="Arial"/>
              <a:buChar char="•"/>
            </a:pPr>
            <a:r>
              <a:rPr lang="en-GB" sz="2497">
                <a:solidFill>
                  <a:srgbClr val="222222"/>
                </a:solidFill>
                <a:latin typeface="Arial"/>
                <a:ea typeface="Arial"/>
                <a:cs typeface="Arial"/>
                <a:sym typeface="Arial"/>
              </a:rPr>
              <a:t>Information system (IS) is entire set of people, procedures, and technology that enable business to use information.</a:t>
            </a:r>
            <a:endParaRPr/>
          </a:p>
          <a:p>
            <a:pPr indent="-293664" lvl="1" marL="763530" rtl="0" algn="l">
              <a:lnSpc>
                <a:spcPct val="90000"/>
              </a:lnSpc>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Software</a:t>
            </a:r>
            <a:endParaRPr/>
          </a:p>
          <a:p>
            <a:pPr indent="-293664" lvl="1" marL="763530" rtl="0" algn="l">
              <a:lnSpc>
                <a:spcPct val="90000"/>
              </a:lnSpc>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Hardware</a:t>
            </a:r>
            <a:endParaRPr/>
          </a:p>
          <a:p>
            <a:pPr indent="-293664" lvl="1" marL="763530" rtl="0" algn="l">
              <a:lnSpc>
                <a:spcPct val="90000"/>
              </a:lnSpc>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Data</a:t>
            </a:r>
            <a:endParaRPr/>
          </a:p>
          <a:p>
            <a:pPr indent="-293664" lvl="1" marL="763530" rtl="0" algn="l">
              <a:lnSpc>
                <a:spcPct val="90000"/>
              </a:lnSpc>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People</a:t>
            </a:r>
            <a:endParaRPr/>
          </a:p>
          <a:p>
            <a:pPr indent="-293664" lvl="1" marL="763530" rtl="0" algn="l">
              <a:lnSpc>
                <a:spcPct val="90000"/>
              </a:lnSpc>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Procedures</a:t>
            </a:r>
            <a:endParaRPr/>
          </a:p>
          <a:p>
            <a:pPr indent="-293664" lvl="1" marL="763530" rtl="0" algn="l">
              <a:lnSpc>
                <a:spcPct val="90000"/>
              </a:lnSpc>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Networks</a:t>
            </a:r>
            <a:endParaRPr/>
          </a:p>
          <a:p>
            <a:pPr indent="0" lvl="0" marL="0" rtl="0" algn="l">
              <a:lnSpc>
                <a:spcPct val="90000"/>
              </a:lnSpc>
              <a:spcBef>
                <a:spcPts val="333"/>
              </a:spcBef>
              <a:spcAft>
                <a:spcPts val="0"/>
              </a:spcAft>
              <a:buNone/>
            </a:pPr>
            <a:r>
              <a:t/>
            </a:r>
            <a:endParaRPr sz="1110"/>
          </a:p>
        </p:txBody>
      </p:sp>
      <p:sp>
        <p:nvSpPr>
          <p:cNvPr id="216" name="Google Shape;21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Security and Access Balancing</a:t>
            </a:r>
            <a:endParaRPr/>
          </a:p>
          <a:p>
            <a:pPr indent="0" lvl="0" marL="0" rtl="0" algn="l">
              <a:spcBef>
                <a:spcPts val="462"/>
              </a:spcBef>
              <a:spcAft>
                <a:spcPts val="0"/>
              </a:spcAft>
              <a:buNone/>
            </a:pPr>
            <a:r>
              <a:rPr lang="en-GB"/>
              <a:t>When considering information security, it is important to realize that it is impossible to obtain perfect security. Security is not an absolute; it is a process not a goal. </a:t>
            </a:r>
            <a:endParaRPr/>
          </a:p>
          <a:p>
            <a:pPr indent="0" lvl="0" marL="0" rtl="0" algn="l">
              <a:spcBef>
                <a:spcPts val="462"/>
              </a:spcBef>
              <a:spcAft>
                <a:spcPts val="0"/>
              </a:spcAft>
              <a:buNone/>
            </a:pPr>
            <a:r>
              <a:rPr lang="en-GB"/>
              <a:t>Security should be considered a balance between protection and availability. </a:t>
            </a:r>
            <a:endParaRPr/>
          </a:p>
          <a:p>
            <a:pPr indent="0" lvl="0" marL="0" rtl="0" algn="l">
              <a:spcBef>
                <a:spcPts val="462"/>
              </a:spcBef>
              <a:spcAft>
                <a:spcPts val="0"/>
              </a:spcAft>
              <a:buNone/>
            </a:pPr>
            <a:r>
              <a:rPr lang="en-GB"/>
              <a:t>To achieve balance, the level of security must allow reasonable access yet protect against threats. </a:t>
            </a:r>
            <a:endParaRPr/>
          </a:p>
          <a:p>
            <a:pPr indent="0" lvl="0" marL="0" rtl="0" algn="l">
              <a:spcBef>
                <a:spcPts val="462"/>
              </a:spcBef>
              <a:spcAft>
                <a:spcPts val="0"/>
              </a:spcAft>
              <a:buNone/>
            </a:pPr>
            <a:r>
              <a:t/>
            </a:r>
            <a:endParaRPr/>
          </a:p>
          <a:p>
            <a:pPr indent="0" lvl="0" marL="0" rtl="0" algn="l">
              <a:spcBef>
                <a:spcPts val="360"/>
              </a:spcBef>
              <a:spcAft>
                <a:spcPts val="0"/>
              </a:spcAft>
              <a:buNone/>
            </a:pPr>
            <a:r>
              <a:t/>
            </a:r>
            <a:endParaRPr/>
          </a:p>
        </p:txBody>
      </p:sp>
      <p:sp>
        <p:nvSpPr>
          <p:cNvPr id="223" name="Google Shape;22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Bottom-up Approach to Security Implementation</a:t>
            </a:r>
            <a:endParaRPr/>
          </a:p>
          <a:p>
            <a:pPr indent="0" lvl="0" marL="0" rtl="0" algn="l">
              <a:spcBef>
                <a:spcPts val="385"/>
              </a:spcBef>
              <a:spcAft>
                <a:spcPts val="0"/>
              </a:spcAft>
              <a:buNone/>
            </a:pPr>
            <a:r>
              <a:rPr lang="en-GB"/>
              <a:t>Security can begin as a grass-roots effort when systems administrators attempt to improve the security of their systems. This is referred to as the bottom-up approach.  </a:t>
            </a:r>
            <a:endParaRPr/>
          </a:p>
          <a:p>
            <a:pPr indent="0" lvl="0" marL="0" rtl="0" algn="l">
              <a:spcBef>
                <a:spcPts val="385"/>
              </a:spcBef>
              <a:spcAft>
                <a:spcPts val="0"/>
              </a:spcAft>
              <a:buNone/>
            </a:pPr>
            <a:r>
              <a:rPr lang="en-GB"/>
              <a:t>The key advantage of the bottom-up approach is the technical expertise of the individual administrators. </a:t>
            </a:r>
            <a:endParaRPr/>
          </a:p>
          <a:p>
            <a:pPr indent="0" lvl="0" marL="0" rtl="0" algn="l">
              <a:spcBef>
                <a:spcPts val="385"/>
              </a:spcBef>
              <a:spcAft>
                <a:spcPts val="0"/>
              </a:spcAft>
              <a:buNone/>
            </a:pPr>
            <a:r>
              <a:rPr lang="en-GB"/>
              <a:t>Unfortunately, this approach seldom works, as it lacks a number of critical features, such as participant support and organizational staying power. </a:t>
            </a:r>
            <a:endParaRPr/>
          </a:p>
          <a:p>
            <a:pPr indent="0" lvl="0" marL="0" rtl="0" algn="l">
              <a:spcBef>
                <a:spcPts val="385"/>
              </a:spcBef>
              <a:spcAft>
                <a:spcPts val="0"/>
              </a:spcAft>
              <a:buNone/>
            </a:pPr>
            <a:r>
              <a:t/>
            </a:r>
            <a:endParaRPr/>
          </a:p>
          <a:p>
            <a:pPr indent="0" lvl="0" marL="0" rtl="0" algn="l">
              <a:spcBef>
                <a:spcPts val="360"/>
              </a:spcBef>
              <a:spcAft>
                <a:spcPts val="0"/>
              </a:spcAft>
              <a:buNone/>
            </a:pPr>
            <a:r>
              <a:t/>
            </a:r>
            <a:endParaRPr/>
          </a:p>
        </p:txBody>
      </p:sp>
      <p:sp>
        <p:nvSpPr>
          <p:cNvPr id="230" name="Google Shape;230;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Top-down Approach to Security Implementation</a:t>
            </a:r>
            <a:endParaRPr/>
          </a:p>
          <a:p>
            <a:pPr indent="0" lvl="0" marL="0" rtl="0" algn="l">
              <a:spcBef>
                <a:spcPts val="385"/>
              </a:spcBef>
              <a:spcAft>
                <a:spcPts val="0"/>
              </a:spcAft>
              <a:buNone/>
            </a:pPr>
            <a:r>
              <a:rPr lang="en-GB"/>
              <a:t>An alternative approach, which has a higher probability of success, is called the top-down approach. The project is initiated by upper management who issue policy, procedures, and processes; dictate the goals and expected outcomes of the project; and determine who is accountable for each of the required actions.  </a:t>
            </a:r>
            <a:endParaRPr/>
          </a:p>
          <a:p>
            <a:pPr indent="0" lvl="0" marL="0" rtl="0" algn="l">
              <a:spcBef>
                <a:spcPts val="385"/>
              </a:spcBef>
              <a:spcAft>
                <a:spcPts val="0"/>
              </a:spcAft>
              <a:buNone/>
            </a:pPr>
            <a:r>
              <a:rPr lang="en-GB"/>
              <a:t>The top-down approach has strong upper-management support, a dedicated champion, dedicated funding, clear planning, and the opportunity to influence organizational culture.  </a:t>
            </a:r>
            <a:endParaRPr/>
          </a:p>
          <a:p>
            <a:pPr indent="0" lvl="0" marL="0" rtl="0" algn="l">
              <a:spcBef>
                <a:spcPts val="385"/>
              </a:spcBef>
              <a:spcAft>
                <a:spcPts val="0"/>
              </a:spcAft>
              <a:buNone/>
            </a:pPr>
            <a:r>
              <a:rPr lang="en-GB"/>
              <a:t>The most successful top-down approach also involves a formal development strategy referred to as a systems development life cycle.</a:t>
            </a:r>
            <a:endParaRPr/>
          </a:p>
          <a:p>
            <a:pPr indent="0" lvl="0" marL="0" rtl="0" algn="l">
              <a:spcBef>
                <a:spcPts val="385"/>
              </a:spcBef>
              <a:spcAft>
                <a:spcPts val="0"/>
              </a:spcAft>
              <a:buNone/>
            </a:pPr>
            <a:r>
              <a:t/>
            </a:r>
            <a:endParaRPr/>
          </a:p>
        </p:txBody>
      </p:sp>
      <p:sp>
        <p:nvSpPr>
          <p:cNvPr id="237" name="Google Shape;237;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The key concept here is the direction of the left and right side arrows to show where planning is sourced and from which direction the pressure for success is driven.</a:t>
            </a:r>
            <a:endParaRPr/>
          </a:p>
          <a:p>
            <a:pPr indent="0" lvl="0" marL="0" rtl="0" algn="l">
              <a:spcBef>
                <a:spcPts val="360"/>
              </a:spcBef>
              <a:spcAft>
                <a:spcPts val="0"/>
              </a:spcAft>
              <a:buNone/>
            </a:pPr>
            <a:r>
              <a:t/>
            </a:r>
            <a:endParaRPr/>
          </a:p>
        </p:txBody>
      </p:sp>
      <p:sp>
        <p:nvSpPr>
          <p:cNvPr id="244" name="Google Shape;244;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lang="en-GB" sz="930"/>
              <a:t>The Systems Development Life Cycle</a:t>
            </a:r>
            <a:endParaRPr/>
          </a:p>
          <a:p>
            <a:pPr indent="-352398" lvl="0" marL="352398" rtl="0" algn="l">
              <a:lnSpc>
                <a:spcPct val="80000"/>
              </a:lnSpc>
              <a:spcBef>
                <a:spcPts val="418"/>
              </a:spcBef>
              <a:spcAft>
                <a:spcPts val="0"/>
              </a:spcAft>
              <a:buClr>
                <a:srgbClr val="222222"/>
              </a:buClr>
              <a:buSzPts val="2092"/>
              <a:buFont typeface="Arial"/>
              <a:buChar char="•"/>
            </a:pPr>
            <a:r>
              <a:rPr lang="en-GB" sz="2092">
                <a:solidFill>
                  <a:srgbClr val="222222"/>
                </a:solidFill>
                <a:latin typeface="Arial"/>
                <a:ea typeface="Arial"/>
                <a:cs typeface="Arial"/>
                <a:sym typeface="Arial"/>
              </a:rPr>
              <a:t>Systems Development Life Cycle (SDLC): methodology for design and implementation of an information system </a:t>
            </a:r>
            <a:endParaRPr/>
          </a:p>
          <a:p>
            <a:pPr indent="-352398" lvl="0" marL="352398" rtl="0" algn="l">
              <a:lnSpc>
                <a:spcPct val="80000"/>
              </a:lnSpc>
              <a:spcBef>
                <a:spcPts val="418"/>
              </a:spcBef>
              <a:spcAft>
                <a:spcPts val="0"/>
              </a:spcAft>
              <a:buClr>
                <a:srgbClr val="222222"/>
              </a:buClr>
              <a:buSzPts val="2092"/>
              <a:buFont typeface="Arial"/>
              <a:buChar char="•"/>
            </a:pPr>
            <a:r>
              <a:rPr lang="en-GB" sz="2092">
                <a:solidFill>
                  <a:srgbClr val="222222"/>
                </a:solidFill>
                <a:latin typeface="Arial"/>
                <a:ea typeface="Arial"/>
                <a:cs typeface="Arial"/>
                <a:sym typeface="Arial"/>
              </a:rPr>
              <a:t>Methodology: formal approach to solving a problem based on a structured sequence of procedures</a:t>
            </a:r>
            <a:endParaRPr/>
          </a:p>
          <a:p>
            <a:pPr indent="-352398" lvl="0" marL="352398" rtl="0" algn="l">
              <a:lnSpc>
                <a:spcPct val="80000"/>
              </a:lnSpc>
              <a:spcBef>
                <a:spcPts val="418"/>
              </a:spcBef>
              <a:spcAft>
                <a:spcPts val="0"/>
              </a:spcAft>
              <a:buClr>
                <a:srgbClr val="222222"/>
              </a:buClr>
              <a:buSzPts val="2092"/>
              <a:buFont typeface="Arial"/>
              <a:buChar char="•"/>
            </a:pPr>
            <a:r>
              <a:rPr lang="en-GB" sz="2092">
                <a:solidFill>
                  <a:srgbClr val="222222"/>
                </a:solidFill>
                <a:latin typeface="Arial"/>
                <a:ea typeface="Arial"/>
                <a:cs typeface="Arial"/>
                <a:sym typeface="Arial"/>
              </a:rPr>
              <a:t>Using a methodology:</a:t>
            </a:r>
            <a:endParaRPr/>
          </a:p>
          <a:p>
            <a:pPr indent="-293664" lvl="1" marL="763530" rtl="0" algn="l">
              <a:lnSpc>
                <a:spcPct val="80000"/>
              </a:lnSpc>
              <a:spcBef>
                <a:spcPts val="387"/>
              </a:spcBef>
              <a:spcAft>
                <a:spcPts val="0"/>
              </a:spcAft>
              <a:buClr>
                <a:srgbClr val="222222"/>
              </a:buClr>
              <a:buSzPts val="1937"/>
              <a:buFont typeface="Arial"/>
              <a:buChar char="–"/>
            </a:pPr>
            <a:r>
              <a:rPr lang="en-GB" sz="1937">
                <a:solidFill>
                  <a:srgbClr val="222222"/>
                </a:solidFill>
                <a:latin typeface="Arial"/>
                <a:ea typeface="Arial"/>
                <a:cs typeface="Arial"/>
                <a:sym typeface="Arial"/>
              </a:rPr>
              <a:t>Ensures a rigorous process with a clearly defined goal</a:t>
            </a:r>
            <a:endParaRPr/>
          </a:p>
          <a:p>
            <a:pPr indent="-293664" lvl="1" marL="763530" rtl="0" algn="l">
              <a:lnSpc>
                <a:spcPct val="80000"/>
              </a:lnSpc>
              <a:spcBef>
                <a:spcPts val="387"/>
              </a:spcBef>
              <a:spcAft>
                <a:spcPts val="0"/>
              </a:spcAft>
              <a:buClr>
                <a:srgbClr val="222222"/>
              </a:buClr>
              <a:buSzPts val="1937"/>
              <a:buFont typeface="Arial"/>
              <a:buChar char="–"/>
            </a:pPr>
            <a:r>
              <a:rPr lang="en-GB" sz="1937">
                <a:solidFill>
                  <a:srgbClr val="222222"/>
                </a:solidFill>
                <a:latin typeface="Arial"/>
                <a:ea typeface="Arial"/>
                <a:cs typeface="Arial"/>
                <a:sym typeface="Arial"/>
              </a:rPr>
              <a:t>Increases probability of success</a:t>
            </a:r>
            <a:endParaRPr/>
          </a:p>
          <a:p>
            <a:pPr indent="-352398" lvl="0" marL="352398" rtl="0" algn="l">
              <a:lnSpc>
                <a:spcPct val="80000"/>
              </a:lnSpc>
              <a:spcBef>
                <a:spcPts val="418"/>
              </a:spcBef>
              <a:spcAft>
                <a:spcPts val="0"/>
              </a:spcAft>
              <a:buClr>
                <a:srgbClr val="222222"/>
              </a:buClr>
              <a:buSzPts val="2092"/>
              <a:buFont typeface="Arial"/>
              <a:buChar char="•"/>
            </a:pPr>
            <a:r>
              <a:rPr lang="en-GB" sz="2092">
                <a:solidFill>
                  <a:srgbClr val="222222"/>
                </a:solidFill>
                <a:latin typeface="Arial"/>
                <a:ea typeface="Arial"/>
                <a:cs typeface="Arial"/>
                <a:sym typeface="Arial"/>
              </a:rPr>
              <a:t>Traditional SDLC consists of six general phases</a:t>
            </a:r>
            <a:endParaRPr/>
          </a:p>
          <a:p>
            <a:pPr indent="0" lvl="0" marL="0" rtl="0" algn="l">
              <a:lnSpc>
                <a:spcPct val="80000"/>
              </a:lnSpc>
              <a:spcBef>
                <a:spcPts val="279"/>
              </a:spcBef>
              <a:spcAft>
                <a:spcPts val="0"/>
              </a:spcAft>
              <a:buNone/>
            </a:pPr>
            <a:r>
              <a:t/>
            </a:r>
            <a:endParaRPr sz="930"/>
          </a:p>
        </p:txBody>
      </p:sp>
      <p:sp>
        <p:nvSpPr>
          <p:cNvPr id="251" name="Google Shape;251;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Very much a traditional SDLC diagram.</a:t>
            </a:r>
            <a:endParaRPr/>
          </a:p>
          <a:p>
            <a:pPr indent="0" lvl="0" marL="0" rtl="0" algn="l">
              <a:spcBef>
                <a:spcPts val="360"/>
              </a:spcBef>
              <a:spcAft>
                <a:spcPts val="0"/>
              </a:spcAft>
              <a:buNone/>
            </a:pPr>
            <a:r>
              <a:t/>
            </a:r>
            <a:endParaRPr/>
          </a:p>
        </p:txBody>
      </p:sp>
      <p:sp>
        <p:nvSpPr>
          <p:cNvPr id="258" name="Google Shape;258;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Investigation</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What problem is the system being developed to solve?  </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Objectives, constraints, and scope of project are specified</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Preliminary cost-benefit analysis is developed</a:t>
            </a:r>
            <a:endParaRPr/>
          </a:p>
          <a:p>
            <a:pPr indent="-352398" lvl="0" marL="352398" rtl="0" algn="l">
              <a:spcBef>
                <a:spcPts val="240"/>
              </a:spcBef>
              <a:spcAft>
                <a:spcPts val="0"/>
              </a:spcAft>
              <a:buClr>
                <a:srgbClr val="222222"/>
              </a:buClr>
              <a:buSzPts val="1200"/>
              <a:buFont typeface="Arial"/>
              <a:buChar char="•"/>
            </a:pPr>
            <a:r>
              <a:rPr lang="en-GB" sz="1200">
                <a:solidFill>
                  <a:srgbClr val="222222"/>
                </a:solidFill>
                <a:latin typeface="Arial"/>
                <a:ea typeface="Arial"/>
                <a:cs typeface="Arial"/>
                <a:sym typeface="Arial"/>
              </a:rPr>
              <a:t>At the end of all phases, a process is undertaken to assess economic, technical, and behavioral feasibilities and ensure implementation is worth time and effort</a:t>
            </a:r>
            <a:endParaRPr/>
          </a:p>
          <a:p>
            <a:pPr indent="0" lvl="0" marL="0" rtl="0" algn="l">
              <a:spcBef>
                <a:spcPts val="360"/>
              </a:spcBef>
              <a:spcAft>
                <a:spcPts val="0"/>
              </a:spcAft>
              <a:buNone/>
            </a:pPr>
            <a:r>
              <a:t/>
            </a:r>
            <a:endParaRPr/>
          </a:p>
        </p:txBody>
      </p:sp>
      <p:sp>
        <p:nvSpPr>
          <p:cNvPr id="265" name="Google Shape;265;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Analysis</a:t>
            </a:r>
            <a:endParaRPr/>
          </a:p>
          <a:p>
            <a:pPr indent="0" lvl="0" marL="0" rtl="0" algn="l">
              <a:spcBef>
                <a:spcPts val="462"/>
              </a:spcBef>
              <a:spcAft>
                <a:spcPts val="0"/>
              </a:spcAft>
              <a:buNone/>
            </a:pPr>
            <a:r>
              <a:rPr lang="en-GB"/>
              <a:t>The analysis phase begins with the information learned during the investigation phase.  </a:t>
            </a:r>
            <a:endParaRPr/>
          </a:p>
          <a:p>
            <a:pPr indent="0" lvl="0" marL="0" rtl="0" algn="l">
              <a:spcBef>
                <a:spcPts val="462"/>
              </a:spcBef>
              <a:spcAft>
                <a:spcPts val="0"/>
              </a:spcAft>
              <a:buNone/>
            </a:pPr>
            <a:r>
              <a:rPr lang="en-GB"/>
              <a:t>This phase consists primarily of assessments of the organization, the status of current systems, and the capability to support the proposed systems.  </a:t>
            </a:r>
            <a:endParaRPr/>
          </a:p>
          <a:p>
            <a:pPr indent="0" lvl="0" marL="0" rtl="0" algn="l">
              <a:spcBef>
                <a:spcPts val="462"/>
              </a:spcBef>
              <a:spcAft>
                <a:spcPts val="0"/>
              </a:spcAft>
              <a:buNone/>
            </a:pPr>
            <a:r>
              <a:rPr lang="en-GB"/>
              <a:t>Analysts begin to determine what the new system is expected to do and how it will interact with existing systems. </a:t>
            </a:r>
            <a:endParaRPr/>
          </a:p>
          <a:p>
            <a:pPr indent="0" lvl="0" marL="0" rtl="0" algn="l">
              <a:spcBef>
                <a:spcPts val="462"/>
              </a:spcBef>
              <a:spcAft>
                <a:spcPts val="0"/>
              </a:spcAft>
              <a:buNone/>
            </a:pPr>
            <a:r>
              <a:rPr lang="en-GB"/>
              <a:t>This phase ends with the documentation of the findings and a feasibility analysis update.</a:t>
            </a:r>
            <a:endParaRPr/>
          </a:p>
          <a:p>
            <a:pPr indent="0" lvl="0" marL="0" rtl="0" algn="l">
              <a:spcBef>
                <a:spcPts val="462"/>
              </a:spcBef>
              <a:spcAft>
                <a:spcPts val="0"/>
              </a:spcAft>
              <a:buNone/>
            </a:pPr>
            <a:r>
              <a:t/>
            </a:r>
            <a:endParaRPr/>
          </a:p>
          <a:p>
            <a:pPr indent="0" lvl="0" marL="0" rtl="0" algn="l">
              <a:spcBef>
                <a:spcPts val="462"/>
              </a:spcBef>
              <a:spcAft>
                <a:spcPts val="0"/>
              </a:spcAft>
              <a:buNone/>
            </a:pPr>
            <a:r>
              <a:t/>
            </a:r>
            <a:endParaRPr/>
          </a:p>
          <a:p>
            <a:pPr indent="0" lvl="0" marL="0" rtl="0" algn="l">
              <a:spcBef>
                <a:spcPts val="360"/>
              </a:spcBef>
              <a:spcAft>
                <a:spcPts val="0"/>
              </a:spcAft>
              <a:buNone/>
            </a:pPr>
            <a:r>
              <a:t/>
            </a:r>
            <a:endParaRPr/>
          </a:p>
        </p:txBody>
      </p:sp>
      <p:sp>
        <p:nvSpPr>
          <p:cNvPr id="272" name="Google Shape;272;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Logical Design</a:t>
            </a:r>
            <a:endParaRPr/>
          </a:p>
          <a:p>
            <a:pPr indent="0" lvl="0" marL="0" rtl="0" algn="l">
              <a:spcBef>
                <a:spcPts val="360"/>
              </a:spcBef>
              <a:spcAft>
                <a:spcPts val="0"/>
              </a:spcAft>
              <a:buNone/>
            </a:pPr>
            <a:r>
              <a:rPr lang="en-GB"/>
              <a:t>First and driving factor is business need</a:t>
            </a:r>
            <a:endParaRPr/>
          </a:p>
          <a:p>
            <a:pPr indent="0" lvl="1" marL="457200" rtl="0" algn="l">
              <a:spcBef>
                <a:spcPts val="360"/>
              </a:spcBef>
              <a:spcAft>
                <a:spcPts val="0"/>
              </a:spcAft>
              <a:buNone/>
            </a:pPr>
            <a:r>
              <a:rPr lang="en-GB"/>
              <a:t>Applications are selected to provide needed services</a:t>
            </a:r>
            <a:endParaRPr/>
          </a:p>
          <a:p>
            <a:pPr indent="0" lvl="0" marL="0" rtl="0" algn="l">
              <a:spcBef>
                <a:spcPts val="360"/>
              </a:spcBef>
              <a:spcAft>
                <a:spcPts val="0"/>
              </a:spcAft>
              <a:buNone/>
            </a:pPr>
            <a:r>
              <a:rPr lang="en-GB"/>
              <a:t>Data support and structures capable of providing the needed inputs are identified</a:t>
            </a:r>
            <a:endParaRPr/>
          </a:p>
          <a:p>
            <a:pPr indent="0" lvl="0" marL="0" rtl="0" algn="l">
              <a:spcBef>
                <a:spcPts val="360"/>
              </a:spcBef>
              <a:spcAft>
                <a:spcPts val="0"/>
              </a:spcAft>
              <a:buNone/>
            </a:pPr>
            <a:r>
              <a:rPr lang="en-GB"/>
              <a:t>Specific technologies are delineated to implement the physical solution</a:t>
            </a:r>
            <a:endParaRPr/>
          </a:p>
          <a:p>
            <a:pPr indent="0" lvl="0" marL="0" rtl="0" algn="l">
              <a:spcBef>
                <a:spcPts val="360"/>
              </a:spcBef>
              <a:spcAft>
                <a:spcPts val="0"/>
              </a:spcAft>
              <a:buNone/>
            </a:pPr>
            <a:r>
              <a:rPr lang="en-GB"/>
              <a:t>Analysts generate estimates of costs and benefits to allow comparison of available options</a:t>
            </a:r>
            <a:endParaRPr/>
          </a:p>
          <a:p>
            <a:pPr indent="0" lvl="0" marL="0" rtl="0" algn="l">
              <a:spcBef>
                <a:spcPts val="360"/>
              </a:spcBef>
              <a:spcAft>
                <a:spcPts val="0"/>
              </a:spcAft>
              <a:buNone/>
            </a:pPr>
            <a:r>
              <a:rPr lang="en-GB"/>
              <a:t>Feasibility analysis performed at the end</a:t>
            </a:r>
            <a:endParaRPr/>
          </a:p>
          <a:p>
            <a:pPr indent="0" lvl="0" marL="0" rtl="0" algn="l">
              <a:spcBef>
                <a:spcPts val="360"/>
              </a:spcBef>
              <a:spcAft>
                <a:spcPts val="0"/>
              </a:spcAft>
              <a:buNone/>
            </a:pPr>
            <a:r>
              <a:t/>
            </a:r>
            <a:endParaRPr/>
          </a:p>
        </p:txBody>
      </p:sp>
      <p:sp>
        <p:nvSpPr>
          <p:cNvPr id="279" name="Google Shape;279;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1110"/>
              <a:t>Physical Design</a:t>
            </a:r>
            <a:endParaRPr/>
          </a:p>
          <a:p>
            <a:pPr indent="-352398" lvl="0" marL="352398" rtl="0" algn="l">
              <a:spcBef>
                <a:spcPts val="499"/>
              </a:spcBef>
              <a:spcAft>
                <a:spcPts val="0"/>
              </a:spcAft>
              <a:buClr>
                <a:srgbClr val="222222"/>
              </a:buClr>
              <a:buSzPts val="2497"/>
              <a:buFont typeface="Arial"/>
              <a:buChar char="•"/>
            </a:pPr>
            <a:r>
              <a:rPr lang="en-GB" sz="2497">
                <a:solidFill>
                  <a:srgbClr val="222222"/>
                </a:solidFill>
                <a:latin typeface="Arial"/>
                <a:ea typeface="Arial"/>
                <a:cs typeface="Arial"/>
                <a:sym typeface="Arial"/>
              </a:rPr>
              <a:t>Specific technologies selected to support the alternatives identified and evaluated in the logical design</a:t>
            </a:r>
            <a:endParaRPr/>
          </a:p>
          <a:p>
            <a:pPr indent="-352398" lvl="0" marL="352398" rtl="0" algn="l">
              <a:spcBef>
                <a:spcPts val="499"/>
              </a:spcBef>
              <a:spcAft>
                <a:spcPts val="0"/>
              </a:spcAft>
              <a:buClr>
                <a:srgbClr val="222222"/>
              </a:buClr>
              <a:buSzPts val="2497"/>
              <a:buFont typeface="Arial"/>
              <a:buChar char="•"/>
            </a:pPr>
            <a:r>
              <a:rPr lang="en-GB" sz="2497">
                <a:solidFill>
                  <a:srgbClr val="222222"/>
                </a:solidFill>
                <a:latin typeface="Arial"/>
                <a:ea typeface="Arial"/>
                <a:cs typeface="Arial"/>
                <a:sym typeface="Arial"/>
              </a:rPr>
              <a:t>Selected components evaluated on make-or-buy decision </a:t>
            </a:r>
            <a:endParaRPr/>
          </a:p>
          <a:p>
            <a:pPr indent="-352398" lvl="0" marL="352398" rtl="0" algn="l">
              <a:spcBef>
                <a:spcPts val="499"/>
              </a:spcBef>
              <a:spcAft>
                <a:spcPts val="0"/>
              </a:spcAft>
              <a:buClr>
                <a:srgbClr val="222222"/>
              </a:buClr>
              <a:buSzPts val="2497"/>
              <a:buFont typeface="Arial"/>
              <a:buChar char="•"/>
            </a:pPr>
            <a:r>
              <a:rPr lang="en-GB" sz="2497">
                <a:solidFill>
                  <a:srgbClr val="222222"/>
                </a:solidFill>
                <a:latin typeface="Arial"/>
                <a:ea typeface="Arial"/>
                <a:cs typeface="Arial"/>
                <a:sym typeface="Arial"/>
              </a:rPr>
              <a:t>Feasibility analysis performed</a:t>
            </a:r>
            <a:endParaRPr/>
          </a:p>
          <a:p>
            <a:pPr indent="-293664" lvl="1" marL="763530" rtl="0" algn="l">
              <a:spcBef>
                <a:spcPts val="462"/>
              </a:spcBef>
              <a:spcAft>
                <a:spcPts val="0"/>
              </a:spcAft>
              <a:buClr>
                <a:srgbClr val="222222"/>
              </a:buClr>
              <a:buSzPts val="2312"/>
              <a:buFont typeface="Arial"/>
              <a:buChar char="–"/>
            </a:pPr>
            <a:r>
              <a:rPr lang="en-GB" sz="2312">
                <a:solidFill>
                  <a:srgbClr val="222222"/>
                </a:solidFill>
                <a:latin typeface="Arial"/>
                <a:ea typeface="Arial"/>
                <a:cs typeface="Arial"/>
                <a:sym typeface="Arial"/>
              </a:rPr>
              <a:t>Entire solution presented to organization’s management for approval</a:t>
            </a:r>
            <a:endParaRPr/>
          </a:p>
          <a:p>
            <a:pPr indent="0" lvl="0" marL="0" rtl="0" algn="l">
              <a:spcBef>
                <a:spcPts val="333"/>
              </a:spcBef>
              <a:spcAft>
                <a:spcPts val="0"/>
              </a:spcAft>
              <a:buNone/>
            </a:pPr>
            <a:r>
              <a:t/>
            </a:r>
            <a:endParaRPr sz="1110"/>
          </a:p>
        </p:txBody>
      </p:sp>
      <p:sp>
        <p:nvSpPr>
          <p:cNvPr id="286" name="Google Shape;286;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GB"/>
              <a:t>Implementation</a:t>
            </a:r>
            <a:endParaRPr/>
          </a:p>
          <a:p>
            <a:pPr indent="-352398" lvl="0" marL="352398" rtl="0" algn="l">
              <a:lnSpc>
                <a:spcPct val="90000"/>
              </a:lnSpc>
              <a:spcBef>
                <a:spcPts val="540"/>
              </a:spcBef>
              <a:spcAft>
                <a:spcPts val="0"/>
              </a:spcAft>
              <a:buClr>
                <a:srgbClr val="222222"/>
              </a:buClr>
              <a:buSzPts val="2700"/>
              <a:buFont typeface="Arial"/>
              <a:buChar char="•"/>
            </a:pPr>
            <a:r>
              <a:rPr lang="en-GB" sz="2700">
                <a:solidFill>
                  <a:srgbClr val="222222"/>
                </a:solidFill>
                <a:latin typeface="Arial"/>
                <a:ea typeface="Arial"/>
                <a:cs typeface="Arial"/>
                <a:sym typeface="Arial"/>
              </a:rPr>
              <a:t>Needed software created</a:t>
            </a:r>
            <a:endParaRPr/>
          </a:p>
          <a:p>
            <a:pPr indent="-352398" lvl="0" marL="352398" rtl="0" algn="l">
              <a:lnSpc>
                <a:spcPct val="90000"/>
              </a:lnSpc>
              <a:spcBef>
                <a:spcPts val="540"/>
              </a:spcBef>
              <a:spcAft>
                <a:spcPts val="0"/>
              </a:spcAft>
              <a:buClr>
                <a:srgbClr val="222222"/>
              </a:buClr>
              <a:buSzPts val="2700"/>
              <a:buFont typeface="Arial"/>
              <a:buChar char="•"/>
            </a:pPr>
            <a:r>
              <a:rPr lang="en-GB" sz="2700">
                <a:solidFill>
                  <a:srgbClr val="222222"/>
                </a:solidFill>
                <a:latin typeface="Arial"/>
                <a:ea typeface="Arial"/>
                <a:cs typeface="Arial"/>
                <a:sym typeface="Arial"/>
              </a:rPr>
              <a:t>Components ordered, received, and tested</a:t>
            </a:r>
            <a:endParaRPr/>
          </a:p>
          <a:p>
            <a:pPr indent="-352398" lvl="0" marL="352398" rtl="0" algn="l">
              <a:lnSpc>
                <a:spcPct val="90000"/>
              </a:lnSpc>
              <a:spcBef>
                <a:spcPts val="540"/>
              </a:spcBef>
              <a:spcAft>
                <a:spcPts val="0"/>
              </a:spcAft>
              <a:buClr>
                <a:srgbClr val="222222"/>
              </a:buClr>
              <a:buSzPts val="2700"/>
              <a:buFont typeface="Arial"/>
              <a:buChar char="•"/>
            </a:pPr>
            <a:r>
              <a:rPr lang="en-GB" sz="2700">
                <a:solidFill>
                  <a:srgbClr val="222222"/>
                </a:solidFill>
                <a:latin typeface="Arial"/>
                <a:ea typeface="Arial"/>
                <a:cs typeface="Arial"/>
                <a:sym typeface="Arial"/>
              </a:rPr>
              <a:t>Users trained and supporting documentation created</a:t>
            </a:r>
            <a:endParaRPr/>
          </a:p>
          <a:p>
            <a:pPr indent="-352398" lvl="0" marL="352398" rtl="0" algn="l">
              <a:lnSpc>
                <a:spcPct val="90000"/>
              </a:lnSpc>
              <a:spcBef>
                <a:spcPts val="540"/>
              </a:spcBef>
              <a:spcAft>
                <a:spcPts val="0"/>
              </a:spcAft>
              <a:buClr>
                <a:srgbClr val="222222"/>
              </a:buClr>
              <a:buSzPts val="2700"/>
              <a:buFont typeface="Arial"/>
              <a:buChar char="•"/>
            </a:pPr>
            <a:r>
              <a:rPr lang="en-GB" sz="2700">
                <a:solidFill>
                  <a:srgbClr val="222222"/>
                </a:solidFill>
                <a:latin typeface="Arial"/>
                <a:ea typeface="Arial"/>
                <a:cs typeface="Arial"/>
                <a:sym typeface="Arial"/>
              </a:rPr>
              <a:t>Feasibility analysis prepared</a:t>
            </a:r>
            <a:endParaRPr/>
          </a:p>
          <a:p>
            <a:pPr indent="-293664" lvl="1" marL="763530" rtl="0" algn="l">
              <a:lnSpc>
                <a:spcPct val="90000"/>
              </a:lnSpc>
              <a:spcBef>
                <a:spcPts val="500"/>
              </a:spcBef>
              <a:spcAft>
                <a:spcPts val="0"/>
              </a:spcAft>
              <a:buClr>
                <a:srgbClr val="222222"/>
              </a:buClr>
              <a:buSzPts val="2500"/>
              <a:buFont typeface="Arial"/>
              <a:buChar char="–"/>
            </a:pPr>
            <a:r>
              <a:rPr lang="en-GB" sz="2500">
                <a:solidFill>
                  <a:srgbClr val="222222"/>
                </a:solidFill>
                <a:latin typeface="Arial"/>
                <a:ea typeface="Arial"/>
                <a:cs typeface="Arial"/>
                <a:sym typeface="Arial"/>
              </a:rPr>
              <a:t>Sponsors presented with system for performance review and acceptance test</a:t>
            </a:r>
            <a:endParaRPr/>
          </a:p>
          <a:p>
            <a:pPr indent="0" lvl="0" marL="0" rtl="0" algn="l">
              <a:lnSpc>
                <a:spcPct val="90000"/>
              </a:lnSpc>
              <a:spcBef>
                <a:spcPts val="360"/>
              </a:spcBef>
              <a:spcAft>
                <a:spcPts val="0"/>
              </a:spcAft>
              <a:buNone/>
            </a:pPr>
            <a:r>
              <a:t/>
            </a:r>
            <a:endParaRPr/>
          </a:p>
        </p:txBody>
      </p:sp>
      <p:sp>
        <p:nvSpPr>
          <p:cNvPr id="293" name="Google Shape;293;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Maintenance and Change</a:t>
            </a:r>
            <a:endParaRPr/>
          </a:p>
          <a:p>
            <a:pPr indent="0" lvl="0" marL="0" rtl="0" algn="l">
              <a:spcBef>
                <a:spcPts val="385"/>
              </a:spcBef>
              <a:spcAft>
                <a:spcPts val="0"/>
              </a:spcAft>
              <a:buNone/>
            </a:pPr>
            <a:r>
              <a:rPr lang="en-GB"/>
              <a:t>The maintenance and change phase is the longest and most expensive phase of the process. </a:t>
            </a:r>
            <a:endParaRPr/>
          </a:p>
          <a:p>
            <a:pPr indent="0" lvl="0" marL="0" rtl="0" algn="l">
              <a:spcBef>
                <a:spcPts val="385"/>
              </a:spcBef>
              <a:spcAft>
                <a:spcPts val="0"/>
              </a:spcAft>
              <a:buNone/>
            </a:pPr>
            <a:r>
              <a:rPr lang="en-GB"/>
              <a:t>This phase consists of the tasks necessary to support and modify the system for the remainder of its useful life cycle.  </a:t>
            </a:r>
            <a:endParaRPr/>
          </a:p>
          <a:p>
            <a:pPr indent="0" lvl="0" marL="0" rtl="0" algn="l">
              <a:spcBef>
                <a:spcPts val="385"/>
              </a:spcBef>
              <a:spcAft>
                <a:spcPts val="0"/>
              </a:spcAft>
              <a:buNone/>
            </a:pPr>
            <a:r>
              <a:rPr lang="en-GB"/>
              <a:t>Even though formal development may conclude during this phase, the life cycle of the project continues until it is determined that the process should begin again from the investigation phase. When the current system can no longer support the changed mission of the organization, the project is terminated and a new project is implemented.</a:t>
            </a:r>
            <a:endParaRPr/>
          </a:p>
          <a:p>
            <a:pPr indent="0" lvl="0" marL="0" rtl="0" algn="l">
              <a:spcBef>
                <a:spcPts val="385"/>
              </a:spcBef>
              <a:spcAft>
                <a:spcPts val="0"/>
              </a:spcAft>
              <a:buNone/>
            </a:pPr>
            <a:r>
              <a:t/>
            </a:r>
            <a:endParaRPr/>
          </a:p>
          <a:p>
            <a:pPr indent="0" lvl="0" marL="0" rtl="0" algn="l">
              <a:spcBef>
                <a:spcPts val="360"/>
              </a:spcBef>
              <a:spcAft>
                <a:spcPts val="0"/>
              </a:spcAft>
              <a:buNone/>
            </a:pPr>
            <a:r>
              <a:t/>
            </a:r>
            <a:endParaRPr/>
          </a:p>
        </p:txBody>
      </p:sp>
      <p:sp>
        <p:nvSpPr>
          <p:cNvPr id="300" name="Google Shape;30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52398" lvl="0" marL="352398" rtl="0" algn="l">
              <a:lnSpc>
                <a:spcPct val="80000"/>
              </a:lnSpc>
              <a:spcBef>
                <a:spcPts val="0"/>
              </a:spcBef>
              <a:spcAft>
                <a:spcPts val="0"/>
              </a:spcAft>
              <a:buClr>
                <a:srgbClr val="222222"/>
              </a:buClr>
              <a:buSzPts val="2295"/>
              <a:buFont typeface="Arial"/>
              <a:buChar char="•"/>
            </a:pPr>
            <a:r>
              <a:rPr lang="en-GB" sz="2295">
                <a:solidFill>
                  <a:srgbClr val="222222"/>
                </a:solidFill>
                <a:latin typeface="Arial"/>
                <a:ea typeface="Arial"/>
                <a:cs typeface="Arial"/>
                <a:sym typeface="Arial"/>
              </a:rPr>
              <a:t>Many organizations recognize need to include planning for security objectives in the SDLC used to create systems</a:t>
            </a:r>
            <a:endParaRPr/>
          </a:p>
          <a:p>
            <a:pPr indent="-293664" lvl="1" marL="763530" rtl="0" algn="l">
              <a:lnSpc>
                <a:spcPct val="80000"/>
              </a:lnSpc>
              <a:spcBef>
                <a:spcPts val="425"/>
              </a:spcBef>
              <a:spcAft>
                <a:spcPts val="0"/>
              </a:spcAft>
              <a:buClr>
                <a:srgbClr val="222222"/>
              </a:buClr>
              <a:buSzPts val="2125"/>
              <a:buFont typeface="Arial"/>
              <a:buChar char="–"/>
            </a:pPr>
            <a:r>
              <a:rPr lang="en-GB" sz="2125">
                <a:solidFill>
                  <a:srgbClr val="222222"/>
                </a:solidFill>
                <a:latin typeface="Arial"/>
                <a:ea typeface="Arial"/>
                <a:cs typeface="Arial"/>
                <a:sym typeface="Arial"/>
              </a:rPr>
              <a:t>Established procedures to create software more capable of being deployed in a secure fashion</a:t>
            </a:r>
            <a:endParaRPr/>
          </a:p>
          <a:p>
            <a:pPr indent="-352398" lvl="0" marL="352398" rtl="0" algn="l">
              <a:lnSpc>
                <a:spcPct val="80000"/>
              </a:lnSpc>
              <a:spcBef>
                <a:spcPts val="459"/>
              </a:spcBef>
              <a:spcAft>
                <a:spcPts val="0"/>
              </a:spcAft>
              <a:buClr>
                <a:srgbClr val="222222"/>
              </a:buClr>
              <a:buSzPts val="2295"/>
              <a:buFont typeface="Arial"/>
              <a:buChar char="•"/>
            </a:pPr>
            <a:r>
              <a:rPr lang="en-GB" sz="2295">
                <a:solidFill>
                  <a:srgbClr val="222222"/>
                </a:solidFill>
                <a:latin typeface="Arial"/>
                <a:ea typeface="Arial"/>
                <a:cs typeface="Arial"/>
                <a:sym typeface="Arial"/>
              </a:rPr>
              <a:t>This approach known as software assurance (SA)</a:t>
            </a:r>
            <a:endParaRPr/>
          </a:p>
          <a:p>
            <a:pPr indent="-352398" lvl="0" marL="352398" rtl="0" algn="l">
              <a:lnSpc>
                <a:spcPct val="80000"/>
              </a:lnSpc>
              <a:spcBef>
                <a:spcPts val="459"/>
              </a:spcBef>
              <a:spcAft>
                <a:spcPts val="0"/>
              </a:spcAft>
              <a:buClr>
                <a:srgbClr val="222222"/>
              </a:buClr>
              <a:buSzPts val="2295"/>
              <a:buFont typeface="Arial"/>
              <a:buChar char="•"/>
            </a:pPr>
            <a:r>
              <a:rPr lang="en-GB" sz="2295">
                <a:solidFill>
                  <a:srgbClr val="222222"/>
                </a:solidFill>
                <a:latin typeface="Arial"/>
                <a:ea typeface="Arial"/>
                <a:cs typeface="Arial"/>
                <a:sym typeface="Arial"/>
              </a:rPr>
              <a:t>Software Assurance Initiative resulted in publication of Secure Software Assurance (SwA) Common Body of Knowledge (CBK)</a:t>
            </a:r>
            <a:endParaRPr/>
          </a:p>
          <a:p>
            <a:pPr indent="0" lvl="0" marL="0" rtl="0" algn="l">
              <a:lnSpc>
                <a:spcPct val="80000"/>
              </a:lnSpc>
              <a:spcBef>
                <a:spcPts val="306"/>
              </a:spcBef>
              <a:spcAft>
                <a:spcPts val="0"/>
              </a:spcAft>
              <a:buNone/>
            </a:pPr>
            <a:r>
              <a:t/>
            </a:r>
            <a:endParaRPr sz="1020"/>
          </a:p>
        </p:txBody>
      </p:sp>
      <p:sp>
        <p:nvSpPr>
          <p:cNvPr id="307" name="Google Shape;307;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3" name="Google Shape;31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9" name="Google Shape;31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 name="Google Shape;33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 name="Google Shape;337;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showMasterSp="0">
  <p:cSld name="Chapter Opener">
    <p:spTree>
      <p:nvGrpSpPr>
        <p:cNvPr id="15" name="Shape 15"/>
        <p:cNvGrpSpPr/>
        <p:nvPr/>
      </p:nvGrpSpPr>
      <p:grpSpPr>
        <a:xfrm>
          <a:off x="0" y="0"/>
          <a:ext cx="0" cy="0"/>
          <a:chOff x="0" y="0"/>
          <a:chExt cx="0" cy="0"/>
        </a:xfrm>
      </p:grpSpPr>
      <p:sp>
        <p:nvSpPr>
          <p:cNvPr id="16" name="Google Shape;16;p2"/>
          <p:cNvSpPr/>
          <p:nvPr/>
        </p:nvSpPr>
        <p:spPr>
          <a:xfrm>
            <a:off x="0" y="0"/>
            <a:ext cx="9144000" cy="1371600"/>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7" name="Google Shape;17;p2"/>
          <p:cNvSpPr txBox="1"/>
          <p:nvPr>
            <p:ph type="title"/>
          </p:nvPr>
        </p:nvSpPr>
        <p:spPr>
          <a:xfrm>
            <a:off x="457200" y="228600"/>
            <a:ext cx="8229600" cy="622828"/>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3600"/>
              <a:buFont typeface="Arial"/>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57200" y="816430"/>
            <a:ext cx="8229600" cy="47897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2400"/>
              <a:buNone/>
              <a:defRPr sz="2400">
                <a:solidFill>
                  <a:schemeClr val="lt1"/>
                </a:solidFill>
                <a:latin typeface="Arial"/>
                <a:ea typeface="Arial"/>
                <a:cs typeface="Arial"/>
                <a:sym typeface="Aria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Clr>
                <a:schemeClr val="lt1"/>
              </a:buClr>
              <a:buSzPts val="2400"/>
              <a:buNone/>
              <a:defRPr sz="2400">
                <a:solidFill>
                  <a:schemeClr val="lt1"/>
                </a:solidFill>
              </a:defRPr>
            </a:lvl6pPr>
            <a:lvl7pPr indent="-228600" lvl="6" marL="3200400" algn="l">
              <a:spcBef>
                <a:spcPts val="0"/>
              </a:spcBef>
              <a:spcAft>
                <a:spcPts val="0"/>
              </a:spcAft>
              <a:buClr>
                <a:schemeClr val="lt1"/>
              </a:buClr>
              <a:buSzPts val="2400"/>
              <a:buNone/>
              <a:defRPr sz="2400">
                <a:solidFill>
                  <a:schemeClr val="lt1"/>
                </a:solidFill>
              </a:defRPr>
            </a:lvl7pPr>
            <a:lvl8pPr indent="-228600" lvl="7" marL="3657600" algn="l">
              <a:spcBef>
                <a:spcPts val="0"/>
              </a:spcBef>
              <a:spcAft>
                <a:spcPts val="0"/>
              </a:spcAft>
              <a:buClr>
                <a:schemeClr val="lt1"/>
              </a:buClr>
              <a:buSzPts val="2400"/>
              <a:buNone/>
              <a:defRPr sz="2400">
                <a:solidFill>
                  <a:schemeClr val="lt1"/>
                </a:solidFill>
              </a:defRPr>
            </a:lvl8pPr>
            <a:lvl9pPr indent="-228600" lvl="8" marL="4114800" algn="l">
              <a:spcBef>
                <a:spcPts val="0"/>
              </a:spcBef>
              <a:spcAft>
                <a:spcPts val="0"/>
              </a:spcAft>
              <a:buClr>
                <a:schemeClr val="lt1"/>
              </a:buClr>
              <a:buSzPts val="2400"/>
              <a:buNone/>
              <a:defRPr sz="2400">
                <a:solidFill>
                  <a:schemeClr val="lt1"/>
                </a:solidFill>
              </a:defRPr>
            </a:lvl9pPr>
          </a:lstStyle>
          <a:p/>
        </p:txBody>
      </p:sp>
      <p:sp>
        <p:nvSpPr>
          <p:cNvPr id="19" name="Google Shape;19;p2"/>
          <p:cNvSpPr txBox="1"/>
          <p:nvPr>
            <p:ph idx="2" type="body"/>
          </p:nvPr>
        </p:nvSpPr>
        <p:spPr>
          <a:xfrm>
            <a:off x="5029200" y="1600201"/>
            <a:ext cx="3657600" cy="1600199"/>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4400"/>
              <a:buNone/>
              <a:defRPr sz="4400">
                <a:latin typeface="Arial"/>
                <a:ea typeface="Arial"/>
                <a:cs typeface="Arial"/>
                <a:sym typeface="Arial"/>
              </a:defRPr>
            </a:lvl1pPr>
            <a:lvl2pPr indent="-228600" lvl="1" marL="914400" algn="l">
              <a:spcBef>
                <a:spcPts val="0"/>
              </a:spcBef>
              <a:spcAft>
                <a:spcPts val="0"/>
              </a:spcAft>
              <a:buSzPts val="4400"/>
              <a:buNone/>
              <a:defRPr sz="4400"/>
            </a:lvl2pPr>
            <a:lvl3pPr indent="-228600" lvl="2" marL="1371600" algn="l">
              <a:spcBef>
                <a:spcPts val="0"/>
              </a:spcBef>
              <a:spcAft>
                <a:spcPts val="0"/>
              </a:spcAft>
              <a:buSzPts val="4400"/>
              <a:buNone/>
              <a:defRPr sz="4400"/>
            </a:lvl3pPr>
            <a:lvl4pPr indent="-228600" lvl="3" marL="1828800" algn="l">
              <a:spcBef>
                <a:spcPts val="0"/>
              </a:spcBef>
              <a:spcAft>
                <a:spcPts val="0"/>
              </a:spcAft>
              <a:buSzPts val="4400"/>
              <a:buNone/>
              <a:defRPr sz="4400"/>
            </a:lvl4pPr>
            <a:lvl5pPr indent="-228600" lvl="4" marL="2286000" algn="l">
              <a:spcBef>
                <a:spcPts val="0"/>
              </a:spcBef>
              <a:spcAft>
                <a:spcPts val="0"/>
              </a:spcAft>
              <a:buSzPts val="4400"/>
              <a:buNone/>
              <a:defRPr sz="4400"/>
            </a:lvl5pPr>
            <a:lvl6pPr indent="-228600" lvl="5" marL="2743200" algn="l">
              <a:spcBef>
                <a:spcPts val="0"/>
              </a:spcBef>
              <a:spcAft>
                <a:spcPts val="0"/>
              </a:spcAft>
              <a:buClr>
                <a:schemeClr val="dk1"/>
              </a:buClr>
              <a:buSzPts val="4400"/>
              <a:buNone/>
              <a:defRPr sz="4400"/>
            </a:lvl6pPr>
            <a:lvl7pPr indent="-228600" lvl="6" marL="3200400" algn="l">
              <a:spcBef>
                <a:spcPts val="0"/>
              </a:spcBef>
              <a:spcAft>
                <a:spcPts val="0"/>
              </a:spcAft>
              <a:buClr>
                <a:schemeClr val="dk1"/>
              </a:buClr>
              <a:buSzPts val="4400"/>
              <a:buNone/>
              <a:defRPr sz="4400"/>
            </a:lvl7pPr>
            <a:lvl8pPr indent="-228600" lvl="7" marL="3657600" algn="l">
              <a:spcBef>
                <a:spcPts val="0"/>
              </a:spcBef>
              <a:spcAft>
                <a:spcPts val="0"/>
              </a:spcAft>
              <a:buClr>
                <a:schemeClr val="dk1"/>
              </a:buClr>
              <a:buSzPts val="4400"/>
              <a:buNone/>
              <a:defRPr sz="4400"/>
            </a:lvl8pPr>
            <a:lvl9pPr indent="-228600" lvl="8" marL="4114800" algn="l">
              <a:spcBef>
                <a:spcPts val="0"/>
              </a:spcBef>
              <a:spcAft>
                <a:spcPts val="0"/>
              </a:spcAft>
              <a:buClr>
                <a:schemeClr val="dk1"/>
              </a:buClr>
              <a:buSzPts val="4400"/>
              <a:buNone/>
              <a:defRPr sz="4400"/>
            </a:lvl9pPr>
          </a:lstStyle>
          <a:p/>
        </p:txBody>
      </p:sp>
      <p:sp>
        <p:nvSpPr>
          <p:cNvPr id="20" name="Google Shape;20;p2"/>
          <p:cNvSpPr txBox="1"/>
          <p:nvPr>
            <p:ph idx="3" type="body"/>
          </p:nvPr>
        </p:nvSpPr>
        <p:spPr>
          <a:xfrm>
            <a:off x="5029200" y="3200400"/>
            <a:ext cx="3657600" cy="2925763"/>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2800"/>
              <a:buNone/>
              <a:defRPr sz="2800">
                <a:latin typeface="Arial"/>
                <a:ea typeface="Arial"/>
                <a:cs typeface="Arial"/>
                <a:sym typeface="Arial"/>
              </a:defRPr>
            </a:lvl1pPr>
            <a:lvl2pPr indent="-228600" lvl="1" marL="914400" algn="l">
              <a:spcBef>
                <a:spcPts val="0"/>
              </a:spcBef>
              <a:spcAft>
                <a:spcPts val="0"/>
              </a:spcAft>
              <a:buSzPts val="2400"/>
              <a:buNone/>
              <a:defRPr/>
            </a:lvl2pPr>
            <a:lvl3pPr indent="-228600" lvl="2" marL="1371600" algn="l">
              <a:spcBef>
                <a:spcPts val="0"/>
              </a:spcBef>
              <a:spcAft>
                <a:spcPts val="0"/>
              </a:spcAft>
              <a:buSzPts val="2200"/>
              <a:buNone/>
              <a:defRPr/>
            </a:lvl3pPr>
            <a:lvl4pPr indent="-228600" lvl="3" marL="1828800" algn="l">
              <a:spcBef>
                <a:spcPts val="0"/>
              </a:spcBef>
              <a:spcAft>
                <a:spcPts val="0"/>
              </a:spcAft>
              <a:buSzPts val="2000"/>
              <a:buNone/>
              <a:defRPr/>
            </a:lvl4pPr>
            <a:lvl5pPr indent="-228600" lvl="4" marL="2286000" algn="l">
              <a:spcBef>
                <a:spcPts val="0"/>
              </a:spcBef>
              <a:spcAft>
                <a:spcPts val="0"/>
              </a:spcAft>
              <a:buSzPts val="2000"/>
              <a:buNone/>
              <a:defRPr/>
            </a:lvl5pPr>
            <a:lvl6pPr indent="-228600" lvl="5" marL="2743200" algn="l">
              <a:spcBef>
                <a:spcPts val="0"/>
              </a:spcBef>
              <a:spcAft>
                <a:spcPts val="0"/>
              </a:spcAft>
              <a:buClr>
                <a:schemeClr val="dk1"/>
              </a:buClr>
              <a:buSzPts val="2000"/>
              <a:buNone/>
              <a:defRPr/>
            </a:lvl6pPr>
            <a:lvl7pPr indent="-228600" lvl="6" marL="3200400" algn="l">
              <a:spcBef>
                <a:spcPts val="0"/>
              </a:spcBef>
              <a:spcAft>
                <a:spcPts val="0"/>
              </a:spcAft>
              <a:buClr>
                <a:schemeClr val="dk1"/>
              </a:buClr>
              <a:buSzPts val="2000"/>
              <a:buNone/>
              <a:defRPr/>
            </a:lvl7pPr>
            <a:lvl8pPr indent="-228600" lvl="7" marL="3657600" algn="l">
              <a:spcBef>
                <a:spcPts val="0"/>
              </a:spcBef>
              <a:spcAft>
                <a:spcPts val="0"/>
              </a:spcAft>
              <a:buClr>
                <a:schemeClr val="dk1"/>
              </a:buClr>
              <a:buSzPts val="2000"/>
              <a:buNone/>
              <a:defRPr/>
            </a:lvl8pPr>
            <a:lvl9pPr indent="-228600" lvl="8" marL="4114800" algn="l">
              <a:spcBef>
                <a:spcPts val="0"/>
              </a:spcBef>
              <a:spcAft>
                <a:spcPts val="0"/>
              </a:spcAft>
              <a:buClr>
                <a:schemeClr val="dk1"/>
              </a:buClr>
              <a:buSzPts val="2000"/>
              <a:buNone/>
              <a:defRPr/>
            </a:lvl9pPr>
          </a:lstStyle>
          <a:p/>
        </p:txBody>
      </p:sp>
      <p:sp>
        <p:nvSpPr>
          <p:cNvPr id="21" name="Google Shape;21;p2"/>
          <p:cNvSpPr/>
          <p:nvPr/>
        </p:nvSpPr>
        <p:spPr>
          <a:xfrm>
            <a:off x="-7938" y="6248400"/>
            <a:ext cx="9161464" cy="62987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3600"/>
              <a:buFont typeface="Arial"/>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lvl1pPr indent="-393700" lvl="0" marL="457200" algn="l">
              <a:spcBef>
                <a:spcPts val="520"/>
              </a:spcBef>
              <a:spcAft>
                <a:spcPts val="0"/>
              </a:spcAft>
              <a:buClr>
                <a:srgbClr val="364162"/>
              </a:buClr>
              <a:buSzPts val="2600"/>
              <a:buChar char="•"/>
              <a:defRPr/>
            </a:lvl1pPr>
            <a:lvl2pPr indent="-381000" lvl="1" marL="914400" algn="l">
              <a:spcBef>
                <a:spcPts val="480"/>
              </a:spcBef>
              <a:spcAft>
                <a:spcPts val="0"/>
              </a:spcAft>
              <a:buClr>
                <a:srgbClr val="364162"/>
              </a:buClr>
              <a:buSzPts val="2400"/>
              <a:buChar char="–"/>
              <a:defRPr/>
            </a:lvl2pPr>
            <a:lvl3pPr indent="-368300" lvl="2" marL="1371600" algn="l">
              <a:spcBef>
                <a:spcPts val="440"/>
              </a:spcBef>
              <a:spcAft>
                <a:spcPts val="0"/>
              </a:spcAft>
              <a:buClr>
                <a:srgbClr val="364162"/>
              </a:buClr>
              <a:buSzPts val="2200"/>
              <a:buFont typeface="Noto Sans Symbols"/>
              <a:buChar char="▪"/>
              <a:defRPr/>
            </a:lvl3pPr>
            <a:lvl4pPr indent="-355600" lvl="3" marL="1828800" algn="l">
              <a:spcBef>
                <a:spcPts val="400"/>
              </a:spcBef>
              <a:spcAft>
                <a:spcPts val="0"/>
              </a:spcAft>
              <a:buClr>
                <a:srgbClr val="364162"/>
              </a:buClr>
              <a:buSzPts val="2000"/>
              <a:buFont typeface="Courier New"/>
              <a:buChar char="o"/>
              <a:defRPr/>
            </a:lvl4pPr>
            <a:lvl5pPr indent="-355600" lvl="4" marL="2286000" algn="l">
              <a:spcBef>
                <a:spcPts val="400"/>
              </a:spcBef>
              <a:spcAft>
                <a:spcPts val="0"/>
              </a:spcAft>
              <a:buClr>
                <a:srgbClr val="364162"/>
              </a:buClr>
              <a:buSzPts val="2000"/>
              <a:buChar char="»"/>
              <a:defRPr/>
            </a:lvl5pPr>
            <a:lvl6pPr indent="-355600" lvl="5" marL="2743200" algn="l">
              <a:spcBef>
                <a:spcPts val="400"/>
              </a:spcBef>
              <a:spcAft>
                <a:spcPts val="0"/>
              </a:spcAft>
              <a:buClr>
                <a:schemeClr val="dk1"/>
              </a:buClr>
              <a:buSzPts val="2000"/>
              <a:buChar char="•"/>
              <a:defRPr/>
            </a:lvl6pPr>
            <a:lvl7pPr indent="-355600" lvl="6" marL="3200400" algn="l">
              <a:spcBef>
                <a:spcPts val="400"/>
              </a:spcBef>
              <a:spcAft>
                <a:spcPts val="0"/>
              </a:spcAft>
              <a:buClr>
                <a:schemeClr val="dk1"/>
              </a:buClr>
              <a:buSzPts val="2000"/>
              <a:buChar char="•"/>
              <a:defRPr/>
            </a:lvl7pPr>
            <a:lvl8pPr indent="-355600" lvl="7" marL="3657600" algn="l">
              <a:spcBef>
                <a:spcPts val="400"/>
              </a:spcBef>
              <a:spcAft>
                <a:spcPts val="0"/>
              </a:spcAft>
              <a:buClr>
                <a:schemeClr val="dk1"/>
              </a:buClr>
              <a:buSzPts val="2000"/>
              <a:buChar char="•"/>
              <a:defRPr/>
            </a:lvl8pPr>
            <a:lvl9pPr indent="-355600" lvl="8" marL="4114800" algn="l">
              <a:spcBef>
                <a:spcPts val="400"/>
              </a:spcBef>
              <a:spcAft>
                <a:spcPts val="0"/>
              </a:spcAft>
              <a:buClr>
                <a:schemeClr val="dk1"/>
              </a:buClr>
              <a:buSzPts val="20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gure + Caption Layout" showMasterSp="0">
  <p:cSld name="Figure + Caption Layout">
    <p:bg>
      <p:bgPr>
        <a:solidFill>
          <a:schemeClr val="lt1"/>
        </a:solid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519169" y="357626"/>
            <a:ext cx="8032638" cy="1004011"/>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600"/>
              <a:buFont typeface="Arial"/>
              <a:buNone/>
              <a:defRPr b="0"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p:nvPr/>
        </p:nvSpPr>
        <p:spPr>
          <a:xfrm>
            <a:off x="-7937" y="6248400"/>
            <a:ext cx="9151937" cy="617539"/>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28" name="Google Shape;28;p4"/>
          <p:cNvSpPr txBox="1"/>
          <p:nvPr>
            <p:ph idx="1" type="body"/>
          </p:nvPr>
        </p:nvSpPr>
        <p:spPr>
          <a:xfrm>
            <a:off x="491331" y="5181600"/>
            <a:ext cx="8153400" cy="83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o"/>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descr="Pearson: Copyright 2015, 2012, 2009" id="29" name="Google Shape;29;p4"/>
          <p:cNvSpPr txBox="1"/>
          <p:nvPr/>
        </p:nvSpPr>
        <p:spPr>
          <a:xfrm>
            <a:off x="1478450" y="6270381"/>
            <a:ext cx="7589350" cy="582256"/>
          </a:xfrm>
          <a:prstGeom prst="rect">
            <a:avLst/>
          </a:prstGeom>
          <a:solidFill>
            <a:srgbClr val="36416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1200" u="none" cap="none" strike="noStrike">
                <a:solidFill>
                  <a:srgbClr val="FFFFFF"/>
                </a:solidFill>
                <a:latin typeface="Arial"/>
                <a:ea typeface="Arial"/>
                <a:cs typeface="Arial"/>
                <a:sym typeface="Arial"/>
              </a:rPr>
              <a:t>Copyright © 2018 Cengage. May not be copied, scanned, or duplicated, in whole or in part, except for use as permitted in a license distributed with a certain product or service or otherwise on a password-protected website for classroom use.</a:t>
            </a:r>
            <a:endParaRPr/>
          </a:p>
        </p:txBody>
      </p:sp>
      <p:pic>
        <p:nvPicPr>
          <p:cNvPr id="30" name="Google Shape;30;p4"/>
          <p:cNvPicPr preferRelativeResize="0"/>
          <p:nvPr/>
        </p:nvPicPr>
        <p:blipFill rotWithShape="1">
          <a:blip r:embed="rId2">
            <a:alphaModFix/>
          </a:blip>
          <a:srcRect b="0" l="0" r="0" t="0"/>
          <a:stretch/>
        </p:blipFill>
        <p:spPr>
          <a:xfrm>
            <a:off x="0" y="6345959"/>
            <a:ext cx="1316182" cy="435841"/>
          </a:xfrm>
          <a:prstGeom prst="rect">
            <a:avLst/>
          </a:prstGeom>
          <a:solidFill>
            <a:srgbClr val="364162"/>
          </a:solid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1" name="Shape 31"/>
        <p:cNvGrpSpPr/>
        <p:nvPr/>
      </p:nvGrpSpPr>
      <p:grpSpPr>
        <a:xfrm>
          <a:off x="0" y="0"/>
          <a:ext cx="0" cy="0"/>
          <a:chOff x="0" y="0"/>
          <a:chExt cx="0" cy="0"/>
        </a:xfrm>
      </p:grpSpPr>
      <p:sp>
        <p:nvSpPr>
          <p:cNvPr id="32" name="Google Shape;32;p5"/>
          <p:cNvSpPr/>
          <p:nvPr/>
        </p:nvSpPr>
        <p:spPr>
          <a:xfrm>
            <a:off x="-7938" y="6324600"/>
            <a:ext cx="9161464" cy="62987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descr="Pearson: Copyright 2015, 2012, 2009" id="33" name="Google Shape;33;p5"/>
          <p:cNvSpPr txBox="1"/>
          <p:nvPr/>
        </p:nvSpPr>
        <p:spPr>
          <a:xfrm>
            <a:off x="1388395" y="6394712"/>
            <a:ext cx="7714039" cy="504445"/>
          </a:xfrm>
          <a:prstGeom prst="rect">
            <a:avLst/>
          </a:prstGeom>
          <a:solidFill>
            <a:srgbClr val="36416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1200" u="none" cap="none" strike="noStrike">
                <a:solidFill>
                  <a:srgbClr val="FFFFFF"/>
                </a:solidFill>
                <a:latin typeface="Arial"/>
                <a:ea typeface="Arial"/>
                <a:cs typeface="Arial"/>
                <a:sym typeface="Arial"/>
              </a:rPr>
              <a:t>Copyright © 2018 Cengage. May not be copied, scanned, or duplicated, in whole or in part, except for use as permitted in a license distributed with a certain product or service or otherwise on a password-protected website for classroom use.</a:t>
            </a:r>
            <a:endParaRPr/>
          </a:p>
        </p:txBody>
      </p:sp>
      <p:pic>
        <p:nvPicPr>
          <p:cNvPr id="34" name="Google Shape;34;p5"/>
          <p:cNvPicPr preferRelativeResize="0"/>
          <p:nvPr/>
        </p:nvPicPr>
        <p:blipFill rotWithShape="1">
          <a:blip r:embed="rId2">
            <a:alphaModFix/>
          </a:blip>
          <a:srcRect b="0" l="0" r="0" t="0"/>
          <a:stretch/>
        </p:blipFill>
        <p:spPr>
          <a:xfrm>
            <a:off x="0" y="6422159"/>
            <a:ext cx="1316182" cy="435841"/>
          </a:xfrm>
          <a:prstGeom prst="rect">
            <a:avLst/>
          </a:prstGeom>
          <a:solidFill>
            <a:srgbClr val="364162"/>
          </a:solid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709"/>
            <a:ext cx="8229600" cy="1039091"/>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3600"/>
              <a:buFont typeface="Arial"/>
              <a:buNone/>
              <a:defRPr b="0"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lvl1pPr indent="-393700" lvl="0" marL="457200" marR="0" rtl="0" algn="l">
              <a:spcBef>
                <a:spcPts val="520"/>
              </a:spcBef>
              <a:spcAft>
                <a:spcPts val="0"/>
              </a:spcAft>
              <a:buClr>
                <a:srgbClr val="364162"/>
              </a:buClr>
              <a:buSzPts val="2600"/>
              <a:buFont typeface="Arial"/>
              <a:buChar char="•"/>
              <a:defRPr b="0" i="0" sz="26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rgbClr val="364162"/>
              </a:buClr>
              <a:buSzPts val="2400"/>
              <a:buFont typeface="Arial"/>
              <a:buChar char="–"/>
              <a:defRPr b="0" i="0" sz="2400" u="none" cap="none" strike="noStrike">
                <a:solidFill>
                  <a:schemeClr val="dk1"/>
                </a:solidFill>
                <a:latin typeface="Arial"/>
                <a:ea typeface="Arial"/>
                <a:cs typeface="Arial"/>
                <a:sym typeface="Arial"/>
              </a:defRPr>
            </a:lvl2pPr>
            <a:lvl3pPr indent="-368300" lvl="2" marL="1371600" marR="0" rtl="0" algn="l">
              <a:spcBef>
                <a:spcPts val="440"/>
              </a:spcBef>
              <a:spcAft>
                <a:spcPts val="0"/>
              </a:spcAft>
              <a:buClr>
                <a:srgbClr val="364162"/>
              </a:buClr>
              <a:buSzPts val="2200"/>
              <a:buFont typeface="Noto Sans Symbols"/>
              <a:buChar char="▪"/>
              <a:defRPr b="0" i="0" sz="22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rgbClr val="364162"/>
              </a:buClr>
              <a:buSzPts val="2000"/>
              <a:buFont typeface="Courier New"/>
              <a:buChar char="o"/>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rgbClr val="364162"/>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p:nvPr/>
        </p:nvSpPr>
        <p:spPr>
          <a:xfrm>
            <a:off x="0" y="0"/>
            <a:ext cx="9144000" cy="113355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3" name="Google Shape;13;p1"/>
          <p:cNvSpPr/>
          <p:nvPr/>
        </p:nvSpPr>
        <p:spPr>
          <a:xfrm>
            <a:off x="-7938" y="6248400"/>
            <a:ext cx="9161464" cy="62987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4" name="Google Shape;14;p1"/>
          <p:cNvSpPr txBox="1"/>
          <p:nvPr>
            <p:ph idx="2" type="title"/>
          </p:nvPr>
        </p:nvSpPr>
        <p:spPr>
          <a:xfrm>
            <a:off x="76200" y="38100"/>
            <a:ext cx="8915400" cy="104156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lt1"/>
              </a:buClr>
              <a:buSzPts val="3600"/>
              <a:buFont typeface="Arial"/>
              <a:buNone/>
              <a:defRPr b="0"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6"/>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Objectives</a:t>
            </a:r>
            <a:endParaRPr/>
          </a:p>
        </p:txBody>
      </p:sp>
      <p:sp>
        <p:nvSpPr>
          <p:cNvPr id="41" name="Google Shape;41;p6"/>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800"/>
              <a:buChar char="•"/>
            </a:pPr>
            <a:r>
              <a:rPr lang="en-GB" sz="2800"/>
              <a:t>Upon completion of this material, you should be able to:</a:t>
            </a:r>
            <a:endParaRPr sz="2800"/>
          </a:p>
          <a:p>
            <a:pPr indent="-285750" lvl="1" marL="742950" rtl="0" algn="l">
              <a:spcBef>
                <a:spcPts val="600"/>
              </a:spcBef>
              <a:spcAft>
                <a:spcPts val="0"/>
              </a:spcAft>
              <a:buSzPts val="2600"/>
              <a:buChar char="–"/>
            </a:pPr>
            <a:r>
              <a:rPr lang="en-GB" sz="2600"/>
              <a:t>Define information security</a:t>
            </a:r>
            <a:endParaRPr/>
          </a:p>
          <a:p>
            <a:pPr indent="-285750" lvl="1" marL="742950" rtl="0" algn="l">
              <a:spcBef>
                <a:spcPts val="600"/>
              </a:spcBef>
              <a:spcAft>
                <a:spcPts val="0"/>
              </a:spcAft>
              <a:buSzPts val="2600"/>
              <a:buChar char="–"/>
            </a:pPr>
            <a:r>
              <a:rPr lang="en-GB" sz="2600"/>
              <a:t>Recount the history of computer security and explain how it evolved into information security</a:t>
            </a:r>
            <a:endParaRPr/>
          </a:p>
          <a:p>
            <a:pPr indent="-285750" lvl="1" marL="742950" rtl="0" algn="l">
              <a:spcBef>
                <a:spcPts val="600"/>
              </a:spcBef>
              <a:spcAft>
                <a:spcPts val="0"/>
              </a:spcAft>
              <a:buSzPts val="2600"/>
              <a:buChar char="–"/>
            </a:pPr>
            <a:r>
              <a:rPr lang="en-GB" sz="2600"/>
              <a:t>Define key terms and critical concepts of information security</a:t>
            </a:r>
            <a:endParaRPr/>
          </a:p>
          <a:p>
            <a:pPr indent="-285750" lvl="1" marL="742950" rtl="0" algn="l">
              <a:spcBef>
                <a:spcPts val="600"/>
              </a:spcBef>
              <a:spcAft>
                <a:spcPts val="0"/>
              </a:spcAft>
              <a:buSzPts val="2600"/>
              <a:buChar char="–"/>
            </a:pPr>
            <a:r>
              <a:rPr lang="en-GB" sz="2600"/>
              <a:t>Explain the role of security in the systems development life cycle</a:t>
            </a:r>
            <a:endParaRPr/>
          </a:p>
          <a:p>
            <a:pPr indent="-285750" lvl="1" marL="742950" rtl="0" algn="l">
              <a:spcBef>
                <a:spcPts val="600"/>
              </a:spcBef>
              <a:spcAft>
                <a:spcPts val="0"/>
              </a:spcAft>
              <a:buSzPts val="2600"/>
              <a:buChar char="–"/>
            </a:pPr>
            <a:r>
              <a:rPr lang="en-GB" sz="2600"/>
              <a:t>Describe the information security roles of professionals within an organization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Introduction</a:t>
            </a:r>
            <a:endParaRPr/>
          </a:p>
        </p:txBody>
      </p:sp>
      <p:sp>
        <p:nvSpPr>
          <p:cNvPr id="48" name="Google Shape;48;p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“Enterprise information security is a critical business capability that needs to be aligned with corporate expectations and culture that provides the leadership and insight to identify risks and implement effective controls.”—Martin Fisher, IT Security Manager, North side Hospital, Atlanta, Georgia ‏</a:t>
            </a:r>
            <a:endParaRPr sz="2800"/>
          </a:p>
          <a:p>
            <a:pPr indent="-342900" lvl="0" marL="342900" rtl="0" algn="l">
              <a:spcBef>
                <a:spcPts val="600"/>
              </a:spcBef>
              <a:spcAft>
                <a:spcPts val="0"/>
              </a:spcAft>
              <a:buSzPts val="2800"/>
              <a:buChar char="•"/>
            </a:pPr>
            <a:r>
              <a:rPr lang="en-GB" sz="2800"/>
              <a:t>Security professionals must review the origins of this field to understand its impact on our understanding of information security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The History of Information Security</a:t>
            </a:r>
            <a:endParaRPr/>
          </a:p>
        </p:txBody>
      </p:sp>
      <p:sp>
        <p:nvSpPr>
          <p:cNvPr id="55" name="Google Shape;55;p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19088" lvl="0" marL="338138" rtl="0" algn="l">
              <a:spcBef>
                <a:spcPts val="0"/>
              </a:spcBef>
              <a:spcAft>
                <a:spcPts val="0"/>
              </a:spcAft>
              <a:buSzPts val="2800"/>
              <a:buChar char="•"/>
            </a:pPr>
            <a:r>
              <a:rPr lang="en-GB" sz="2800"/>
              <a:t>Computer security began immediately after the first mainframes were developed </a:t>
            </a:r>
            <a:endParaRPr/>
          </a:p>
          <a:p>
            <a:pPr indent="-319088" lvl="1" marL="738188" rtl="0" algn="l">
              <a:spcBef>
                <a:spcPts val="600"/>
              </a:spcBef>
              <a:spcAft>
                <a:spcPts val="0"/>
              </a:spcAft>
              <a:buSzPts val="2600"/>
              <a:buChar char="–"/>
            </a:pPr>
            <a:r>
              <a:rPr lang="en-GB" sz="2600"/>
              <a:t>Groups developing code-breaking computations during World War II created the first modern computers.</a:t>
            </a:r>
            <a:endParaRPr/>
          </a:p>
          <a:p>
            <a:pPr indent="-319088" lvl="1" marL="738188" rtl="0" algn="l">
              <a:spcBef>
                <a:spcPts val="600"/>
              </a:spcBef>
              <a:spcAft>
                <a:spcPts val="0"/>
              </a:spcAft>
              <a:buSzPts val="2600"/>
              <a:buChar char="–"/>
            </a:pPr>
            <a:r>
              <a:rPr lang="en-GB" sz="2600"/>
              <a:t>Multiple levels of security were implemented.</a:t>
            </a:r>
            <a:endParaRPr/>
          </a:p>
          <a:p>
            <a:pPr indent="-319088" lvl="0" marL="338138" rtl="0" algn="l">
              <a:spcBef>
                <a:spcPts val="600"/>
              </a:spcBef>
              <a:spcAft>
                <a:spcPts val="0"/>
              </a:spcAft>
              <a:buSzPts val="2800"/>
              <a:buChar char="•"/>
            </a:pPr>
            <a:r>
              <a:rPr lang="en-GB" sz="2800"/>
              <a:t>Physical controls limiting access to sensitive military locations to authorized personnel</a:t>
            </a:r>
            <a:endParaRPr/>
          </a:p>
          <a:p>
            <a:pPr indent="-319088" lvl="0" marL="338138" rtl="0" algn="l">
              <a:spcBef>
                <a:spcPts val="600"/>
              </a:spcBef>
              <a:spcAft>
                <a:spcPts val="0"/>
              </a:spcAft>
              <a:buSzPts val="2800"/>
              <a:buChar char="•"/>
            </a:pPr>
            <a:r>
              <a:rPr lang="en-GB" sz="2800"/>
              <a:t>Rudimentary in defending against physical theft, espionage, and sabotage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9"/>
          <p:cNvSpPr txBox="1"/>
          <p:nvPr>
            <p:ph type="title"/>
          </p:nvPr>
        </p:nvSpPr>
        <p:spPr>
          <a:xfrm>
            <a:off x="609600" y="19050"/>
            <a:ext cx="8382000" cy="10477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GB"/>
              <a:t>Table 1-1 </a:t>
            </a:r>
            <a:r>
              <a:rPr lang="en-GB"/>
              <a:t>Key Dates in Information Security (1 of 2)</a:t>
            </a:r>
            <a:endParaRPr/>
          </a:p>
        </p:txBody>
      </p:sp>
      <p:graphicFrame>
        <p:nvGraphicFramePr>
          <p:cNvPr id="62" name="Google Shape;62;p9"/>
          <p:cNvGraphicFramePr/>
          <p:nvPr/>
        </p:nvGraphicFramePr>
        <p:xfrm>
          <a:off x="609600" y="1371600"/>
          <a:ext cx="3000000" cy="3000000"/>
        </p:xfrm>
        <a:graphic>
          <a:graphicData uri="http://schemas.openxmlformats.org/drawingml/2006/table">
            <a:tbl>
              <a:tblPr bandRow="1" firstRow="1">
                <a:noFill/>
                <a:tableStyleId>{A977C546-752A-400F-95DF-76635B70464E}</a:tableStyleId>
              </a:tblPr>
              <a:tblGrid>
                <a:gridCol w="990600"/>
                <a:gridCol w="7086600"/>
              </a:tblGrid>
              <a:tr h="381000">
                <a:tc>
                  <a:txBody>
                    <a:bodyPr/>
                    <a:lstStyle/>
                    <a:p>
                      <a:pPr indent="0" lvl="0" marL="0" marR="0" rtl="0" algn="ctr">
                        <a:spcBef>
                          <a:spcPts val="0"/>
                        </a:spcBef>
                        <a:spcAft>
                          <a:spcPts val="0"/>
                        </a:spcAft>
                        <a:buNone/>
                      </a:pPr>
                      <a:r>
                        <a:rPr b="1" lang="en-GB" sz="1600" u="none" cap="none" strike="noStrike">
                          <a:solidFill>
                            <a:schemeClr val="lt1"/>
                          </a:solidFill>
                          <a:latin typeface="Arial"/>
                          <a:ea typeface="Arial"/>
                          <a:cs typeface="Arial"/>
                          <a:sym typeface="Arial"/>
                        </a:rPr>
                        <a:t>Date</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GB" sz="1600" u="none" cap="none" strike="noStrike">
                          <a:solidFill>
                            <a:schemeClr val="lt1"/>
                          </a:solidFill>
                          <a:latin typeface="Arial"/>
                          <a:ea typeface="Arial"/>
                          <a:cs typeface="Arial"/>
                          <a:sym typeface="Arial"/>
                        </a:rPr>
                        <a:t>Document</a:t>
                      </a:r>
                      <a:endParaRPr/>
                    </a:p>
                  </a:txBody>
                  <a:tcPr marT="45725" marB="45725" marR="91450" marL="91450" anchor="ctr">
                    <a:solidFill>
                      <a:srgbClr val="364162"/>
                    </a:solidFill>
                  </a:tcPr>
                </a:tc>
              </a:tr>
              <a:tr h="426725">
                <a:tc>
                  <a:txBody>
                    <a:bodyPr/>
                    <a:lstStyle/>
                    <a:p>
                      <a:pPr indent="0" lvl="0" marL="0" marR="0" rtl="0" algn="l">
                        <a:spcBef>
                          <a:spcPts val="0"/>
                        </a:spcBef>
                        <a:spcAft>
                          <a:spcPts val="0"/>
                        </a:spcAft>
                        <a:buNone/>
                      </a:pPr>
                      <a:r>
                        <a:rPr lang="en-GB" sz="1600" u="none" cap="none" strike="noStrike">
                          <a:latin typeface="Arial"/>
                          <a:ea typeface="Arial"/>
                          <a:cs typeface="Arial"/>
                          <a:sym typeface="Arial"/>
                        </a:rPr>
                        <a:t>1968</a:t>
                      </a:r>
                      <a:endParaRPr/>
                    </a:p>
                  </a:txBody>
                  <a:tcPr marT="45725" marB="45725" marR="91450" marL="91450"/>
                </a:tc>
                <a:tc>
                  <a:txBody>
                    <a:bodyPr/>
                    <a:lstStyle/>
                    <a:p>
                      <a:pPr indent="0" lvl="0" marL="0" marR="0" rtl="0" algn="l">
                        <a:spcBef>
                          <a:spcPts val="0"/>
                        </a:spcBef>
                        <a:spcAft>
                          <a:spcPts val="0"/>
                        </a:spcAft>
                        <a:buNone/>
                      </a:pPr>
                      <a:r>
                        <a:rPr lang="en-GB" sz="1600">
                          <a:solidFill>
                            <a:schemeClr val="dk1"/>
                          </a:solidFill>
                          <a:latin typeface="Arial"/>
                          <a:ea typeface="Arial"/>
                          <a:cs typeface="Arial"/>
                          <a:sym typeface="Arial"/>
                        </a:rPr>
                        <a:t>Maurice Wilkes discusses password security in Time - Sharing Computer Systems. </a:t>
                      </a:r>
                      <a:endParaRPr sz="1600">
                        <a:latin typeface="Arial"/>
                        <a:ea typeface="Arial"/>
                        <a:cs typeface="Arial"/>
                        <a:sym typeface="Arial"/>
                      </a:endParaRPr>
                    </a:p>
                  </a:txBody>
                  <a:tcPr marT="45725" marB="45725" marR="91450" marL="91450"/>
                </a:tc>
              </a:tr>
              <a:tr h="685800">
                <a:tc>
                  <a:txBody>
                    <a:bodyPr/>
                    <a:lstStyle/>
                    <a:p>
                      <a:pPr indent="0" lvl="0" marL="0" marR="0" rtl="0" algn="l">
                        <a:spcBef>
                          <a:spcPts val="0"/>
                        </a:spcBef>
                        <a:spcAft>
                          <a:spcPts val="0"/>
                        </a:spcAft>
                        <a:buNone/>
                      </a:pPr>
                      <a:r>
                        <a:rPr lang="en-GB" sz="1600">
                          <a:latin typeface="Arial"/>
                          <a:ea typeface="Arial"/>
                          <a:cs typeface="Arial"/>
                          <a:sym typeface="Arial"/>
                        </a:rPr>
                        <a:t>1970</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GB" sz="1600">
                          <a:solidFill>
                            <a:schemeClr val="dk1"/>
                          </a:solidFill>
                          <a:latin typeface="Arial"/>
                          <a:ea typeface="Arial"/>
                          <a:cs typeface="Arial"/>
                          <a:sym typeface="Arial"/>
                        </a:rPr>
                        <a:t>Willis H. Ware author the report Security Controls for Computer Systems: Report of Defense Science Board Task Force on Computer Security—RAND R.609 which was not declassified until 1979. I became known as the seminal work identifying the need for computer Security. </a:t>
                      </a:r>
                      <a:endParaRPr sz="1600">
                        <a:latin typeface="Arial"/>
                        <a:ea typeface="Arial"/>
                        <a:cs typeface="Arial"/>
                        <a:sym typeface="Arial"/>
                      </a:endParaRPr>
                    </a:p>
                  </a:txBody>
                  <a:tcPr marT="45725" marB="45725" marR="91450" marL="91450"/>
                </a:tc>
              </a:tr>
              <a:tr h="228600">
                <a:tc>
                  <a:txBody>
                    <a:bodyPr/>
                    <a:lstStyle/>
                    <a:p>
                      <a:pPr indent="0" lvl="0" marL="0" marR="0" rtl="0" algn="l">
                        <a:spcBef>
                          <a:spcPts val="0"/>
                        </a:spcBef>
                        <a:spcAft>
                          <a:spcPts val="0"/>
                        </a:spcAft>
                        <a:buNone/>
                      </a:pPr>
                      <a:r>
                        <a:rPr lang="en-GB" sz="1600">
                          <a:latin typeface="Arial"/>
                          <a:ea typeface="Arial"/>
                          <a:cs typeface="Arial"/>
                          <a:sym typeface="Arial"/>
                        </a:rPr>
                        <a:t>1973</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GB" sz="1600">
                          <a:solidFill>
                            <a:schemeClr val="dk1"/>
                          </a:solidFill>
                          <a:latin typeface="Arial"/>
                          <a:ea typeface="Arial"/>
                          <a:cs typeface="Arial"/>
                          <a:sym typeface="Arial"/>
                        </a:rPr>
                        <a:t>Schell, Downey, and Popek examine the need for additional security in military systems in Preliminary Notes on the Design of Secure Military Computer Systems. </a:t>
                      </a:r>
                      <a:endParaRPr sz="1600">
                        <a:latin typeface="Arial"/>
                        <a:ea typeface="Arial"/>
                        <a:cs typeface="Arial"/>
                        <a:sym typeface="Arial"/>
                      </a:endParaRPr>
                    </a:p>
                  </a:txBody>
                  <a:tcPr marT="45725" marB="45725" marR="91450" marL="91450"/>
                </a:tc>
              </a:tr>
              <a:tr h="228600">
                <a:tc>
                  <a:txBody>
                    <a:bodyPr/>
                    <a:lstStyle/>
                    <a:p>
                      <a:pPr indent="0" lvl="0" marL="0" marR="0" rtl="0" algn="l">
                        <a:spcBef>
                          <a:spcPts val="0"/>
                        </a:spcBef>
                        <a:spcAft>
                          <a:spcPts val="0"/>
                        </a:spcAft>
                        <a:buNone/>
                      </a:pPr>
                      <a:r>
                        <a:rPr lang="en-GB" sz="1600">
                          <a:latin typeface="Arial"/>
                          <a:ea typeface="Arial"/>
                          <a:cs typeface="Arial"/>
                          <a:sym typeface="Arial"/>
                        </a:rPr>
                        <a:t>1975</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GB" sz="1600">
                          <a:solidFill>
                            <a:schemeClr val="dk1"/>
                          </a:solidFill>
                          <a:latin typeface="Arial"/>
                          <a:ea typeface="Arial"/>
                          <a:cs typeface="Arial"/>
                          <a:sym typeface="Arial"/>
                        </a:rPr>
                        <a:t>The Federal Information Processing Standards (FIPS) examines DES (Digital Encryption Standard) In the Federal Register. </a:t>
                      </a:r>
                      <a:endParaRPr/>
                    </a:p>
                  </a:txBody>
                  <a:tcPr marT="45725" marB="45725" marR="91450" marL="91450"/>
                </a:tc>
              </a:tr>
              <a:tr h="960125">
                <a:tc>
                  <a:txBody>
                    <a:bodyPr/>
                    <a:lstStyle/>
                    <a:p>
                      <a:pPr indent="0" lvl="0" marL="0" marR="0" rtl="0" algn="l">
                        <a:spcBef>
                          <a:spcPts val="0"/>
                        </a:spcBef>
                        <a:spcAft>
                          <a:spcPts val="0"/>
                        </a:spcAft>
                        <a:buNone/>
                      </a:pPr>
                      <a:r>
                        <a:rPr lang="en-GB" sz="1600">
                          <a:latin typeface="Arial"/>
                          <a:ea typeface="Arial"/>
                          <a:cs typeface="Arial"/>
                          <a:sym typeface="Arial"/>
                        </a:rPr>
                        <a:t>1978</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GB" sz="1600">
                          <a:solidFill>
                            <a:schemeClr val="dk1"/>
                          </a:solidFill>
                          <a:latin typeface="Arial"/>
                          <a:ea typeface="Arial"/>
                          <a:cs typeface="Arial"/>
                          <a:sym typeface="Arial"/>
                        </a:rPr>
                        <a:t>Bisbey and Hollingsworth publish their study “Protection Analysis: Final Report,” which discussed the Protection Analysis project created by ARPA to better understand the vulnerabilities of operating system security and examine the possibility of automated vulnerability detection techniques in existing system software. </a:t>
                      </a:r>
                      <a:endParaRPr/>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0"/>
          <p:cNvSpPr txBox="1"/>
          <p:nvPr>
            <p:ph type="title"/>
          </p:nvPr>
        </p:nvSpPr>
        <p:spPr>
          <a:xfrm>
            <a:off x="609600" y="19050"/>
            <a:ext cx="8382000" cy="10477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GB"/>
              <a:t>Table 1-1 </a:t>
            </a:r>
            <a:r>
              <a:rPr lang="en-GB"/>
              <a:t>Key Dates in Information Security (2 of 2)</a:t>
            </a:r>
            <a:endParaRPr/>
          </a:p>
        </p:txBody>
      </p:sp>
      <p:graphicFrame>
        <p:nvGraphicFramePr>
          <p:cNvPr id="68" name="Google Shape;68;p10"/>
          <p:cNvGraphicFramePr/>
          <p:nvPr/>
        </p:nvGraphicFramePr>
        <p:xfrm>
          <a:off x="457200" y="1371600"/>
          <a:ext cx="3000000" cy="3000000"/>
        </p:xfrm>
        <a:graphic>
          <a:graphicData uri="http://schemas.openxmlformats.org/drawingml/2006/table">
            <a:tbl>
              <a:tblPr bandRow="1" firstRow="1">
                <a:noFill/>
                <a:tableStyleId>{A977C546-752A-400F-95DF-76635B70464E}</a:tableStyleId>
              </a:tblPr>
              <a:tblGrid>
                <a:gridCol w="838200"/>
                <a:gridCol w="7467600"/>
              </a:tblGrid>
              <a:tr h="533400">
                <a:tc>
                  <a:txBody>
                    <a:bodyPr/>
                    <a:lstStyle/>
                    <a:p>
                      <a:pPr indent="0" lvl="0" marL="0" marR="0" rtl="0" algn="ctr">
                        <a:spcBef>
                          <a:spcPts val="0"/>
                        </a:spcBef>
                        <a:spcAft>
                          <a:spcPts val="0"/>
                        </a:spcAft>
                        <a:buNone/>
                      </a:pPr>
                      <a:r>
                        <a:rPr b="1" lang="en-GB" sz="1400">
                          <a:solidFill>
                            <a:schemeClr val="lt1"/>
                          </a:solidFill>
                          <a:latin typeface="Arial"/>
                          <a:ea typeface="Arial"/>
                          <a:cs typeface="Arial"/>
                          <a:sym typeface="Arial"/>
                        </a:rPr>
                        <a:t>Date</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GB" sz="1400">
                          <a:solidFill>
                            <a:schemeClr val="lt1"/>
                          </a:solidFill>
                          <a:latin typeface="Arial"/>
                          <a:ea typeface="Arial"/>
                          <a:cs typeface="Arial"/>
                          <a:sym typeface="Arial"/>
                        </a:rPr>
                        <a:t>Document</a:t>
                      </a:r>
                      <a:endParaRPr/>
                    </a:p>
                  </a:txBody>
                  <a:tcPr marT="45725" marB="45725" marR="91450" marL="91450" anchor="ctr">
                    <a:solidFill>
                      <a:srgbClr val="364162"/>
                    </a:solidFill>
                  </a:tcPr>
                </a:tc>
              </a:tr>
              <a:tr h="731525">
                <a:tc>
                  <a:txBody>
                    <a:bodyPr/>
                    <a:lstStyle/>
                    <a:p>
                      <a:pPr indent="0" lvl="0" marL="0" marR="0" rtl="0" algn="l">
                        <a:spcBef>
                          <a:spcPts val="0"/>
                        </a:spcBef>
                        <a:spcAft>
                          <a:spcPts val="0"/>
                        </a:spcAft>
                        <a:buNone/>
                      </a:pPr>
                      <a:r>
                        <a:rPr lang="en-GB" sz="1400">
                          <a:latin typeface="Arial"/>
                          <a:ea typeface="Arial"/>
                          <a:cs typeface="Arial"/>
                          <a:sym typeface="Arial"/>
                        </a:rPr>
                        <a:t>1979</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Dennis Ritchie publishes “On the Security of UNIX” and “Protection of Data File Contents,” which discussed secure user IDs, secure group IDs, and the problems inherent in the systems. </a:t>
                      </a:r>
                      <a:endParaRPr/>
                    </a:p>
                  </a:txBody>
                  <a:tcPr marT="45725" marB="45725" marR="91450" marL="91450"/>
                </a:tc>
              </a:tr>
              <a:tr h="566500">
                <a:tc>
                  <a:txBody>
                    <a:bodyPr/>
                    <a:lstStyle/>
                    <a:p>
                      <a:pPr indent="0" lvl="0" marL="0" marR="0" rtl="0" algn="l">
                        <a:spcBef>
                          <a:spcPts val="0"/>
                        </a:spcBef>
                        <a:spcAft>
                          <a:spcPts val="0"/>
                        </a:spcAft>
                        <a:buNone/>
                      </a:pPr>
                      <a:r>
                        <a:rPr lang="en-GB" sz="1400">
                          <a:latin typeface="Arial"/>
                          <a:ea typeface="Arial"/>
                          <a:cs typeface="Arial"/>
                          <a:sym typeface="Arial"/>
                        </a:rPr>
                        <a:t>1982</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The US. Department of Defense Computer Security Evaluation Center publishes the first version of the Trusted Computer Security (TCSEC) documents, which came to be known as the Rainbow Series. </a:t>
                      </a:r>
                      <a:endParaRPr/>
                    </a:p>
                  </a:txBody>
                  <a:tcPr marT="45725" marB="45725" marR="91450" marL="91450"/>
                </a:tc>
              </a:tr>
              <a:tr h="1038950">
                <a:tc>
                  <a:txBody>
                    <a:bodyPr/>
                    <a:lstStyle/>
                    <a:p>
                      <a:pPr indent="0" lvl="0" marL="0" marR="0" rtl="0" algn="l">
                        <a:spcBef>
                          <a:spcPts val="0"/>
                        </a:spcBef>
                        <a:spcAft>
                          <a:spcPts val="0"/>
                        </a:spcAft>
                        <a:buNone/>
                      </a:pPr>
                      <a:r>
                        <a:rPr lang="en-GB" sz="1400">
                          <a:latin typeface="Arial"/>
                          <a:ea typeface="Arial"/>
                          <a:cs typeface="Arial"/>
                          <a:sym typeface="Arial"/>
                        </a:rPr>
                        <a:t>1982</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Grampp and Morris write “The UNIX System: UNIX Operating System Security.” In this report the authors examined four “important handles to computer security”: physical control of primes and computer facilities, management commitment to security objectives, education of employees, and administrative procedures aimed at increased security.</a:t>
                      </a:r>
                      <a:endParaRPr sz="1400">
                        <a:latin typeface="Arial"/>
                        <a:ea typeface="Arial"/>
                        <a:cs typeface="Arial"/>
                        <a:sym typeface="Arial"/>
                      </a:endParaRPr>
                    </a:p>
                  </a:txBody>
                  <a:tcPr marT="45725" marB="45725" marR="91450" marL="91450"/>
                </a:tc>
              </a:tr>
              <a:tr h="642700">
                <a:tc>
                  <a:txBody>
                    <a:bodyPr/>
                    <a:lstStyle/>
                    <a:p>
                      <a:pPr indent="0" lvl="0" marL="0" marR="0" rtl="0" algn="l">
                        <a:spcBef>
                          <a:spcPts val="0"/>
                        </a:spcBef>
                        <a:spcAft>
                          <a:spcPts val="0"/>
                        </a:spcAft>
                        <a:buNone/>
                      </a:pPr>
                      <a:r>
                        <a:rPr lang="en-GB" sz="1400">
                          <a:latin typeface="Arial"/>
                          <a:ea typeface="Arial"/>
                          <a:cs typeface="Arial"/>
                          <a:sym typeface="Arial"/>
                        </a:rPr>
                        <a:t>1984</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Reeds and Weinberger publish “File Security and the UNIX System Crypt Command.” Their premise was: “No technique can be secure against wiretapping or is equivalent on the computer. Therefore no technique can be secure against the system administrator or other privileged users... the naive user have no chance.”</a:t>
                      </a:r>
                      <a:endParaRPr/>
                    </a:p>
                  </a:txBody>
                  <a:tcPr marT="45725" marB="45725" marR="91450" marL="91450"/>
                </a:tc>
              </a:tr>
              <a:tr h="363125">
                <a:tc>
                  <a:txBody>
                    <a:bodyPr/>
                    <a:lstStyle/>
                    <a:p>
                      <a:pPr indent="0" lvl="0" marL="0" marR="0" rtl="0" algn="l">
                        <a:spcBef>
                          <a:spcPts val="0"/>
                        </a:spcBef>
                        <a:spcAft>
                          <a:spcPts val="0"/>
                        </a:spcAft>
                        <a:buNone/>
                      </a:pPr>
                      <a:r>
                        <a:rPr lang="en-GB" sz="1400">
                          <a:latin typeface="Arial"/>
                          <a:ea typeface="Arial"/>
                          <a:cs typeface="Arial"/>
                          <a:sym typeface="Arial"/>
                        </a:rPr>
                        <a:t>1992</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GB" sz="1400">
                          <a:solidFill>
                            <a:schemeClr val="dk1"/>
                          </a:solidFill>
                          <a:latin typeface="Arial"/>
                          <a:ea typeface="Arial"/>
                          <a:cs typeface="Arial"/>
                          <a:sym typeface="Arial"/>
                        </a:rPr>
                        <a:t>Researchers for the Internet Engineering Task force, working at the Naval Research Laboratory, develop the Simple Internet Protocol  Plus (SIPP) Security protocols, creating what is now known as IPSEC security.</a:t>
                      </a:r>
                      <a:endParaRPr/>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1"/>
          <p:cNvSpPr txBox="1"/>
          <p:nvPr>
            <p:ph type="title"/>
          </p:nvPr>
        </p:nvSpPr>
        <p:spPr>
          <a:xfrm>
            <a:off x="85060" y="28352"/>
            <a:ext cx="9058940" cy="96224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GB"/>
              <a:t>Figure 1-1  The Enigma (1 of 2)</a:t>
            </a:r>
            <a:endParaRPr/>
          </a:p>
        </p:txBody>
      </p:sp>
      <p:pic>
        <p:nvPicPr>
          <p:cNvPr descr="A photo shows the German code enigma machine.&#10;" id="75" name="Google Shape;75;p11"/>
          <p:cNvPicPr preferRelativeResize="0"/>
          <p:nvPr/>
        </p:nvPicPr>
        <p:blipFill rotWithShape="1">
          <a:blip r:embed="rId3">
            <a:alphaModFix/>
          </a:blip>
          <a:srcRect b="0" l="0" r="0" t="0"/>
          <a:stretch/>
        </p:blipFill>
        <p:spPr>
          <a:xfrm>
            <a:off x="3657600" y="1371599"/>
            <a:ext cx="2209800" cy="4058249"/>
          </a:xfrm>
          <a:prstGeom prst="rect">
            <a:avLst/>
          </a:prstGeom>
          <a:noFill/>
          <a:ln>
            <a:noFill/>
          </a:ln>
        </p:spPr>
      </p:pic>
      <p:sp>
        <p:nvSpPr>
          <p:cNvPr id="76" name="Google Shape;76;p11"/>
          <p:cNvSpPr txBox="1"/>
          <p:nvPr>
            <p:ph idx="1" type="body"/>
          </p:nvPr>
        </p:nvSpPr>
        <p:spPr>
          <a:xfrm>
            <a:off x="491331" y="5575544"/>
            <a:ext cx="8153400" cy="52045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i="1" lang="en-GB" sz="2000"/>
              <a:t>Source. Bletchley Park Trust. Used with permission.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Figure 1-1  The Enigma (2 of 2)</a:t>
            </a:r>
            <a:endParaRPr/>
          </a:p>
        </p:txBody>
      </p:sp>
      <p:sp>
        <p:nvSpPr>
          <p:cNvPr id="82" name="Google Shape;82;p12"/>
          <p:cNvSpPr txBox="1"/>
          <p:nvPr>
            <p:ph idx="1" type="body"/>
          </p:nvPr>
        </p:nvSpPr>
        <p:spPr>
          <a:xfrm>
            <a:off x="152400" y="1219200"/>
            <a:ext cx="8763000" cy="495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GB" sz="2400"/>
              <a:t>Earlier versions of the German code machine Enigma were first broken by the Poles in the 1930s. The British and Americans managed to break later, more complex versions during World War II. The increasingly complex versions of the Enigma, especially the submarine or Unterseeboot version of the Enigma, caused considerable anguish to Allied forces before finally being cracked. The information gained from decrypted transmissions was used to anticipate the actions of German armed forces. 'Some ask why, if we were reading the Enigma, we did not win the war earlier. One might ask, instead, when, if ever, we would have won the war if we hadn't read it'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The 1960s</a:t>
            </a:r>
            <a:endParaRPr/>
          </a:p>
        </p:txBody>
      </p:sp>
      <p:sp>
        <p:nvSpPr>
          <p:cNvPr id="89" name="Google Shape;89;p1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Advanced Research Projects Agency (ARPA) began to examine the feasibility of redundant networked communications.</a:t>
            </a:r>
            <a:endParaRPr/>
          </a:p>
          <a:p>
            <a:pPr indent="-342900" lvl="0" marL="342900" rtl="0" algn="l">
              <a:spcBef>
                <a:spcPts val="600"/>
              </a:spcBef>
              <a:spcAft>
                <a:spcPts val="0"/>
              </a:spcAft>
              <a:buSzPts val="2800"/>
              <a:buChar char="•"/>
            </a:pPr>
            <a:r>
              <a:rPr lang="en-GB" sz="2800"/>
              <a:t>Larry Roberts developed the ARPANET from its inception.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108859" y="61017"/>
            <a:ext cx="8915399" cy="100578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Arial"/>
              <a:buNone/>
            </a:pPr>
            <a:r>
              <a:rPr b="1" lang="en-GB"/>
              <a:t>Figure 1-2  </a:t>
            </a:r>
            <a:r>
              <a:rPr lang="en-GB"/>
              <a:t>Development of the ARPANET</a:t>
            </a:r>
            <a:endParaRPr/>
          </a:p>
        </p:txBody>
      </p:sp>
      <p:pic>
        <p:nvPicPr>
          <p:cNvPr descr="An illustration is labeled as, “ARPANET Program Plan.” It has a box on the left where the text reads as, “In ARPA, the Program Plan is the master document describing a major program. This plan, which I wrote in 1968, had the following concepts: 1. Objectives – Develop networking and resource sharing. 2. Technical need – Linking computers, 3. Military need – resource sharing – not nuclear war, 4. Prior work – MIT-SDC experiment, 5. Effect on ARPA – Link 17 computer research centers, network research, 6. Plan – Develop IMP’s and start 12/69 and 7. Cost - $3.4M for 68-71.” The text on the right describing Advanced Research Projects Agency and below it is the Washington D.C. 20301. Below it is the text that reads as, “Program Plan No. 723 and Date: third June 1968.” The title below it, reads as, “Resource sharing computer networks and the objectives of the program are given below.”&#10;" id="96" name="Google Shape;96;p14"/>
          <p:cNvPicPr preferRelativeResize="0"/>
          <p:nvPr/>
        </p:nvPicPr>
        <p:blipFill rotWithShape="1">
          <a:blip r:embed="rId3">
            <a:alphaModFix/>
          </a:blip>
          <a:srcRect b="0" l="0" r="0" t="0"/>
          <a:stretch/>
        </p:blipFill>
        <p:spPr>
          <a:xfrm>
            <a:off x="1699260" y="1384122"/>
            <a:ext cx="5615940" cy="3949878"/>
          </a:xfrm>
          <a:prstGeom prst="rect">
            <a:avLst/>
          </a:prstGeom>
          <a:noFill/>
          <a:ln>
            <a:noFill/>
          </a:ln>
        </p:spPr>
      </p:pic>
      <p:sp>
        <p:nvSpPr>
          <p:cNvPr id="97" name="Google Shape;97;p14"/>
          <p:cNvSpPr txBox="1"/>
          <p:nvPr>
            <p:ph idx="1" type="body"/>
          </p:nvPr>
        </p:nvSpPr>
        <p:spPr>
          <a:xfrm>
            <a:off x="457200" y="5536832"/>
            <a:ext cx="8382000" cy="55916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i="1" lang="en-GB" sz="2000"/>
              <a:t>Source. Courtesy of Dr. Lawrence Roberts. Used with permission.</a:t>
            </a:r>
            <a:endParaRPr baseline="30000" i="1"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The 1970s and 80s (1 of 2)</a:t>
            </a:r>
            <a:endParaRPr/>
          </a:p>
        </p:txBody>
      </p:sp>
      <p:sp>
        <p:nvSpPr>
          <p:cNvPr id="104" name="Google Shape;104;p15"/>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ARPANET grew in popularity, as did its potential for misuse.</a:t>
            </a:r>
            <a:endParaRPr/>
          </a:p>
          <a:p>
            <a:pPr indent="-342900" lvl="0" marL="342900" rtl="0" algn="l">
              <a:spcBef>
                <a:spcPts val="600"/>
              </a:spcBef>
              <a:spcAft>
                <a:spcPts val="0"/>
              </a:spcAft>
              <a:buSzPts val="2800"/>
              <a:buChar char="•"/>
            </a:pPr>
            <a:r>
              <a:rPr lang="en-GB" sz="2800"/>
              <a:t>Fundamental problems with ARPANET security were identified.</a:t>
            </a:r>
            <a:endParaRPr/>
          </a:p>
          <a:p>
            <a:pPr indent="-285750" lvl="1" marL="742950" rtl="0" algn="l">
              <a:spcBef>
                <a:spcPts val="600"/>
              </a:spcBef>
              <a:spcAft>
                <a:spcPts val="0"/>
              </a:spcAft>
              <a:buSzPts val="2600"/>
              <a:buChar char="–"/>
            </a:pPr>
            <a:r>
              <a:rPr lang="en-GB" sz="2600"/>
              <a:t>No safety procedures for dial-up connections to ARPANET</a:t>
            </a:r>
            <a:endParaRPr/>
          </a:p>
          <a:p>
            <a:pPr indent="-285750" lvl="1" marL="742950" rtl="0" algn="l">
              <a:spcBef>
                <a:spcPts val="600"/>
              </a:spcBef>
              <a:spcAft>
                <a:spcPts val="0"/>
              </a:spcAft>
              <a:buSzPts val="2600"/>
              <a:buChar char="–"/>
            </a:pPr>
            <a:r>
              <a:rPr lang="en-GB" sz="2600"/>
              <a:t>Nonexistent user identification and authorization to system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The 1970s and 80s (2 of 2)</a:t>
            </a:r>
            <a:endParaRPr/>
          </a:p>
        </p:txBody>
      </p:sp>
      <p:sp>
        <p:nvSpPr>
          <p:cNvPr id="111" name="Google Shape;111;p16"/>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Information security began with RAND Report R-609 (paper that started the study of computer security and identified the role of management and policy issues in it)‏.</a:t>
            </a:r>
            <a:endParaRPr sz="2800"/>
          </a:p>
          <a:p>
            <a:pPr indent="-342900" lvl="0" marL="342900" rtl="0" algn="l">
              <a:spcBef>
                <a:spcPts val="600"/>
              </a:spcBef>
              <a:spcAft>
                <a:spcPts val="0"/>
              </a:spcAft>
              <a:buSzPts val="2800"/>
              <a:buChar char="•"/>
            </a:pPr>
            <a:r>
              <a:rPr lang="en-GB" sz="2800"/>
              <a:t>The scope of computer security grew from physical security to include: </a:t>
            </a:r>
            <a:endParaRPr/>
          </a:p>
          <a:p>
            <a:pPr indent="-285750" lvl="1" marL="742950" rtl="0" algn="l">
              <a:spcBef>
                <a:spcPts val="600"/>
              </a:spcBef>
              <a:spcAft>
                <a:spcPts val="0"/>
              </a:spcAft>
              <a:buSzPts val="2600"/>
              <a:buChar char="–"/>
            </a:pPr>
            <a:r>
              <a:rPr lang="en-GB" sz="2600"/>
              <a:t>Securing the data</a:t>
            </a:r>
            <a:endParaRPr/>
          </a:p>
          <a:p>
            <a:pPr indent="-285750" lvl="1" marL="742950" rtl="0" algn="l">
              <a:spcBef>
                <a:spcPts val="600"/>
              </a:spcBef>
              <a:spcAft>
                <a:spcPts val="0"/>
              </a:spcAft>
              <a:buSzPts val="2600"/>
              <a:buChar char="–"/>
            </a:pPr>
            <a:r>
              <a:rPr lang="en-GB" sz="2600"/>
              <a:t>Limiting random and unauthorized access to data</a:t>
            </a:r>
            <a:endParaRPr/>
          </a:p>
          <a:p>
            <a:pPr indent="-285750" lvl="1" marL="742950" rtl="0" algn="l">
              <a:spcBef>
                <a:spcPts val="600"/>
              </a:spcBef>
              <a:spcAft>
                <a:spcPts val="0"/>
              </a:spcAft>
              <a:buSzPts val="2600"/>
              <a:buChar char="–"/>
            </a:pPr>
            <a:r>
              <a:rPr lang="en-GB" sz="2600"/>
              <a:t>Involving personnel from multiple levels of the organization in information security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0" y="83288"/>
            <a:ext cx="9144000" cy="14407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400"/>
              <a:buFont typeface="Arial"/>
              <a:buNone/>
            </a:pPr>
            <a:r>
              <a:rPr b="1" lang="en-GB" sz="3400"/>
              <a:t>Figure 1-4</a:t>
            </a:r>
            <a:r>
              <a:rPr lang="en-GB" sz="3400"/>
              <a:t> Illustration of computer network vulnerabilities from RAND Report R-609</a:t>
            </a:r>
            <a:endParaRPr/>
          </a:p>
        </p:txBody>
      </p:sp>
      <p:pic>
        <p:nvPicPr>
          <p:cNvPr descr="An illustration is labeled as, Computer Network Vulnerabilities. A box labeled as, “Processor” has many inputs labeled as, “Files” under which “Theft, Copying, Unauthorized access” are mentioned. The input labeled as, “Hardware” has the text below which it reads as, “Failure of protection circuits and contribute to software failures.” The input labeled as, “Software” has the text below it which reads as, “Failure of protection features, Access control, Bounds control etc.” The output labeled as, “Radiation” is pointing out from the processor by an arrow. Several lines are seen connecting the box labeled as, “Processor” and “Switching center.” The connecting lines are labeled as, “Communication lines.” An arrow pointing out from the communication lines is labeled as, “Radiation.” An arrow labeled as, “Taps” points towards the communication lines. An arrow is shown pointing to an oval, present beside the Switching center. It is labeled as, “Crosstalk.” A picture of two men standing and a man with a computer is shown below the communication lines. An arrow points towards the picture of two men standing and are labeled as, “Operator” below which the text reads as, “Replace supervisor, Reveal protective measures” and “Maintenance Man” below which the text reads as, “Disable hardware devices, Use stand- alone utility programs.” An arrow pointing towards the man with computer is labeled as, “System Programmer” below which the text reads as, “Disable protective features, Provide “ins”, Reveal protective measures.” An arrow labeled as, “Radiation” points out from the “Switching center.” An arrow pointing towards the switching center is labeled as, “Hardware” below which the text reads as, “Improper connections, Cross coupling.” Several lines are seen emerging out from the switching center. A man labeled as, “User” below which the text reads as, “Identification, Authentication, Subtle software, modifications.” Next to man, a machine is labeled as, “Access” below which the text labeled as, “Attachments of recorders bugs” together it is labeled as, “Remote Consoles” is shown at the first and last lines emerging from the switching center. An oval is shown on the right of switching center and is labeled as, “crosstalk.” Two Arrows pointing out from the lines are labeled as, “Radiation” and an arrow is shown towards the line and is labeled as, “Taps.” &#10;" id="117" name="Google Shape;117;p17"/>
          <p:cNvPicPr preferRelativeResize="0"/>
          <p:nvPr/>
        </p:nvPicPr>
        <p:blipFill rotWithShape="1">
          <a:blip r:embed="rId3">
            <a:alphaModFix/>
          </a:blip>
          <a:srcRect b="0" l="0" r="0" t="0"/>
          <a:stretch/>
        </p:blipFill>
        <p:spPr>
          <a:xfrm>
            <a:off x="1667717" y="1521714"/>
            <a:ext cx="5532120" cy="3964686"/>
          </a:xfrm>
          <a:prstGeom prst="rect">
            <a:avLst/>
          </a:prstGeom>
          <a:noFill/>
          <a:ln>
            <a:noFill/>
          </a:ln>
        </p:spPr>
      </p:pic>
      <p:sp>
        <p:nvSpPr>
          <p:cNvPr id="118" name="Google Shape;118;p17"/>
          <p:cNvSpPr txBox="1"/>
          <p:nvPr>
            <p:ph idx="1" type="body"/>
          </p:nvPr>
        </p:nvSpPr>
        <p:spPr>
          <a:xfrm>
            <a:off x="533400" y="5699058"/>
            <a:ext cx="8153400" cy="47314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000"/>
              <a:buNone/>
            </a:pPr>
            <a:r>
              <a:rPr i="1" lang="en-GB" sz="2000"/>
              <a:t>Source. RAND Report R-609-1. Used with permission.</a:t>
            </a:r>
            <a:endParaRPr baseline="30000" i="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MULTICS (1 of 2)</a:t>
            </a:r>
            <a:endParaRPr/>
          </a:p>
        </p:txBody>
      </p:sp>
      <p:sp>
        <p:nvSpPr>
          <p:cNvPr id="125" name="Google Shape;125;p1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Early focus of computer security research centered on a system called Multiplexed Information and Computing Service (MULTICS)‏.</a:t>
            </a:r>
            <a:endParaRPr sz="2800"/>
          </a:p>
          <a:p>
            <a:pPr indent="-342900" lvl="0" marL="342900" rtl="0" algn="l">
              <a:spcBef>
                <a:spcPts val="600"/>
              </a:spcBef>
              <a:spcAft>
                <a:spcPts val="0"/>
              </a:spcAft>
              <a:buSzPts val="2800"/>
              <a:buChar char="•"/>
            </a:pPr>
            <a:r>
              <a:rPr lang="en-GB" sz="2800"/>
              <a:t>First operating system was created with security integrated into core functions.</a:t>
            </a:r>
            <a:endParaRPr/>
          </a:p>
          <a:p>
            <a:pPr indent="-342900" lvl="0" marL="342900" rtl="0" algn="l">
              <a:spcBef>
                <a:spcPts val="600"/>
              </a:spcBef>
              <a:spcAft>
                <a:spcPts val="0"/>
              </a:spcAft>
              <a:buSzPts val="2800"/>
              <a:buChar char="•"/>
            </a:pPr>
            <a:r>
              <a:rPr lang="en-GB" sz="2800"/>
              <a:t>Mainframe, time-sharing operating system was developed in the mid-1960s by General Electric (GE), Bell Labs, and Massachusetts Institute of Technology (MIT)‏.</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MULTICS (2 of 2)</a:t>
            </a:r>
            <a:endParaRPr/>
          </a:p>
        </p:txBody>
      </p:sp>
      <p:sp>
        <p:nvSpPr>
          <p:cNvPr id="131" name="Google Shape;131;p1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Several MULTICS key players created UNIX.</a:t>
            </a:r>
            <a:endParaRPr/>
          </a:p>
          <a:p>
            <a:pPr indent="-285750" lvl="1" marL="742950" rtl="0" algn="l">
              <a:spcBef>
                <a:spcPts val="600"/>
              </a:spcBef>
              <a:spcAft>
                <a:spcPts val="0"/>
              </a:spcAft>
              <a:buSzPts val="2600"/>
              <a:buChar char="–"/>
            </a:pPr>
            <a:r>
              <a:rPr lang="en-GB" sz="2600"/>
              <a:t>Primary purpose of UNIX was text processing.</a:t>
            </a:r>
            <a:endParaRPr/>
          </a:p>
          <a:p>
            <a:pPr indent="-342900" lvl="0" marL="342900" rtl="0" algn="l">
              <a:spcBef>
                <a:spcPts val="600"/>
              </a:spcBef>
              <a:spcAft>
                <a:spcPts val="0"/>
              </a:spcAft>
              <a:buSzPts val="2800"/>
              <a:buChar char="•"/>
            </a:pPr>
            <a:r>
              <a:rPr lang="en-GB" sz="2800"/>
              <a:t>Late 1970s: The microprocessor expanded computing capabilities and security threats.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The 1990s</a:t>
            </a:r>
            <a:endParaRPr/>
          </a:p>
        </p:txBody>
      </p:sp>
      <p:sp>
        <p:nvSpPr>
          <p:cNvPr id="138" name="Google Shape;138;p2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Networks of computers became more common, as did the need to connect them to each other.</a:t>
            </a:r>
            <a:endParaRPr/>
          </a:p>
          <a:p>
            <a:pPr indent="-342900" lvl="0" marL="342900" rtl="0" algn="l">
              <a:spcBef>
                <a:spcPts val="600"/>
              </a:spcBef>
              <a:spcAft>
                <a:spcPts val="0"/>
              </a:spcAft>
              <a:buSzPts val="2800"/>
              <a:buChar char="•"/>
            </a:pPr>
            <a:r>
              <a:rPr lang="en-GB" sz="2800"/>
              <a:t>Internet became the first global network of networks.</a:t>
            </a:r>
            <a:endParaRPr/>
          </a:p>
          <a:p>
            <a:pPr indent="-342900" lvl="0" marL="342900" rtl="0" algn="l">
              <a:spcBef>
                <a:spcPts val="600"/>
              </a:spcBef>
              <a:spcAft>
                <a:spcPts val="0"/>
              </a:spcAft>
              <a:buSzPts val="2800"/>
              <a:buChar char="•"/>
            </a:pPr>
            <a:r>
              <a:rPr lang="en-GB" sz="2800"/>
              <a:t>Initially, network connections were based on de facto standards.</a:t>
            </a:r>
            <a:endParaRPr/>
          </a:p>
          <a:p>
            <a:pPr indent="-342900" lvl="0" marL="342900" rtl="0" algn="l">
              <a:spcBef>
                <a:spcPts val="600"/>
              </a:spcBef>
              <a:spcAft>
                <a:spcPts val="0"/>
              </a:spcAft>
              <a:buSzPts val="2800"/>
              <a:buChar char="•"/>
            </a:pPr>
            <a:r>
              <a:rPr lang="en-GB" sz="2800"/>
              <a:t>In early Internet deployments, security was treated as a low priority.</a:t>
            </a:r>
            <a:endParaRPr sz="2800"/>
          </a:p>
          <a:p>
            <a:pPr indent="-342900" lvl="0" marL="342900" rtl="0" algn="l">
              <a:spcBef>
                <a:spcPts val="600"/>
              </a:spcBef>
              <a:spcAft>
                <a:spcPts val="0"/>
              </a:spcAft>
              <a:buSzPts val="2800"/>
              <a:buChar char="•"/>
            </a:pPr>
            <a:r>
              <a:rPr lang="en-GB" sz="2800"/>
              <a:t>In 1993, DEFCON conference was established for those interested in information security.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2000 to Present</a:t>
            </a:r>
            <a:endParaRPr/>
          </a:p>
        </p:txBody>
      </p:sp>
      <p:sp>
        <p:nvSpPr>
          <p:cNvPr id="145" name="Google Shape;145;p2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6075" rtl="0" algn="l">
              <a:spcBef>
                <a:spcPts val="0"/>
              </a:spcBef>
              <a:spcAft>
                <a:spcPts val="0"/>
              </a:spcAft>
              <a:buSzPts val="2800"/>
              <a:buChar char="•"/>
            </a:pPr>
            <a:r>
              <a:rPr lang="en-GB" sz="2800"/>
              <a:t>The Internet brings millions of unsecured computer networks into continuous communication with each other.</a:t>
            </a:r>
            <a:endParaRPr/>
          </a:p>
          <a:p>
            <a:pPr indent="-342900" lvl="0" marL="346075" rtl="0" algn="l">
              <a:spcBef>
                <a:spcPts val="625"/>
              </a:spcBef>
              <a:spcAft>
                <a:spcPts val="0"/>
              </a:spcAft>
              <a:buSzPts val="2800"/>
              <a:buChar char="•"/>
            </a:pPr>
            <a:r>
              <a:rPr lang="en-GB" sz="2800"/>
              <a:t>The ability to secure a computer’s data was influenced by the security of every computer to which it is connected.</a:t>
            </a:r>
            <a:endParaRPr/>
          </a:p>
          <a:p>
            <a:pPr indent="-342900" lvl="0" marL="346075" rtl="0" algn="l">
              <a:spcBef>
                <a:spcPts val="625"/>
              </a:spcBef>
              <a:spcAft>
                <a:spcPts val="0"/>
              </a:spcAft>
              <a:buSzPts val="2800"/>
              <a:buChar char="•"/>
            </a:pPr>
            <a:r>
              <a:rPr lang="en-GB" sz="2800"/>
              <a:t>Growing threat of cyber attacks has increased the awareness of need for improved security.</a:t>
            </a:r>
            <a:endParaRPr sz="2800"/>
          </a:p>
          <a:p>
            <a:pPr indent="-285750" lvl="1" marL="746125" rtl="0" algn="l">
              <a:spcBef>
                <a:spcPts val="600"/>
              </a:spcBef>
              <a:spcAft>
                <a:spcPts val="0"/>
              </a:spcAft>
              <a:buSzPts val="2600"/>
              <a:buChar char="–"/>
            </a:pPr>
            <a:r>
              <a:rPr lang="en-GB" sz="2600"/>
              <a:t>Nation-states engaging in information warfare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What Is Security? (1 of 2)</a:t>
            </a:r>
            <a:endParaRPr/>
          </a:p>
        </p:txBody>
      </p:sp>
      <p:sp>
        <p:nvSpPr>
          <p:cNvPr id="152" name="Google Shape;152;p2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800"/>
              <a:buChar char="•"/>
            </a:pPr>
            <a:r>
              <a:rPr lang="en-GB" sz="2800"/>
              <a:t>“A state of being secure and free from danger or harm; the actions taken to make someone or something secure.”  </a:t>
            </a:r>
            <a:endParaRPr/>
          </a:p>
          <a:p>
            <a:pPr indent="-342900" lvl="0" marL="342900" rtl="0" algn="l">
              <a:spcBef>
                <a:spcPts val="600"/>
              </a:spcBef>
              <a:spcAft>
                <a:spcPts val="0"/>
              </a:spcAft>
              <a:buSzPts val="2800"/>
              <a:buChar char="•"/>
            </a:pPr>
            <a:r>
              <a:rPr lang="en-GB" sz="2800"/>
              <a:t>A successful organization should have multiple layers of security in place to protect: </a:t>
            </a:r>
            <a:endParaRPr/>
          </a:p>
          <a:p>
            <a:pPr indent="-285750" lvl="1" marL="742950" rtl="0" algn="l">
              <a:spcBef>
                <a:spcPts val="600"/>
              </a:spcBef>
              <a:spcAft>
                <a:spcPts val="0"/>
              </a:spcAft>
              <a:buSzPts val="2600"/>
              <a:buChar char="–"/>
            </a:pPr>
            <a:r>
              <a:rPr lang="en-GB" sz="2600"/>
              <a:t>Operations</a:t>
            </a:r>
            <a:endParaRPr/>
          </a:p>
          <a:p>
            <a:pPr indent="-285750" lvl="1" marL="742950" rtl="0" algn="l">
              <a:spcBef>
                <a:spcPts val="600"/>
              </a:spcBef>
              <a:spcAft>
                <a:spcPts val="0"/>
              </a:spcAft>
              <a:buSzPts val="2600"/>
              <a:buChar char="–"/>
            </a:pPr>
            <a:r>
              <a:rPr lang="en-GB" sz="2600"/>
              <a:t>Physical infrastructure</a:t>
            </a:r>
            <a:endParaRPr/>
          </a:p>
          <a:p>
            <a:pPr indent="-285750" lvl="1" marL="742950" rtl="0" algn="l">
              <a:spcBef>
                <a:spcPts val="600"/>
              </a:spcBef>
              <a:spcAft>
                <a:spcPts val="0"/>
              </a:spcAft>
              <a:buSzPts val="2600"/>
              <a:buChar char="–"/>
            </a:pPr>
            <a:r>
              <a:rPr lang="en-GB" sz="2600"/>
              <a:t>People</a:t>
            </a:r>
            <a:endParaRPr/>
          </a:p>
          <a:p>
            <a:pPr indent="-285750" lvl="1" marL="742950" rtl="0" algn="l">
              <a:spcBef>
                <a:spcPts val="600"/>
              </a:spcBef>
              <a:spcAft>
                <a:spcPts val="0"/>
              </a:spcAft>
              <a:buSzPts val="2600"/>
              <a:buChar char="–"/>
            </a:pPr>
            <a:r>
              <a:rPr lang="en-GB" sz="2600"/>
              <a:t>Functions</a:t>
            </a:r>
            <a:endParaRPr/>
          </a:p>
          <a:p>
            <a:pPr indent="-285750" lvl="1" marL="742950" rtl="0" algn="l">
              <a:spcBef>
                <a:spcPts val="600"/>
              </a:spcBef>
              <a:spcAft>
                <a:spcPts val="0"/>
              </a:spcAft>
              <a:buSzPts val="2600"/>
              <a:buChar char="–"/>
            </a:pPr>
            <a:r>
              <a:rPr lang="en-GB" sz="2600"/>
              <a:t>Communications</a:t>
            </a:r>
            <a:endParaRPr/>
          </a:p>
          <a:p>
            <a:pPr indent="-285750" lvl="1" marL="742950" rtl="0" algn="l">
              <a:spcBef>
                <a:spcPts val="600"/>
              </a:spcBef>
              <a:spcAft>
                <a:spcPts val="0"/>
              </a:spcAft>
              <a:buSzPts val="2600"/>
              <a:buChar char="–"/>
            </a:pPr>
            <a:r>
              <a:rPr lang="en-GB" sz="2600"/>
              <a:t>Information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What Is Security? (2 of 2)</a:t>
            </a:r>
            <a:endParaRPr/>
          </a:p>
        </p:txBody>
      </p:sp>
      <p:sp>
        <p:nvSpPr>
          <p:cNvPr id="159" name="Google Shape;159;p2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364162"/>
              </a:buClr>
              <a:buSzPts val="2600"/>
              <a:buChar char="•"/>
            </a:pPr>
            <a:r>
              <a:rPr lang="en-GB">
                <a:solidFill>
                  <a:srgbClr val="FF0000"/>
                </a:solidFill>
              </a:rPr>
              <a:t>The protection of information and its critical elements, including systems and hardware that use, store, and transmit that information </a:t>
            </a:r>
            <a:endParaRPr/>
          </a:p>
          <a:p>
            <a:pPr indent="-342900" lvl="0" marL="342900" rtl="0" algn="l">
              <a:spcBef>
                <a:spcPts val="520"/>
              </a:spcBef>
              <a:spcAft>
                <a:spcPts val="0"/>
              </a:spcAft>
              <a:buClr>
                <a:srgbClr val="364162"/>
              </a:buClr>
              <a:buSzPts val="2600"/>
              <a:buChar char="•"/>
            </a:pPr>
            <a:r>
              <a:rPr lang="en-GB">
                <a:solidFill>
                  <a:srgbClr val="FF0000"/>
                </a:solidFill>
              </a:rPr>
              <a:t>Includes information security management, data security, and network security</a:t>
            </a:r>
            <a:endParaRPr/>
          </a:p>
          <a:p>
            <a:pPr indent="-342900" lvl="0" marL="342900" rtl="0" algn="l">
              <a:spcBef>
                <a:spcPts val="520"/>
              </a:spcBef>
              <a:spcAft>
                <a:spcPts val="0"/>
              </a:spcAft>
              <a:buClr>
                <a:srgbClr val="364162"/>
              </a:buClr>
              <a:buSzPts val="2600"/>
              <a:buChar char="•"/>
            </a:pPr>
            <a:r>
              <a:rPr lang="en-GB">
                <a:solidFill>
                  <a:srgbClr val="FF0000"/>
                </a:solidFill>
              </a:rPr>
              <a:t>C.I.A. triad</a:t>
            </a:r>
            <a:endParaRPr/>
          </a:p>
          <a:p>
            <a:pPr indent="-285750" lvl="1" marL="742950" rtl="0" algn="l">
              <a:spcBef>
                <a:spcPts val="520"/>
              </a:spcBef>
              <a:spcAft>
                <a:spcPts val="0"/>
              </a:spcAft>
              <a:buSzPts val="2600"/>
              <a:buChar char="–"/>
            </a:pPr>
            <a:r>
              <a:rPr lang="en-GB" sz="2600">
                <a:solidFill>
                  <a:srgbClr val="FF0000"/>
                </a:solidFill>
              </a:rPr>
              <a:t>Is a standard based on confidentiality, integrity, and availability, now viewed as inadequate.</a:t>
            </a:r>
            <a:endParaRPr/>
          </a:p>
          <a:p>
            <a:pPr indent="-285750" lvl="1" marL="742950" rtl="0" algn="l">
              <a:spcBef>
                <a:spcPts val="520"/>
              </a:spcBef>
              <a:spcAft>
                <a:spcPts val="0"/>
              </a:spcAft>
              <a:buSzPts val="2600"/>
              <a:buChar char="–"/>
            </a:pPr>
            <a:r>
              <a:rPr lang="en-GB" sz="2600">
                <a:solidFill>
                  <a:srgbClr val="FF0000"/>
                </a:solidFill>
              </a:rPr>
              <a:t>Expanded model consists of a list of critical characteristics of information.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0" y="76200"/>
            <a:ext cx="9143999" cy="106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GB"/>
              <a:t>Figure 1-5  </a:t>
            </a:r>
            <a:r>
              <a:rPr lang="en-GB"/>
              <a:t>Components of information security (1 of 2)</a:t>
            </a:r>
            <a:endParaRPr/>
          </a:p>
        </p:txBody>
      </p:sp>
      <p:pic>
        <p:nvPicPr>
          <p:cNvPr descr="An illustration shows horizontal lines above which three pillars and a triangle is shown above the pillars. The labels on the horizontal lines are, “Confidentiality, Integrity and Availability.” The labels on the pillars are, “Computer Security, Data Security and Network Security.” The labels on the triangle are, “Information Security, Governance, Policy” on the sides of triangle and Management of information security” in the middle of the triangle. &#10;" id="165" name="Google Shape;165;p24"/>
          <p:cNvPicPr preferRelativeResize="0"/>
          <p:nvPr/>
        </p:nvPicPr>
        <p:blipFill rotWithShape="1">
          <a:blip r:embed="rId3">
            <a:alphaModFix/>
          </a:blip>
          <a:srcRect b="0" l="0" r="0" t="0"/>
          <a:stretch/>
        </p:blipFill>
        <p:spPr>
          <a:xfrm>
            <a:off x="2209800" y="1581574"/>
            <a:ext cx="4724400" cy="45144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0" y="76200"/>
            <a:ext cx="9144000" cy="990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0000"/>
              </a:buClr>
              <a:buSzPts val="3600"/>
              <a:buFont typeface="Arial"/>
              <a:buNone/>
            </a:pPr>
            <a:r>
              <a:rPr b="1" lang="en-GB">
                <a:solidFill>
                  <a:srgbClr val="FF0000"/>
                </a:solidFill>
              </a:rPr>
              <a:t> Figure 1-5  </a:t>
            </a:r>
            <a:r>
              <a:rPr lang="en-GB">
                <a:solidFill>
                  <a:srgbClr val="FF0000"/>
                </a:solidFill>
              </a:rPr>
              <a:t>The C.I.A. triad (2 of 2)</a:t>
            </a:r>
            <a:endParaRPr/>
          </a:p>
        </p:txBody>
      </p:sp>
      <p:pic>
        <p:nvPicPr>
          <p:cNvPr descr="An illustration shows a triangle labeled as, “Confidentiality, Integrity and Availability” on the sides of triangle and the label “Data and services” in the middle of triangle.&#10;" id="171" name="Google Shape;171;p25"/>
          <p:cNvPicPr preferRelativeResize="0"/>
          <p:nvPr/>
        </p:nvPicPr>
        <p:blipFill rotWithShape="1">
          <a:blip r:embed="rId3">
            <a:alphaModFix/>
          </a:blip>
          <a:srcRect b="0" l="0" r="0" t="0"/>
          <a:stretch/>
        </p:blipFill>
        <p:spPr>
          <a:xfrm>
            <a:off x="1600200" y="1349358"/>
            <a:ext cx="5943600" cy="459424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Key Information Security Concepts (1 of 3)</a:t>
            </a:r>
            <a:endParaRPr/>
          </a:p>
        </p:txBody>
      </p:sp>
      <p:sp>
        <p:nvSpPr>
          <p:cNvPr id="178" name="Google Shape;178;p26"/>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2600"/>
              <a:buChar char="•"/>
            </a:pPr>
            <a:r>
              <a:rPr lang="en-GB">
                <a:solidFill>
                  <a:srgbClr val="FF0000"/>
                </a:solidFill>
              </a:rPr>
              <a:t>Access</a:t>
            </a:r>
            <a:endParaRPr/>
          </a:p>
          <a:p>
            <a:pPr indent="-342900" lvl="0" marL="342900" rtl="0" algn="l">
              <a:lnSpc>
                <a:spcPct val="90000"/>
              </a:lnSpc>
              <a:spcBef>
                <a:spcPts val="700"/>
              </a:spcBef>
              <a:spcAft>
                <a:spcPts val="0"/>
              </a:spcAft>
              <a:buSzPts val="2600"/>
              <a:buChar char="•"/>
            </a:pPr>
            <a:r>
              <a:rPr lang="en-GB">
                <a:solidFill>
                  <a:srgbClr val="FF0000"/>
                </a:solidFill>
              </a:rPr>
              <a:t>Asset</a:t>
            </a:r>
            <a:endParaRPr/>
          </a:p>
          <a:p>
            <a:pPr indent="-342900" lvl="0" marL="342900" rtl="0" algn="l">
              <a:lnSpc>
                <a:spcPct val="90000"/>
              </a:lnSpc>
              <a:spcBef>
                <a:spcPts val="700"/>
              </a:spcBef>
              <a:spcAft>
                <a:spcPts val="0"/>
              </a:spcAft>
              <a:buSzPts val="2600"/>
              <a:buChar char="•"/>
            </a:pPr>
            <a:r>
              <a:rPr lang="en-GB">
                <a:solidFill>
                  <a:srgbClr val="FF0000"/>
                </a:solidFill>
              </a:rPr>
              <a:t>Attack </a:t>
            </a:r>
            <a:endParaRPr/>
          </a:p>
          <a:p>
            <a:pPr indent="-342900" lvl="0" marL="342900" rtl="0" algn="l">
              <a:lnSpc>
                <a:spcPct val="90000"/>
              </a:lnSpc>
              <a:spcBef>
                <a:spcPts val="700"/>
              </a:spcBef>
              <a:spcAft>
                <a:spcPts val="0"/>
              </a:spcAft>
              <a:buSzPts val="2600"/>
              <a:buChar char="•"/>
            </a:pPr>
            <a:r>
              <a:rPr lang="en-GB">
                <a:solidFill>
                  <a:srgbClr val="FF0000"/>
                </a:solidFill>
              </a:rPr>
              <a:t>Control, safeguard, or countermeasure</a:t>
            </a:r>
            <a:endParaRPr/>
          </a:p>
          <a:p>
            <a:pPr indent="-342900" lvl="0" marL="342900" rtl="0" algn="l">
              <a:lnSpc>
                <a:spcPct val="90000"/>
              </a:lnSpc>
              <a:spcBef>
                <a:spcPts val="700"/>
              </a:spcBef>
              <a:spcAft>
                <a:spcPts val="0"/>
              </a:spcAft>
              <a:buSzPts val="2600"/>
              <a:buChar char="•"/>
            </a:pPr>
            <a:r>
              <a:rPr lang="en-GB">
                <a:solidFill>
                  <a:srgbClr val="FF0000"/>
                </a:solidFill>
              </a:rPr>
              <a:t>Exploit</a:t>
            </a:r>
            <a:endParaRPr/>
          </a:p>
          <a:p>
            <a:pPr indent="-342900" lvl="0" marL="342900" rtl="0" algn="l">
              <a:lnSpc>
                <a:spcPct val="90000"/>
              </a:lnSpc>
              <a:spcBef>
                <a:spcPts val="700"/>
              </a:spcBef>
              <a:spcAft>
                <a:spcPts val="0"/>
              </a:spcAft>
              <a:buSzPts val="2600"/>
              <a:buChar char="•"/>
            </a:pPr>
            <a:r>
              <a:rPr lang="en-GB">
                <a:solidFill>
                  <a:srgbClr val="FF0000"/>
                </a:solidFill>
              </a:rPr>
              <a:t>Exposure</a:t>
            </a:r>
            <a:endParaRPr/>
          </a:p>
          <a:p>
            <a:pPr indent="-342900" lvl="0" marL="342900" rtl="0" algn="l">
              <a:lnSpc>
                <a:spcPct val="90000"/>
              </a:lnSpc>
              <a:spcBef>
                <a:spcPts val="700"/>
              </a:spcBef>
              <a:spcAft>
                <a:spcPts val="0"/>
              </a:spcAft>
              <a:buSzPts val="2600"/>
              <a:buChar char="•"/>
            </a:pPr>
            <a:r>
              <a:rPr lang="en-GB">
                <a:solidFill>
                  <a:srgbClr val="FF0000"/>
                </a:solidFill>
              </a:rPr>
              <a:t>Loss</a:t>
            </a:r>
            <a:endParaRPr/>
          </a:p>
          <a:p>
            <a:pPr indent="-342900" lvl="0" marL="342900" rtl="0" algn="l">
              <a:lnSpc>
                <a:spcPct val="90000"/>
              </a:lnSpc>
              <a:spcBef>
                <a:spcPts val="700"/>
              </a:spcBef>
              <a:spcAft>
                <a:spcPts val="0"/>
              </a:spcAft>
              <a:buSzPts val="2600"/>
              <a:buChar char="•"/>
            </a:pPr>
            <a:r>
              <a:rPr lang="en-GB">
                <a:solidFill>
                  <a:srgbClr val="FF0000"/>
                </a:solidFill>
              </a:rPr>
              <a:t>Protection profile or security posture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Key Information Security Concepts (2 of 3)</a:t>
            </a:r>
            <a:endParaRPr/>
          </a:p>
        </p:txBody>
      </p:sp>
      <p:sp>
        <p:nvSpPr>
          <p:cNvPr id="184" name="Google Shape;184;p2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SzPts val="2800"/>
              <a:buChar char="•"/>
            </a:pPr>
            <a:r>
              <a:rPr lang="en-GB" sz="2800">
                <a:solidFill>
                  <a:srgbClr val="FF0000"/>
                </a:solidFill>
              </a:rPr>
              <a:t>Risk</a:t>
            </a:r>
            <a:endParaRPr/>
          </a:p>
          <a:p>
            <a:pPr indent="-177800" lvl="0" marL="171450" rtl="0" algn="l">
              <a:lnSpc>
                <a:spcPct val="90000"/>
              </a:lnSpc>
              <a:spcBef>
                <a:spcPts val="600"/>
              </a:spcBef>
              <a:spcAft>
                <a:spcPts val="0"/>
              </a:spcAft>
              <a:buSzPts val="2800"/>
              <a:buChar char="•"/>
            </a:pPr>
            <a:r>
              <a:rPr lang="en-GB" sz="2800">
                <a:solidFill>
                  <a:srgbClr val="FF0000"/>
                </a:solidFill>
              </a:rPr>
              <a:t>Subjects and objects of attack</a:t>
            </a:r>
            <a:endParaRPr/>
          </a:p>
          <a:p>
            <a:pPr indent="-177800" lvl="0" marL="171450" rtl="0" algn="l">
              <a:lnSpc>
                <a:spcPct val="90000"/>
              </a:lnSpc>
              <a:spcBef>
                <a:spcPts val="600"/>
              </a:spcBef>
              <a:spcAft>
                <a:spcPts val="0"/>
              </a:spcAft>
              <a:buSzPts val="2800"/>
              <a:buChar char="•"/>
            </a:pPr>
            <a:r>
              <a:rPr lang="en-GB" sz="2800">
                <a:solidFill>
                  <a:srgbClr val="FF0000"/>
                </a:solidFill>
              </a:rPr>
              <a:t>Threat</a:t>
            </a:r>
            <a:endParaRPr/>
          </a:p>
          <a:p>
            <a:pPr indent="-177800" lvl="0" marL="171450" rtl="0" algn="l">
              <a:lnSpc>
                <a:spcPct val="90000"/>
              </a:lnSpc>
              <a:spcBef>
                <a:spcPts val="600"/>
              </a:spcBef>
              <a:spcAft>
                <a:spcPts val="0"/>
              </a:spcAft>
              <a:buSzPts val="2800"/>
              <a:buChar char="•"/>
            </a:pPr>
            <a:r>
              <a:rPr lang="en-GB" sz="2800">
                <a:solidFill>
                  <a:srgbClr val="FF0000"/>
                </a:solidFill>
              </a:rPr>
              <a:t>Threat agent</a:t>
            </a:r>
            <a:endParaRPr/>
          </a:p>
          <a:p>
            <a:pPr indent="-177800" lvl="0" marL="171450" rtl="0" algn="l">
              <a:lnSpc>
                <a:spcPct val="90000"/>
              </a:lnSpc>
              <a:spcBef>
                <a:spcPts val="600"/>
              </a:spcBef>
              <a:spcAft>
                <a:spcPts val="0"/>
              </a:spcAft>
              <a:buSzPts val="2800"/>
              <a:buChar char="•"/>
            </a:pPr>
            <a:r>
              <a:rPr lang="en-GB" sz="2800">
                <a:solidFill>
                  <a:srgbClr val="FF0000"/>
                </a:solidFill>
              </a:rPr>
              <a:t>Threat event </a:t>
            </a:r>
            <a:endParaRPr/>
          </a:p>
          <a:p>
            <a:pPr indent="-177800" lvl="0" marL="171450" rtl="0" algn="l">
              <a:lnSpc>
                <a:spcPct val="90000"/>
              </a:lnSpc>
              <a:spcBef>
                <a:spcPts val="600"/>
              </a:spcBef>
              <a:spcAft>
                <a:spcPts val="0"/>
              </a:spcAft>
              <a:buSzPts val="2800"/>
              <a:buChar char="•"/>
            </a:pPr>
            <a:r>
              <a:rPr lang="en-GB" sz="2800">
                <a:solidFill>
                  <a:srgbClr val="FF0000"/>
                </a:solidFill>
              </a:rPr>
              <a:t>Threat source</a:t>
            </a:r>
            <a:endParaRPr/>
          </a:p>
          <a:p>
            <a:pPr indent="-177800" lvl="0" marL="171450" rtl="0" algn="l">
              <a:lnSpc>
                <a:spcPct val="90000"/>
              </a:lnSpc>
              <a:spcBef>
                <a:spcPts val="600"/>
              </a:spcBef>
              <a:spcAft>
                <a:spcPts val="0"/>
              </a:spcAft>
              <a:buSzPts val="2800"/>
              <a:buChar char="•"/>
            </a:pPr>
            <a:r>
              <a:rPr lang="en-GB" sz="2800">
                <a:solidFill>
                  <a:srgbClr val="FF0000"/>
                </a:solidFill>
              </a:rPr>
              <a:t>Vulnerability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Key Information Security Concepts (3 of 3)</a:t>
            </a:r>
            <a:endParaRPr/>
          </a:p>
        </p:txBody>
      </p:sp>
      <p:sp>
        <p:nvSpPr>
          <p:cNvPr id="191" name="Google Shape;191;p2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A computer can be the subject of an attack and/or the object of an attack</a:t>
            </a:r>
            <a:r>
              <a:rPr lang="en-GB"/>
              <a:t>.</a:t>
            </a:r>
            <a:endParaRPr/>
          </a:p>
          <a:p>
            <a:pPr indent="-285750" lvl="1" marL="742950" rtl="0" algn="l">
              <a:spcBef>
                <a:spcPts val="600"/>
              </a:spcBef>
              <a:spcAft>
                <a:spcPts val="0"/>
              </a:spcAft>
              <a:buSzPts val="2600"/>
              <a:buChar char="–"/>
            </a:pPr>
            <a:r>
              <a:rPr lang="en-GB" sz="2600"/>
              <a:t>When it is the subject of an attack, the computer is used as an active tool to conduct attack.</a:t>
            </a:r>
            <a:endParaRPr/>
          </a:p>
          <a:p>
            <a:pPr indent="-285750" lvl="1" marL="742950" rtl="0" algn="l">
              <a:spcBef>
                <a:spcPts val="600"/>
              </a:spcBef>
              <a:spcAft>
                <a:spcPts val="0"/>
              </a:spcAft>
              <a:buSzPts val="2600"/>
              <a:buChar char="–"/>
            </a:pPr>
            <a:r>
              <a:rPr lang="en-GB" sz="2600"/>
              <a:t>When it is the object of an attack, the computer is the entity being attacked.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17681" y="0"/>
            <a:ext cx="9161681"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400"/>
              <a:buFont typeface="Arial"/>
              <a:buNone/>
            </a:pPr>
            <a:r>
              <a:rPr b="1" lang="en-GB" sz="3400"/>
              <a:t>Figure 1-7</a:t>
            </a:r>
            <a:r>
              <a:rPr lang="en-GB" sz="3400"/>
              <a:t> Key concepts in information security</a:t>
            </a:r>
            <a:endParaRPr/>
          </a:p>
        </p:txBody>
      </p:sp>
      <p:pic>
        <p:nvPicPr>
          <p:cNvPr descr="A figure shows two photos and three screenshots. These screenshots depicts the site of buybay.com, screenshot of program for hacking buybay.com and the text beside it reads as, “Attack: Ima Hacker downloads an exploit from MadHackz Website and then accesses buybay’s Web site. Ima then applies the script, which runs and compromises buybay’s security controls and steals customer data. These actions cause buybay to experience a loss.” The text above the screenshot reads as, “Exploit: Script from MadHackz Web site.” The screenshot of customer sales data for buybay.com. The text on the left reads as, “Asset: buybay’s customer database.” A photo of a man with a laptop is shown. The text below it reads as, “Threat: Theft, Threat agent: Ima Hacker.” A photo of woman viewing a file with a hand in her ear is shown. The text above it reads as, “Vulnerability: Buffer overflow in online database Web interface.” &#10;" id="197" name="Google Shape;197;p29"/>
          <p:cNvPicPr preferRelativeResize="0"/>
          <p:nvPr/>
        </p:nvPicPr>
        <p:blipFill rotWithShape="1">
          <a:blip r:embed="rId3">
            <a:alphaModFix/>
          </a:blip>
          <a:srcRect b="0" l="0" r="0" t="0"/>
          <a:stretch/>
        </p:blipFill>
        <p:spPr>
          <a:xfrm>
            <a:off x="2234609" y="1380292"/>
            <a:ext cx="4470991" cy="3420308"/>
          </a:xfrm>
          <a:prstGeom prst="rect">
            <a:avLst/>
          </a:prstGeom>
          <a:noFill/>
          <a:ln>
            <a:noFill/>
          </a:ln>
        </p:spPr>
      </p:pic>
      <p:sp>
        <p:nvSpPr>
          <p:cNvPr id="198" name="Google Shape;198;p29"/>
          <p:cNvSpPr txBox="1"/>
          <p:nvPr>
            <p:ph idx="1" type="body"/>
          </p:nvPr>
        </p:nvSpPr>
        <p:spPr>
          <a:xfrm>
            <a:off x="213647" y="4876800"/>
            <a:ext cx="8625553"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i="1" lang="en-GB" sz="2000"/>
              <a:t>Source. (top left to bottom right): © iStockphoto/tadija, Internet Explorer, © iStockphoto/darrenwise , Internet Explorer, Microsoft Excel.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Critical Characteristics of Information</a:t>
            </a:r>
            <a:endParaRPr/>
          </a:p>
        </p:txBody>
      </p:sp>
      <p:sp>
        <p:nvSpPr>
          <p:cNvPr id="205" name="Google Shape;205;p3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The value of information comes from the characteristics it possesses: </a:t>
            </a:r>
            <a:endParaRPr/>
          </a:p>
          <a:p>
            <a:pPr indent="-285750" lvl="1" marL="742950" rtl="0" algn="l">
              <a:spcBef>
                <a:spcPts val="600"/>
              </a:spcBef>
              <a:spcAft>
                <a:spcPts val="0"/>
              </a:spcAft>
              <a:buSzPts val="2600"/>
              <a:buChar char="–"/>
            </a:pPr>
            <a:r>
              <a:rPr lang="en-GB" sz="2600"/>
              <a:t>Availability</a:t>
            </a:r>
            <a:endParaRPr/>
          </a:p>
          <a:p>
            <a:pPr indent="-285750" lvl="1" marL="742950" rtl="0" algn="l">
              <a:spcBef>
                <a:spcPts val="600"/>
              </a:spcBef>
              <a:spcAft>
                <a:spcPts val="0"/>
              </a:spcAft>
              <a:buSzPts val="2600"/>
              <a:buChar char="–"/>
            </a:pPr>
            <a:r>
              <a:rPr lang="en-GB" sz="2600"/>
              <a:t>Accuracy</a:t>
            </a:r>
            <a:endParaRPr/>
          </a:p>
          <a:p>
            <a:pPr indent="-285750" lvl="1" marL="742950" rtl="0" algn="l">
              <a:spcBef>
                <a:spcPts val="600"/>
              </a:spcBef>
              <a:spcAft>
                <a:spcPts val="0"/>
              </a:spcAft>
              <a:buSzPts val="2600"/>
              <a:buChar char="–"/>
            </a:pPr>
            <a:r>
              <a:rPr lang="en-GB" sz="2600"/>
              <a:t>Authenticity</a:t>
            </a:r>
            <a:endParaRPr/>
          </a:p>
          <a:p>
            <a:pPr indent="-285750" lvl="1" marL="742950" rtl="0" algn="l">
              <a:spcBef>
                <a:spcPts val="600"/>
              </a:spcBef>
              <a:spcAft>
                <a:spcPts val="0"/>
              </a:spcAft>
              <a:buSzPts val="2600"/>
              <a:buChar char="–"/>
            </a:pPr>
            <a:r>
              <a:rPr lang="en-GB" sz="2600"/>
              <a:t>Confidentiality</a:t>
            </a:r>
            <a:endParaRPr/>
          </a:p>
          <a:p>
            <a:pPr indent="-285750" lvl="1" marL="742950" rtl="0" algn="l">
              <a:spcBef>
                <a:spcPts val="600"/>
              </a:spcBef>
              <a:spcAft>
                <a:spcPts val="0"/>
              </a:spcAft>
              <a:buSzPts val="2600"/>
              <a:buChar char="–"/>
            </a:pPr>
            <a:r>
              <a:rPr lang="en-GB" sz="2600"/>
              <a:t>Integrity</a:t>
            </a:r>
            <a:endParaRPr/>
          </a:p>
          <a:p>
            <a:pPr indent="-285750" lvl="1" marL="742950" rtl="0" algn="l">
              <a:spcBef>
                <a:spcPts val="600"/>
              </a:spcBef>
              <a:spcAft>
                <a:spcPts val="0"/>
              </a:spcAft>
              <a:buSzPts val="2600"/>
              <a:buChar char="–"/>
            </a:pPr>
            <a:r>
              <a:rPr lang="en-GB" sz="2600"/>
              <a:t>Utility</a:t>
            </a:r>
            <a:endParaRPr/>
          </a:p>
          <a:p>
            <a:pPr indent="-285750" lvl="1" marL="742950" rtl="0" algn="l">
              <a:spcBef>
                <a:spcPts val="600"/>
              </a:spcBef>
              <a:spcAft>
                <a:spcPts val="0"/>
              </a:spcAft>
              <a:buSzPts val="2600"/>
              <a:buChar char="–"/>
            </a:pPr>
            <a:r>
              <a:rPr lang="en-GB" sz="2600"/>
              <a:t>Possession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0" y="0"/>
            <a:ext cx="91440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b="1" lang="en-GB"/>
              <a:t>Figure 1-9  </a:t>
            </a:r>
            <a:r>
              <a:rPr lang="en-GB"/>
              <a:t>The McCumber Cube</a:t>
            </a:r>
            <a:endParaRPr baseline="30000"/>
          </a:p>
        </p:txBody>
      </p:sp>
      <p:pic>
        <p:nvPicPr>
          <p:cNvPr descr="A figure shows a graph and a cuboid. In the graph, x-axis is labeled as, “Storage Processing Transmission” and y-axis is labeled as, “Confidentiality, Integrity and Availability.” The graph increases linearly and is labeled as, “Policy Education Technology.” A cuboid is shown on the right with shaded portion on the front view. The horizontal edge on the front view is labeled as, “Storage Processing Transmission” and the vertical edge is labeled as, “Confidentiality, Integrity and Availability.” The edge on the left of top view of the cube surface is labeled as, “Policy Education Technology.”&#10;" id="212" name="Google Shape;212;p31"/>
          <p:cNvPicPr preferRelativeResize="0"/>
          <p:nvPr/>
        </p:nvPicPr>
        <p:blipFill rotWithShape="1">
          <a:blip r:embed="rId3">
            <a:alphaModFix/>
          </a:blip>
          <a:srcRect b="0" l="0" r="0" t="0"/>
          <a:stretch/>
        </p:blipFill>
        <p:spPr>
          <a:xfrm>
            <a:off x="457200" y="1752600"/>
            <a:ext cx="8358188" cy="3429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Components of an Information System</a:t>
            </a:r>
            <a:endParaRPr/>
          </a:p>
        </p:txBody>
      </p:sp>
      <p:sp>
        <p:nvSpPr>
          <p:cNvPr id="219" name="Google Shape;219;p3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solidFill>
                  <a:srgbClr val="FF0000"/>
                </a:solidFill>
              </a:rPr>
              <a:t>Information system (IS) is the entire set of people, procedures, and technology that enable business to use information.</a:t>
            </a:r>
            <a:endParaRPr/>
          </a:p>
          <a:p>
            <a:pPr indent="-285750" lvl="1" marL="742950" rtl="0" algn="l">
              <a:spcBef>
                <a:spcPts val="600"/>
              </a:spcBef>
              <a:spcAft>
                <a:spcPts val="0"/>
              </a:spcAft>
              <a:buSzPts val="2600"/>
              <a:buChar char="–"/>
            </a:pPr>
            <a:r>
              <a:rPr lang="en-GB" sz="2600">
                <a:solidFill>
                  <a:srgbClr val="FF0000"/>
                </a:solidFill>
              </a:rPr>
              <a:t>Software</a:t>
            </a:r>
            <a:endParaRPr/>
          </a:p>
          <a:p>
            <a:pPr indent="-285750" lvl="1" marL="742950" rtl="0" algn="l">
              <a:spcBef>
                <a:spcPts val="600"/>
              </a:spcBef>
              <a:spcAft>
                <a:spcPts val="0"/>
              </a:spcAft>
              <a:buSzPts val="2600"/>
              <a:buChar char="–"/>
            </a:pPr>
            <a:r>
              <a:rPr lang="en-GB" sz="2600">
                <a:solidFill>
                  <a:srgbClr val="FF0000"/>
                </a:solidFill>
              </a:rPr>
              <a:t>Hardware</a:t>
            </a:r>
            <a:endParaRPr/>
          </a:p>
          <a:p>
            <a:pPr indent="-285750" lvl="1" marL="742950" rtl="0" algn="l">
              <a:spcBef>
                <a:spcPts val="600"/>
              </a:spcBef>
              <a:spcAft>
                <a:spcPts val="0"/>
              </a:spcAft>
              <a:buSzPts val="2600"/>
              <a:buChar char="–"/>
            </a:pPr>
            <a:r>
              <a:rPr lang="en-GB" sz="2600">
                <a:solidFill>
                  <a:srgbClr val="FF0000"/>
                </a:solidFill>
              </a:rPr>
              <a:t>Data</a:t>
            </a:r>
            <a:endParaRPr/>
          </a:p>
          <a:p>
            <a:pPr indent="-285750" lvl="1" marL="742950" rtl="0" algn="l">
              <a:spcBef>
                <a:spcPts val="600"/>
              </a:spcBef>
              <a:spcAft>
                <a:spcPts val="0"/>
              </a:spcAft>
              <a:buSzPts val="2600"/>
              <a:buChar char="–"/>
            </a:pPr>
            <a:r>
              <a:rPr lang="en-GB" sz="2600">
                <a:solidFill>
                  <a:srgbClr val="FF0000"/>
                </a:solidFill>
              </a:rPr>
              <a:t>People</a:t>
            </a:r>
            <a:endParaRPr/>
          </a:p>
          <a:p>
            <a:pPr indent="-285750" lvl="1" marL="742950" rtl="0" algn="l">
              <a:spcBef>
                <a:spcPts val="600"/>
              </a:spcBef>
              <a:spcAft>
                <a:spcPts val="0"/>
              </a:spcAft>
              <a:buSzPts val="2600"/>
              <a:buChar char="–"/>
            </a:pPr>
            <a:r>
              <a:rPr lang="en-GB" sz="2600">
                <a:solidFill>
                  <a:srgbClr val="FF0000"/>
                </a:solidFill>
              </a:rPr>
              <a:t>Procedures</a:t>
            </a:r>
            <a:endParaRPr/>
          </a:p>
          <a:p>
            <a:pPr indent="-285750" lvl="1" marL="742950" rtl="0" algn="l">
              <a:spcBef>
                <a:spcPts val="600"/>
              </a:spcBef>
              <a:spcAft>
                <a:spcPts val="0"/>
              </a:spcAft>
              <a:buSzPts val="2600"/>
              <a:buChar char="–"/>
            </a:pPr>
            <a:r>
              <a:rPr lang="en-GB" sz="2600">
                <a:solidFill>
                  <a:srgbClr val="FF0000"/>
                </a:solidFill>
              </a:rPr>
              <a:t>Networks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Balancing Information Security and Access</a:t>
            </a:r>
            <a:endParaRPr/>
          </a:p>
        </p:txBody>
      </p:sp>
      <p:sp>
        <p:nvSpPr>
          <p:cNvPr id="226" name="Google Shape;226;p3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Impossible to obtain perfect information security—it is a process, not a goal.</a:t>
            </a:r>
            <a:endParaRPr/>
          </a:p>
          <a:p>
            <a:pPr indent="-342900" lvl="0" marL="342900" rtl="0" algn="l">
              <a:spcBef>
                <a:spcPts val="600"/>
              </a:spcBef>
              <a:spcAft>
                <a:spcPts val="0"/>
              </a:spcAft>
              <a:buSzPts val="2800"/>
              <a:buChar char="•"/>
            </a:pPr>
            <a:r>
              <a:rPr lang="en-GB" sz="2800"/>
              <a:t>Security should be considered a balance between protection and availability.</a:t>
            </a:r>
            <a:endParaRPr/>
          </a:p>
          <a:p>
            <a:pPr indent="-342900" lvl="0" marL="342900" rtl="0" algn="l">
              <a:spcBef>
                <a:spcPts val="600"/>
              </a:spcBef>
              <a:spcAft>
                <a:spcPts val="0"/>
              </a:spcAft>
              <a:buSzPts val="2800"/>
              <a:buChar char="•"/>
            </a:pPr>
            <a:r>
              <a:rPr lang="en-GB" sz="2800"/>
              <a:t>To achieve balance, the level of security must allow reasonable access, yet protect against threats.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ph type="title"/>
          </p:nvPr>
        </p:nvSpPr>
        <p:spPr>
          <a:xfrm>
            <a:off x="45720" y="27709"/>
            <a:ext cx="9052560" cy="11152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GB"/>
              <a:t>Approaches to Information Security Implementation: Bottom-Up Approach</a:t>
            </a:r>
            <a:endParaRPr/>
          </a:p>
        </p:txBody>
      </p:sp>
      <p:sp>
        <p:nvSpPr>
          <p:cNvPr id="233" name="Google Shape;233;p34"/>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364162"/>
              </a:buClr>
              <a:buSzPts val="2600"/>
              <a:buChar char="•"/>
            </a:pPr>
            <a:r>
              <a:rPr lang="en-GB"/>
              <a:t>Grassroots effort: Systems administrators attempt to improve security of their systems.</a:t>
            </a:r>
            <a:endParaRPr/>
          </a:p>
          <a:p>
            <a:pPr indent="-342900" lvl="0" marL="342900" rtl="0" algn="l">
              <a:spcBef>
                <a:spcPts val="520"/>
              </a:spcBef>
              <a:spcAft>
                <a:spcPts val="0"/>
              </a:spcAft>
              <a:buClr>
                <a:srgbClr val="364162"/>
              </a:buClr>
              <a:buSzPts val="2600"/>
              <a:buChar char="•"/>
            </a:pPr>
            <a:r>
              <a:rPr lang="en-GB"/>
              <a:t>Key advantage: technical expertise of individual administrators</a:t>
            </a:r>
            <a:endParaRPr/>
          </a:p>
          <a:p>
            <a:pPr indent="-342900" lvl="0" marL="342900" rtl="0" algn="l">
              <a:spcBef>
                <a:spcPts val="520"/>
              </a:spcBef>
              <a:spcAft>
                <a:spcPts val="0"/>
              </a:spcAft>
              <a:buClr>
                <a:srgbClr val="364162"/>
              </a:buClr>
              <a:buSzPts val="2600"/>
              <a:buChar char="•"/>
            </a:pPr>
            <a:r>
              <a:rPr lang="en-GB"/>
              <a:t>Seldom works, as it lacks a number of critical features:</a:t>
            </a:r>
            <a:endParaRPr/>
          </a:p>
          <a:p>
            <a:pPr indent="-285750" lvl="1" marL="742950" rtl="0" algn="l">
              <a:spcBef>
                <a:spcPts val="520"/>
              </a:spcBef>
              <a:spcAft>
                <a:spcPts val="0"/>
              </a:spcAft>
              <a:buSzPts val="2600"/>
              <a:buChar char="–"/>
            </a:pPr>
            <a:r>
              <a:rPr lang="en-GB" sz="2600"/>
              <a:t>Participant support </a:t>
            </a:r>
            <a:endParaRPr/>
          </a:p>
          <a:p>
            <a:pPr indent="-285750" lvl="1" marL="742950" rtl="0" algn="l">
              <a:spcBef>
                <a:spcPts val="520"/>
              </a:spcBef>
              <a:spcAft>
                <a:spcPts val="0"/>
              </a:spcAft>
              <a:buSzPts val="2600"/>
              <a:buChar char="–"/>
            </a:pPr>
            <a:r>
              <a:rPr lang="en-GB" sz="2600"/>
              <a:t>Organizational staying power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GB"/>
              <a:t>Approaches to Information Security Implementation: Top-Down Approach</a:t>
            </a:r>
            <a:endParaRPr/>
          </a:p>
        </p:txBody>
      </p:sp>
      <p:sp>
        <p:nvSpPr>
          <p:cNvPr id="240" name="Google Shape;240;p35"/>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Initiated by upper management</a:t>
            </a:r>
            <a:endParaRPr/>
          </a:p>
          <a:p>
            <a:pPr indent="-285750" lvl="1" marL="742950" rtl="0" algn="l">
              <a:spcBef>
                <a:spcPts val="600"/>
              </a:spcBef>
              <a:spcAft>
                <a:spcPts val="0"/>
              </a:spcAft>
              <a:buSzPts val="2600"/>
              <a:buChar char="–"/>
            </a:pPr>
            <a:r>
              <a:rPr lang="en-GB" sz="2600"/>
              <a:t>Issue policy, procedures, and processes</a:t>
            </a:r>
            <a:endParaRPr/>
          </a:p>
          <a:p>
            <a:pPr indent="-285750" lvl="1" marL="742950" rtl="0" algn="l">
              <a:spcBef>
                <a:spcPts val="600"/>
              </a:spcBef>
              <a:spcAft>
                <a:spcPts val="0"/>
              </a:spcAft>
              <a:buSzPts val="2600"/>
              <a:buChar char="–"/>
            </a:pPr>
            <a:r>
              <a:rPr lang="en-GB" sz="2600"/>
              <a:t>Dictate goals and expected outcomes of project</a:t>
            </a:r>
            <a:endParaRPr/>
          </a:p>
          <a:p>
            <a:pPr indent="-285750" lvl="1" marL="742950" rtl="0" algn="l">
              <a:spcBef>
                <a:spcPts val="600"/>
              </a:spcBef>
              <a:spcAft>
                <a:spcPts val="0"/>
              </a:spcAft>
              <a:buSzPts val="2600"/>
              <a:buChar char="–"/>
            </a:pPr>
            <a:r>
              <a:rPr lang="en-GB" sz="2600"/>
              <a:t>Determine accountability for each required action</a:t>
            </a:r>
            <a:endParaRPr/>
          </a:p>
          <a:p>
            <a:pPr indent="-342900" lvl="0" marL="342900" rtl="0" algn="l">
              <a:spcBef>
                <a:spcPts val="600"/>
              </a:spcBef>
              <a:spcAft>
                <a:spcPts val="0"/>
              </a:spcAft>
              <a:buSzPts val="2800"/>
              <a:buChar char="•"/>
            </a:pPr>
            <a:r>
              <a:rPr lang="en-GB" sz="2800"/>
              <a:t>The most successful type of top-down approach also involves a formal development strategy referred to as systems development life cycle.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txBox="1"/>
          <p:nvPr>
            <p:ph type="title"/>
          </p:nvPr>
        </p:nvSpPr>
        <p:spPr>
          <a:xfrm>
            <a:off x="0" y="0"/>
            <a:ext cx="9144000" cy="1219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GB"/>
              <a:t>Figure 1-12  </a:t>
            </a:r>
            <a:r>
              <a:rPr lang="en-GB"/>
              <a:t>Approaches to information security implementation</a:t>
            </a:r>
            <a:endParaRPr baseline="30000"/>
          </a:p>
        </p:txBody>
      </p:sp>
      <p:pic>
        <p:nvPicPr>
          <p:cNvPr descr="An illustration shows the classifications and a triangle on the background. An arrow pointing from the top of the triangle to the bottom is labeled as, “Top-down approach” and an arrow pointing towards the tip of triangle is labeled as, “Bottom-up approach.” The label CEO is classified into CFO, CIO and COO. The label CIO is classified into CISO, VP-Systems and VP-Networks. The VP-Systems is classified into Security mgr, Systems mgr and Network mgr. The Systems mgr is classified into Security admin, Systems admin and Network admin. The Systems admin is classified into Security tech, Systems tech and network tech.&#10;" id="247" name="Google Shape;247;p36"/>
          <p:cNvPicPr preferRelativeResize="0"/>
          <p:nvPr/>
        </p:nvPicPr>
        <p:blipFill rotWithShape="1">
          <a:blip r:embed="rId3">
            <a:alphaModFix/>
          </a:blip>
          <a:srcRect b="0" l="0" r="0" t="0"/>
          <a:stretch/>
        </p:blipFill>
        <p:spPr>
          <a:xfrm>
            <a:off x="838200" y="1676400"/>
            <a:ext cx="7381875" cy="392715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GB"/>
              <a:t>Security in the Systems Development Life Cycle</a:t>
            </a:r>
            <a:endParaRPr/>
          </a:p>
        </p:txBody>
      </p:sp>
      <p:sp>
        <p:nvSpPr>
          <p:cNvPr id="254" name="Google Shape;254;p3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Systems development life cycle (SDLC): a methodology for the design and implementation of an information system </a:t>
            </a:r>
            <a:endParaRPr/>
          </a:p>
          <a:p>
            <a:pPr indent="-342900" lvl="0" marL="342900" rtl="0" algn="l">
              <a:spcBef>
                <a:spcPts val="600"/>
              </a:spcBef>
              <a:spcAft>
                <a:spcPts val="0"/>
              </a:spcAft>
              <a:buSzPts val="2800"/>
              <a:buChar char="•"/>
            </a:pPr>
            <a:r>
              <a:rPr lang="en-GB" sz="2800"/>
              <a:t>Methodology: a formal approach to solving a problem based on a structured sequence of procedures</a:t>
            </a:r>
            <a:endParaRPr/>
          </a:p>
          <a:p>
            <a:pPr indent="-342900" lvl="0" marL="342900" rtl="0" algn="l">
              <a:spcBef>
                <a:spcPts val="600"/>
              </a:spcBef>
              <a:spcAft>
                <a:spcPts val="0"/>
              </a:spcAft>
              <a:buSzPts val="2800"/>
              <a:buChar char="•"/>
            </a:pPr>
            <a:r>
              <a:rPr lang="en-GB" sz="2800"/>
              <a:t>Using a methodology:</a:t>
            </a:r>
            <a:endParaRPr/>
          </a:p>
          <a:p>
            <a:pPr indent="-285750" lvl="1" marL="742950" rtl="0" algn="l">
              <a:spcBef>
                <a:spcPts val="600"/>
              </a:spcBef>
              <a:spcAft>
                <a:spcPts val="0"/>
              </a:spcAft>
              <a:buSzPts val="2600"/>
              <a:buChar char="–"/>
            </a:pPr>
            <a:r>
              <a:rPr lang="en-GB" sz="2600"/>
              <a:t>Ensures a rigorous process with a clearly defined goal</a:t>
            </a:r>
            <a:endParaRPr/>
          </a:p>
          <a:p>
            <a:pPr indent="-285750" lvl="1" marL="742950" rtl="0" algn="l">
              <a:spcBef>
                <a:spcPts val="600"/>
              </a:spcBef>
              <a:spcAft>
                <a:spcPts val="0"/>
              </a:spcAft>
              <a:buSzPts val="2600"/>
              <a:buChar char="–"/>
            </a:pPr>
            <a:r>
              <a:rPr lang="en-GB" sz="2600"/>
              <a:t>Increases probability of success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type="title"/>
          </p:nvPr>
        </p:nvSpPr>
        <p:spPr>
          <a:xfrm>
            <a:off x="0" y="0"/>
            <a:ext cx="9144000" cy="129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GB"/>
              <a:t>Figure 1-13  </a:t>
            </a:r>
            <a:r>
              <a:rPr lang="en-GB"/>
              <a:t>SDLC waterfall methodology</a:t>
            </a:r>
            <a:endParaRPr baseline="30000"/>
          </a:p>
        </p:txBody>
      </p:sp>
      <p:pic>
        <p:nvPicPr>
          <p:cNvPr descr="A figure shows the flow chart. The label Investigation points to Analysis by an arrow and back to Investigation. An arrow points from Analysis to Logical Design and back to Analysis. An arrow points from Logical Design to Physical Design and back to Logical Design. An arrow points from Physical Design to Implementation and back to Physical Design. An arrow from Implementation points to Maintenance and Change which in turn points to Investigation which is labeled as, “Repeat when system no longer viable.” An arrow points from Implementation to Logical Design. An arrow from Physical Design points to Analysis. An arrow from Logical Design points to Investigation.&#10;" id="261" name="Google Shape;261;p38"/>
          <p:cNvPicPr preferRelativeResize="0"/>
          <p:nvPr/>
        </p:nvPicPr>
        <p:blipFill rotWithShape="1">
          <a:blip r:embed="rId3">
            <a:alphaModFix/>
          </a:blip>
          <a:srcRect b="0" l="0" r="0" t="0"/>
          <a:stretch/>
        </p:blipFill>
        <p:spPr>
          <a:xfrm>
            <a:off x="762000" y="1524000"/>
            <a:ext cx="8179411" cy="37671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Investigation</a:t>
            </a:r>
            <a:endParaRPr/>
          </a:p>
        </p:txBody>
      </p:sp>
      <p:sp>
        <p:nvSpPr>
          <p:cNvPr id="268" name="Google Shape;268;p3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What problem is the system being developed to solve?  </a:t>
            </a:r>
            <a:endParaRPr/>
          </a:p>
          <a:p>
            <a:pPr indent="-342900" lvl="0" marL="342900" rtl="0" algn="l">
              <a:spcBef>
                <a:spcPts val="600"/>
              </a:spcBef>
              <a:spcAft>
                <a:spcPts val="0"/>
              </a:spcAft>
              <a:buSzPts val="2800"/>
              <a:buChar char="•"/>
            </a:pPr>
            <a:r>
              <a:rPr lang="en-GB" sz="2800"/>
              <a:t>Objectives, constraints, and scope of project are specified.</a:t>
            </a:r>
            <a:endParaRPr/>
          </a:p>
          <a:p>
            <a:pPr indent="-342900" lvl="0" marL="342900" rtl="0" algn="l">
              <a:spcBef>
                <a:spcPts val="600"/>
              </a:spcBef>
              <a:spcAft>
                <a:spcPts val="0"/>
              </a:spcAft>
              <a:buSzPts val="2800"/>
              <a:buChar char="•"/>
            </a:pPr>
            <a:r>
              <a:rPr lang="en-GB" sz="2800"/>
              <a:t>Preliminary cost-benefit analysis is developed.</a:t>
            </a:r>
            <a:endParaRPr/>
          </a:p>
          <a:p>
            <a:pPr indent="-342900" lvl="0" marL="342900" rtl="0" algn="l">
              <a:spcBef>
                <a:spcPts val="600"/>
              </a:spcBef>
              <a:spcAft>
                <a:spcPts val="0"/>
              </a:spcAft>
              <a:buSzPts val="2800"/>
              <a:buChar char="•"/>
            </a:pPr>
            <a:r>
              <a:rPr lang="en-GB" sz="2800"/>
              <a:t>At the end of all phases, a process is undertaken to assess economic, technical, and behavioral feasibilities and ensure implementation is worth the time and effort.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Analysis</a:t>
            </a:r>
            <a:endParaRPr/>
          </a:p>
        </p:txBody>
      </p:sp>
      <p:sp>
        <p:nvSpPr>
          <p:cNvPr id="275" name="Google Shape;275;p4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Consists of assessments of: </a:t>
            </a:r>
            <a:endParaRPr/>
          </a:p>
          <a:p>
            <a:pPr indent="-285750" lvl="1" marL="742950" rtl="0" algn="l">
              <a:spcBef>
                <a:spcPts val="600"/>
              </a:spcBef>
              <a:spcAft>
                <a:spcPts val="0"/>
              </a:spcAft>
              <a:buSzPts val="2600"/>
              <a:buChar char="–"/>
            </a:pPr>
            <a:r>
              <a:rPr lang="en-GB" sz="2600"/>
              <a:t>The organization</a:t>
            </a:r>
            <a:endParaRPr/>
          </a:p>
          <a:p>
            <a:pPr indent="-285750" lvl="1" marL="742950" rtl="0" algn="l">
              <a:spcBef>
                <a:spcPts val="600"/>
              </a:spcBef>
              <a:spcAft>
                <a:spcPts val="0"/>
              </a:spcAft>
              <a:buSzPts val="2600"/>
              <a:buChar char="–"/>
            </a:pPr>
            <a:r>
              <a:rPr lang="en-GB" sz="2600"/>
              <a:t>Current systems</a:t>
            </a:r>
            <a:endParaRPr/>
          </a:p>
          <a:p>
            <a:pPr indent="-285750" lvl="1" marL="742950" rtl="0" algn="l">
              <a:spcBef>
                <a:spcPts val="600"/>
              </a:spcBef>
              <a:spcAft>
                <a:spcPts val="0"/>
              </a:spcAft>
              <a:buSzPts val="2600"/>
              <a:buChar char="–"/>
            </a:pPr>
            <a:r>
              <a:rPr lang="en-GB" sz="2600"/>
              <a:t>Capability to support proposed systems</a:t>
            </a:r>
            <a:endParaRPr/>
          </a:p>
          <a:p>
            <a:pPr indent="-342900" lvl="0" marL="342900" rtl="0" algn="l">
              <a:spcBef>
                <a:spcPts val="600"/>
              </a:spcBef>
              <a:spcAft>
                <a:spcPts val="0"/>
              </a:spcAft>
              <a:buSzPts val="2800"/>
              <a:buChar char="•"/>
            </a:pPr>
            <a:r>
              <a:rPr lang="en-GB" sz="2800"/>
              <a:t>Analysts determine what the new system is expected to do and how it will interact with existing systems.</a:t>
            </a:r>
            <a:endParaRPr/>
          </a:p>
          <a:p>
            <a:pPr indent="-342900" lvl="0" marL="342900" rtl="0" algn="l">
              <a:spcBef>
                <a:spcPts val="600"/>
              </a:spcBef>
              <a:spcAft>
                <a:spcPts val="0"/>
              </a:spcAft>
              <a:buSzPts val="2800"/>
              <a:buChar char="•"/>
            </a:pPr>
            <a:r>
              <a:rPr lang="en-GB" sz="2800"/>
              <a:t>Analysis ends with documentation of findings and an update of feasibility.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Logical Design</a:t>
            </a:r>
            <a:endParaRPr/>
          </a:p>
        </p:txBody>
      </p:sp>
      <p:sp>
        <p:nvSpPr>
          <p:cNvPr id="282" name="Google Shape;282;p4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The first and driving factor is the business need.</a:t>
            </a:r>
            <a:endParaRPr/>
          </a:p>
          <a:p>
            <a:pPr indent="-285750" lvl="1" marL="742950" rtl="0" algn="l">
              <a:spcBef>
                <a:spcPts val="600"/>
              </a:spcBef>
              <a:spcAft>
                <a:spcPts val="0"/>
              </a:spcAft>
              <a:buSzPts val="2600"/>
              <a:buChar char="–"/>
            </a:pPr>
            <a:r>
              <a:rPr lang="en-GB" sz="2600"/>
              <a:t>Applications are selected to provide needed services</a:t>
            </a:r>
            <a:r>
              <a:rPr lang="en-GB"/>
              <a:t>.</a:t>
            </a:r>
            <a:endParaRPr/>
          </a:p>
          <a:p>
            <a:pPr indent="-342900" lvl="0" marL="342900" rtl="0" algn="l">
              <a:spcBef>
                <a:spcPts val="600"/>
              </a:spcBef>
              <a:spcAft>
                <a:spcPts val="0"/>
              </a:spcAft>
              <a:buSzPts val="2800"/>
              <a:buChar char="•"/>
            </a:pPr>
            <a:r>
              <a:rPr lang="en-GB" sz="2800"/>
              <a:t>Data support and structures capable of providing the needed inputs are identified.</a:t>
            </a:r>
            <a:endParaRPr/>
          </a:p>
          <a:p>
            <a:pPr indent="-342900" lvl="0" marL="342900" rtl="0" algn="l">
              <a:spcBef>
                <a:spcPts val="600"/>
              </a:spcBef>
              <a:spcAft>
                <a:spcPts val="0"/>
              </a:spcAft>
              <a:buSzPts val="2800"/>
              <a:buChar char="•"/>
            </a:pPr>
            <a:r>
              <a:rPr lang="en-GB" sz="2800"/>
              <a:t>Specific technologies are delineated to implement the physical solution.</a:t>
            </a:r>
            <a:endParaRPr/>
          </a:p>
          <a:p>
            <a:pPr indent="-342900" lvl="0" marL="342900" rtl="0" algn="l">
              <a:spcBef>
                <a:spcPts val="600"/>
              </a:spcBef>
              <a:spcAft>
                <a:spcPts val="0"/>
              </a:spcAft>
              <a:buSzPts val="2800"/>
              <a:buChar char="•"/>
            </a:pPr>
            <a:r>
              <a:rPr lang="en-GB" sz="2800"/>
              <a:t>Analysts generate estimates of costs and benefits to allow comparison of available options.</a:t>
            </a:r>
            <a:endParaRPr/>
          </a:p>
          <a:p>
            <a:pPr indent="-342900" lvl="0" marL="342900" rtl="0" algn="l">
              <a:spcBef>
                <a:spcPts val="600"/>
              </a:spcBef>
              <a:spcAft>
                <a:spcPts val="0"/>
              </a:spcAft>
              <a:buSzPts val="2800"/>
              <a:buChar char="•"/>
            </a:pPr>
            <a:r>
              <a:rPr lang="en-GB" sz="2800"/>
              <a:t>Feasibility analysis is performed at the end.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Physical Design</a:t>
            </a:r>
            <a:endParaRPr/>
          </a:p>
        </p:txBody>
      </p:sp>
      <p:sp>
        <p:nvSpPr>
          <p:cNvPr id="289" name="Google Shape;289;p4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Specific technologies are selected to support the alternatives identified and evaluated in the logical design.</a:t>
            </a:r>
            <a:endParaRPr/>
          </a:p>
          <a:p>
            <a:pPr indent="-342900" lvl="0" marL="342900" rtl="0" algn="l">
              <a:spcBef>
                <a:spcPts val="600"/>
              </a:spcBef>
              <a:spcAft>
                <a:spcPts val="0"/>
              </a:spcAft>
              <a:buSzPts val="2800"/>
              <a:buChar char="•"/>
            </a:pPr>
            <a:r>
              <a:rPr lang="en-GB" sz="2800"/>
              <a:t>Selected components are evaluated on make-or-buy decision. </a:t>
            </a:r>
            <a:endParaRPr/>
          </a:p>
          <a:p>
            <a:pPr indent="-342900" lvl="0" marL="342900" rtl="0" algn="l">
              <a:spcBef>
                <a:spcPts val="600"/>
              </a:spcBef>
              <a:spcAft>
                <a:spcPts val="0"/>
              </a:spcAft>
              <a:buSzPts val="2800"/>
              <a:buChar char="•"/>
            </a:pPr>
            <a:r>
              <a:rPr lang="en-GB" sz="2800"/>
              <a:t>Feasibility analysis is performed.</a:t>
            </a:r>
            <a:endParaRPr/>
          </a:p>
          <a:p>
            <a:pPr indent="-342900" lvl="0" marL="342900" rtl="0" algn="l">
              <a:spcBef>
                <a:spcPts val="600"/>
              </a:spcBef>
              <a:spcAft>
                <a:spcPts val="0"/>
              </a:spcAft>
              <a:buSzPts val="2800"/>
              <a:buChar char="•"/>
            </a:pPr>
            <a:r>
              <a:rPr lang="en-GB" sz="2800"/>
              <a:t>Entire solution is presented to organization’s management for approval.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Implementation</a:t>
            </a:r>
            <a:endParaRPr/>
          </a:p>
        </p:txBody>
      </p:sp>
      <p:sp>
        <p:nvSpPr>
          <p:cNvPr id="296" name="Google Shape;296;p4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Needed software is created.</a:t>
            </a:r>
            <a:endParaRPr/>
          </a:p>
          <a:p>
            <a:pPr indent="-342900" lvl="0" marL="342900" rtl="0" algn="l">
              <a:spcBef>
                <a:spcPts val="600"/>
              </a:spcBef>
              <a:spcAft>
                <a:spcPts val="0"/>
              </a:spcAft>
              <a:buSzPts val="2800"/>
              <a:buChar char="•"/>
            </a:pPr>
            <a:r>
              <a:rPr lang="en-GB" sz="2800"/>
              <a:t>Components are ordered, received, and tested.</a:t>
            </a:r>
            <a:endParaRPr/>
          </a:p>
          <a:p>
            <a:pPr indent="-342900" lvl="0" marL="342900" rtl="0" algn="l">
              <a:spcBef>
                <a:spcPts val="600"/>
              </a:spcBef>
              <a:spcAft>
                <a:spcPts val="0"/>
              </a:spcAft>
              <a:buSzPts val="2800"/>
              <a:buChar char="•"/>
            </a:pPr>
            <a:r>
              <a:rPr lang="en-GB" sz="2800"/>
              <a:t>Users are trained and supporting documentation created.</a:t>
            </a:r>
            <a:endParaRPr/>
          </a:p>
          <a:p>
            <a:pPr indent="-342900" lvl="0" marL="342900" rtl="0" algn="l">
              <a:spcBef>
                <a:spcPts val="600"/>
              </a:spcBef>
              <a:spcAft>
                <a:spcPts val="0"/>
              </a:spcAft>
              <a:buSzPts val="2800"/>
              <a:buChar char="•"/>
            </a:pPr>
            <a:r>
              <a:rPr lang="en-GB" sz="2800"/>
              <a:t>Feasibility analysis is prepared.</a:t>
            </a:r>
            <a:endParaRPr/>
          </a:p>
          <a:p>
            <a:pPr indent="-285750" lvl="1" marL="742950" rtl="0" algn="l">
              <a:spcBef>
                <a:spcPts val="600"/>
              </a:spcBef>
              <a:spcAft>
                <a:spcPts val="0"/>
              </a:spcAft>
              <a:buSzPts val="2600"/>
              <a:buChar char="–"/>
            </a:pPr>
            <a:r>
              <a:rPr lang="en-GB" sz="2600"/>
              <a:t>Sponsors are presented with the system for a performance review and acceptance test.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Maintenance and Change</a:t>
            </a:r>
            <a:endParaRPr/>
          </a:p>
        </p:txBody>
      </p:sp>
      <p:sp>
        <p:nvSpPr>
          <p:cNvPr id="303" name="Google Shape;303;p44"/>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Longest and most expensive phase</a:t>
            </a:r>
            <a:endParaRPr/>
          </a:p>
          <a:p>
            <a:pPr indent="-342900" lvl="0" marL="342900" rtl="0" algn="l">
              <a:spcBef>
                <a:spcPts val="600"/>
              </a:spcBef>
              <a:spcAft>
                <a:spcPts val="0"/>
              </a:spcAft>
              <a:buSzPts val="2800"/>
              <a:buChar char="•"/>
            </a:pPr>
            <a:r>
              <a:rPr lang="en-GB" sz="2800"/>
              <a:t>Consists of the tasks necessary to support and modify the system for the remainder of its useful life </a:t>
            </a:r>
            <a:endParaRPr/>
          </a:p>
          <a:p>
            <a:pPr indent="-342900" lvl="0" marL="342900" rtl="0" algn="l">
              <a:spcBef>
                <a:spcPts val="600"/>
              </a:spcBef>
              <a:spcAft>
                <a:spcPts val="0"/>
              </a:spcAft>
              <a:buSzPts val="2800"/>
              <a:buChar char="•"/>
            </a:pPr>
            <a:r>
              <a:rPr lang="en-GB" sz="2800"/>
              <a:t>Life cycle continues until the team determines the process should begin again from the investigation phase</a:t>
            </a:r>
            <a:endParaRPr/>
          </a:p>
          <a:p>
            <a:pPr indent="-342900" lvl="0" marL="342900" rtl="0" algn="l">
              <a:spcBef>
                <a:spcPts val="600"/>
              </a:spcBef>
              <a:spcAft>
                <a:spcPts val="0"/>
              </a:spcAft>
              <a:buSzPts val="2800"/>
              <a:buChar char="•"/>
            </a:pPr>
            <a:r>
              <a:rPr lang="en-GB" sz="2800"/>
              <a:t>When current system can no longer support the organization’s mission, a new project is implemented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5"/>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Software Assurance </a:t>
            </a:r>
            <a:endParaRPr/>
          </a:p>
        </p:txBody>
      </p:sp>
      <p:sp>
        <p:nvSpPr>
          <p:cNvPr id="310" name="Google Shape;310;p45"/>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GB"/>
              <a:t>Many organizations recognize the need to include planning for security objectives in the SDLC used to create systems.</a:t>
            </a:r>
            <a:endParaRPr/>
          </a:p>
          <a:p>
            <a:pPr indent="-285750" lvl="1" marL="742950" rtl="0" algn="l">
              <a:spcBef>
                <a:spcPts val="600"/>
              </a:spcBef>
              <a:spcAft>
                <a:spcPts val="0"/>
              </a:spcAft>
              <a:buSzPts val="2400"/>
              <a:buChar char="–"/>
            </a:pPr>
            <a:r>
              <a:rPr lang="en-GB"/>
              <a:t>Established procedures to create software that is more capable of being deployed in a secure fashion</a:t>
            </a:r>
            <a:endParaRPr/>
          </a:p>
          <a:p>
            <a:pPr indent="-342900" lvl="0" marL="342900" rtl="0" algn="l">
              <a:spcBef>
                <a:spcPts val="600"/>
              </a:spcBef>
              <a:spcAft>
                <a:spcPts val="0"/>
              </a:spcAft>
              <a:buSzPts val="2600"/>
              <a:buChar char="•"/>
            </a:pPr>
            <a:r>
              <a:rPr lang="en-GB"/>
              <a:t>This approach is known as software assurance (SA).</a:t>
            </a:r>
            <a:endParaRPr/>
          </a:p>
          <a:p>
            <a:pPr indent="-342900" lvl="0" marL="342900" rtl="0" algn="l">
              <a:spcBef>
                <a:spcPts val="600"/>
              </a:spcBef>
              <a:spcAft>
                <a:spcPts val="0"/>
              </a:spcAft>
              <a:buSzPts val="2600"/>
              <a:buChar char="•"/>
            </a:pPr>
            <a:r>
              <a:rPr lang="en-GB"/>
              <a:t>A national effort is under way to create a common body of knowledge focused on secure software development.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Software Assurance </a:t>
            </a:r>
            <a:endParaRPr/>
          </a:p>
        </p:txBody>
      </p:sp>
      <p:sp>
        <p:nvSpPr>
          <p:cNvPr id="316" name="Google Shape;316;p46"/>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285750" lvl="1" marL="742950" rtl="0" algn="l">
              <a:spcBef>
                <a:spcPts val="0"/>
              </a:spcBef>
              <a:spcAft>
                <a:spcPts val="0"/>
              </a:spcAft>
              <a:buSzPts val="2600"/>
              <a:buChar char="–"/>
            </a:pPr>
            <a:r>
              <a:rPr lang="en-GB" sz="2600"/>
              <a:t>Secure Software Requirements</a:t>
            </a:r>
            <a:endParaRPr/>
          </a:p>
          <a:p>
            <a:pPr indent="-285750" lvl="1" marL="742950" rtl="0" algn="l">
              <a:spcBef>
                <a:spcPts val="600"/>
              </a:spcBef>
              <a:spcAft>
                <a:spcPts val="0"/>
              </a:spcAft>
              <a:buSzPts val="2600"/>
              <a:buChar char="–"/>
            </a:pPr>
            <a:r>
              <a:rPr lang="en-GB" sz="2600"/>
              <a:t>Secure Software Design</a:t>
            </a:r>
            <a:endParaRPr/>
          </a:p>
          <a:p>
            <a:pPr indent="-285750" lvl="1" marL="742950" rtl="0" algn="l">
              <a:spcBef>
                <a:spcPts val="600"/>
              </a:spcBef>
              <a:spcAft>
                <a:spcPts val="0"/>
              </a:spcAft>
              <a:buSzPts val="2600"/>
              <a:buChar char="–"/>
            </a:pPr>
            <a:r>
              <a:rPr lang="en-GB" sz="2600"/>
              <a:t>Secure Software Construction</a:t>
            </a:r>
            <a:endParaRPr/>
          </a:p>
          <a:p>
            <a:pPr indent="-285750" lvl="1" marL="742950" rtl="0" algn="l">
              <a:spcBef>
                <a:spcPts val="600"/>
              </a:spcBef>
              <a:spcAft>
                <a:spcPts val="0"/>
              </a:spcAft>
              <a:buSzPts val="2600"/>
              <a:buChar char="–"/>
            </a:pPr>
            <a:r>
              <a:rPr lang="en-GB" sz="2600"/>
              <a:t>Secure Software Verification, Validation, and Evaluation</a:t>
            </a:r>
            <a:endParaRPr/>
          </a:p>
          <a:p>
            <a:pPr indent="-285750" lvl="1" marL="742950" rtl="0" algn="l">
              <a:spcBef>
                <a:spcPts val="600"/>
              </a:spcBef>
              <a:spcAft>
                <a:spcPts val="0"/>
              </a:spcAft>
              <a:buSzPts val="2600"/>
              <a:buChar char="–"/>
            </a:pPr>
            <a:r>
              <a:rPr lang="en-GB" sz="2600"/>
              <a:t>Secure Software Tools and Methods</a:t>
            </a:r>
            <a:endParaRPr/>
          </a:p>
          <a:p>
            <a:pPr indent="-285750" lvl="1" marL="742950" rtl="0" algn="l">
              <a:spcBef>
                <a:spcPts val="600"/>
              </a:spcBef>
              <a:spcAft>
                <a:spcPts val="0"/>
              </a:spcAft>
              <a:buSzPts val="2600"/>
              <a:buChar char="–"/>
            </a:pPr>
            <a:r>
              <a:rPr lang="en-GB" sz="2600"/>
              <a:t>Secure Software Processes</a:t>
            </a:r>
            <a:endParaRPr/>
          </a:p>
          <a:p>
            <a:pPr indent="-285750" lvl="1" marL="742950" rtl="0" algn="l">
              <a:spcBef>
                <a:spcPts val="600"/>
              </a:spcBef>
              <a:spcAft>
                <a:spcPts val="0"/>
              </a:spcAft>
              <a:buSzPts val="2600"/>
              <a:buChar char="–"/>
            </a:pPr>
            <a:r>
              <a:rPr lang="en-GB" sz="2600"/>
              <a:t>Secure Software Project Management</a:t>
            </a:r>
            <a:endParaRPr/>
          </a:p>
          <a:p>
            <a:pPr indent="-285750" lvl="1" marL="742950" rtl="0" algn="l">
              <a:spcBef>
                <a:spcPts val="600"/>
              </a:spcBef>
              <a:spcAft>
                <a:spcPts val="0"/>
              </a:spcAft>
              <a:buSzPts val="2600"/>
              <a:buChar char="–"/>
            </a:pPr>
            <a:r>
              <a:rPr lang="en-GB" sz="2600"/>
              <a:t>Acquisition of Secure Software</a:t>
            </a:r>
            <a:endParaRPr/>
          </a:p>
          <a:p>
            <a:pPr indent="-285750" lvl="1" marL="742950" rtl="0" algn="l">
              <a:spcBef>
                <a:spcPts val="600"/>
              </a:spcBef>
              <a:spcAft>
                <a:spcPts val="0"/>
              </a:spcAft>
              <a:buSzPts val="2600"/>
              <a:buChar char="–"/>
            </a:pPr>
            <a:r>
              <a:rPr lang="en-GB" sz="2600"/>
              <a:t>Secure Software Sustainment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Software Design Principles (1 of 2)</a:t>
            </a:r>
            <a:endParaRPr/>
          </a:p>
        </p:txBody>
      </p:sp>
      <p:sp>
        <p:nvSpPr>
          <p:cNvPr id="322" name="Google Shape;322;p4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lang="en-GB" sz="2800"/>
              <a:t>Good software development results in secure products that meet all design specifications.</a:t>
            </a:r>
            <a:endParaRPr/>
          </a:p>
          <a:p>
            <a:pPr indent="-342900" lvl="0" marL="342900" rtl="0" algn="l">
              <a:spcBef>
                <a:spcPts val="600"/>
              </a:spcBef>
              <a:spcAft>
                <a:spcPts val="0"/>
              </a:spcAft>
              <a:buSzPts val="2800"/>
              <a:buChar char="•"/>
            </a:pPr>
            <a:r>
              <a:rPr lang="en-GB" sz="2800"/>
              <a:t>Some commonplace security principles</a:t>
            </a:r>
            <a:endParaRPr/>
          </a:p>
          <a:p>
            <a:pPr indent="-285750" lvl="1" marL="742950" rtl="0" algn="l">
              <a:spcBef>
                <a:spcPts val="600"/>
              </a:spcBef>
              <a:spcAft>
                <a:spcPts val="0"/>
              </a:spcAft>
              <a:buSzPts val="2600"/>
              <a:buChar char="–"/>
            </a:pPr>
            <a:r>
              <a:rPr lang="en-GB" sz="2600"/>
              <a:t>Keep design simple and small</a:t>
            </a:r>
            <a:endParaRPr/>
          </a:p>
          <a:p>
            <a:pPr indent="-285750" lvl="1" marL="742950" rtl="0" algn="l">
              <a:spcBef>
                <a:spcPts val="600"/>
              </a:spcBef>
              <a:spcAft>
                <a:spcPts val="0"/>
              </a:spcAft>
              <a:buSzPts val="2600"/>
              <a:buChar char="–"/>
            </a:pPr>
            <a:r>
              <a:rPr lang="en-GB" sz="2600"/>
              <a:t>Access decisions by permission not exclusion</a:t>
            </a:r>
            <a:endParaRPr/>
          </a:p>
          <a:p>
            <a:pPr indent="-285750" lvl="1" marL="742950" rtl="0" algn="l">
              <a:spcBef>
                <a:spcPts val="600"/>
              </a:spcBef>
              <a:spcAft>
                <a:spcPts val="0"/>
              </a:spcAft>
              <a:buSzPts val="2600"/>
              <a:buChar char="–"/>
            </a:pPr>
            <a:r>
              <a:rPr lang="en-GB" sz="2600"/>
              <a:t>Every access to every object checked for authority</a:t>
            </a:r>
            <a:endParaRPr/>
          </a:p>
          <a:p>
            <a:pPr indent="-285750" lvl="1" marL="742950" rtl="0" algn="l">
              <a:spcBef>
                <a:spcPts val="600"/>
              </a:spcBef>
              <a:spcAft>
                <a:spcPts val="0"/>
              </a:spcAft>
              <a:buSzPts val="2600"/>
              <a:buChar char="–"/>
            </a:pPr>
            <a:r>
              <a:rPr lang="en-GB" sz="2600"/>
              <a:t>Design depends on possession of keys/passwords</a:t>
            </a:r>
            <a:endParaRPr/>
          </a:p>
          <a:p>
            <a:pPr indent="-285750" lvl="1" marL="742950" rtl="0" algn="l">
              <a:spcBef>
                <a:spcPts val="600"/>
              </a:spcBef>
              <a:spcAft>
                <a:spcPts val="0"/>
              </a:spcAft>
              <a:buSzPts val="2600"/>
              <a:buChar char="–"/>
            </a:pPr>
            <a:r>
              <a:rPr lang="en-GB" sz="2600"/>
              <a:t>Protection mechanisms require two keys to unlock</a:t>
            </a:r>
            <a:endParaRPr/>
          </a:p>
          <a:p>
            <a:pPr indent="-285750" lvl="1" marL="742950" rtl="0" algn="l">
              <a:spcBef>
                <a:spcPts val="600"/>
              </a:spcBef>
              <a:spcAft>
                <a:spcPts val="0"/>
              </a:spcAft>
              <a:buSzPts val="2600"/>
              <a:buChar char="–"/>
            </a:pPr>
            <a:r>
              <a:rPr lang="en-GB" sz="2600"/>
              <a:t>Programs/users utilize only necessary privileges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Software Design Principles (2 of 2)</a:t>
            </a:r>
            <a:endParaRPr/>
          </a:p>
        </p:txBody>
      </p:sp>
      <p:sp>
        <p:nvSpPr>
          <p:cNvPr id="328" name="Google Shape;328;p4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Some commonplace security principles</a:t>
            </a:r>
            <a:endParaRPr/>
          </a:p>
          <a:p>
            <a:pPr indent="-285750" lvl="1" marL="742950" rtl="0" algn="l">
              <a:spcBef>
                <a:spcPts val="600"/>
              </a:spcBef>
              <a:spcAft>
                <a:spcPts val="0"/>
              </a:spcAft>
              <a:buSzPts val="2600"/>
              <a:buChar char="–"/>
            </a:pPr>
            <a:r>
              <a:rPr lang="en-GB" sz="2600"/>
              <a:t>Minimize mechanisms common to multiple users</a:t>
            </a:r>
            <a:endParaRPr/>
          </a:p>
          <a:p>
            <a:pPr indent="-285750" lvl="1" marL="742950" rtl="0" algn="l">
              <a:spcBef>
                <a:spcPts val="600"/>
              </a:spcBef>
              <a:spcAft>
                <a:spcPts val="0"/>
              </a:spcAft>
              <a:buSzPts val="2600"/>
              <a:buChar char="–"/>
            </a:pPr>
            <a:r>
              <a:rPr lang="en-GB" sz="2600"/>
              <a:t> Human interface must be easy to use so users routinely/automatically use protection mechanisms.</a:t>
            </a:r>
            <a:endParaRPr sz="26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Summary (1 of 2)</a:t>
            </a:r>
            <a:endParaRPr/>
          </a:p>
        </p:txBody>
      </p:sp>
      <p:sp>
        <p:nvSpPr>
          <p:cNvPr id="334" name="Google Shape;334;p4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Autofit/>
          </a:bodyPr>
          <a:lstStyle/>
          <a:p>
            <a:pPr indent="-342900" lvl="0" marL="342900" rtl="0" algn="l">
              <a:lnSpc>
                <a:spcPct val="110000"/>
              </a:lnSpc>
              <a:spcBef>
                <a:spcPts val="0"/>
              </a:spcBef>
              <a:spcAft>
                <a:spcPts val="0"/>
              </a:spcAft>
              <a:buSzPts val="2800"/>
              <a:buChar char="•"/>
            </a:pPr>
            <a:r>
              <a:rPr lang="en-GB" sz="2800"/>
              <a:t>Computer security began immediately after the first mainframes were developed. </a:t>
            </a:r>
            <a:endParaRPr/>
          </a:p>
          <a:p>
            <a:pPr indent="-342900" lvl="0" marL="342900" rtl="0" algn="l">
              <a:lnSpc>
                <a:spcPct val="110000"/>
              </a:lnSpc>
              <a:spcBef>
                <a:spcPts val="600"/>
              </a:spcBef>
              <a:spcAft>
                <a:spcPts val="0"/>
              </a:spcAft>
              <a:buSzPts val="2800"/>
              <a:buChar char="•"/>
            </a:pPr>
            <a:r>
              <a:rPr lang="en-GB" sz="2800"/>
              <a:t>Successful organizations have multiple layers of security in place: physical, personal, operations, communications, network, and information.</a:t>
            </a:r>
            <a:endParaRPr/>
          </a:p>
          <a:p>
            <a:pPr indent="-342900" lvl="0" marL="342900" rtl="0" algn="l">
              <a:lnSpc>
                <a:spcPct val="110000"/>
              </a:lnSpc>
              <a:spcBef>
                <a:spcPts val="600"/>
              </a:spcBef>
              <a:spcAft>
                <a:spcPts val="0"/>
              </a:spcAft>
              <a:buSzPts val="2800"/>
              <a:buChar char="•"/>
            </a:pPr>
            <a:r>
              <a:rPr lang="en-GB" sz="2800"/>
              <a:t>Security should be considered a balance between protection and availability.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0"/>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GB"/>
              <a:t>Summary (2 of 2)</a:t>
            </a:r>
            <a:endParaRPr/>
          </a:p>
        </p:txBody>
      </p:sp>
      <p:sp>
        <p:nvSpPr>
          <p:cNvPr id="340" name="Google Shape;340;p5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GB" sz="2800"/>
              <a:t>Information security must be managed similar to any major system implemented in an organization using a methodology like the SDLC.</a:t>
            </a:r>
            <a:endParaRPr/>
          </a:p>
          <a:p>
            <a:pPr indent="0" lvl="0" marL="342900" rtl="0" algn="l">
              <a:spcBef>
                <a:spcPts val="6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Sampl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