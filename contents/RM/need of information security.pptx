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Lst>
  <p:sldSz cy="6858000" cx="9144000"/>
  <p:notesSz cx="9372600" cy="70866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765FC5E-082A-4690-9782-9FE3793750BE}">
  <a:tblStyle styleId="{6765FC5E-082A-4690-9782-9FE3793750BE}" styleName="Table_0">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061460" cy="354330"/>
          </a:xfrm>
          <a:prstGeom prst="rect">
            <a:avLst/>
          </a:prstGeom>
          <a:noFill/>
          <a:ln>
            <a:noFill/>
          </a:ln>
        </p:spPr>
        <p:txBody>
          <a:bodyPr anchorCtr="0" anchor="t" bIns="47000" lIns="94025" spcFirstLastPara="1" rIns="94025" wrap="square" tIns="470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5308971" y="0"/>
            <a:ext cx="4061460" cy="354330"/>
          </a:xfrm>
          <a:prstGeom prst="rect">
            <a:avLst/>
          </a:prstGeom>
          <a:noFill/>
          <a:ln>
            <a:noFill/>
          </a:ln>
        </p:spPr>
        <p:txBody>
          <a:bodyPr anchorCtr="0" anchor="t" bIns="47000" lIns="94025" spcFirstLastPara="1" rIns="94025" wrap="square" tIns="470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37260" y="3366135"/>
            <a:ext cx="7498080" cy="3188970"/>
          </a:xfrm>
          <a:prstGeom prst="rect">
            <a:avLst/>
          </a:prstGeom>
          <a:noFill/>
          <a:ln>
            <a:noFill/>
          </a:ln>
        </p:spPr>
        <p:txBody>
          <a:bodyPr anchorCtr="0" anchor="t" bIns="47000" lIns="94025" spcFirstLastPara="1" rIns="94025" wrap="square" tIns="47000">
            <a:no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731040"/>
            <a:ext cx="4061460" cy="354330"/>
          </a:xfrm>
          <a:prstGeom prst="rect">
            <a:avLst/>
          </a:prstGeom>
          <a:noFill/>
          <a:ln>
            <a:noFill/>
          </a:ln>
        </p:spPr>
        <p:txBody>
          <a:bodyPr anchorCtr="0" anchor="b" bIns="47000" lIns="94025" spcFirstLastPara="1" rIns="94025" wrap="square" tIns="470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2: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51" name="Google Shape;51;p2: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52" name="Google Shape;52;p2: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lang="en-US" sz="1020"/>
              <a:t>Upon completion of this material, you should be able to:</a:t>
            </a:r>
            <a:endParaRPr sz="1020"/>
          </a:p>
          <a:p>
            <a:pPr indent="0" lvl="1" marL="457200" rtl="0" algn="l">
              <a:lnSpc>
                <a:spcPct val="90000"/>
              </a:lnSpc>
              <a:spcBef>
                <a:spcPts val="561"/>
              </a:spcBef>
              <a:spcAft>
                <a:spcPts val="0"/>
              </a:spcAft>
              <a:buNone/>
            </a:pPr>
            <a:r>
              <a:rPr lang="en-US" sz="1870"/>
              <a:t>Discuss the organizational business need for information security</a:t>
            </a:r>
            <a:endParaRPr/>
          </a:p>
          <a:p>
            <a:pPr indent="0" lvl="1" marL="457200" rtl="0" algn="l">
              <a:lnSpc>
                <a:spcPct val="90000"/>
              </a:lnSpc>
              <a:spcBef>
                <a:spcPts val="561"/>
              </a:spcBef>
              <a:spcAft>
                <a:spcPts val="0"/>
              </a:spcAft>
              <a:buNone/>
            </a:pPr>
            <a:r>
              <a:rPr lang="en-US" sz="1870"/>
              <a:t>Explain why a successful information security program is the shared responsibility of an organization’s general management and IT management</a:t>
            </a:r>
            <a:endParaRPr/>
          </a:p>
          <a:p>
            <a:pPr indent="0" lvl="1" marL="457200" rtl="0" algn="l">
              <a:lnSpc>
                <a:spcPct val="90000"/>
              </a:lnSpc>
              <a:spcBef>
                <a:spcPts val="561"/>
              </a:spcBef>
              <a:spcAft>
                <a:spcPts val="0"/>
              </a:spcAft>
              <a:buNone/>
            </a:pPr>
            <a:r>
              <a:rPr lang="en-US" sz="1870"/>
              <a:t>List and describe the threats posed to information security and common attacks associated with those threats</a:t>
            </a:r>
            <a:endParaRPr/>
          </a:p>
          <a:p>
            <a:pPr indent="0" lvl="1" marL="457200" rtl="0" algn="l">
              <a:lnSpc>
                <a:spcPct val="90000"/>
              </a:lnSpc>
              <a:spcBef>
                <a:spcPts val="561"/>
              </a:spcBef>
              <a:spcAft>
                <a:spcPts val="0"/>
              </a:spcAft>
              <a:buNone/>
            </a:pPr>
            <a:r>
              <a:rPr lang="en-US" sz="1870"/>
              <a:t>Describe the relationship between threats and attacks against information within systems</a:t>
            </a:r>
            <a:endParaRPr sz="1870"/>
          </a:p>
          <a:p>
            <a:pPr indent="0" lvl="0" marL="0" rtl="0" algn="l">
              <a:lnSpc>
                <a:spcPct val="90000"/>
              </a:lnSpc>
              <a:spcBef>
                <a:spcPts val="450"/>
              </a:spcBef>
              <a:spcAft>
                <a:spcPts val="0"/>
              </a:spcAft>
              <a:buNone/>
            </a:pPr>
            <a:r>
              <a:t/>
            </a:r>
            <a:endParaRPr sz="1020"/>
          </a:p>
        </p:txBody>
      </p:sp>
      <p:sp>
        <p:nvSpPr>
          <p:cNvPr id="53" name="Google Shape;53;p2: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59" name="Google Shape;59;p3: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60" name="Google Shape;60;p3: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2380"/>
              <a:t>Introduction</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Primary mission of an information security program is to ensure information assets-information and the systems that house them-remain safe and useful</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If no threats existed, resources could be used exclusively to improve systems that contain, use, and transmit information</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Threat of attacks on information systems is a constant concern</a:t>
            </a:r>
            <a:endParaRPr/>
          </a:p>
        </p:txBody>
      </p:sp>
      <p:sp>
        <p:nvSpPr>
          <p:cNvPr id="61" name="Google Shape;61;p3: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67" name="Google Shape;67;p4: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68" name="Google Shape;68;p4: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1020"/>
              <a:t>Business Needs First, Technology Needs Last</a:t>
            </a:r>
            <a:endParaRPr/>
          </a:p>
          <a:p>
            <a:pPr indent="0" lvl="0" marL="0" rtl="0" algn="l">
              <a:lnSpc>
                <a:spcPct val="90000"/>
              </a:lnSpc>
              <a:spcBef>
                <a:spcPts val="306"/>
              </a:spcBef>
              <a:spcAft>
                <a:spcPts val="0"/>
              </a:spcAft>
              <a:buNone/>
            </a:pPr>
            <a:r>
              <a:rPr lang="en-US" sz="1020"/>
              <a:t>Information security performs four important functions for an organization</a:t>
            </a:r>
            <a:endParaRPr/>
          </a:p>
          <a:p>
            <a:pPr indent="0" lvl="1" marL="457200" rtl="0" algn="l">
              <a:lnSpc>
                <a:spcPct val="90000"/>
              </a:lnSpc>
              <a:spcBef>
                <a:spcPts val="306"/>
              </a:spcBef>
              <a:spcAft>
                <a:spcPts val="0"/>
              </a:spcAft>
              <a:buNone/>
            </a:pPr>
            <a:r>
              <a:rPr lang="en-US" sz="1020"/>
              <a:t>Protecting the organization’s ability to function</a:t>
            </a:r>
            <a:endParaRPr/>
          </a:p>
          <a:p>
            <a:pPr indent="0" lvl="1" marL="457200" rtl="0" algn="l">
              <a:lnSpc>
                <a:spcPct val="90000"/>
              </a:lnSpc>
              <a:spcBef>
                <a:spcPts val="306"/>
              </a:spcBef>
              <a:spcAft>
                <a:spcPts val="0"/>
              </a:spcAft>
              <a:buNone/>
            </a:pPr>
            <a:r>
              <a:rPr lang="en-US" sz="1020"/>
              <a:t>Protecting the data and information the organization collects and uses</a:t>
            </a:r>
            <a:endParaRPr/>
          </a:p>
          <a:p>
            <a:pPr indent="0" lvl="1" marL="457200" rtl="0" algn="l">
              <a:lnSpc>
                <a:spcPct val="90000"/>
              </a:lnSpc>
              <a:spcBef>
                <a:spcPts val="306"/>
              </a:spcBef>
              <a:spcAft>
                <a:spcPts val="0"/>
              </a:spcAft>
              <a:buNone/>
            </a:pPr>
            <a:r>
              <a:rPr lang="en-US" sz="1020"/>
              <a:t>Enabling the safe operation of applications running on the organization’s IT systems</a:t>
            </a:r>
            <a:endParaRPr/>
          </a:p>
          <a:p>
            <a:pPr indent="0" lvl="1" marL="457200" rtl="0" algn="l">
              <a:lnSpc>
                <a:spcPct val="90000"/>
              </a:lnSpc>
              <a:spcBef>
                <a:spcPts val="306"/>
              </a:spcBef>
              <a:spcAft>
                <a:spcPts val="0"/>
              </a:spcAft>
              <a:buNone/>
            </a:pPr>
            <a:r>
              <a:rPr lang="en-US" sz="1020"/>
              <a:t>Safeguarding the organization’s technology assets</a:t>
            </a:r>
            <a:endParaRPr sz="1020"/>
          </a:p>
          <a:p>
            <a:pPr indent="0" lvl="0" marL="0" rtl="0" algn="l">
              <a:lnSpc>
                <a:spcPct val="90000"/>
              </a:lnSpc>
              <a:spcBef>
                <a:spcPts val="450"/>
              </a:spcBef>
              <a:spcAft>
                <a:spcPts val="0"/>
              </a:spcAft>
              <a:buNone/>
            </a:pPr>
            <a:r>
              <a:t/>
            </a:r>
            <a:endParaRPr sz="1020"/>
          </a:p>
        </p:txBody>
      </p:sp>
      <p:sp>
        <p:nvSpPr>
          <p:cNvPr id="69" name="Google Shape;69;p4: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5: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75" name="Google Shape;75;p5: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76" name="Google Shape;76;p5: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2380"/>
              <a:t>Protecting the Ability of the Organization to Function</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Management (general and IT) responsible for facilitating security program</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Implementing information security has more to do with management than technology</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Communities of interest should address information security in terms of business impact and cost of business interruption</a:t>
            </a:r>
            <a:endParaRPr/>
          </a:p>
        </p:txBody>
      </p:sp>
      <p:sp>
        <p:nvSpPr>
          <p:cNvPr id="77" name="Google Shape;77;p5: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6: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83" name="Google Shape;83;p6: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84" name="Google Shape;84;p6: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2380"/>
              <a:t>Protecting Data That Organizations Collect and Use</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Without data, an organization loses its record of transactions and ability to deliver value to customers</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Protecting data in transmission, in processing, and at rest (storage) are critical aspects of information security</a:t>
            </a:r>
            <a:endParaRPr/>
          </a:p>
        </p:txBody>
      </p:sp>
      <p:sp>
        <p:nvSpPr>
          <p:cNvPr id="85" name="Google Shape;85;p6: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7: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91" name="Google Shape;91;p7: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92" name="Google Shape;92;p7: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2380"/>
              <a:t>Enabling the Safe Operation of Applications</a:t>
            </a:r>
            <a:endParaRPr/>
          </a:p>
          <a:p>
            <a:pPr indent="0" lvl="0" marL="0" rtl="0" algn="l">
              <a:lnSpc>
                <a:spcPct val="90000"/>
              </a:lnSpc>
              <a:spcBef>
                <a:spcPts val="450"/>
              </a:spcBef>
              <a:spcAft>
                <a:spcPts val="0"/>
              </a:spcAft>
              <a:buNone/>
            </a:pPr>
            <a:r>
              <a:rPr lang="en-US" sz="2380"/>
              <a:t>Today’s organizations are under immense pressure to create and operate integrated, efficient, and capable applications. </a:t>
            </a:r>
            <a:endParaRPr/>
          </a:p>
          <a:p>
            <a:pPr indent="0" lvl="0" marL="0" rtl="0" algn="l">
              <a:lnSpc>
                <a:spcPct val="90000"/>
              </a:lnSpc>
              <a:spcBef>
                <a:spcPts val="450"/>
              </a:spcBef>
              <a:spcAft>
                <a:spcPts val="0"/>
              </a:spcAft>
              <a:buNone/>
            </a:pPr>
            <a:r>
              <a:rPr lang="en-US" sz="2380"/>
              <a:t>The modern organization needs to create an environment that safeguards applications using the organization’s IT systems, particularly the environment of the organization’s infrastructure. </a:t>
            </a:r>
            <a:endParaRPr/>
          </a:p>
          <a:p>
            <a:pPr indent="0" lvl="0" marL="0" rtl="0" algn="l">
              <a:lnSpc>
                <a:spcPct val="90000"/>
              </a:lnSpc>
              <a:spcBef>
                <a:spcPts val="450"/>
              </a:spcBef>
              <a:spcAft>
                <a:spcPts val="0"/>
              </a:spcAft>
              <a:buNone/>
            </a:pPr>
            <a:r>
              <a:rPr lang="en-US" sz="2380"/>
              <a:t>Once the infrastructure is in place, management must understand it has not abdicated to the IT department its responsibility to make choices and enforce decisions, but must continue to oversee the infrastructure.</a:t>
            </a:r>
            <a:endParaRPr/>
          </a:p>
          <a:p>
            <a:pPr indent="0" lvl="0" marL="0" rtl="0" algn="l">
              <a:lnSpc>
                <a:spcPct val="90000"/>
              </a:lnSpc>
              <a:spcBef>
                <a:spcPts val="450"/>
              </a:spcBef>
              <a:spcAft>
                <a:spcPts val="0"/>
              </a:spcAft>
              <a:buNone/>
            </a:pPr>
            <a:r>
              <a:t/>
            </a:r>
            <a:endParaRPr sz="2380"/>
          </a:p>
        </p:txBody>
      </p:sp>
      <p:sp>
        <p:nvSpPr>
          <p:cNvPr id="93" name="Google Shape;93;p7: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8: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99" name="Google Shape;99;p8: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100" name="Google Shape;100;p8: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2380"/>
              <a:t>Safeguarding the Technology Assets in Organizations</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Organizations must employ secure infrastructure hardware appropriate to size and scope of enterprise</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Additional security services may be needed as organization grows</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More robust solutions should replace security programs the organization has outgrown</a:t>
            </a:r>
            <a:endParaRPr/>
          </a:p>
        </p:txBody>
      </p:sp>
      <p:sp>
        <p:nvSpPr>
          <p:cNvPr id="101" name="Google Shape;101;p8: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9: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107" name="Google Shape;107;p9: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108" name="Google Shape;108;p9: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1020"/>
              <a:t>Threats to Information Security</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Threat: a potential risk to an asset’s loss of value</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Management must be informed about the various threats to organization’s people, applications, data, and information systems</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Overall security is improving; so is number of potential hackers</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The 2010-2011 CSI/FBI survey found</a:t>
            </a:r>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67.1 percent of organizations had malware infections</a:t>
            </a:r>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11 percent indicated system penetration by an outsider</a:t>
            </a:r>
            <a:endParaRPr/>
          </a:p>
        </p:txBody>
      </p:sp>
      <p:sp>
        <p:nvSpPr>
          <p:cNvPr id="109" name="Google Shape;109;p9: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0:notes"/>
          <p:cNvSpPr txBox="1"/>
          <p:nvPr>
            <p:ph idx="1" type="body"/>
          </p:nvPr>
        </p:nvSpPr>
        <p:spPr>
          <a:xfrm>
            <a:off x="937260" y="3366135"/>
            <a:ext cx="7498080" cy="3188970"/>
          </a:xfrm>
          <a:prstGeom prst="rect">
            <a:avLst/>
          </a:prstGeom>
        </p:spPr>
        <p:txBody>
          <a:bodyPr anchorCtr="0" anchor="t" bIns="47000" lIns="94025" spcFirstLastPara="1" rIns="94025" wrap="square" tIns="47000">
            <a:noAutofit/>
          </a:bodyPr>
          <a:lstStyle/>
          <a:p>
            <a:pPr indent="0" lvl="0" marL="0" rtl="0" algn="l">
              <a:spcBef>
                <a:spcPts val="360"/>
              </a:spcBef>
              <a:spcAft>
                <a:spcPts val="0"/>
              </a:spcAft>
              <a:buNone/>
            </a:pPr>
            <a:r>
              <a:t/>
            </a:r>
            <a:endParaRPr/>
          </a:p>
        </p:txBody>
      </p:sp>
      <p:sp>
        <p:nvSpPr>
          <p:cNvPr id="115" name="Google Shape;115;p10: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1:notes"/>
          <p:cNvSpPr txBox="1"/>
          <p:nvPr>
            <p:ph idx="1" type="body"/>
          </p:nvPr>
        </p:nvSpPr>
        <p:spPr>
          <a:xfrm>
            <a:off x="937260" y="3366135"/>
            <a:ext cx="7498080" cy="3188970"/>
          </a:xfrm>
          <a:prstGeom prst="rect">
            <a:avLst/>
          </a:prstGeom>
        </p:spPr>
        <p:txBody>
          <a:bodyPr anchorCtr="0" anchor="t" bIns="47000" lIns="94025" spcFirstLastPara="1" rIns="94025" wrap="square" tIns="47000">
            <a:noAutofit/>
          </a:bodyPr>
          <a:lstStyle/>
          <a:p>
            <a:pPr indent="0" lvl="0" marL="0" rtl="0" algn="l">
              <a:spcBef>
                <a:spcPts val="360"/>
              </a:spcBef>
              <a:spcAft>
                <a:spcPts val="0"/>
              </a:spcAft>
              <a:buNone/>
            </a:pPr>
            <a:r>
              <a:t/>
            </a:r>
            <a:endParaRPr/>
          </a:p>
        </p:txBody>
      </p:sp>
      <p:sp>
        <p:nvSpPr>
          <p:cNvPr id="121" name="Google Shape;121;p11: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2:notes"/>
          <p:cNvSpPr txBox="1"/>
          <p:nvPr>
            <p:ph idx="1" type="body"/>
          </p:nvPr>
        </p:nvSpPr>
        <p:spPr>
          <a:xfrm>
            <a:off x="937260" y="3366135"/>
            <a:ext cx="7498080" cy="3188970"/>
          </a:xfrm>
          <a:prstGeom prst="rect">
            <a:avLst/>
          </a:prstGeom>
        </p:spPr>
        <p:txBody>
          <a:bodyPr anchorCtr="0" anchor="t" bIns="47000" lIns="94025" spcFirstLastPara="1" rIns="94025" wrap="square" tIns="47000">
            <a:noAutofit/>
          </a:bodyPr>
          <a:lstStyle/>
          <a:p>
            <a:pPr indent="0" lvl="0" marL="0" rtl="0" algn="l">
              <a:spcBef>
                <a:spcPts val="360"/>
              </a:spcBef>
              <a:spcAft>
                <a:spcPts val="0"/>
              </a:spcAft>
              <a:buNone/>
            </a:pPr>
            <a:r>
              <a:t/>
            </a:r>
            <a:endParaRPr/>
          </a:p>
        </p:txBody>
      </p:sp>
      <p:sp>
        <p:nvSpPr>
          <p:cNvPr id="127" name="Google Shape;127;p12: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3:notes"/>
          <p:cNvSpPr txBox="1"/>
          <p:nvPr>
            <p:ph idx="1" type="body"/>
          </p:nvPr>
        </p:nvSpPr>
        <p:spPr>
          <a:xfrm>
            <a:off x="937260" y="3366135"/>
            <a:ext cx="7498080" cy="3188970"/>
          </a:xfrm>
          <a:prstGeom prst="rect">
            <a:avLst/>
          </a:prstGeom>
        </p:spPr>
        <p:txBody>
          <a:bodyPr anchorCtr="0" anchor="t" bIns="47000" lIns="94025" spcFirstLastPara="1" rIns="94025" wrap="square" tIns="47000">
            <a:noAutofit/>
          </a:bodyPr>
          <a:lstStyle/>
          <a:p>
            <a:pPr indent="0" lvl="0" marL="0" rtl="0" algn="l">
              <a:spcBef>
                <a:spcPts val="360"/>
              </a:spcBef>
              <a:spcAft>
                <a:spcPts val="0"/>
              </a:spcAft>
              <a:buNone/>
            </a:pPr>
            <a:r>
              <a:t/>
            </a:r>
            <a:endParaRPr/>
          </a:p>
        </p:txBody>
      </p:sp>
      <p:sp>
        <p:nvSpPr>
          <p:cNvPr id="134" name="Google Shape;134;p13: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4:notes"/>
          <p:cNvSpPr txBox="1"/>
          <p:nvPr>
            <p:ph idx="1" type="body"/>
          </p:nvPr>
        </p:nvSpPr>
        <p:spPr>
          <a:xfrm>
            <a:off x="937260" y="3366135"/>
            <a:ext cx="7498080" cy="3188970"/>
          </a:xfrm>
          <a:prstGeom prst="rect">
            <a:avLst/>
          </a:prstGeom>
        </p:spPr>
        <p:txBody>
          <a:bodyPr anchorCtr="0" anchor="t" bIns="47000" lIns="94025" spcFirstLastPara="1" rIns="94025" wrap="square" tIns="47000">
            <a:noAutofit/>
          </a:bodyPr>
          <a:lstStyle/>
          <a:p>
            <a:pPr indent="0" lvl="0" marL="0" rtl="0" algn="l">
              <a:spcBef>
                <a:spcPts val="360"/>
              </a:spcBef>
              <a:spcAft>
                <a:spcPts val="0"/>
              </a:spcAft>
              <a:buNone/>
            </a:pPr>
            <a:r>
              <a:t/>
            </a:r>
            <a:endParaRPr/>
          </a:p>
        </p:txBody>
      </p:sp>
      <p:sp>
        <p:nvSpPr>
          <p:cNvPr id="140" name="Google Shape;140;p14: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5:notes"/>
          <p:cNvSpPr txBox="1"/>
          <p:nvPr>
            <p:ph idx="1" type="body"/>
          </p:nvPr>
        </p:nvSpPr>
        <p:spPr>
          <a:xfrm>
            <a:off x="937260" y="3366135"/>
            <a:ext cx="7498080" cy="3188970"/>
          </a:xfrm>
          <a:prstGeom prst="rect">
            <a:avLst/>
          </a:prstGeom>
        </p:spPr>
        <p:txBody>
          <a:bodyPr anchorCtr="0" anchor="t" bIns="47000" lIns="94025" spcFirstLastPara="1" rIns="94025" wrap="square" tIns="47000">
            <a:noAutofit/>
          </a:bodyPr>
          <a:lstStyle/>
          <a:p>
            <a:pPr indent="0" lvl="0" marL="0" rtl="0" algn="l">
              <a:spcBef>
                <a:spcPts val="360"/>
              </a:spcBef>
              <a:spcAft>
                <a:spcPts val="0"/>
              </a:spcAft>
              <a:buNone/>
            </a:pPr>
            <a:r>
              <a:t/>
            </a:r>
            <a:endParaRPr/>
          </a:p>
        </p:txBody>
      </p:sp>
      <p:sp>
        <p:nvSpPr>
          <p:cNvPr id="146" name="Google Shape;146;p15: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6:notes"/>
          <p:cNvSpPr txBox="1"/>
          <p:nvPr>
            <p:ph idx="1" type="body"/>
          </p:nvPr>
        </p:nvSpPr>
        <p:spPr>
          <a:xfrm>
            <a:off x="937260" y="3366135"/>
            <a:ext cx="7498080" cy="3188970"/>
          </a:xfrm>
          <a:prstGeom prst="rect">
            <a:avLst/>
          </a:prstGeom>
        </p:spPr>
        <p:txBody>
          <a:bodyPr anchorCtr="0" anchor="t" bIns="47000" lIns="94025" spcFirstLastPara="1" rIns="94025" wrap="square" tIns="47000">
            <a:noAutofit/>
          </a:bodyPr>
          <a:lstStyle/>
          <a:p>
            <a:pPr indent="0" lvl="0" marL="0" rtl="0" algn="l">
              <a:spcBef>
                <a:spcPts val="360"/>
              </a:spcBef>
              <a:spcAft>
                <a:spcPts val="0"/>
              </a:spcAft>
              <a:buNone/>
            </a:pPr>
            <a:r>
              <a:t/>
            </a:r>
            <a:endParaRPr/>
          </a:p>
        </p:txBody>
      </p:sp>
      <p:sp>
        <p:nvSpPr>
          <p:cNvPr id="152" name="Google Shape;152;p16: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7:notes"/>
          <p:cNvSpPr txBox="1"/>
          <p:nvPr>
            <p:ph idx="1" type="body"/>
          </p:nvPr>
        </p:nvSpPr>
        <p:spPr>
          <a:xfrm>
            <a:off x="937260" y="3366135"/>
            <a:ext cx="7498080" cy="3188970"/>
          </a:xfrm>
          <a:prstGeom prst="rect">
            <a:avLst/>
          </a:prstGeom>
        </p:spPr>
        <p:txBody>
          <a:bodyPr anchorCtr="0" anchor="t" bIns="47000" lIns="94025" spcFirstLastPara="1" rIns="94025" wrap="square" tIns="47000">
            <a:noAutofit/>
          </a:bodyPr>
          <a:lstStyle/>
          <a:p>
            <a:pPr indent="0" lvl="0" marL="0" rtl="0" algn="l">
              <a:spcBef>
                <a:spcPts val="360"/>
              </a:spcBef>
              <a:spcAft>
                <a:spcPts val="0"/>
              </a:spcAft>
              <a:buNone/>
            </a:pPr>
            <a:r>
              <a:t/>
            </a:r>
            <a:endParaRPr/>
          </a:p>
        </p:txBody>
      </p:sp>
      <p:sp>
        <p:nvSpPr>
          <p:cNvPr id="158" name="Google Shape;158;p17: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8:notes"/>
          <p:cNvSpPr txBox="1"/>
          <p:nvPr>
            <p:ph idx="1" type="body"/>
          </p:nvPr>
        </p:nvSpPr>
        <p:spPr>
          <a:xfrm>
            <a:off x="937260" y="3366135"/>
            <a:ext cx="7498080" cy="3188970"/>
          </a:xfrm>
          <a:prstGeom prst="rect">
            <a:avLst/>
          </a:prstGeom>
        </p:spPr>
        <p:txBody>
          <a:bodyPr anchorCtr="0" anchor="t" bIns="47000" lIns="94025" spcFirstLastPara="1" rIns="94025" wrap="square" tIns="47000">
            <a:noAutofit/>
          </a:bodyPr>
          <a:lstStyle/>
          <a:p>
            <a:pPr indent="0" lvl="0" marL="0" rtl="0" algn="l">
              <a:spcBef>
                <a:spcPts val="360"/>
              </a:spcBef>
              <a:spcAft>
                <a:spcPts val="0"/>
              </a:spcAft>
              <a:buNone/>
            </a:pPr>
            <a:r>
              <a:t/>
            </a:r>
            <a:endParaRPr/>
          </a:p>
        </p:txBody>
      </p:sp>
      <p:sp>
        <p:nvSpPr>
          <p:cNvPr id="164" name="Google Shape;164;p18: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9:notes"/>
          <p:cNvSpPr txBox="1"/>
          <p:nvPr>
            <p:ph idx="1" type="body"/>
          </p:nvPr>
        </p:nvSpPr>
        <p:spPr>
          <a:xfrm>
            <a:off x="937260" y="3366135"/>
            <a:ext cx="7498080" cy="3188970"/>
          </a:xfrm>
          <a:prstGeom prst="rect">
            <a:avLst/>
          </a:prstGeom>
        </p:spPr>
        <p:txBody>
          <a:bodyPr anchorCtr="0" anchor="t" bIns="47000" lIns="94025" spcFirstLastPara="1" rIns="94025" wrap="square" tIns="47000">
            <a:noAutofit/>
          </a:bodyPr>
          <a:lstStyle/>
          <a:p>
            <a:pPr indent="0" lvl="0" marL="0" rtl="0" algn="l">
              <a:spcBef>
                <a:spcPts val="360"/>
              </a:spcBef>
              <a:spcAft>
                <a:spcPts val="0"/>
              </a:spcAft>
              <a:buNone/>
            </a:pPr>
            <a:r>
              <a:t/>
            </a:r>
            <a:endParaRPr/>
          </a:p>
        </p:txBody>
      </p:sp>
      <p:sp>
        <p:nvSpPr>
          <p:cNvPr id="170" name="Google Shape;170;p19: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20:notes"/>
          <p:cNvSpPr txBox="1"/>
          <p:nvPr>
            <p:ph idx="1" type="body"/>
          </p:nvPr>
        </p:nvSpPr>
        <p:spPr>
          <a:xfrm>
            <a:off x="937260" y="3366135"/>
            <a:ext cx="7498080" cy="3188970"/>
          </a:xfrm>
          <a:prstGeom prst="rect">
            <a:avLst/>
          </a:prstGeom>
        </p:spPr>
        <p:txBody>
          <a:bodyPr anchorCtr="0" anchor="t" bIns="47000" lIns="94025" spcFirstLastPara="1" rIns="94025" wrap="square" tIns="47000">
            <a:noAutofit/>
          </a:bodyPr>
          <a:lstStyle/>
          <a:p>
            <a:pPr indent="0" lvl="0" marL="0" rtl="0" algn="l">
              <a:spcBef>
                <a:spcPts val="360"/>
              </a:spcBef>
              <a:spcAft>
                <a:spcPts val="0"/>
              </a:spcAft>
              <a:buNone/>
            </a:pPr>
            <a:r>
              <a:t/>
            </a:r>
            <a:endParaRPr/>
          </a:p>
        </p:txBody>
      </p:sp>
      <p:sp>
        <p:nvSpPr>
          <p:cNvPr id="176" name="Google Shape;176;p20: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21:notes"/>
          <p:cNvSpPr txBox="1"/>
          <p:nvPr>
            <p:ph idx="1" type="body"/>
          </p:nvPr>
        </p:nvSpPr>
        <p:spPr>
          <a:xfrm>
            <a:off x="937260" y="3366135"/>
            <a:ext cx="7498080" cy="3188970"/>
          </a:xfrm>
          <a:prstGeom prst="rect">
            <a:avLst/>
          </a:prstGeom>
        </p:spPr>
        <p:txBody>
          <a:bodyPr anchorCtr="0" anchor="t" bIns="47000" lIns="94025" spcFirstLastPara="1" rIns="94025" wrap="square" tIns="47000">
            <a:noAutofit/>
          </a:bodyPr>
          <a:lstStyle/>
          <a:p>
            <a:pPr indent="0" lvl="0" marL="0" rtl="0" algn="l">
              <a:spcBef>
                <a:spcPts val="360"/>
              </a:spcBef>
              <a:spcAft>
                <a:spcPts val="0"/>
              </a:spcAft>
              <a:buNone/>
            </a:pPr>
            <a:r>
              <a:t/>
            </a:r>
            <a:endParaRPr/>
          </a:p>
        </p:txBody>
      </p:sp>
      <p:sp>
        <p:nvSpPr>
          <p:cNvPr id="182" name="Google Shape;182;p21: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22: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188" name="Google Shape;188;p22: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189" name="Google Shape;189;p22: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2380"/>
              <a:t>Compromises to Intellectual Property</a:t>
            </a:r>
            <a:endParaRPr/>
          </a:p>
          <a:p>
            <a:pPr indent="0" lvl="0" marL="0" rtl="0" algn="l">
              <a:lnSpc>
                <a:spcPct val="90000"/>
              </a:lnSpc>
              <a:spcBef>
                <a:spcPts val="450"/>
              </a:spcBef>
              <a:spcAft>
                <a:spcPts val="0"/>
              </a:spcAft>
              <a:buNone/>
            </a:pPr>
            <a:r>
              <a:rPr lang="en-US" sz="2380"/>
              <a:t>Many organizations create or support the development of intellectual property as part of their business operations.  </a:t>
            </a:r>
            <a:endParaRPr/>
          </a:p>
          <a:p>
            <a:pPr indent="0" lvl="0" marL="0" rtl="0" algn="l">
              <a:lnSpc>
                <a:spcPct val="90000"/>
              </a:lnSpc>
              <a:spcBef>
                <a:spcPts val="450"/>
              </a:spcBef>
              <a:spcAft>
                <a:spcPts val="0"/>
              </a:spcAft>
              <a:buNone/>
            </a:pPr>
            <a:r>
              <a:rPr lang="en-US" sz="2380"/>
              <a:t>Intellectual property is defined as “the ownership of ideas and control over the tangible or virtual representation of those ideas.” </a:t>
            </a:r>
            <a:endParaRPr/>
          </a:p>
          <a:p>
            <a:pPr indent="0" lvl="0" marL="0" rtl="0" algn="l">
              <a:lnSpc>
                <a:spcPct val="90000"/>
              </a:lnSpc>
              <a:spcBef>
                <a:spcPts val="450"/>
              </a:spcBef>
              <a:spcAft>
                <a:spcPts val="0"/>
              </a:spcAft>
              <a:buNone/>
            </a:pPr>
            <a:r>
              <a:rPr lang="en-US" sz="2380"/>
              <a:t>Intellectual property for an organization includes trade secrets, copyrights, trademarks, and patents. </a:t>
            </a:r>
            <a:endParaRPr/>
          </a:p>
          <a:p>
            <a:pPr indent="0" lvl="0" marL="0" rtl="0" algn="l">
              <a:lnSpc>
                <a:spcPct val="90000"/>
              </a:lnSpc>
              <a:spcBef>
                <a:spcPts val="450"/>
              </a:spcBef>
              <a:spcAft>
                <a:spcPts val="0"/>
              </a:spcAft>
              <a:buNone/>
            </a:pPr>
            <a:r>
              <a:rPr lang="en-US" sz="2380"/>
              <a:t>Once intellectual property (IP) has been defined and properly identified, breaches to IP constitute a threat to the security of this information.  </a:t>
            </a:r>
            <a:endParaRPr/>
          </a:p>
          <a:p>
            <a:pPr indent="0" lvl="0" marL="0" rtl="0" algn="l">
              <a:lnSpc>
                <a:spcPct val="90000"/>
              </a:lnSpc>
              <a:spcBef>
                <a:spcPts val="450"/>
              </a:spcBef>
              <a:spcAft>
                <a:spcPts val="0"/>
              </a:spcAft>
              <a:buNone/>
            </a:pPr>
            <a:r>
              <a:rPr lang="en-US" sz="2380"/>
              <a:t>Most common IP breaches involve the unlawful use or duplication of software-based intellectual property, known as software piracy. </a:t>
            </a:r>
            <a:endParaRPr/>
          </a:p>
          <a:p>
            <a:pPr indent="0" lvl="0" marL="0" rtl="0" algn="l">
              <a:lnSpc>
                <a:spcPct val="90000"/>
              </a:lnSpc>
              <a:spcBef>
                <a:spcPts val="450"/>
              </a:spcBef>
              <a:spcAft>
                <a:spcPts val="0"/>
              </a:spcAft>
              <a:buNone/>
            </a:pPr>
            <a:r>
              <a:rPr lang="en-US" sz="2380"/>
              <a:t>In addition to the laws surrounding software piracy, two watchdog organizations investigate allegations of software abuse: Software &amp; Information Industry Association (SIIA), formerly the Software Publishers Association, and the Business Software Alliance (BSA).</a:t>
            </a:r>
            <a:endParaRPr/>
          </a:p>
          <a:p>
            <a:pPr indent="0" lvl="0" marL="0" rtl="0" algn="l">
              <a:lnSpc>
                <a:spcPct val="90000"/>
              </a:lnSpc>
              <a:spcBef>
                <a:spcPts val="450"/>
              </a:spcBef>
              <a:spcAft>
                <a:spcPts val="0"/>
              </a:spcAft>
              <a:buNone/>
            </a:pPr>
            <a:r>
              <a:rPr lang="en-US" sz="2380"/>
              <a:t>Enforcement of copyright violations, piracy, and the like has been attempted through a number of technical security mechanisms, including digital watermarks, embedded codes.  </a:t>
            </a:r>
            <a:endParaRPr/>
          </a:p>
          <a:p>
            <a:pPr indent="0" lvl="0" marL="0" rtl="0" algn="l">
              <a:lnSpc>
                <a:spcPct val="90000"/>
              </a:lnSpc>
              <a:spcBef>
                <a:spcPts val="450"/>
              </a:spcBef>
              <a:spcAft>
                <a:spcPts val="0"/>
              </a:spcAft>
              <a:buNone/>
            </a:pPr>
            <a:r>
              <a:t/>
            </a:r>
            <a:endParaRPr sz="2380"/>
          </a:p>
          <a:p>
            <a:pPr indent="0" lvl="0" marL="0" rtl="0" algn="l">
              <a:lnSpc>
                <a:spcPct val="90000"/>
              </a:lnSpc>
              <a:spcBef>
                <a:spcPts val="450"/>
              </a:spcBef>
              <a:spcAft>
                <a:spcPts val="0"/>
              </a:spcAft>
              <a:buNone/>
            </a:pPr>
            <a:r>
              <a:t/>
            </a:r>
            <a:endParaRPr sz="2380"/>
          </a:p>
        </p:txBody>
      </p:sp>
      <p:sp>
        <p:nvSpPr>
          <p:cNvPr id="190" name="Google Shape;190;p22: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196" name="Google Shape;196;p23: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197" name="Google Shape;197;p23: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2380"/>
              <a:t>Potential Deviations in Quality of Service by Service Providers</a:t>
            </a:r>
            <a:endParaRPr/>
          </a:p>
          <a:p>
            <a:pPr indent="0" lvl="0" marL="0" rtl="0" algn="l">
              <a:lnSpc>
                <a:spcPct val="90000"/>
              </a:lnSpc>
              <a:spcBef>
                <a:spcPts val="450"/>
              </a:spcBef>
              <a:spcAft>
                <a:spcPts val="0"/>
              </a:spcAft>
              <a:buNone/>
            </a:pPr>
            <a:r>
              <a:rPr lang="en-US" sz="2380"/>
              <a:t>This category represents situations in which a product or services are not delivered to the organization as expected. </a:t>
            </a:r>
            <a:endParaRPr/>
          </a:p>
          <a:p>
            <a:pPr indent="0" lvl="0" marL="0" rtl="0" algn="l">
              <a:lnSpc>
                <a:spcPct val="90000"/>
              </a:lnSpc>
              <a:spcBef>
                <a:spcPts val="450"/>
              </a:spcBef>
              <a:spcAft>
                <a:spcPts val="0"/>
              </a:spcAft>
              <a:buNone/>
            </a:pPr>
            <a:r>
              <a:rPr lang="en-US" sz="2380"/>
              <a:t>The organization’s information system depends on the successful operation of many interdependent support systems including power grids, telecom networks, parts suppliers, service vendors, and even the janitorial staff and garbage haulers. </a:t>
            </a:r>
            <a:endParaRPr/>
          </a:p>
          <a:p>
            <a:pPr indent="0" lvl="0" marL="0" rtl="0" algn="l">
              <a:lnSpc>
                <a:spcPct val="90000"/>
              </a:lnSpc>
              <a:spcBef>
                <a:spcPts val="450"/>
              </a:spcBef>
              <a:spcAft>
                <a:spcPts val="0"/>
              </a:spcAft>
              <a:buNone/>
            </a:pPr>
            <a:r>
              <a:rPr lang="en-US" sz="2380"/>
              <a:t>Internet service, communications, and power irregularities are three sets of service issues that dramatically affect the availability of information and systems.</a:t>
            </a:r>
            <a:endParaRPr/>
          </a:p>
          <a:p>
            <a:pPr indent="0" lvl="0" marL="0" rtl="0" algn="l">
              <a:lnSpc>
                <a:spcPct val="90000"/>
              </a:lnSpc>
              <a:spcBef>
                <a:spcPts val="450"/>
              </a:spcBef>
              <a:spcAft>
                <a:spcPts val="0"/>
              </a:spcAft>
              <a:buNone/>
            </a:pPr>
            <a:r>
              <a:t/>
            </a:r>
            <a:endParaRPr sz="2380"/>
          </a:p>
          <a:p>
            <a:pPr indent="0" lvl="0" marL="0" rtl="0" algn="l">
              <a:lnSpc>
                <a:spcPct val="90000"/>
              </a:lnSpc>
              <a:spcBef>
                <a:spcPts val="450"/>
              </a:spcBef>
              <a:spcAft>
                <a:spcPts val="0"/>
              </a:spcAft>
              <a:buNone/>
            </a:pPr>
            <a:r>
              <a:rPr b="1" lang="en-US" sz="2380"/>
              <a:t>Internet Service Issues</a:t>
            </a:r>
            <a:endParaRPr/>
          </a:p>
          <a:p>
            <a:pPr indent="0" lvl="0" marL="0" rtl="0" algn="l">
              <a:lnSpc>
                <a:spcPct val="90000"/>
              </a:lnSpc>
              <a:spcBef>
                <a:spcPts val="450"/>
              </a:spcBef>
              <a:spcAft>
                <a:spcPts val="0"/>
              </a:spcAft>
              <a:buNone/>
            </a:pPr>
            <a:r>
              <a:rPr lang="en-US" sz="2380"/>
              <a:t>For organizations that rely heavily on the Internet and the Web to support continued operations, the threat of the potential loss of Internet service can lead to considerable loss in the availability of information. </a:t>
            </a:r>
            <a:endParaRPr/>
          </a:p>
          <a:p>
            <a:pPr indent="0" lvl="0" marL="0" rtl="0" algn="l">
              <a:lnSpc>
                <a:spcPct val="90000"/>
              </a:lnSpc>
              <a:spcBef>
                <a:spcPts val="450"/>
              </a:spcBef>
              <a:spcAft>
                <a:spcPts val="0"/>
              </a:spcAft>
              <a:buNone/>
            </a:pPr>
            <a:r>
              <a:rPr lang="en-US" sz="2380"/>
              <a:t>Many organizations have sales staff and telecommuters working at remote locations.  </a:t>
            </a:r>
            <a:endParaRPr/>
          </a:p>
          <a:p>
            <a:pPr indent="0" lvl="0" marL="0" rtl="0" algn="l">
              <a:lnSpc>
                <a:spcPct val="90000"/>
              </a:lnSpc>
              <a:spcBef>
                <a:spcPts val="450"/>
              </a:spcBef>
              <a:spcAft>
                <a:spcPts val="0"/>
              </a:spcAft>
              <a:buNone/>
            </a:pPr>
            <a:r>
              <a:rPr lang="en-US" sz="2380"/>
              <a:t>When an organization places its Web servers in the care of a Web hosting provider, that outsourcer assumes responsibility for all Internet services as well as for the hardware and operating system software used to operate the Web site. </a:t>
            </a:r>
            <a:endParaRPr/>
          </a:p>
          <a:p>
            <a:pPr indent="0" lvl="0" marL="0" rtl="0" algn="l">
              <a:lnSpc>
                <a:spcPct val="90000"/>
              </a:lnSpc>
              <a:spcBef>
                <a:spcPts val="450"/>
              </a:spcBef>
              <a:spcAft>
                <a:spcPts val="0"/>
              </a:spcAft>
              <a:buNone/>
            </a:pPr>
            <a:r>
              <a:t/>
            </a:r>
            <a:endParaRPr sz="2380"/>
          </a:p>
        </p:txBody>
      </p:sp>
      <p:sp>
        <p:nvSpPr>
          <p:cNvPr id="198" name="Google Shape;198;p23: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4: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204" name="Google Shape;204;p24: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205" name="Google Shape;205;p24: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2380"/>
              <a:t>Communications and Other Service Provider Issues</a:t>
            </a:r>
            <a:endParaRPr/>
          </a:p>
          <a:p>
            <a:pPr indent="0" lvl="0" marL="0" rtl="0" algn="l">
              <a:lnSpc>
                <a:spcPct val="90000"/>
              </a:lnSpc>
              <a:spcBef>
                <a:spcPts val="450"/>
              </a:spcBef>
              <a:spcAft>
                <a:spcPts val="0"/>
              </a:spcAft>
              <a:buNone/>
            </a:pPr>
            <a:r>
              <a:rPr lang="en-US" sz="2380"/>
              <a:t>Other utility services can impact organizations as well. </a:t>
            </a:r>
            <a:endParaRPr/>
          </a:p>
          <a:p>
            <a:pPr indent="0" lvl="0" marL="0" rtl="0" algn="l">
              <a:lnSpc>
                <a:spcPct val="90000"/>
              </a:lnSpc>
              <a:spcBef>
                <a:spcPts val="450"/>
              </a:spcBef>
              <a:spcAft>
                <a:spcPts val="0"/>
              </a:spcAft>
              <a:buNone/>
            </a:pPr>
            <a:r>
              <a:rPr lang="en-US" sz="2380"/>
              <a:t>Among these are telephone, water, wastewater, trash pickup, cable television, natural or propane gas, and custodial services. </a:t>
            </a:r>
            <a:endParaRPr/>
          </a:p>
          <a:p>
            <a:pPr indent="0" lvl="0" marL="0" rtl="0" algn="l">
              <a:lnSpc>
                <a:spcPct val="90000"/>
              </a:lnSpc>
              <a:spcBef>
                <a:spcPts val="450"/>
              </a:spcBef>
              <a:spcAft>
                <a:spcPts val="0"/>
              </a:spcAft>
              <a:buNone/>
            </a:pPr>
            <a:r>
              <a:rPr lang="en-US" sz="2380"/>
              <a:t>The threat of loss of these services can lead to the inability of an organization to function properly. </a:t>
            </a:r>
            <a:endParaRPr/>
          </a:p>
          <a:p>
            <a:pPr indent="0" lvl="0" marL="0" rtl="0" algn="l">
              <a:lnSpc>
                <a:spcPct val="90000"/>
              </a:lnSpc>
              <a:spcBef>
                <a:spcPts val="450"/>
              </a:spcBef>
              <a:spcAft>
                <a:spcPts val="0"/>
              </a:spcAft>
              <a:buNone/>
            </a:pPr>
            <a:r>
              <a:t/>
            </a:r>
            <a:endParaRPr sz="2380"/>
          </a:p>
          <a:p>
            <a:pPr indent="0" lvl="0" marL="0" rtl="0" algn="l">
              <a:lnSpc>
                <a:spcPct val="90000"/>
              </a:lnSpc>
              <a:spcBef>
                <a:spcPts val="450"/>
              </a:spcBef>
              <a:spcAft>
                <a:spcPts val="0"/>
              </a:spcAft>
              <a:buNone/>
            </a:pPr>
            <a:r>
              <a:rPr b="1" lang="en-US" sz="2380"/>
              <a:t>Power Irregularities</a:t>
            </a:r>
            <a:endParaRPr/>
          </a:p>
          <a:p>
            <a:pPr indent="0" lvl="0" marL="0" rtl="0" algn="l">
              <a:lnSpc>
                <a:spcPct val="90000"/>
              </a:lnSpc>
              <a:spcBef>
                <a:spcPts val="450"/>
              </a:spcBef>
              <a:spcAft>
                <a:spcPts val="0"/>
              </a:spcAft>
              <a:buNone/>
            </a:pPr>
            <a:r>
              <a:rPr lang="en-US" sz="2380"/>
              <a:t>The threat of irregularities from power utilities is common and can lead to fluctuations such as power excesses, power shortages, and power losses. </a:t>
            </a:r>
            <a:endParaRPr/>
          </a:p>
          <a:p>
            <a:pPr indent="0" lvl="0" marL="0" rtl="0" algn="l">
              <a:lnSpc>
                <a:spcPct val="90000"/>
              </a:lnSpc>
              <a:spcBef>
                <a:spcPts val="450"/>
              </a:spcBef>
              <a:spcAft>
                <a:spcPts val="0"/>
              </a:spcAft>
              <a:buNone/>
            </a:pPr>
            <a:r>
              <a:rPr lang="en-US" sz="2380"/>
              <a:t>In the U.S., buildings are “fed” 120-volt, 60-cycle power usually through 15 and 20 amp circuits. </a:t>
            </a:r>
            <a:endParaRPr/>
          </a:p>
          <a:p>
            <a:pPr indent="0" lvl="0" marL="0" rtl="0" algn="l">
              <a:lnSpc>
                <a:spcPct val="90000"/>
              </a:lnSpc>
              <a:spcBef>
                <a:spcPts val="450"/>
              </a:spcBef>
              <a:spcAft>
                <a:spcPts val="0"/>
              </a:spcAft>
              <a:buNone/>
            </a:pPr>
            <a:r>
              <a:rPr lang="en-US" sz="2380"/>
              <a:t>Voltage levels  can:</a:t>
            </a:r>
            <a:endParaRPr/>
          </a:p>
          <a:p>
            <a:pPr indent="-151130" lvl="0" marL="0" rtl="0" algn="l">
              <a:lnSpc>
                <a:spcPct val="90000"/>
              </a:lnSpc>
              <a:spcBef>
                <a:spcPts val="450"/>
              </a:spcBef>
              <a:spcAft>
                <a:spcPts val="0"/>
              </a:spcAft>
              <a:buClr>
                <a:schemeClr val="dk1"/>
              </a:buClr>
              <a:buSzPts val="2380"/>
              <a:buFont typeface="Calibri"/>
              <a:buChar char="•"/>
            </a:pPr>
            <a:r>
              <a:rPr lang="en-US" sz="2380"/>
              <a:t> spike – momentary increase or surge – prolonged increase</a:t>
            </a:r>
            <a:endParaRPr/>
          </a:p>
          <a:p>
            <a:pPr indent="-151130" lvl="0" marL="0" rtl="0" algn="l">
              <a:lnSpc>
                <a:spcPct val="90000"/>
              </a:lnSpc>
              <a:spcBef>
                <a:spcPts val="450"/>
              </a:spcBef>
              <a:spcAft>
                <a:spcPts val="0"/>
              </a:spcAft>
              <a:buClr>
                <a:schemeClr val="dk1"/>
              </a:buClr>
              <a:buSzPts val="2380"/>
              <a:buFont typeface="Calibri"/>
              <a:buChar char="•"/>
            </a:pPr>
            <a:r>
              <a:rPr lang="en-US" sz="2380"/>
              <a:t> sag – momentary low voltage, or brownout – prolonged drop</a:t>
            </a:r>
            <a:endParaRPr/>
          </a:p>
          <a:p>
            <a:pPr indent="-151130" lvl="0" marL="0" rtl="0" algn="l">
              <a:lnSpc>
                <a:spcPct val="90000"/>
              </a:lnSpc>
              <a:spcBef>
                <a:spcPts val="450"/>
              </a:spcBef>
              <a:spcAft>
                <a:spcPts val="0"/>
              </a:spcAft>
              <a:buClr>
                <a:schemeClr val="dk1"/>
              </a:buClr>
              <a:buSzPts val="2380"/>
              <a:buFont typeface="Calibri"/>
              <a:buChar char="•"/>
            </a:pPr>
            <a:r>
              <a:rPr lang="en-US" sz="2380"/>
              <a:t> fault – momentary loss of power, or blackout – prolonged loss</a:t>
            </a:r>
            <a:endParaRPr/>
          </a:p>
          <a:p>
            <a:pPr indent="0" lvl="0" marL="0" rtl="0" algn="l">
              <a:lnSpc>
                <a:spcPct val="90000"/>
              </a:lnSpc>
              <a:spcBef>
                <a:spcPts val="450"/>
              </a:spcBef>
              <a:spcAft>
                <a:spcPts val="0"/>
              </a:spcAft>
              <a:buNone/>
            </a:pPr>
            <a:r>
              <a:rPr lang="en-US" sz="2380"/>
              <a:t>Since sensitive electronic equipment, especially networking equipment, computers, and computer-based systems are susceptible to fluctuations, controls can be applied to manage power quality. </a:t>
            </a:r>
            <a:endParaRPr/>
          </a:p>
          <a:p>
            <a:pPr indent="0" lvl="0" marL="0" rtl="0" algn="l">
              <a:lnSpc>
                <a:spcPct val="90000"/>
              </a:lnSpc>
              <a:spcBef>
                <a:spcPts val="450"/>
              </a:spcBef>
              <a:spcAft>
                <a:spcPts val="0"/>
              </a:spcAft>
              <a:buNone/>
            </a:pPr>
            <a:r>
              <a:t/>
            </a:r>
            <a:endParaRPr sz="2380"/>
          </a:p>
          <a:p>
            <a:pPr indent="0" lvl="0" marL="0" rtl="0" algn="l">
              <a:lnSpc>
                <a:spcPct val="90000"/>
              </a:lnSpc>
              <a:spcBef>
                <a:spcPts val="450"/>
              </a:spcBef>
              <a:spcAft>
                <a:spcPts val="0"/>
              </a:spcAft>
              <a:buNone/>
            </a:pPr>
            <a:r>
              <a:t/>
            </a:r>
            <a:endParaRPr sz="2380"/>
          </a:p>
        </p:txBody>
      </p:sp>
      <p:sp>
        <p:nvSpPr>
          <p:cNvPr id="206" name="Google Shape;206;p24: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5:notes"/>
          <p:cNvSpPr txBox="1"/>
          <p:nvPr>
            <p:ph idx="1" type="body"/>
          </p:nvPr>
        </p:nvSpPr>
        <p:spPr>
          <a:xfrm>
            <a:off x="937260" y="3366135"/>
            <a:ext cx="7498080" cy="3188970"/>
          </a:xfrm>
          <a:prstGeom prst="rect">
            <a:avLst/>
          </a:prstGeom>
        </p:spPr>
        <p:txBody>
          <a:bodyPr anchorCtr="0" anchor="t" bIns="47000" lIns="94025" spcFirstLastPara="1" rIns="94025" wrap="square" tIns="47000">
            <a:noAutofit/>
          </a:bodyPr>
          <a:lstStyle/>
          <a:p>
            <a:pPr indent="0" lvl="0" marL="0" rtl="0" algn="l">
              <a:spcBef>
                <a:spcPts val="360"/>
              </a:spcBef>
              <a:spcAft>
                <a:spcPts val="0"/>
              </a:spcAft>
              <a:buNone/>
            </a:pPr>
            <a:r>
              <a:t/>
            </a:r>
            <a:endParaRPr/>
          </a:p>
        </p:txBody>
      </p:sp>
      <p:sp>
        <p:nvSpPr>
          <p:cNvPr id="212" name="Google Shape;212;p25: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6: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26:notes"/>
          <p:cNvSpPr txBox="1"/>
          <p:nvPr>
            <p:ph idx="1" type="body"/>
          </p:nvPr>
        </p:nvSpPr>
        <p:spPr>
          <a:xfrm>
            <a:off x="937260" y="3366135"/>
            <a:ext cx="7498080" cy="3188970"/>
          </a:xfrm>
          <a:prstGeom prst="rect">
            <a:avLst/>
          </a:prstGeom>
          <a:noFill/>
          <a:ln>
            <a:noFill/>
          </a:ln>
        </p:spPr>
        <p:txBody>
          <a:bodyPr anchorCtr="0" anchor="t" bIns="47000" lIns="94025" spcFirstLastPara="1" rIns="94025" wrap="square" tIns="47000">
            <a:noAutofit/>
          </a:bodyPr>
          <a:lstStyle/>
          <a:p>
            <a:pPr indent="0" lvl="0" marL="0" rtl="0" algn="l">
              <a:lnSpc>
                <a:spcPct val="80000"/>
              </a:lnSpc>
              <a:spcBef>
                <a:spcPts val="0"/>
              </a:spcBef>
              <a:spcAft>
                <a:spcPts val="0"/>
              </a:spcAft>
              <a:buNone/>
            </a:pPr>
            <a:r>
              <a:rPr b="1" lang="en-US" sz="1110"/>
              <a:t>Deliberate Acts of Espionage or Trespass</a:t>
            </a:r>
            <a:endParaRPr/>
          </a:p>
          <a:p>
            <a:pPr indent="0" lvl="0" marL="0" rtl="0" algn="l">
              <a:lnSpc>
                <a:spcPct val="80000"/>
              </a:lnSpc>
              <a:spcBef>
                <a:spcPts val="450"/>
              </a:spcBef>
              <a:spcAft>
                <a:spcPts val="0"/>
              </a:spcAft>
              <a:buNone/>
            </a:pPr>
            <a:r>
              <a:rPr lang="en-US" sz="1110"/>
              <a:t>This threat represents a well-known and broad category of electronic and human activities that breach the confidentiality of information. </a:t>
            </a:r>
            <a:endParaRPr/>
          </a:p>
          <a:p>
            <a:pPr indent="0" lvl="0" marL="0" rtl="0" algn="l">
              <a:lnSpc>
                <a:spcPct val="80000"/>
              </a:lnSpc>
              <a:spcBef>
                <a:spcPts val="450"/>
              </a:spcBef>
              <a:spcAft>
                <a:spcPts val="0"/>
              </a:spcAft>
              <a:buNone/>
            </a:pPr>
            <a:r>
              <a:rPr lang="en-US" sz="1110"/>
              <a:t>When an unauthorized individual gains access to the information an organization is trying to protect, that act is categorized as a deliberate act of espionage or trespass. </a:t>
            </a:r>
            <a:endParaRPr/>
          </a:p>
          <a:p>
            <a:pPr indent="0" lvl="0" marL="0" rtl="0" algn="l">
              <a:lnSpc>
                <a:spcPct val="80000"/>
              </a:lnSpc>
              <a:spcBef>
                <a:spcPts val="450"/>
              </a:spcBef>
              <a:spcAft>
                <a:spcPts val="0"/>
              </a:spcAft>
              <a:buNone/>
            </a:pPr>
            <a:r>
              <a:rPr lang="en-US" sz="1110"/>
              <a:t>When information gatherers employ techniques that cross the threshold of what is legal and/or ethical, they enter the world of industrial espionage.  </a:t>
            </a:r>
            <a:endParaRPr/>
          </a:p>
          <a:p>
            <a:pPr indent="0" lvl="0" marL="0" rtl="0" algn="l">
              <a:lnSpc>
                <a:spcPct val="80000"/>
              </a:lnSpc>
              <a:spcBef>
                <a:spcPts val="450"/>
              </a:spcBef>
              <a:spcAft>
                <a:spcPts val="0"/>
              </a:spcAft>
              <a:buNone/>
            </a:pPr>
            <a:r>
              <a:rPr lang="en-US" sz="1110"/>
              <a:t>Instances of shoulder surfing occur at computer terminals, desks, ATM machines, public phones, or other places where a person is accessing confidential information.</a:t>
            </a:r>
            <a:endParaRPr sz="925"/>
          </a:p>
          <a:p>
            <a:pPr indent="0" lvl="0" marL="0" rtl="0" algn="l">
              <a:lnSpc>
                <a:spcPct val="80000"/>
              </a:lnSpc>
              <a:spcBef>
                <a:spcPts val="450"/>
              </a:spcBef>
              <a:spcAft>
                <a:spcPts val="0"/>
              </a:spcAft>
              <a:buNone/>
            </a:pPr>
            <a:r>
              <a:rPr lang="en-US" sz="1110"/>
              <a:t>The threat of trespass can lead to unauthorized real or virtual actions that enable information gatherers to enter premises or systems they have not been authorized to enter.</a:t>
            </a:r>
            <a:endParaRPr/>
          </a:p>
          <a:p>
            <a:pPr indent="0" lvl="0" marL="0" rtl="0" algn="l">
              <a:lnSpc>
                <a:spcPct val="80000"/>
              </a:lnSpc>
              <a:spcBef>
                <a:spcPts val="450"/>
              </a:spcBef>
              <a:spcAft>
                <a:spcPts val="0"/>
              </a:spcAft>
              <a:buNone/>
            </a:pPr>
            <a:r>
              <a:rPr lang="en-US" sz="1110"/>
              <a:t>Controls are sometimes implemented to mark the boundaries of an organization’s virtual territory. </a:t>
            </a:r>
            <a:endParaRPr/>
          </a:p>
          <a:p>
            <a:pPr indent="0" lvl="0" marL="0" rtl="0" algn="l">
              <a:lnSpc>
                <a:spcPct val="80000"/>
              </a:lnSpc>
              <a:spcBef>
                <a:spcPts val="450"/>
              </a:spcBef>
              <a:spcAft>
                <a:spcPts val="0"/>
              </a:spcAft>
              <a:buNone/>
            </a:pPr>
            <a:r>
              <a:rPr lang="en-US" sz="1110"/>
              <a:t>These boundaries give notice to trespassers that they are encroaching on the organization’s cyberspace. </a:t>
            </a:r>
            <a:endParaRPr/>
          </a:p>
          <a:p>
            <a:pPr indent="0" lvl="0" marL="0" rtl="0" algn="l">
              <a:lnSpc>
                <a:spcPct val="80000"/>
              </a:lnSpc>
              <a:spcBef>
                <a:spcPts val="450"/>
              </a:spcBef>
              <a:spcAft>
                <a:spcPts val="0"/>
              </a:spcAft>
              <a:buNone/>
            </a:pPr>
            <a:r>
              <a:rPr lang="en-US" sz="1110"/>
              <a:t>The classic perpetrator of deliberate acts of espionage or trespass is the hacker.  </a:t>
            </a:r>
            <a:endParaRPr/>
          </a:p>
          <a:p>
            <a:pPr indent="0" lvl="0" marL="0" rtl="0" algn="l">
              <a:lnSpc>
                <a:spcPct val="80000"/>
              </a:lnSpc>
              <a:spcBef>
                <a:spcPts val="450"/>
              </a:spcBef>
              <a:spcAft>
                <a:spcPts val="0"/>
              </a:spcAft>
              <a:buNone/>
            </a:pPr>
            <a:r>
              <a:rPr lang="en-US" sz="1110"/>
              <a:t>In the gritty world of reality, a hacker uses skill, guile, or fraud to attempt to bypass the controls placed around information that is the property of someone else. The hacker frequently spends long hours examining the types and structures of the targeted systems. </a:t>
            </a:r>
            <a:endParaRPr/>
          </a:p>
          <a:p>
            <a:pPr indent="0" lvl="0" marL="0" rtl="0" algn="l">
              <a:lnSpc>
                <a:spcPct val="80000"/>
              </a:lnSpc>
              <a:spcBef>
                <a:spcPts val="450"/>
              </a:spcBef>
              <a:spcAft>
                <a:spcPts val="0"/>
              </a:spcAft>
              <a:buNone/>
            </a:pPr>
            <a:r>
              <a:t/>
            </a:r>
            <a:endParaRPr sz="1110"/>
          </a:p>
          <a:p>
            <a:pPr indent="0" lvl="0" marL="0" rtl="0" algn="l">
              <a:lnSpc>
                <a:spcPct val="80000"/>
              </a:lnSpc>
              <a:spcBef>
                <a:spcPts val="333"/>
              </a:spcBef>
              <a:spcAft>
                <a:spcPts val="0"/>
              </a:spcAft>
              <a:buNone/>
            </a:pPr>
            <a:r>
              <a:t/>
            </a:r>
            <a:endParaRPr sz="1110"/>
          </a:p>
        </p:txBody>
      </p:sp>
      <p:sp>
        <p:nvSpPr>
          <p:cNvPr id="220" name="Google Shape;220;p26: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7: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27:notes"/>
          <p:cNvSpPr txBox="1"/>
          <p:nvPr>
            <p:ph idx="1" type="body"/>
          </p:nvPr>
        </p:nvSpPr>
        <p:spPr>
          <a:xfrm>
            <a:off x="937260" y="3366135"/>
            <a:ext cx="7498080" cy="3188970"/>
          </a:xfrm>
          <a:prstGeom prst="rect">
            <a:avLst/>
          </a:prstGeom>
          <a:noFill/>
          <a:ln>
            <a:noFill/>
          </a:ln>
        </p:spPr>
        <p:txBody>
          <a:bodyPr anchorCtr="0" anchor="t" bIns="47000" lIns="94025" spcFirstLastPara="1" rIns="94025" wrap="square" tIns="47000">
            <a:noAutofit/>
          </a:bodyPr>
          <a:lstStyle/>
          <a:p>
            <a:pPr indent="0" lvl="0" marL="0" rtl="0" algn="l">
              <a:spcBef>
                <a:spcPts val="0"/>
              </a:spcBef>
              <a:spcAft>
                <a:spcPts val="0"/>
              </a:spcAft>
              <a:buNone/>
            </a:pPr>
            <a:r>
              <a:rPr b="1" lang="en-US" sz="1110"/>
              <a:t>Deliberate Acts of Espionage or Trespass </a:t>
            </a:r>
            <a:endParaRPr/>
          </a:p>
          <a:p>
            <a:pPr indent="0" lvl="0" marL="0" rtl="0" algn="l">
              <a:spcBef>
                <a:spcPts val="375"/>
              </a:spcBef>
              <a:spcAft>
                <a:spcPts val="0"/>
              </a:spcAft>
              <a:buNone/>
            </a:pPr>
            <a:r>
              <a:rPr lang="en-US" sz="1110"/>
              <a:t>There are generally two skill levels among hackers. </a:t>
            </a:r>
            <a:endParaRPr/>
          </a:p>
          <a:p>
            <a:pPr indent="0" lvl="0" marL="0" rtl="0" algn="l">
              <a:spcBef>
                <a:spcPts val="450"/>
              </a:spcBef>
              <a:spcAft>
                <a:spcPts val="0"/>
              </a:spcAft>
              <a:buNone/>
            </a:pPr>
            <a:r>
              <a:rPr lang="en-US" sz="1110"/>
              <a:t>The first is the expert hacker, who develops software scripts and codes exploits used by the second category, the novice, or unskilled hacker.  </a:t>
            </a:r>
            <a:endParaRPr/>
          </a:p>
          <a:p>
            <a:pPr indent="0" lvl="0" marL="0" rtl="0" algn="l">
              <a:spcBef>
                <a:spcPts val="450"/>
              </a:spcBef>
              <a:spcAft>
                <a:spcPts val="0"/>
              </a:spcAft>
              <a:buNone/>
            </a:pPr>
            <a:r>
              <a:rPr lang="en-US" sz="1110"/>
              <a:t>The expert hacker is usually a master of several programming languages, networking protocols, and operating systems and also exhibits a mastery of the technical environment of the chosen targeted system. </a:t>
            </a:r>
            <a:endParaRPr/>
          </a:p>
          <a:p>
            <a:pPr indent="0" lvl="0" marL="0" rtl="0" algn="l">
              <a:spcBef>
                <a:spcPts val="450"/>
              </a:spcBef>
              <a:spcAft>
                <a:spcPts val="0"/>
              </a:spcAft>
              <a:buNone/>
            </a:pPr>
            <a:r>
              <a:rPr lang="en-US" sz="1110"/>
              <a:t>However, expert hackers have now become bored with directly attacking systems and have turned to writing software. </a:t>
            </a:r>
            <a:endParaRPr/>
          </a:p>
          <a:p>
            <a:pPr indent="0" lvl="0" marL="0" rtl="0" algn="l">
              <a:spcBef>
                <a:spcPts val="450"/>
              </a:spcBef>
              <a:spcAft>
                <a:spcPts val="0"/>
              </a:spcAft>
              <a:buNone/>
            </a:pPr>
            <a:r>
              <a:rPr lang="en-US" sz="1110"/>
              <a:t>The software they are writing are automated exploits that allow novice hackers to become script kiddies, hackers of limited skill who use expert-written software to exploit a system but do not fully understand or appreciate the systems they hack.  </a:t>
            </a:r>
            <a:endParaRPr/>
          </a:p>
          <a:p>
            <a:pPr indent="0" lvl="0" marL="0" rtl="0" algn="l">
              <a:spcBef>
                <a:spcPts val="450"/>
              </a:spcBef>
              <a:spcAft>
                <a:spcPts val="0"/>
              </a:spcAft>
              <a:buNone/>
            </a:pPr>
            <a:r>
              <a:rPr lang="en-US" sz="1110"/>
              <a:t>As a result of preparation and continued vigilance, attacks conducted by scripts are usually predictable and can be adequately defended against. </a:t>
            </a:r>
            <a:endParaRPr/>
          </a:p>
          <a:p>
            <a:pPr indent="0" lvl="0" marL="0" rtl="0" algn="l">
              <a:spcBef>
                <a:spcPts val="450"/>
              </a:spcBef>
              <a:spcAft>
                <a:spcPts val="0"/>
              </a:spcAft>
              <a:buNone/>
            </a:pPr>
            <a:r>
              <a:rPr lang="en-US" sz="1110"/>
              <a:t>There are other terms for system rule breakers:</a:t>
            </a:r>
            <a:endParaRPr/>
          </a:p>
          <a:p>
            <a:pPr indent="0" lvl="0" marL="0" rtl="0" algn="l">
              <a:spcBef>
                <a:spcPts val="450"/>
              </a:spcBef>
              <a:spcAft>
                <a:spcPts val="0"/>
              </a:spcAft>
              <a:buNone/>
            </a:pPr>
            <a:r>
              <a:rPr lang="en-US" sz="1110"/>
              <a:t>The term cracker is now commonly associated with an individual who “cracks” or removes the software protection from an application designed to prevent unauthorized duplication.  </a:t>
            </a:r>
            <a:endParaRPr/>
          </a:p>
          <a:p>
            <a:pPr indent="0" lvl="0" marL="0" rtl="0" algn="l">
              <a:spcBef>
                <a:spcPts val="450"/>
              </a:spcBef>
              <a:spcAft>
                <a:spcPts val="0"/>
              </a:spcAft>
              <a:buNone/>
            </a:pPr>
            <a:r>
              <a:rPr lang="en-US" sz="1110"/>
              <a:t>A phreaker hacks the public telephone network to make free calls, disrupt services, and generally wreak havoc. </a:t>
            </a:r>
            <a:endParaRPr/>
          </a:p>
          <a:p>
            <a:pPr indent="0" lvl="0" marL="0" rtl="0" algn="l">
              <a:spcBef>
                <a:spcPts val="333"/>
              </a:spcBef>
              <a:spcAft>
                <a:spcPts val="0"/>
              </a:spcAft>
              <a:buNone/>
            </a:pPr>
            <a:r>
              <a:t/>
            </a:r>
            <a:endParaRPr sz="1110"/>
          </a:p>
        </p:txBody>
      </p:sp>
      <p:sp>
        <p:nvSpPr>
          <p:cNvPr id="227" name="Google Shape;227;p27: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8: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28:notes"/>
          <p:cNvSpPr txBox="1"/>
          <p:nvPr>
            <p:ph idx="1" type="body"/>
          </p:nvPr>
        </p:nvSpPr>
        <p:spPr>
          <a:xfrm>
            <a:off x="937260" y="3366135"/>
            <a:ext cx="7498080" cy="3188970"/>
          </a:xfrm>
          <a:prstGeom prst="rect">
            <a:avLst/>
          </a:prstGeom>
          <a:noFill/>
          <a:ln>
            <a:noFill/>
          </a:ln>
        </p:spPr>
        <p:txBody>
          <a:bodyPr anchorCtr="0" anchor="t" bIns="47000" lIns="94025" spcFirstLastPara="1" rIns="94025" wrap="square" tIns="47000">
            <a:noAutofit/>
          </a:bodyPr>
          <a:lstStyle/>
          <a:p>
            <a:pPr indent="0" lvl="0" marL="0" rtl="0" algn="l">
              <a:spcBef>
                <a:spcPts val="0"/>
              </a:spcBef>
              <a:spcAft>
                <a:spcPts val="0"/>
              </a:spcAft>
              <a:buNone/>
            </a:pPr>
            <a:r>
              <a:rPr b="1" lang="en-US" sz="1110"/>
              <a:t>Deliberate Acts of Espionage or Trespass </a:t>
            </a:r>
            <a:endParaRPr/>
          </a:p>
          <a:p>
            <a:pPr indent="0" lvl="0" marL="0" rtl="0" algn="l">
              <a:spcBef>
                <a:spcPts val="450"/>
              </a:spcBef>
              <a:spcAft>
                <a:spcPts val="0"/>
              </a:spcAft>
              <a:buNone/>
            </a:pPr>
            <a:r>
              <a:rPr lang="en-US" sz="1110"/>
              <a:t>There are generally two skill levels among hackers. </a:t>
            </a:r>
            <a:endParaRPr/>
          </a:p>
          <a:p>
            <a:pPr indent="0" lvl="0" marL="0" rtl="0" algn="l">
              <a:spcBef>
                <a:spcPts val="450"/>
              </a:spcBef>
              <a:spcAft>
                <a:spcPts val="0"/>
              </a:spcAft>
              <a:buNone/>
            </a:pPr>
            <a:r>
              <a:rPr lang="en-US" sz="1110"/>
              <a:t>The first is the expert hacker, who develops software scripts and codes exploits used by the second category, the novice, or unskilled hacker.  </a:t>
            </a:r>
            <a:endParaRPr/>
          </a:p>
          <a:p>
            <a:pPr indent="0" lvl="0" marL="0" rtl="0" algn="l">
              <a:spcBef>
                <a:spcPts val="450"/>
              </a:spcBef>
              <a:spcAft>
                <a:spcPts val="0"/>
              </a:spcAft>
              <a:buNone/>
            </a:pPr>
            <a:r>
              <a:rPr lang="en-US" sz="1110"/>
              <a:t>The expert hacker is usually a master of several programming languages, networking protocols, and operating systems and also exhibits a mastery of the technical environment of the chosen targeted system. </a:t>
            </a:r>
            <a:endParaRPr/>
          </a:p>
          <a:p>
            <a:pPr indent="0" lvl="0" marL="0" rtl="0" algn="l">
              <a:spcBef>
                <a:spcPts val="450"/>
              </a:spcBef>
              <a:spcAft>
                <a:spcPts val="0"/>
              </a:spcAft>
              <a:buNone/>
            </a:pPr>
            <a:r>
              <a:rPr lang="en-US" sz="1110"/>
              <a:t>However, expert hackers have now become bored with directly attacking systems and have turned to writing software. </a:t>
            </a:r>
            <a:endParaRPr/>
          </a:p>
          <a:p>
            <a:pPr indent="0" lvl="0" marL="0" rtl="0" algn="l">
              <a:spcBef>
                <a:spcPts val="450"/>
              </a:spcBef>
              <a:spcAft>
                <a:spcPts val="0"/>
              </a:spcAft>
              <a:buNone/>
            </a:pPr>
            <a:r>
              <a:rPr lang="en-US" sz="1110"/>
              <a:t>The software they are writing are automated exploits that allow novice hackers to become script kiddies, hackers of limited skill who use expert-written software to exploit a system but do not fully understand or appreciate the systems they hack.  </a:t>
            </a:r>
            <a:endParaRPr/>
          </a:p>
          <a:p>
            <a:pPr indent="0" lvl="0" marL="0" rtl="0" algn="l">
              <a:spcBef>
                <a:spcPts val="450"/>
              </a:spcBef>
              <a:spcAft>
                <a:spcPts val="0"/>
              </a:spcAft>
              <a:buNone/>
            </a:pPr>
            <a:r>
              <a:rPr lang="en-US" sz="1110"/>
              <a:t>As a result of preparation and continued vigilance, attacks conducted by scripts are usually predictable and can be adequately defended against. </a:t>
            </a:r>
            <a:endParaRPr/>
          </a:p>
          <a:p>
            <a:pPr indent="0" lvl="0" marL="0" rtl="0" algn="l">
              <a:spcBef>
                <a:spcPts val="450"/>
              </a:spcBef>
              <a:spcAft>
                <a:spcPts val="0"/>
              </a:spcAft>
              <a:buNone/>
            </a:pPr>
            <a:r>
              <a:rPr lang="en-US" sz="1110"/>
              <a:t>There are other terms for system rule breakers:</a:t>
            </a:r>
            <a:endParaRPr/>
          </a:p>
          <a:p>
            <a:pPr indent="0" lvl="0" marL="0" rtl="0" algn="l">
              <a:spcBef>
                <a:spcPts val="450"/>
              </a:spcBef>
              <a:spcAft>
                <a:spcPts val="0"/>
              </a:spcAft>
              <a:buNone/>
            </a:pPr>
            <a:r>
              <a:rPr lang="en-US" sz="1110"/>
              <a:t>The term cracker is now commonly associated with an individual who “cracks” or removes the software protection from an application designed to prevent unauthorized duplication.  </a:t>
            </a:r>
            <a:endParaRPr/>
          </a:p>
          <a:p>
            <a:pPr indent="0" lvl="0" marL="0" rtl="0" algn="l">
              <a:spcBef>
                <a:spcPts val="450"/>
              </a:spcBef>
              <a:spcAft>
                <a:spcPts val="0"/>
              </a:spcAft>
              <a:buNone/>
            </a:pPr>
            <a:r>
              <a:rPr lang="en-US" sz="1110"/>
              <a:t>A phreaker hacks the public telephone network to make free calls, disrupt services, and generally wreak havoc. </a:t>
            </a:r>
            <a:endParaRPr/>
          </a:p>
          <a:p>
            <a:pPr indent="0" lvl="0" marL="0" rtl="0" algn="l">
              <a:spcBef>
                <a:spcPts val="450"/>
              </a:spcBef>
              <a:spcAft>
                <a:spcPts val="0"/>
              </a:spcAft>
              <a:buNone/>
            </a:pPr>
            <a:r>
              <a:t/>
            </a:r>
            <a:endParaRPr sz="1110"/>
          </a:p>
          <a:p>
            <a:pPr indent="0" lvl="0" marL="0" rtl="0" algn="l">
              <a:spcBef>
                <a:spcPts val="333"/>
              </a:spcBef>
              <a:spcAft>
                <a:spcPts val="0"/>
              </a:spcAft>
              <a:buNone/>
            </a:pPr>
            <a:r>
              <a:t/>
            </a:r>
            <a:endParaRPr sz="1110"/>
          </a:p>
        </p:txBody>
      </p:sp>
      <p:sp>
        <p:nvSpPr>
          <p:cNvPr id="234" name="Google Shape;234;p28: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9:notes"/>
          <p:cNvSpPr txBox="1"/>
          <p:nvPr>
            <p:ph idx="1" type="body"/>
          </p:nvPr>
        </p:nvSpPr>
        <p:spPr>
          <a:xfrm>
            <a:off x="937260" y="3366135"/>
            <a:ext cx="7498080" cy="3188970"/>
          </a:xfrm>
          <a:prstGeom prst="rect">
            <a:avLst/>
          </a:prstGeom>
        </p:spPr>
        <p:txBody>
          <a:bodyPr anchorCtr="0" anchor="t" bIns="47000" lIns="94025" spcFirstLastPara="1" rIns="94025" wrap="square" tIns="47000">
            <a:noAutofit/>
          </a:bodyPr>
          <a:lstStyle/>
          <a:p>
            <a:pPr indent="0" lvl="0" marL="0" rtl="0" algn="l">
              <a:spcBef>
                <a:spcPts val="360"/>
              </a:spcBef>
              <a:spcAft>
                <a:spcPts val="0"/>
              </a:spcAft>
              <a:buNone/>
            </a:pPr>
            <a:r>
              <a:t/>
            </a:r>
            <a:endParaRPr/>
          </a:p>
        </p:txBody>
      </p:sp>
      <p:sp>
        <p:nvSpPr>
          <p:cNvPr id="240" name="Google Shape;240;p29: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0:notes"/>
          <p:cNvSpPr txBox="1"/>
          <p:nvPr>
            <p:ph idx="1" type="body"/>
          </p:nvPr>
        </p:nvSpPr>
        <p:spPr>
          <a:xfrm>
            <a:off x="937260" y="3366135"/>
            <a:ext cx="7498080" cy="3188970"/>
          </a:xfrm>
          <a:prstGeom prst="rect">
            <a:avLst/>
          </a:prstGeom>
        </p:spPr>
        <p:txBody>
          <a:bodyPr anchorCtr="0" anchor="t" bIns="47000" lIns="94025" spcFirstLastPara="1" rIns="94025" wrap="square" tIns="47000">
            <a:noAutofit/>
          </a:bodyPr>
          <a:lstStyle/>
          <a:p>
            <a:pPr indent="0" lvl="0" marL="0" rtl="0" algn="l">
              <a:spcBef>
                <a:spcPts val="360"/>
              </a:spcBef>
              <a:spcAft>
                <a:spcPts val="0"/>
              </a:spcAft>
              <a:buNone/>
            </a:pPr>
            <a:r>
              <a:t/>
            </a:r>
            <a:endParaRPr/>
          </a:p>
        </p:txBody>
      </p:sp>
      <p:sp>
        <p:nvSpPr>
          <p:cNvPr id="246" name="Google Shape;246;p30: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31:notes"/>
          <p:cNvSpPr txBox="1"/>
          <p:nvPr>
            <p:ph idx="1" type="body"/>
          </p:nvPr>
        </p:nvSpPr>
        <p:spPr>
          <a:xfrm>
            <a:off x="937260" y="3366135"/>
            <a:ext cx="7498080" cy="3188970"/>
          </a:xfrm>
          <a:prstGeom prst="rect">
            <a:avLst/>
          </a:prstGeom>
        </p:spPr>
        <p:txBody>
          <a:bodyPr anchorCtr="0" anchor="t" bIns="47000" lIns="94025" spcFirstLastPara="1" rIns="94025" wrap="square" tIns="47000">
            <a:noAutofit/>
          </a:bodyPr>
          <a:lstStyle/>
          <a:p>
            <a:pPr indent="0" lvl="0" marL="0" rtl="0" algn="l">
              <a:spcBef>
                <a:spcPts val="360"/>
              </a:spcBef>
              <a:spcAft>
                <a:spcPts val="0"/>
              </a:spcAft>
              <a:buNone/>
            </a:pPr>
            <a:r>
              <a:t/>
            </a:r>
            <a:endParaRPr/>
          </a:p>
        </p:txBody>
      </p:sp>
      <p:sp>
        <p:nvSpPr>
          <p:cNvPr id="252" name="Google Shape;252;p31: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32:notes"/>
          <p:cNvSpPr txBox="1"/>
          <p:nvPr>
            <p:ph idx="1" type="body"/>
          </p:nvPr>
        </p:nvSpPr>
        <p:spPr>
          <a:xfrm>
            <a:off x="937260" y="3366135"/>
            <a:ext cx="7498080" cy="3188970"/>
          </a:xfrm>
          <a:prstGeom prst="rect">
            <a:avLst/>
          </a:prstGeom>
        </p:spPr>
        <p:txBody>
          <a:bodyPr anchorCtr="0" anchor="t" bIns="47000" lIns="94025" spcFirstLastPara="1" rIns="94025" wrap="square" tIns="47000">
            <a:noAutofit/>
          </a:bodyPr>
          <a:lstStyle/>
          <a:p>
            <a:pPr indent="0" lvl="0" marL="0" rtl="0" algn="l">
              <a:spcBef>
                <a:spcPts val="360"/>
              </a:spcBef>
              <a:spcAft>
                <a:spcPts val="0"/>
              </a:spcAft>
              <a:buNone/>
            </a:pPr>
            <a:r>
              <a:t/>
            </a:r>
            <a:endParaRPr/>
          </a:p>
        </p:txBody>
      </p:sp>
      <p:sp>
        <p:nvSpPr>
          <p:cNvPr id="259" name="Google Shape;259;p32: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33: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267" name="Google Shape;267;p33: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268" name="Google Shape;268;p33: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2380"/>
              <a:t>Forces of Nature </a:t>
            </a:r>
            <a:endParaRPr/>
          </a:p>
          <a:p>
            <a:pPr indent="0" lvl="0" marL="0" rtl="0" algn="l">
              <a:lnSpc>
                <a:spcPct val="90000"/>
              </a:lnSpc>
              <a:spcBef>
                <a:spcPts val="450"/>
              </a:spcBef>
              <a:spcAft>
                <a:spcPts val="0"/>
              </a:spcAft>
              <a:buNone/>
            </a:pPr>
            <a:r>
              <a:rPr lang="en-US" sz="2380"/>
              <a:t>Forces of nature, force majeure, or acts of God pose the most dangerous threats, because they are unexpected and can occur with very little warning. </a:t>
            </a:r>
            <a:endParaRPr/>
          </a:p>
          <a:p>
            <a:pPr indent="0" lvl="0" marL="0" rtl="0" algn="l">
              <a:lnSpc>
                <a:spcPct val="90000"/>
              </a:lnSpc>
              <a:spcBef>
                <a:spcPts val="450"/>
              </a:spcBef>
              <a:spcAft>
                <a:spcPts val="0"/>
              </a:spcAft>
              <a:buNone/>
            </a:pPr>
            <a:r>
              <a:rPr lang="en-US" sz="2380"/>
              <a:t>These threats can disrupt not only the lives of individuals, but also the storage, transmission, and use of information. </a:t>
            </a:r>
            <a:endParaRPr/>
          </a:p>
          <a:p>
            <a:pPr indent="0" lvl="0" marL="0" rtl="0" algn="l">
              <a:lnSpc>
                <a:spcPct val="90000"/>
              </a:lnSpc>
              <a:spcBef>
                <a:spcPts val="450"/>
              </a:spcBef>
              <a:spcAft>
                <a:spcPts val="0"/>
              </a:spcAft>
              <a:buNone/>
            </a:pPr>
            <a:r>
              <a:rPr lang="en-US" sz="2380"/>
              <a:t>These include fire, flood, earthquake, lightning, landslide or mudslide, tornado or severe windstorm, hurricane or typhoon, tsunami, electrostatic discharge, and dust contamination.  </a:t>
            </a:r>
            <a:endParaRPr/>
          </a:p>
          <a:p>
            <a:pPr indent="0" lvl="0" marL="0" rtl="0" algn="l">
              <a:lnSpc>
                <a:spcPct val="90000"/>
              </a:lnSpc>
              <a:spcBef>
                <a:spcPts val="450"/>
              </a:spcBef>
              <a:spcAft>
                <a:spcPts val="0"/>
              </a:spcAft>
              <a:buNone/>
            </a:pPr>
            <a:r>
              <a:rPr lang="en-US" sz="2380"/>
              <a:t>Since it is not possible to avoid many of these threats, management must implement controls to limit damage and also prepare contingency plans for continued operations.</a:t>
            </a:r>
            <a:endParaRPr/>
          </a:p>
          <a:p>
            <a:pPr indent="0" lvl="0" marL="0" rtl="0" algn="l">
              <a:lnSpc>
                <a:spcPct val="90000"/>
              </a:lnSpc>
              <a:spcBef>
                <a:spcPts val="450"/>
              </a:spcBef>
              <a:spcAft>
                <a:spcPts val="0"/>
              </a:spcAft>
              <a:buNone/>
            </a:pPr>
            <a:r>
              <a:t/>
            </a:r>
            <a:endParaRPr sz="2380"/>
          </a:p>
        </p:txBody>
      </p:sp>
      <p:sp>
        <p:nvSpPr>
          <p:cNvPr id="269" name="Google Shape;269;p33: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34: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275" name="Google Shape;275;p34: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276" name="Google Shape;276;p34: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2380"/>
              <a:t>Potential Acts of Human Error or Failure </a:t>
            </a:r>
            <a:endParaRPr/>
          </a:p>
          <a:p>
            <a:pPr indent="0" lvl="0" marL="0" rtl="0" algn="l">
              <a:lnSpc>
                <a:spcPct val="90000"/>
              </a:lnSpc>
              <a:spcBef>
                <a:spcPts val="450"/>
              </a:spcBef>
              <a:spcAft>
                <a:spcPts val="0"/>
              </a:spcAft>
              <a:buNone/>
            </a:pPr>
            <a:r>
              <a:rPr lang="en-US" sz="2380"/>
              <a:t>This category includes the possibility of acts performed without intent or malicious purpose by an individual who is an employee of an organization. </a:t>
            </a:r>
            <a:endParaRPr/>
          </a:p>
          <a:p>
            <a:pPr indent="0" lvl="0" marL="0" rtl="0" algn="l">
              <a:lnSpc>
                <a:spcPct val="90000"/>
              </a:lnSpc>
              <a:spcBef>
                <a:spcPts val="450"/>
              </a:spcBef>
              <a:spcAft>
                <a:spcPts val="0"/>
              </a:spcAft>
              <a:buNone/>
            </a:pPr>
            <a:r>
              <a:rPr lang="en-US" sz="2380"/>
              <a:t>Inexperience, improper training, the making of incorrect assumptions, and other circumstances can cause problems. </a:t>
            </a:r>
            <a:endParaRPr/>
          </a:p>
          <a:p>
            <a:pPr indent="0" lvl="0" marL="0" rtl="0" algn="l">
              <a:lnSpc>
                <a:spcPct val="90000"/>
              </a:lnSpc>
              <a:spcBef>
                <a:spcPts val="450"/>
              </a:spcBef>
              <a:spcAft>
                <a:spcPts val="0"/>
              </a:spcAft>
              <a:buNone/>
            </a:pPr>
            <a:r>
              <a:rPr lang="en-US" sz="2380"/>
              <a:t>Employees constitute one of the greatest threats to information security, as the individuals closest to the organizational data.  </a:t>
            </a:r>
            <a:endParaRPr/>
          </a:p>
          <a:p>
            <a:pPr indent="0" lvl="0" marL="0" rtl="0" algn="l">
              <a:lnSpc>
                <a:spcPct val="90000"/>
              </a:lnSpc>
              <a:spcBef>
                <a:spcPts val="450"/>
              </a:spcBef>
              <a:spcAft>
                <a:spcPts val="0"/>
              </a:spcAft>
              <a:buNone/>
            </a:pPr>
            <a:r>
              <a:rPr lang="en-US" sz="2380"/>
              <a:t>Employee mistakes can easily lead to the following: revelation of classified data, entry of erroneous data, accidental deletion or modification of data, storage of data in unprotected areas, and failure to protect information.</a:t>
            </a:r>
            <a:endParaRPr/>
          </a:p>
          <a:p>
            <a:pPr indent="0" lvl="0" marL="0" rtl="0" algn="l">
              <a:lnSpc>
                <a:spcPct val="90000"/>
              </a:lnSpc>
              <a:spcBef>
                <a:spcPts val="450"/>
              </a:spcBef>
              <a:spcAft>
                <a:spcPts val="0"/>
              </a:spcAft>
              <a:buNone/>
            </a:pPr>
            <a:r>
              <a:rPr lang="en-US" sz="2380"/>
              <a:t>Many threats can be prevented with controls, ranging from simple procedures, such as requiring the user to type a critical command twice, to more complex procedures, such as the verification of commands by a second party. </a:t>
            </a:r>
            <a:endParaRPr/>
          </a:p>
          <a:p>
            <a:pPr indent="0" lvl="0" marL="0" rtl="0" algn="l">
              <a:lnSpc>
                <a:spcPct val="90000"/>
              </a:lnSpc>
              <a:spcBef>
                <a:spcPts val="450"/>
              </a:spcBef>
              <a:spcAft>
                <a:spcPts val="0"/>
              </a:spcAft>
              <a:buNone/>
            </a:pPr>
            <a:r>
              <a:t/>
            </a:r>
            <a:endParaRPr sz="2380"/>
          </a:p>
          <a:p>
            <a:pPr indent="0" lvl="0" marL="0" rtl="0" algn="l">
              <a:lnSpc>
                <a:spcPct val="90000"/>
              </a:lnSpc>
              <a:spcBef>
                <a:spcPts val="450"/>
              </a:spcBef>
              <a:spcAft>
                <a:spcPts val="0"/>
              </a:spcAft>
              <a:buNone/>
            </a:pPr>
            <a:r>
              <a:t/>
            </a:r>
            <a:endParaRPr sz="2380"/>
          </a:p>
        </p:txBody>
      </p:sp>
      <p:sp>
        <p:nvSpPr>
          <p:cNvPr id="277" name="Google Shape;277;p34: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35: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283" name="Google Shape;283;p35: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284" name="Google Shape;284;p35: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1020"/>
              <a:t>Human Error or Failure</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Employee mistakes can easily lead to: </a:t>
            </a:r>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Revelation of classified data </a:t>
            </a:r>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Entry of erroneous data</a:t>
            </a:r>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Accidental data deletion or modification</a:t>
            </a:r>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Data storage in unprotected areas</a:t>
            </a:r>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Failure to protect information</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Many of these threats can be prevented with controls</a:t>
            </a:r>
            <a:endParaRPr/>
          </a:p>
          <a:p>
            <a:pPr indent="0" lvl="0" marL="0" rtl="0" algn="l">
              <a:lnSpc>
                <a:spcPct val="90000"/>
              </a:lnSpc>
              <a:spcBef>
                <a:spcPts val="450"/>
              </a:spcBef>
              <a:spcAft>
                <a:spcPts val="0"/>
              </a:spcAft>
              <a:buNone/>
            </a:pPr>
            <a:r>
              <a:t/>
            </a:r>
            <a:endParaRPr b="1" sz="1020"/>
          </a:p>
        </p:txBody>
      </p:sp>
      <p:sp>
        <p:nvSpPr>
          <p:cNvPr id="285" name="Google Shape;285;p35: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6: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36:notes"/>
          <p:cNvSpPr txBox="1"/>
          <p:nvPr>
            <p:ph idx="1" type="body"/>
          </p:nvPr>
        </p:nvSpPr>
        <p:spPr>
          <a:xfrm>
            <a:off x="937260" y="3366135"/>
            <a:ext cx="7498080" cy="3188970"/>
          </a:xfrm>
          <a:prstGeom prst="rect">
            <a:avLst/>
          </a:prstGeom>
          <a:noFill/>
          <a:ln>
            <a:noFill/>
          </a:ln>
        </p:spPr>
        <p:txBody>
          <a:bodyPr anchorCtr="0" anchor="t" bIns="47000" lIns="94025" spcFirstLastPara="1" rIns="94025" wrap="square" tIns="47000">
            <a:noAutofit/>
          </a:bodyPr>
          <a:lstStyle/>
          <a:p>
            <a:pPr indent="0" lvl="0" marL="0" marR="0" rtl="0" algn="l">
              <a:lnSpc>
                <a:spcPct val="100000"/>
              </a:lnSpc>
              <a:spcBef>
                <a:spcPts val="0"/>
              </a:spcBef>
              <a:spcAft>
                <a:spcPts val="0"/>
              </a:spcAft>
              <a:buClr>
                <a:schemeClr val="dk1"/>
              </a:buClr>
              <a:buSzPts val="1200"/>
              <a:buFont typeface="Calibri"/>
              <a:buNone/>
            </a:pPr>
            <a:r>
              <a:rPr lang="en-US" sz="1200"/>
              <a:t>Elite Skillz, wannabe hacker, is my favorite part of this entire chapter. I am laughing entirely too hard.</a:t>
            </a:r>
            <a:endParaRPr/>
          </a:p>
          <a:p>
            <a:pPr indent="0" lvl="0" marL="0" rtl="0" algn="l">
              <a:spcBef>
                <a:spcPts val="360"/>
              </a:spcBef>
              <a:spcAft>
                <a:spcPts val="0"/>
              </a:spcAft>
              <a:buNone/>
            </a:pPr>
            <a:r>
              <a:t/>
            </a:r>
            <a:endParaRPr/>
          </a:p>
        </p:txBody>
      </p:sp>
      <p:sp>
        <p:nvSpPr>
          <p:cNvPr id="292" name="Google Shape;292;p36: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37: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299" name="Google Shape;299;p37: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300" name="Google Shape;300;p37: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2380"/>
              <a:t>Attack Descriptions (continued)</a:t>
            </a:r>
            <a:endParaRPr/>
          </a:p>
          <a:p>
            <a:pPr indent="0" lvl="0" marL="0" rtl="0" algn="l">
              <a:lnSpc>
                <a:spcPct val="90000"/>
              </a:lnSpc>
              <a:spcBef>
                <a:spcPts val="450"/>
              </a:spcBef>
              <a:spcAft>
                <a:spcPts val="0"/>
              </a:spcAft>
              <a:buNone/>
            </a:pPr>
            <a:r>
              <a:rPr lang="en-US" sz="2380"/>
              <a:t>Social Engineering - Within the context of information security, the process of using social skills to convince people to reveal access credentials or other valuable information to the attacker. </a:t>
            </a:r>
            <a:endParaRPr/>
          </a:p>
          <a:p>
            <a:pPr indent="0" lvl="0" marL="0" rtl="0" algn="l">
              <a:lnSpc>
                <a:spcPct val="90000"/>
              </a:lnSpc>
              <a:spcBef>
                <a:spcPts val="450"/>
              </a:spcBef>
              <a:spcAft>
                <a:spcPts val="0"/>
              </a:spcAft>
              <a:buNone/>
            </a:pPr>
            <a:r>
              <a:rPr lang="en-US" sz="2380"/>
              <a:t>“People are the weakest link. You can have the best technology; firewalls, intrusion-detection systems, biometric devices...and somebody can call an unsuspecting employee. That's all she wrote, baby. They got everything.”  </a:t>
            </a:r>
            <a:endParaRPr/>
          </a:p>
          <a:p>
            <a:pPr indent="0" lvl="0" marL="0" rtl="0" algn="l">
              <a:lnSpc>
                <a:spcPct val="90000"/>
              </a:lnSpc>
              <a:spcBef>
                <a:spcPts val="450"/>
              </a:spcBef>
              <a:spcAft>
                <a:spcPts val="0"/>
              </a:spcAft>
              <a:buNone/>
            </a:pPr>
            <a:r>
              <a:rPr lang="en-US" sz="2380"/>
              <a:t>Timing Attack - Relatively new, works by exploring the contents of a Web browser’s cache. This could allow the designer to collect information to access to password-protected sites. Another attack by the same name involves attempting to intercept cryptographic elements to determine keys and encryption algorithms.</a:t>
            </a:r>
            <a:endParaRPr/>
          </a:p>
          <a:p>
            <a:pPr indent="0" lvl="0" marL="0" rtl="0" algn="l">
              <a:lnSpc>
                <a:spcPct val="90000"/>
              </a:lnSpc>
              <a:spcBef>
                <a:spcPts val="450"/>
              </a:spcBef>
              <a:spcAft>
                <a:spcPts val="0"/>
              </a:spcAft>
              <a:buNone/>
            </a:pPr>
            <a:r>
              <a:t/>
            </a:r>
            <a:endParaRPr sz="2380"/>
          </a:p>
        </p:txBody>
      </p:sp>
      <p:sp>
        <p:nvSpPr>
          <p:cNvPr id="301" name="Google Shape;301;p37: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38:notes"/>
          <p:cNvSpPr txBox="1"/>
          <p:nvPr>
            <p:ph idx="1" type="body"/>
          </p:nvPr>
        </p:nvSpPr>
        <p:spPr>
          <a:xfrm>
            <a:off x="937260" y="3366135"/>
            <a:ext cx="7498080" cy="3188970"/>
          </a:xfrm>
          <a:prstGeom prst="rect">
            <a:avLst/>
          </a:prstGeom>
        </p:spPr>
        <p:txBody>
          <a:bodyPr anchorCtr="0" anchor="t" bIns="47000" lIns="94025" spcFirstLastPara="1" rIns="94025" wrap="square" tIns="47000">
            <a:noAutofit/>
          </a:bodyPr>
          <a:lstStyle/>
          <a:p>
            <a:pPr indent="0" lvl="0" marL="0" rtl="0" algn="l">
              <a:spcBef>
                <a:spcPts val="360"/>
              </a:spcBef>
              <a:spcAft>
                <a:spcPts val="0"/>
              </a:spcAft>
              <a:buNone/>
            </a:pPr>
            <a:r>
              <a:t/>
            </a:r>
            <a:endParaRPr/>
          </a:p>
        </p:txBody>
      </p:sp>
      <p:sp>
        <p:nvSpPr>
          <p:cNvPr id="307" name="Google Shape;307;p38: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39:notes"/>
          <p:cNvSpPr txBox="1"/>
          <p:nvPr>
            <p:ph idx="1" type="body"/>
          </p:nvPr>
        </p:nvSpPr>
        <p:spPr>
          <a:xfrm>
            <a:off x="937260" y="3366135"/>
            <a:ext cx="7498080" cy="3188970"/>
          </a:xfrm>
          <a:prstGeom prst="rect">
            <a:avLst/>
          </a:prstGeom>
        </p:spPr>
        <p:txBody>
          <a:bodyPr anchorCtr="0" anchor="t" bIns="47000" lIns="94025" spcFirstLastPara="1" rIns="94025" wrap="square" tIns="47000">
            <a:noAutofit/>
          </a:bodyPr>
          <a:lstStyle/>
          <a:p>
            <a:pPr indent="0" lvl="0" marL="0" rtl="0" algn="l">
              <a:spcBef>
                <a:spcPts val="360"/>
              </a:spcBef>
              <a:spcAft>
                <a:spcPts val="0"/>
              </a:spcAft>
              <a:buNone/>
            </a:pPr>
            <a:r>
              <a:t/>
            </a:r>
            <a:endParaRPr/>
          </a:p>
        </p:txBody>
      </p:sp>
      <p:sp>
        <p:nvSpPr>
          <p:cNvPr id="314" name="Google Shape;314;p39: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40:notes"/>
          <p:cNvSpPr txBox="1"/>
          <p:nvPr>
            <p:ph idx="1" type="body"/>
          </p:nvPr>
        </p:nvSpPr>
        <p:spPr>
          <a:xfrm>
            <a:off x="937260" y="3366135"/>
            <a:ext cx="7498080" cy="3188970"/>
          </a:xfrm>
          <a:prstGeom prst="rect">
            <a:avLst/>
          </a:prstGeom>
        </p:spPr>
        <p:txBody>
          <a:bodyPr anchorCtr="0" anchor="t" bIns="47000" lIns="94025" spcFirstLastPara="1" rIns="94025" wrap="square" tIns="47000">
            <a:noAutofit/>
          </a:bodyPr>
          <a:lstStyle/>
          <a:p>
            <a:pPr indent="0" lvl="0" marL="0" rtl="0" algn="l">
              <a:spcBef>
                <a:spcPts val="360"/>
              </a:spcBef>
              <a:spcAft>
                <a:spcPts val="0"/>
              </a:spcAft>
              <a:buNone/>
            </a:pPr>
            <a:r>
              <a:t/>
            </a:r>
            <a:endParaRPr/>
          </a:p>
        </p:txBody>
      </p:sp>
      <p:sp>
        <p:nvSpPr>
          <p:cNvPr id="320" name="Google Shape;320;p40: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1: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326" name="Google Shape;326;p41: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327" name="Google Shape;327;p41: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2380"/>
              <a:t>Deliberate Acts of Information Extortion  </a:t>
            </a:r>
            <a:endParaRPr/>
          </a:p>
          <a:p>
            <a:pPr indent="0" lvl="0" marL="0" rtl="0" algn="l">
              <a:lnSpc>
                <a:spcPct val="90000"/>
              </a:lnSpc>
              <a:spcBef>
                <a:spcPts val="450"/>
              </a:spcBef>
              <a:spcAft>
                <a:spcPts val="0"/>
              </a:spcAft>
              <a:buNone/>
            </a:pPr>
            <a:r>
              <a:rPr lang="en-US" sz="2380"/>
              <a:t>The threat of information extortion is the possibility of an attacker or formerly trusted insider stealing information from a computer system and demanding compensation for its return or for an agreement to not disclose the information. </a:t>
            </a:r>
            <a:endParaRPr/>
          </a:p>
          <a:p>
            <a:pPr indent="0" lvl="0" marL="0" rtl="0" algn="l">
              <a:lnSpc>
                <a:spcPct val="90000"/>
              </a:lnSpc>
              <a:spcBef>
                <a:spcPts val="450"/>
              </a:spcBef>
              <a:spcAft>
                <a:spcPts val="0"/>
              </a:spcAft>
              <a:buNone/>
            </a:pPr>
            <a:r>
              <a:rPr lang="en-US" sz="2380"/>
              <a:t>Extortion is common in credit card number theft.  </a:t>
            </a:r>
            <a:endParaRPr/>
          </a:p>
          <a:p>
            <a:pPr indent="0" lvl="0" marL="0" rtl="0" algn="l">
              <a:lnSpc>
                <a:spcPct val="90000"/>
              </a:lnSpc>
              <a:spcBef>
                <a:spcPts val="450"/>
              </a:spcBef>
              <a:spcAft>
                <a:spcPts val="0"/>
              </a:spcAft>
              <a:buNone/>
            </a:pPr>
            <a:r>
              <a:t/>
            </a:r>
            <a:endParaRPr sz="2380"/>
          </a:p>
        </p:txBody>
      </p:sp>
      <p:sp>
        <p:nvSpPr>
          <p:cNvPr id="328" name="Google Shape;328;p41: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42: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334" name="Google Shape;334;p42: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335" name="Google Shape;335;p42: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2380"/>
              <a:t>Sabotage or Vandalism  </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Threats can range from petty vandalism to organized sabotage</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Web site defacing can erode consumer confidence, diminishing organization’s sales, net worth, and reputation</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Threat of hacktivist or cyberactivist operations rising</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Cyberterrorism/Cyberwarfare: much more sinister form of hacking</a:t>
            </a:r>
            <a:endParaRPr/>
          </a:p>
        </p:txBody>
      </p:sp>
      <p:sp>
        <p:nvSpPr>
          <p:cNvPr id="336" name="Google Shape;336;p42: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43: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342" name="Google Shape;342;p43: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343" name="Google Shape;343;p43: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1020"/>
              <a:t>Software Attacks</a:t>
            </a:r>
            <a:endParaRPr/>
          </a:p>
          <a:p>
            <a:pPr indent="-342900" lvl="0" marL="34290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Malicious software (malware) deployed to overwhelm processing capabilities of online systems or gain access to protected systems via hidden means</a:t>
            </a:r>
            <a:endParaRPr/>
          </a:p>
          <a:p>
            <a:pPr indent="-342900" lvl="0" marL="34290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Include: </a:t>
            </a:r>
            <a:endParaRPr/>
          </a:p>
          <a:p>
            <a:pPr indent="-285750" lvl="1" marL="742950" rtl="0" algn="l">
              <a:lnSpc>
                <a:spcPct val="90000"/>
              </a:lnSpc>
              <a:spcBef>
                <a:spcPts val="340"/>
              </a:spcBef>
              <a:spcAft>
                <a:spcPts val="0"/>
              </a:spcAft>
              <a:buClr>
                <a:srgbClr val="222222"/>
              </a:buClr>
              <a:buSzPts val="1700"/>
              <a:buFont typeface="Arial"/>
              <a:buChar char="–"/>
            </a:pPr>
            <a:r>
              <a:rPr lang="en-US" sz="1700">
                <a:solidFill>
                  <a:srgbClr val="222222"/>
                </a:solidFill>
                <a:latin typeface="Arial"/>
                <a:ea typeface="Arial"/>
                <a:cs typeface="Arial"/>
                <a:sym typeface="Arial"/>
              </a:rPr>
              <a:t>Viruses</a:t>
            </a:r>
            <a:endParaRPr/>
          </a:p>
          <a:p>
            <a:pPr indent="-285750" lvl="1" marL="742950" rtl="0" algn="l">
              <a:lnSpc>
                <a:spcPct val="90000"/>
              </a:lnSpc>
              <a:spcBef>
                <a:spcPts val="340"/>
              </a:spcBef>
              <a:spcAft>
                <a:spcPts val="0"/>
              </a:spcAft>
              <a:buClr>
                <a:srgbClr val="222222"/>
              </a:buClr>
              <a:buSzPts val="1700"/>
              <a:buFont typeface="Arial"/>
              <a:buChar char="–"/>
            </a:pPr>
            <a:r>
              <a:rPr lang="en-US" sz="1700">
                <a:solidFill>
                  <a:srgbClr val="222222"/>
                </a:solidFill>
                <a:latin typeface="Arial"/>
                <a:ea typeface="Arial"/>
                <a:cs typeface="Arial"/>
                <a:sym typeface="Arial"/>
              </a:rPr>
              <a:t>Worms</a:t>
            </a:r>
            <a:endParaRPr/>
          </a:p>
          <a:p>
            <a:pPr indent="-285750" lvl="1" marL="742950" rtl="0" algn="l">
              <a:lnSpc>
                <a:spcPct val="90000"/>
              </a:lnSpc>
              <a:spcBef>
                <a:spcPts val="340"/>
              </a:spcBef>
              <a:spcAft>
                <a:spcPts val="0"/>
              </a:spcAft>
              <a:buClr>
                <a:srgbClr val="222222"/>
              </a:buClr>
              <a:buSzPts val="1700"/>
              <a:buFont typeface="Arial"/>
              <a:buChar char="–"/>
            </a:pPr>
            <a:r>
              <a:rPr lang="en-US" sz="1700">
                <a:solidFill>
                  <a:srgbClr val="222222"/>
                </a:solidFill>
                <a:latin typeface="Arial"/>
                <a:ea typeface="Arial"/>
                <a:cs typeface="Arial"/>
                <a:sym typeface="Arial"/>
              </a:rPr>
              <a:t>Trojan horses</a:t>
            </a:r>
            <a:endParaRPr/>
          </a:p>
          <a:p>
            <a:pPr indent="-285750" lvl="1" marL="742950" rtl="0" algn="l">
              <a:lnSpc>
                <a:spcPct val="90000"/>
              </a:lnSpc>
              <a:spcBef>
                <a:spcPts val="340"/>
              </a:spcBef>
              <a:spcAft>
                <a:spcPts val="0"/>
              </a:spcAft>
              <a:buClr>
                <a:srgbClr val="222222"/>
              </a:buClr>
              <a:buSzPts val="1700"/>
              <a:buFont typeface="Arial"/>
              <a:buChar char="–"/>
            </a:pPr>
            <a:r>
              <a:rPr lang="en-US" sz="1700">
                <a:solidFill>
                  <a:srgbClr val="222222"/>
                </a:solidFill>
                <a:latin typeface="Arial"/>
                <a:ea typeface="Arial"/>
                <a:cs typeface="Arial"/>
                <a:sym typeface="Arial"/>
              </a:rPr>
              <a:t>Polymorphic threats</a:t>
            </a:r>
            <a:endParaRPr/>
          </a:p>
          <a:p>
            <a:pPr indent="-285750" lvl="1" marL="742950" rtl="0" algn="l">
              <a:lnSpc>
                <a:spcPct val="90000"/>
              </a:lnSpc>
              <a:spcBef>
                <a:spcPts val="340"/>
              </a:spcBef>
              <a:spcAft>
                <a:spcPts val="0"/>
              </a:spcAft>
              <a:buClr>
                <a:srgbClr val="222222"/>
              </a:buClr>
              <a:buSzPts val="1700"/>
              <a:buFont typeface="Arial"/>
              <a:buChar char="–"/>
            </a:pPr>
            <a:r>
              <a:rPr lang="en-US" sz="1700">
                <a:solidFill>
                  <a:srgbClr val="222222"/>
                </a:solidFill>
                <a:latin typeface="Arial"/>
                <a:ea typeface="Arial"/>
                <a:cs typeface="Arial"/>
                <a:sym typeface="Arial"/>
              </a:rPr>
              <a:t>Virus and worm hoaxes</a:t>
            </a:r>
            <a:endParaRPr/>
          </a:p>
          <a:p>
            <a:pPr indent="-285750" lvl="1" marL="742950" rtl="0" algn="l">
              <a:lnSpc>
                <a:spcPct val="90000"/>
              </a:lnSpc>
              <a:spcBef>
                <a:spcPts val="340"/>
              </a:spcBef>
              <a:spcAft>
                <a:spcPts val="0"/>
              </a:spcAft>
              <a:buClr>
                <a:srgbClr val="222222"/>
              </a:buClr>
              <a:buSzPts val="1700"/>
              <a:buFont typeface="Arial"/>
              <a:buChar char="–"/>
            </a:pPr>
            <a:r>
              <a:rPr lang="en-US" sz="1700">
                <a:solidFill>
                  <a:srgbClr val="222222"/>
                </a:solidFill>
                <a:latin typeface="Arial"/>
                <a:ea typeface="Arial"/>
                <a:cs typeface="Arial"/>
                <a:sym typeface="Arial"/>
              </a:rPr>
              <a:t>Back door or trap door </a:t>
            </a:r>
            <a:endParaRPr/>
          </a:p>
          <a:p>
            <a:pPr indent="-285750" lvl="1" marL="742950" rtl="0" algn="l">
              <a:lnSpc>
                <a:spcPct val="90000"/>
              </a:lnSpc>
              <a:spcBef>
                <a:spcPts val="340"/>
              </a:spcBef>
              <a:spcAft>
                <a:spcPts val="0"/>
              </a:spcAft>
              <a:buClr>
                <a:srgbClr val="222222"/>
              </a:buClr>
              <a:buSzPts val="1700"/>
              <a:buFont typeface="Arial"/>
              <a:buChar char="–"/>
            </a:pPr>
            <a:r>
              <a:rPr lang="en-US" sz="1700">
                <a:solidFill>
                  <a:srgbClr val="222222"/>
                </a:solidFill>
                <a:latin typeface="Arial"/>
                <a:ea typeface="Arial"/>
                <a:cs typeface="Arial"/>
                <a:sym typeface="Arial"/>
              </a:rPr>
              <a:t>Denial-of-service and distributed denial-of-service</a:t>
            </a:r>
            <a:endParaRPr/>
          </a:p>
          <a:p>
            <a:pPr indent="-285750" lvl="1" marL="742950" rtl="0" algn="l">
              <a:lnSpc>
                <a:spcPct val="90000"/>
              </a:lnSpc>
              <a:spcBef>
                <a:spcPts val="340"/>
              </a:spcBef>
              <a:spcAft>
                <a:spcPts val="0"/>
              </a:spcAft>
              <a:buClr>
                <a:srgbClr val="222222"/>
              </a:buClr>
              <a:buSzPts val="1700"/>
              <a:buFont typeface="Arial"/>
              <a:buChar char="–"/>
            </a:pPr>
            <a:r>
              <a:rPr lang="en-US" sz="1700">
                <a:solidFill>
                  <a:srgbClr val="222222"/>
                </a:solidFill>
                <a:latin typeface="Arial"/>
                <a:ea typeface="Arial"/>
                <a:cs typeface="Arial"/>
                <a:sym typeface="Arial"/>
              </a:rPr>
              <a:t>Mail bomb</a:t>
            </a:r>
            <a:endParaRPr/>
          </a:p>
          <a:p>
            <a:pPr indent="0" lvl="0" marL="0" rtl="0" algn="l">
              <a:lnSpc>
                <a:spcPct val="90000"/>
              </a:lnSpc>
              <a:spcBef>
                <a:spcPts val="450"/>
              </a:spcBef>
              <a:spcAft>
                <a:spcPts val="0"/>
              </a:spcAft>
              <a:buNone/>
            </a:pPr>
            <a:r>
              <a:t/>
            </a:r>
            <a:endParaRPr sz="1020"/>
          </a:p>
          <a:p>
            <a:pPr indent="0" lvl="0" marL="0" rtl="0" algn="l">
              <a:lnSpc>
                <a:spcPct val="90000"/>
              </a:lnSpc>
              <a:spcBef>
                <a:spcPts val="450"/>
              </a:spcBef>
              <a:spcAft>
                <a:spcPts val="0"/>
              </a:spcAft>
              <a:buNone/>
            </a:pPr>
            <a:r>
              <a:t/>
            </a:r>
            <a:endParaRPr sz="1020"/>
          </a:p>
          <a:p>
            <a:pPr indent="0" lvl="0" marL="0" rtl="0" algn="l">
              <a:lnSpc>
                <a:spcPct val="90000"/>
              </a:lnSpc>
              <a:spcBef>
                <a:spcPts val="450"/>
              </a:spcBef>
              <a:spcAft>
                <a:spcPts val="0"/>
              </a:spcAft>
              <a:buNone/>
            </a:pPr>
            <a:r>
              <a:t/>
            </a:r>
            <a:endParaRPr sz="1020"/>
          </a:p>
          <a:p>
            <a:pPr indent="0" lvl="0" marL="0" rtl="0" algn="l">
              <a:lnSpc>
                <a:spcPct val="90000"/>
              </a:lnSpc>
              <a:spcBef>
                <a:spcPts val="450"/>
              </a:spcBef>
              <a:spcAft>
                <a:spcPts val="0"/>
              </a:spcAft>
              <a:buNone/>
            </a:pPr>
            <a:r>
              <a:t/>
            </a:r>
            <a:endParaRPr sz="1020"/>
          </a:p>
        </p:txBody>
      </p:sp>
      <p:sp>
        <p:nvSpPr>
          <p:cNvPr id="344" name="Google Shape;344;p43: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44: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350" name="Google Shape;350;p44: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351" name="Google Shape;351;p44: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2380"/>
              <a:t>Attacks</a:t>
            </a:r>
            <a:endParaRPr/>
          </a:p>
          <a:p>
            <a:pPr indent="0" lvl="0" marL="0" rtl="0" algn="l">
              <a:lnSpc>
                <a:spcPct val="90000"/>
              </a:lnSpc>
              <a:spcBef>
                <a:spcPts val="450"/>
              </a:spcBef>
              <a:spcAft>
                <a:spcPts val="0"/>
              </a:spcAft>
              <a:buNone/>
            </a:pPr>
            <a:r>
              <a:rPr lang="en-US" sz="2380"/>
              <a:t>An attack is the deliberate act that exploits vulnerability. </a:t>
            </a:r>
            <a:endParaRPr/>
          </a:p>
          <a:p>
            <a:pPr indent="0" lvl="0" marL="0" rtl="0" algn="l">
              <a:lnSpc>
                <a:spcPct val="90000"/>
              </a:lnSpc>
              <a:spcBef>
                <a:spcPts val="450"/>
              </a:spcBef>
              <a:spcAft>
                <a:spcPts val="0"/>
              </a:spcAft>
              <a:buNone/>
            </a:pPr>
            <a:r>
              <a:rPr lang="en-US" sz="2380"/>
              <a:t>It is accomplished by a threat agent to damage or steal an organization’s information or physical asset. </a:t>
            </a:r>
            <a:endParaRPr/>
          </a:p>
          <a:p>
            <a:pPr indent="0" lvl="0" marL="0" rtl="0" algn="l">
              <a:lnSpc>
                <a:spcPct val="90000"/>
              </a:lnSpc>
              <a:spcBef>
                <a:spcPts val="450"/>
              </a:spcBef>
              <a:spcAft>
                <a:spcPts val="0"/>
              </a:spcAft>
              <a:buNone/>
            </a:pPr>
            <a:r>
              <a:rPr lang="en-US" sz="2380"/>
              <a:t>An exploit is a technique to compromise a system. Vulnerability is an identified weakness of a controlled system whose controls are not present or are no longer effective. An attack is then the use of an exploit to achieve the compromise of a controlled system. </a:t>
            </a:r>
            <a:endParaRPr/>
          </a:p>
          <a:p>
            <a:pPr indent="0" lvl="0" marL="0" rtl="0" algn="l">
              <a:lnSpc>
                <a:spcPct val="90000"/>
              </a:lnSpc>
              <a:spcBef>
                <a:spcPts val="450"/>
              </a:spcBef>
              <a:spcAft>
                <a:spcPts val="0"/>
              </a:spcAft>
              <a:buNone/>
            </a:pPr>
            <a:r>
              <a:t/>
            </a:r>
            <a:endParaRPr sz="2380"/>
          </a:p>
          <a:p>
            <a:pPr indent="0" lvl="0" marL="0" rtl="0" algn="l">
              <a:lnSpc>
                <a:spcPct val="90000"/>
              </a:lnSpc>
              <a:spcBef>
                <a:spcPts val="450"/>
              </a:spcBef>
              <a:spcAft>
                <a:spcPts val="0"/>
              </a:spcAft>
              <a:buNone/>
            </a:pPr>
            <a:r>
              <a:rPr b="1" lang="en-US" sz="2380"/>
              <a:t>Malicious Code</a:t>
            </a:r>
            <a:endParaRPr/>
          </a:p>
          <a:p>
            <a:pPr indent="0" lvl="0" marL="0" rtl="0" algn="l">
              <a:lnSpc>
                <a:spcPct val="90000"/>
              </a:lnSpc>
              <a:spcBef>
                <a:spcPts val="450"/>
              </a:spcBef>
              <a:spcAft>
                <a:spcPts val="0"/>
              </a:spcAft>
              <a:buNone/>
            </a:pPr>
            <a:r>
              <a:rPr lang="en-US" sz="2380"/>
              <a:t>This kind of attack includes the execution of viruses, worms, Trojan horses, and active Web scripts with the intent to destroy or steal information. </a:t>
            </a:r>
            <a:endParaRPr/>
          </a:p>
          <a:p>
            <a:pPr indent="0" lvl="0" marL="0" rtl="0" algn="l">
              <a:lnSpc>
                <a:spcPct val="90000"/>
              </a:lnSpc>
              <a:spcBef>
                <a:spcPts val="450"/>
              </a:spcBef>
              <a:spcAft>
                <a:spcPts val="0"/>
              </a:spcAft>
              <a:buNone/>
            </a:pPr>
            <a:r>
              <a:rPr lang="en-US" sz="2380"/>
              <a:t>The state of the art in attacking systems in 2002 is the multivector worm. </a:t>
            </a:r>
            <a:endParaRPr/>
          </a:p>
          <a:p>
            <a:pPr indent="0" lvl="0" marL="0" rtl="0" algn="l">
              <a:lnSpc>
                <a:spcPct val="90000"/>
              </a:lnSpc>
              <a:spcBef>
                <a:spcPts val="450"/>
              </a:spcBef>
              <a:spcAft>
                <a:spcPts val="0"/>
              </a:spcAft>
              <a:buNone/>
            </a:pPr>
            <a:r>
              <a:rPr lang="en-US" sz="2380"/>
              <a:t>These attack programs use up to six known attack vectors to exploit a variety of vulnerabilities in commonly found information system devices. </a:t>
            </a:r>
            <a:endParaRPr/>
          </a:p>
          <a:p>
            <a:pPr indent="0" lvl="0" marL="0" rtl="0" algn="l">
              <a:lnSpc>
                <a:spcPct val="90000"/>
              </a:lnSpc>
              <a:spcBef>
                <a:spcPts val="450"/>
              </a:spcBef>
              <a:spcAft>
                <a:spcPts val="0"/>
              </a:spcAft>
              <a:buNone/>
            </a:pPr>
            <a:r>
              <a:t/>
            </a:r>
            <a:endParaRPr sz="2380"/>
          </a:p>
        </p:txBody>
      </p:sp>
      <p:sp>
        <p:nvSpPr>
          <p:cNvPr id="352" name="Google Shape;352;p44: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45: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358" name="Google Shape;358;p45: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359" name="Google Shape;359;p45: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2380"/>
              <a:t>Attack Descriptions</a:t>
            </a:r>
            <a:endParaRPr/>
          </a:p>
          <a:p>
            <a:pPr indent="0" lvl="0" marL="0" rtl="0" algn="l">
              <a:lnSpc>
                <a:spcPct val="90000"/>
              </a:lnSpc>
              <a:spcBef>
                <a:spcPts val="450"/>
              </a:spcBef>
              <a:spcAft>
                <a:spcPts val="0"/>
              </a:spcAft>
              <a:buNone/>
            </a:pPr>
            <a:r>
              <a:rPr lang="en-US" sz="2380"/>
              <a:t>Back Doors - Using a known or previously unknown and newly discovered access mechanism, an attacker can gain access to a system or network resource.  </a:t>
            </a:r>
            <a:endParaRPr/>
          </a:p>
          <a:p>
            <a:pPr indent="0" lvl="0" marL="0" rtl="0" algn="l">
              <a:lnSpc>
                <a:spcPct val="90000"/>
              </a:lnSpc>
              <a:spcBef>
                <a:spcPts val="450"/>
              </a:spcBef>
              <a:spcAft>
                <a:spcPts val="0"/>
              </a:spcAft>
              <a:buNone/>
            </a:pPr>
            <a:r>
              <a:rPr lang="en-US" sz="2380"/>
              <a:t>Password Crack - Attempting to reverse calculate a password.  </a:t>
            </a:r>
            <a:endParaRPr/>
          </a:p>
          <a:p>
            <a:pPr indent="0" lvl="0" marL="0" rtl="0" algn="l">
              <a:lnSpc>
                <a:spcPct val="90000"/>
              </a:lnSpc>
              <a:spcBef>
                <a:spcPts val="450"/>
              </a:spcBef>
              <a:spcAft>
                <a:spcPts val="0"/>
              </a:spcAft>
              <a:buNone/>
            </a:pPr>
            <a:r>
              <a:rPr lang="en-US" sz="2380"/>
              <a:t>Brute Force - The application of computing and network resources to try every possible combination of options of a password. </a:t>
            </a:r>
            <a:endParaRPr/>
          </a:p>
          <a:p>
            <a:pPr indent="0" lvl="0" marL="0" rtl="0" algn="l">
              <a:lnSpc>
                <a:spcPct val="90000"/>
              </a:lnSpc>
              <a:spcBef>
                <a:spcPts val="450"/>
              </a:spcBef>
              <a:spcAft>
                <a:spcPts val="0"/>
              </a:spcAft>
              <a:buNone/>
            </a:pPr>
            <a:r>
              <a:rPr lang="en-US" sz="2380"/>
              <a:t>Dictionary - The dictionary password attack narrows the field by selecting specific accounts to attack and uses a list of commonly used passwords (the dictionary) to guess with.</a:t>
            </a:r>
            <a:endParaRPr/>
          </a:p>
          <a:p>
            <a:pPr indent="0" lvl="0" marL="0" rtl="0" algn="l">
              <a:lnSpc>
                <a:spcPct val="90000"/>
              </a:lnSpc>
              <a:spcBef>
                <a:spcPts val="450"/>
              </a:spcBef>
              <a:spcAft>
                <a:spcPts val="0"/>
              </a:spcAft>
              <a:buNone/>
            </a:pPr>
            <a:r>
              <a:t/>
            </a:r>
            <a:endParaRPr sz="2380"/>
          </a:p>
          <a:p>
            <a:pPr indent="0" lvl="0" marL="0" marR="0" rtl="0" algn="l">
              <a:lnSpc>
                <a:spcPct val="90000"/>
              </a:lnSpc>
              <a:spcBef>
                <a:spcPts val="450"/>
              </a:spcBef>
              <a:spcAft>
                <a:spcPts val="0"/>
              </a:spcAft>
              <a:buClr>
                <a:schemeClr val="dk1"/>
              </a:buClr>
              <a:buSzPts val="2380"/>
              <a:buFont typeface="Calibri"/>
              <a:buNone/>
            </a:pPr>
            <a:r>
              <a:rPr lang="en-US" sz="2380"/>
              <a:t>Denial-of-Service (DoS) - The attacker sends a large number of connection or information requests to a target. So many requests are made that the target system cannot handle them successfully along with other, legitimate requests for service. This may result in a system crash or merely an inability to perform ordinary functions. </a:t>
            </a:r>
            <a:endParaRPr/>
          </a:p>
          <a:p>
            <a:pPr indent="0" lvl="0" marL="0" rtl="0" algn="l">
              <a:lnSpc>
                <a:spcPct val="90000"/>
              </a:lnSpc>
              <a:spcBef>
                <a:spcPts val="450"/>
              </a:spcBef>
              <a:spcAft>
                <a:spcPts val="0"/>
              </a:spcAft>
              <a:buNone/>
            </a:pPr>
            <a:r>
              <a:t/>
            </a:r>
            <a:endParaRPr sz="2380"/>
          </a:p>
          <a:p>
            <a:pPr indent="0" lvl="0" marL="0" rtl="0" algn="l">
              <a:lnSpc>
                <a:spcPct val="90000"/>
              </a:lnSpc>
              <a:spcBef>
                <a:spcPts val="450"/>
              </a:spcBef>
              <a:spcAft>
                <a:spcPts val="0"/>
              </a:spcAft>
              <a:buNone/>
            </a:pPr>
            <a:r>
              <a:t/>
            </a:r>
            <a:endParaRPr sz="2380"/>
          </a:p>
        </p:txBody>
      </p:sp>
      <p:sp>
        <p:nvSpPr>
          <p:cNvPr id="360" name="Google Shape;360;p45: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46: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366" name="Google Shape;366;p46: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367" name="Google Shape;367;p46: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2380"/>
              <a:t>Attack Descriptions (continued)</a:t>
            </a:r>
            <a:endParaRPr/>
          </a:p>
          <a:p>
            <a:pPr indent="0" lvl="0" marL="0" marR="0" rtl="0" algn="l">
              <a:lnSpc>
                <a:spcPct val="90000"/>
              </a:lnSpc>
              <a:spcBef>
                <a:spcPts val="450"/>
              </a:spcBef>
              <a:spcAft>
                <a:spcPts val="0"/>
              </a:spcAft>
              <a:buClr>
                <a:schemeClr val="dk1"/>
              </a:buClr>
              <a:buSzPts val="2380"/>
              <a:buFont typeface="Calibri"/>
              <a:buNone/>
            </a:pPr>
            <a:r>
              <a:rPr lang="en-US" sz="2380"/>
              <a:t>Distributed Denial-of-Service (DDoS) - An attack in which a coordinated stream of requests is launched against a target from many locations at the same time. </a:t>
            </a:r>
            <a:endParaRPr/>
          </a:p>
          <a:p>
            <a:pPr indent="0" lvl="0" marL="0" rtl="0" algn="l">
              <a:lnSpc>
                <a:spcPct val="90000"/>
              </a:lnSpc>
              <a:spcBef>
                <a:spcPts val="450"/>
              </a:spcBef>
              <a:spcAft>
                <a:spcPts val="0"/>
              </a:spcAft>
              <a:buNone/>
            </a:pPr>
            <a:r>
              <a:rPr lang="en-US" sz="2380"/>
              <a:t>Spoofing - A technique used to gain unauthorized access to computers, whereby the intruder sends messages to a computer with an IP address indicating that the message is coming from a trusted host. </a:t>
            </a:r>
            <a:endParaRPr/>
          </a:p>
          <a:p>
            <a:pPr indent="0" lvl="0" marL="0" rtl="0" algn="l">
              <a:lnSpc>
                <a:spcPct val="90000"/>
              </a:lnSpc>
              <a:spcBef>
                <a:spcPts val="450"/>
              </a:spcBef>
              <a:spcAft>
                <a:spcPts val="0"/>
              </a:spcAft>
              <a:buNone/>
            </a:pPr>
            <a:r>
              <a:rPr lang="en-US" sz="2380"/>
              <a:t>Man-in-the-Middle - In the man-in-the-middle or TCP hijacking attack, an attacker sniffs packets from the network, modifies them, and inserts them back into the network. </a:t>
            </a:r>
            <a:endParaRPr/>
          </a:p>
          <a:p>
            <a:pPr indent="0" lvl="0" marL="0" rtl="0" algn="l">
              <a:lnSpc>
                <a:spcPct val="90000"/>
              </a:lnSpc>
              <a:spcBef>
                <a:spcPts val="450"/>
              </a:spcBef>
              <a:spcAft>
                <a:spcPts val="0"/>
              </a:spcAft>
              <a:buNone/>
            </a:pPr>
            <a:r>
              <a:rPr lang="en-US" sz="2380"/>
              <a:t>Spam - Unsolicited commercial e-mail. While many consider spam a nuisance rather than an attack, it is emerging as a vector for some attacks. </a:t>
            </a:r>
            <a:endParaRPr/>
          </a:p>
          <a:p>
            <a:pPr indent="0" lvl="0" marL="0" rtl="0" algn="l">
              <a:lnSpc>
                <a:spcPct val="90000"/>
              </a:lnSpc>
              <a:spcBef>
                <a:spcPts val="450"/>
              </a:spcBef>
              <a:spcAft>
                <a:spcPts val="0"/>
              </a:spcAft>
              <a:buNone/>
            </a:pPr>
            <a:r>
              <a:rPr lang="en-US" sz="2380"/>
              <a:t>Mail Bombing - Another form of e-mail attack that is also a DoS, in which an attacker routes large quantities of e-mail to the target. </a:t>
            </a:r>
            <a:endParaRPr/>
          </a:p>
          <a:p>
            <a:pPr indent="0" lvl="0" marL="0" rtl="0" algn="l">
              <a:lnSpc>
                <a:spcPct val="90000"/>
              </a:lnSpc>
              <a:spcBef>
                <a:spcPts val="450"/>
              </a:spcBef>
              <a:spcAft>
                <a:spcPts val="0"/>
              </a:spcAft>
              <a:buNone/>
            </a:pPr>
            <a:r>
              <a:t/>
            </a:r>
            <a:endParaRPr b="1" sz="2380"/>
          </a:p>
        </p:txBody>
      </p:sp>
      <p:sp>
        <p:nvSpPr>
          <p:cNvPr id="368" name="Google Shape;368;p46: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47: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374" name="Google Shape;374;p47: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375" name="Google Shape;375;p47: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2380"/>
              <a:t>Attack Descriptions (continued)</a:t>
            </a:r>
            <a:endParaRPr/>
          </a:p>
          <a:p>
            <a:pPr indent="0" lvl="0" marL="0" rtl="0" algn="l">
              <a:lnSpc>
                <a:spcPct val="90000"/>
              </a:lnSpc>
              <a:spcBef>
                <a:spcPts val="450"/>
              </a:spcBef>
              <a:spcAft>
                <a:spcPts val="0"/>
              </a:spcAft>
              <a:buNone/>
            </a:pPr>
            <a:r>
              <a:rPr lang="en-US" sz="2380"/>
              <a:t>Sniffers - A program and/or device that can monitor data travelling over a network. Sniffers can be used both for legitimate network management functions and for stealing information from a network. </a:t>
            </a:r>
            <a:endParaRPr/>
          </a:p>
          <a:p>
            <a:pPr indent="0" lvl="0" marL="0" rtl="0" algn="l">
              <a:lnSpc>
                <a:spcPct val="90000"/>
              </a:lnSpc>
              <a:spcBef>
                <a:spcPts val="450"/>
              </a:spcBef>
              <a:spcAft>
                <a:spcPts val="0"/>
              </a:spcAft>
              <a:buNone/>
            </a:pPr>
            <a:r>
              <a:rPr lang="en-US" sz="2380"/>
              <a:t>Phishing - An attempt to gain personal or financial information from an individual, usually by posing as a legitimate entity.</a:t>
            </a:r>
            <a:endParaRPr/>
          </a:p>
          <a:p>
            <a:pPr indent="0" lvl="0" marL="0" rtl="0" algn="l">
              <a:lnSpc>
                <a:spcPct val="90000"/>
              </a:lnSpc>
              <a:spcBef>
                <a:spcPts val="450"/>
              </a:spcBef>
              <a:spcAft>
                <a:spcPts val="0"/>
              </a:spcAft>
              <a:buNone/>
            </a:pPr>
            <a:r>
              <a:rPr lang="en-US" sz="2380"/>
              <a:t>Pharming – “The redirection of legitimate Web traffic (e.g., browser requests) to an illegitimate site for the purpose of obtaining private information.</a:t>
            </a:r>
            <a:endParaRPr sz="2380"/>
          </a:p>
          <a:p>
            <a:pPr indent="0" lvl="0" marL="0" rtl="0" algn="l">
              <a:lnSpc>
                <a:spcPct val="90000"/>
              </a:lnSpc>
              <a:spcBef>
                <a:spcPts val="450"/>
              </a:spcBef>
              <a:spcAft>
                <a:spcPts val="0"/>
              </a:spcAft>
              <a:buNone/>
            </a:pPr>
            <a:r>
              <a:t/>
            </a:r>
            <a:endParaRPr sz="2380"/>
          </a:p>
        </p:txBody>
      </p:sp>
      <p:sp>
        <p:nvSpPr>
          <p:cNvPr id="376" name="Google Shape;376;p47: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48:notes"/>
          <p:cNvSpPr txBox="1"/>
          <p:nvPr>
            <p:ph idx="1" type="body"/>
          </p:nvPr>
        </p:nvSpPr>
        <p:spPr>
          <a:xfrm>
            <a:off x="937260" y="3366135"/>
            <a:ext cx="7498080" cy="3188970"/>
          </a:xfrm>
          <a:prstGeom prst="rect">
            <a:avLst/>
          </a:prstGeom>
        </p:spPr>
        <p:txBody>
          <a:bodyPr anchorCtr="0" anchor="t" bIns="47000" lIns="94025" spcFirstLastPara="1" rIns="94025" wrap="square" tIns="47000">
            <a:noAutofit/>
          </a:bodyPr>
          <a:lstStyle/>
          <a:p>
            <a:pPr indent="0" lvl="0" marL="0" rtl="0" algn="l">
              <a:spcBef>
                <a:spcPts val="360"/>
              </a:spcBef>
              <a:spcAft>
                <a:spcPts val="0"/>
              </a:spcAft>
              <a:buNone/>
            </a:pPr>
            <a:r>
              <a:t/>
            </a:r>
            <a:endParaRPr/>
          </a:p>
        </p:txBody>
      </p:sp>
      <p:sp>
        <p:nvSpPr>
          <p:cNvPr id="382" name="Google Shape;382;p48: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49:notes"/>
          <p:cNvSpPr txBox="1"/>
          <p:nvPr>
            <p:ph idx="1" type="body"/>
          </p:nvPr>
        </p:nvSpPr>
        <p:spPr>
          <a:xfrm>
            <a:off x="937260" y="3366135"/>
            <a:ext cx="7498080" cy="3188970"/>
          </a:xfrm>
          <a:prstGeom prst="rect">
            <a:avLst/>
          </a:prstGeom>
        </p:spPr>
        <p:txBody>
          <a:bodyPr anchorCtr="0" anchor="t" bIns="47000" lIns="94025" spcFirstLastPara="1" rIns="94025" wrap="square" tIns="47000">
            <a:noAutofit/>
          </a:bodyPr>
          <a:lstStyle/>
          <a:p>
            <a:pPr indent="0" lvl="0" marL="0" rtl="0" algn="l">
              <a:spcBef>
                <a:spcPts val="360"/>
              </a:spcBef>
              <a:spcAft>
                <a:spcPts val="0"/>
              </a:spcAft>
              <a:buNone/>
            </a:pPr>
            <a:r>
              <a:t/>
            </a:r>
            <a:endParaRPr/>
          </a:p>
        </p:txBody>
      </p:sp>
      <p:sp>
        <p:nvSpPr>
          <p:cNvPr id="388" name="Google Shape;388;p49: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50:notes"/>
          <p:cNvSpPr txBox="1"/>
          <p:nvPr>
            <p:ph idx="1" type="body"/>
          </p:nvPr>
        </p:nvSpPr>
        <p:spPr>
          <a:xfrm>
            <a:off x="937260" y="3366135"/>
            <a:ext cx="7498080" cy="3188970"/>
          </a:xfrm>
          <a:prstGeom prst="rect">
            <a:avLst/>
          </a:prstGeom>
        </p:spPr>
        <p:txBody>
          <a:bodyPr anchorCtr="0" anchor="t" bIns="47000" lIns="94025" spcFirstLastPara="1" rIns="94025" wrap="square" tIns="47000">
            <a:noAutofit/>
          </a:bodyPr>
          <a:lstStyle/>
          <a:p>
            <a:pPr indent="0" lvl="0" marL="0" rtl="0" algn="l">
              <a:spcBef>
                <a:spcPts val="360"/>
              </a:spcBef>
              <a:spcAft>
                <a:spcPts val="0"/>
              </a:spcAft>
              <a:buNone/>
            </a:pPr>
            <a:r>
              <a:t/>
            </a:r>
            <a:endParaRPr/>
          </a:p>
        </p:txBody>
      </p:sp>
      <p:sp>
        <p:nvSpPr>
          <p:cNvPr id="394" name="Google Shape;394;p50: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51:notes"/>
          <p:cNvSpPr txBox="1"/>
          <p:nvPr>
            <p:ph idx="1" type="body"/>
          </p:nvPr>
        </p:nvSpPr>
        <p:spPr>
          <a:xfrm>
            <a:off x="937260" y="3366135"/>
            <a:ext cx="7498080" cy="3188970"/>
          </a:xfrm>
          <a:prstGeom prst="rect">
            <a:avLst/>
          </a:prstGeom>
        </p:spPr>
        <p:txBody>
          <a:bodyPr anchorCtr="0" anchor="t" bIns="47000" lIns="94025" spcFirstLastPara="1" rIns="94025" wrap="square" tIns="47000">
            <a:noAutofit/>
          </a:bodyPr>
          <a:lstStyle/>
          <a:p>
            <a:pPr indent="0" lvl="0" marL="0" rtl="0" algn="l">
              <a:spcBef>
                <a:spcPts val="360"/>
              </a:spcBef>
              <a:spcAft>
                <a:spcPts val="0"/>
              </a:spcAft>
              <a:buNone/>
            </a:pPr>
            <a:r>
              <a:t/>
            </a:r>
            <a:endParaRPr/>
          </a:p>
        </p:txBody>
      </p:sp>
      <p:sp>
        <p:nvSpPr>
          <p:cNvPr id="400" name="Google Shape;400;p51: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52:notes"/>
          <p:cNvSpPr txBox="1"/>
          <p:nvPr>
            <p:ph idx="1" type="body"/>
          </p:nvPr>
        </p:nvSpPr>
        <p:spPr>
          <a:xfrm>
            <a:off x="937260" y="3366135"/>
            <a:ext cx="7498080" cy="3188970"/>
          </a:xfrm>
          <a:prstGeom prst="rect">
            <a:avLst/>
          </a:prstGeom>
        </p:spPr>
        <p:txBody>
          <a:bodyPr anchorCtr="0" anchor="t" bIns="47000" lIns="94025" spcFirstLastPara="1" rIns="94025" wrap="square" tIns="47000">
            <a:noAutofit/>
          </a:bodyPr>
          <a:lstStyle/>
          <a:p>
            <a:pPr indent="0" lvl="0" marL="0" rtl="0" algn="l">
              <a:spcBef>
                <a:spcPts val="360"/>
              </a:spcBef>
              <a:spcAft>
                <a:spcPts val="0"/>
              </a:spcAft>
              <a:buNone/>
            </a:pPr>
            <a:r>
              <a:t/>
            </a:r>
            <a:endParaRPr/>
          </a:p>
        </p:txBody>
      </p:sp>
      <p:sp>
        <p:nvSpPr>
          <p:cNvPr id="407" name="Google Shape;407;p52: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53:notes"/>
          <p:cNvSpPr txBox="1"/>
          <p:nvPr>
            <p:ph idx="1" type="body"/>
          </p:nvPr>
        </p:nvSpPr>
        <p:spPr>
          <a:xfrm>
            <a:off x="937260" y="3366135"/>
            <a:ext cx="7498080" cy="3188970"/>
          </a:xfrm>
          <a:prstGeom prst="rect">
            <a:avLst/>
          </a:prstGeom>
        </p:spPr>
        <p:txBody>
          <a:bodyPr anchorCtr="0" anchor="t" bIns="47000" lIns="94025" spcFirstLastPara="1" rIns="94025" wrap="square" tIns="47000">
            <a:noAutofit/>
          </a:bodyPr>
          <a:lstStyle/>
          <a:p>
            <a:pPr indent="0" lvl="0" marL="0" rtl="0" algn="l">
              <a:spcBef>
                <a:spcPts val="360"/>
              </a:spcBef>
              <a:spcAft>
                <a:spcPts val="0"/>
              </a:spcAft>
              <a:buNone/>
            </a:pPr>
            <a:r>
              <a:t/>
            </a:r>
            <a:endParaRPr/>
          </a:p>
        </p:txBody>
      </p:sp>
      <p:sp>
        <p:nvSpPr>
          <p:cNvPr id="413" name="Google Shape;413;p53: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54: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419" name="Google Shape;419;p54: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420" name="Google Shape;420;p54: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2380"/>
              <a:t>Technical Hardware Failures or Errors</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Occur when manufacturer distributes equipment containing known or unknown flaw</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Can cause system to perform outside of expected parameters, resulting in unreliable service or lack of availabilitiy</a:t>
            </a:r>
            <a:endParaRPr sz="2210">
              <a:solidFill>
                <a:srgbClr val="222222"/>
              </a:solidFill>
              <a:latin typeface="Arial"/>
              <a:ea typeface="Arial"/>
              <a:cs typeface="Arial"/>
              <a:sym typeface="Arial"/>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Some errors are terminal; some are intermittent</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Intel Pentium CPU failure</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Mean time between failure measures amount of time between hardware failures</a:t>
            </a:r>
            <a:endParaRPr/>
          </a:p>
        </p:txBody>
      </p:sp>
      <p:sp>
        <p:nvSpPr>
          <p:cNvPr id="421" name="Google Shape;421;p54: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55: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427" name="Google Shape;427;p55: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428" name="Google Shape;428;p55: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2380"/>
              <a:t>Technical Software Failures or Errors</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Much computer code written, debugged, published, and sold before all bugs detected and resolved</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Combinations of certain software and hardware can reveal new software bugs</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Entire Web sites dedicated to documenting bugs</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Open Web Application Security Project (OWASP) dedicated to helping organizations create/operate trustworthy software, publishes list of top security risks</a:t>
            </a:r>
            <a:endParaRPr/>
          </a:p>
        </p:txBody>
      </p:sp>
      <p:sp>
        <p:nvSpPr>
          <p:cNvPr id="429" name="Google Shape;429;p55: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56: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435" name="Google Shape;435;p56: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436" name="Google Shape;436;p56: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1020"/>
              <a:t>Deadly Sins in Software Security</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Common failures in software development:</a:t>
            </a:r>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Buffer overruns</a:t>
            </a:r>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Command injection</a:t>
            </a:r>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Cross-site scripting (XSS)</a:t>
            </a:r>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Failure to handle errors</a:t>
            </a:r>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Failure to protect network traffic</a:t>
            </a:r>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Failure to store and protect data securely</a:t>
            </a:r>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Failure to use cryptographically strong random numbers</a:t>
            </a:r>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Format string problems</a:t>
            </a:r>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Neglecting change control</a:t>
            </a:r>
            <a:endParaRPr/>
          </a:p>
          <a:p>
            <a:pPr indent="-156209" lvl="1" marL="742950" rtl="0" algn="l">
              <a:lnSpc>
                <a:spcPct val="90000"/>
              </a:lnSpc>
              <a:spcBef>
                <a:spcPts val="408"/>
              </a:spcBef>
              <a:spcAft>
                <a:spcPts val="0"/>
              </a:spcAft>
              <a:buClr>
                <a:schemeClr val="dk1"/>
              </a:buClr>
              <a:buSzPts val="2040"/>
              <a:buFont typeface="Calibri"/>
              <a:buNone/>
            </a:pPr>
            <a:r>
              <a:t/>
            </a:r>
            <a:endParaRPr sz="2040">
              <a:solidFill>
                <a:srgbClr val="222222"/>
              </a:solidFill>
              <a:latin typeface="Arial"/>
              <a:ea typeface="Arial"/>
              <a:cs typeface="Arial"/>
              <a:sym typeface="Arial"/>
            </a:endParaRPr>
          </a:p>
          <a:p>
            <a:pPr indent="0" lvl="0" marL="0" rtl="0" algn="l">
              <a:lnSpc>
                <a:spcPct val="90000"/>
              </a:lnSpc>
              <a:spcBef>
                <a:spcPts val="306"/>
              </a:spcBef>
              <a:spcAft>
                <a:spcPts val="0"/>
              </a:spcAft>
              <a:buNone/>
            </a:pPr>
            <a:r>
              <a:t/>
            </a:r>
            <a:endParaRPr b="1" sz="1020"/>
          </a:p>
        </p:txBody>
      </p:sp>
      <p:sp>
        <p:nvSpPr>
          <p:cNvPr id="437" name="Google Shape;437;p56: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57: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443" name="Google Shape;443;p57: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444" name="Google Shape;444;p57: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1020"/>
              <a:t>Deadly Sins in Software Security</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Common failures in software development:</a:t>
            </a:r>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Improper file access</a:t>
            </a:r>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Improper use of SSL</a:t>
            </a:r>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Information leakage</a:t>
            </a:r>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Integer bugs (overflows/underflows)‏</a:t>
            </a:r>
            <a:endParaRPr sz="2040">
              <a:solidFill>
                <a:srgbClr val="222222"/>
              </a:solidFill>
              <a:latin typeface="Arial"/>
              <a:ea typeface="Arial"/>
              <a:cs typeface="Arial"/>
              <a:sym typeface="Arial"/>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Race conditions</a:t>
            </a:r>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SQL injection</a:t>
            </a:r>
            <a:endParaRPr/>
          </a:p>
        </p:txBody>
      </p:sp>
      <p:sp>
        <p:nvSpPr>
          <p:cNvPr id="445" name="Google Shape;445;p57: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58: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451" name="Google Shape;451;p58: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452" name="Google Shape;452;p58: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1020"/>
              <a:t>Deadly Sins in Software Security</a:t>
            </a:r>
            <a:endParaRPr/>
          </a:p>
          <a:p>
            <a:pPr indent="-342900" lvl="0" marL="342900" rtl="0" algn="l">
              <a:lnSpc>
                <a:spcPct val="90000"/>
              </a:lnSpc>
              <a:spcBef>
                <a:spcPts val="442"/>
              </a:spcBef>
              <a:spcAft>
                <a:spcPts val="0"/>
              </a:spcAft>
              <a:buClr>
                <a:srgbClr val="222222"/>
              </a:buClr>
              <a:buSzPts val="2210"/>
              <a:buFont typeface="Arial"/>
              <a:buChar char="•"/>
            </a:pPr>
            <a:r>
              <a:rPr lang="en-US" sz="2210">
                <a:solidFill>
                  <a:srgbClr val="222222"/>
                </a:solidFill>
                <a:latin typeface="Arial"/>
                <a:ea typeface="Arial"/>
                <a:cs typeface="Arial"/>
                <a:sym typeface="Arial"/>
              </a:rPr>
              <a:t>Problem areas in software development (cont’d.):</a:t>
            </a:r>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Trusting network address resolution</a:t>
            </a:r>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Unauthenticated key exchange</a:t>
            </a:r>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Use of magic URLs and hidden forms</a:t>
            </a:r>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Use of weak password-based systems</a:t>
            </a:r>
            <a:endParaRPr/>
          </a:p>
          <a:p>
            <a:pPr indent="-285750" lvl="1" marL="742950" rtl="0" algn="l">
              <a:lnSpc>
                <a:spcPct val="90000"/>
              </a:lnSpc>
              <a:spcBef>
                <a:spcPts val="408"/>
              </a:spcBef>
              <a:spcAft>
                <a:spcPts val="0"/>
              </a:spcAft>
              <a:buClr>
                <a:srgbClr val="222222"/>
              </a:buClr>
              <a:buSzPts val="2040"/>
              <a:buFont typeface="Arial"/>
              <a:buChar char="–"/>
            </a:pPr>
            <a:r>
              <a:rPr lang="en-US" sz="2040">
                <a:solidFill>
                  <a:srgbClr val="222222"/>
                </a:solidFill>
                <a:latin typeface="Arial"/>
                <a:ea typeface="Arial"/>
                <a:cs typeface="Arial"/>
                <a:sym typeface="Arial"/>
              </a:rPr>
              <a:t>Poor usability</a:t>
            </a:r>
            <a:endParaRPr/>
          </a:p>
          <a:p>
            <a:pPr indent="0" lvl="0" marL="0" rtl="0" algn="l">
              <a:lnSpc>
                <a:spcPct val="90000"/>
              </a:lnSpc>
              <a:spcBef>
                <a:spcPts val="306"/>
              </a:spcBef>
              <a:spcAft>
                <a:spcPts val="0"/>
              </a:spcAft>
              <a:buNone/>
            </a:pPr>
            <a:r>
              <a:t/>
            </a:r>
            <a:endParaRPr sz="1020"/>
          </a:p>
        </p:txBody>
      </p:sp>
      <p:sp>
        <p:nvSpPr>
          <p:cNvPr id="453" name="Google Shape;453;p58: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59: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459" name="Google Shape;459;p59: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460" name="Google Shape;460;p59: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2380"/>
              <a:t>Technological Obsolescence </a:t>
            </a:r>
            <a:endParaRPr/>
          </a:p>
          <a:p>
            <a:pPr indent="0" lvl="0" marL="0" rtl="0" algn="l">
              <a:lnSpc>
                <a:spcPct val="90000"/>
              </a:lnSpc>
              <a:spcBef>
                <a:spcPts val="450"/>
              </a:spcBef>
              <a:spcAft>
                <a:spcPts val="0"/>
              </a:spcAft>
              <a:buNone/>
            </a:pPr>
            <a:r>
              <a:rPr lang="en-US" sz="2380"/>
              <a:t>When the infrastructure becomes antiquated or outdated, it leads to unreliable and untrustworthy systems. </a:t>
            </a:r>
            <a:endParaRPr/>
          </a:p>
          <a:p>
            <a:pPr indent="0" lvl="0" marL="0" rtl="0" algn="l">
              <a:lnSpc>
                <a:spcPct val="90000"/>
              </a:lnSpc>
              <a:spcBef>
                <a:spcPts val="450"/>
              </a:spcBef>
              <a:spcAft>
                <a:spcPts val="0"/>
              </a:spcAft>
              <a:buNone/>
            </a:pPr>
            <a:r>
              <a:rPr lang="en-US" sz="2380"/>
              <a:t>Management must recognize that when technology becomes outdated, there is a risk of loss of data integrity to threats and attacks. </a:t>
            </a:r>
            <a:endParaRPr/>
          </a:p>
          <a:p>
            <a:pPr indent="0" lvl="0" marL="0" rtl="0" algn="l">
              <a:lnSpc>
                <a:spcPct val="90000"/>
              </a:lnSpc>
              <a:spcBef>
                <a:spcPts val="450"/>
              </a:spcBef>
              <a:spcAft>
                <a:spcPts val="0"/>
              </a:spcAft>
              <a:buNone/>
            </a:pPr>
            <a:r>
              <a:rPr lang="en-US" sz="2380"/>
              <a:t>Ideally, proper planning by management should prevent the risks from technology obsolesce, but when obsolescence is identified, management must take immediate action. </a:t>
            </a:r>
            <a:endParaRPr/>
          </a:p>
          <a:p>
            <a:pPr indent="0" lvl="0" marL="0" rtl="0" algn="l">
              <a:lnSpc>
                <a:spcPct val="90000"/>
              </a:lnSpc>
              <a:spcBef>
                <a:spcPts val="450"/>
              </a:spcBef>
              <a:spcAft>
                <a:spcPts val="0"/>
              </a:spcAft>
              <a:buNone/>
            </a:pPr>
            <a:r>
              <a:t/>
            </a:r>
            <a:endParaRPr sz="2380"/>
          </a:p>
          <a:p>
            <a:pPr indent="0" lvl="0" marL="0" rtl="0" algn="l">
              <a:lnSpc>
                <a:spcPct val="90000"/>
              </a:lnSpc>
              <a:spcBef>
                <a:spcPts val="450"/>
              </a:spcBef>
              <a:spcAft>
                <a:spcPts val="0"/>
              </a:spcAft>
              <a:buNone/>
            </a:pPr>
            <a:r>
              <a:t/>
            </a:r>
            <a:endParaRPr sz="2380"/>
          </a:p>
        </p:txBody>
      </p:sp>
      <p:sp>
        <p:nvSpPr>
          <p:cNvPr id="461" name="Google Shape;461;p59: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60: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467" name="Google Shape;467;p60: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468" name="Google Shape;468;p60: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rPr b="1" lang="en-US" sz="2380"/>
              <a:t>Deliberate Acts of Theft</a:t>
            </a:r>
            <a:endParaRPr/>
          </a:p>
          <a:p>
            <a:pPr indent="0" lvl="0" marL="0" rtl="0" algn="l">
              <a:lnSpc>
                <a:spcPct val="90000"/>
              </a:lnSpc>
              <a:spcBef>
                <a:spcPts val="450"/>
              </a:spcBef>
              <a:spcAft>
                <a:spcPts val="0"/>
              </a:spcAft>
              <a:buNone/>
            </a:pPr>
            <a:r>
              <a:rPr lang="en-US" sz="2380"/>
              <a:t>Theft is the illegal taking of another’s property. Within an organization, that property can be physical, electronic, or intellectual. </a:t>
            </a:r>
            <a:endParaRPr/>
          </a:p>
          <a:p>
            <a:pPr indent="0" lvl="0" marL="0" rtl="0" algn="l">
              <a:lnSpc>
                <a:spcPct val="90000"/>
              </a:lnSpc>
              <a:spcBef>
                <a:spcPts val="450"/>
              </a:spcBef>
              <a:spcAft>
                <a:spcPts val="0"/>
              </a:spcAft>
              <a:buNone/>
            </a:pPr>
            <a:r>
              <a:rPr lang="en-US" sz="2380"/>
              <a:t>The value of information suffers when it is copied and taken away without the owner’s knowledge. </a:t>
            </a:r>
            <a:endParaRPr/>
          </a:p>
          <a:p>
            <a:pPr indent="0" lvl="0" marL="0" rtl="0" algn="l">
              <a:lnSpc>
                <a:spcPct val="90000"/>
              </a:lnSpc>
              <a:spcBef>
                <a:spcPts val="450"/>
              </a:spcBef>
              <a:spcAft>
                <a:spcPts val="0"/>
              </a:spcAft>
              <a:buNone/>
            </a:pPr>
            <a:r>
              <a:rPr lang="en-US" sz="2380"/>
              <a:t>Physical theft can be controlled quite easily. A wide variety of measures can be used from simple locked doors to trained security personnel and the installation of alarm systems. </a:t>
            </a:r>
            <a:endParaRPr/>
          </a:p>
          <a:p>
            <a:pPr indent="0" lvl="0" marL="0" rtl="0" algn="l">
              <a:lnSpc>
                <a:spcPct val="90000"/>
              </a:lnSpc>
              <a:spcBef>
                <a:spcPts val="450"/>
              </a:spcBef>
              <a:spcAft>
                <a:spcPts val="0"/>
              </a:spcAft>
              <a:buNone/>
            </a:pPr>
            <a:r>
              <a:rPr lang="en-US" sz="2380"/>
              <a:t>Electronic theft, however, is a more complex problem to manage and control.  Organizations may not even know it has occurred.   </a:t>
            </a:r>
            <a:endParaRPr/>
          </a:p>
          <a:p>
            <a:pPr indent="0" lvl="0" marL="0" rtl="0" algn="l">
              <a:lnSpc>
                <a:spcPct val="90000"/>
              </a:lnSpc>
              <a:spcBef>
                <a:spcPts val="450"/>
              </a:spcBef>
              <a:spcAft>
                <a:spcPts val="0"/>
              </a:spcAft>
              <a:buNone/>
            </a:pPr>
            <a:r>
              <a:t/>
            </a:r>
            <a:endParaRPr sz="2380"/>
          </a:p>
        </p:txBody>
      </p:sp>
      <p:sp>
        <p:nvSpPr>
          <p:cNvPr id="469" name="Google Shape;469;p60: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61: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475" name="Google Shape;475;p61: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476" name="Google Shape;476;p61: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t/>
            </a:r>
            <a:endParaRPr sz="2040">
              <a:solidFill>
                <a:srgbClr val="222222"/>
              </a:solidFill>
              <a:latin typeface="Arial"/>
              <a:ea typeface="Arial"/>
              <a:cs typeface="Arial"/>
              <a:sym typeface="Arial"/>
            </a:endParaRPr>
          </a:p>
        </p:txBody>
      </p:sp>
      <p:sp>
        <p:nvSpPr>
          <p:cNvPr id="477" name="Google Shape;477;p61: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62: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483" name="Google Shape;483;p62: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484" name="Google Shape;484;p62: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t/>
            </a:r>
            <a:endParaRPr sz="2040">
              <a:solidFill>
                <a:srgbClr val="222222"/>
              </a:solidFill>
              <a:latin typeface="Arial"/>
              <a:ea typeface="Arial"/>
              <a:cs typeface="Arial"/>
              <a:sym typeface="Arial"/>
            </a:endParaRPr>
          </a:p>
        </p:txBody>
      </p:sp>
      <p:sp>
        <p:nvSpPr>
          <p:cNvPr id="485" name="Google Shape;485;p62: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63: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491" name="Google Shape;491;p63: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492" name="Google Shape;492;p63: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t/>
            </a:r>
            <a:endParaRPr sz="2040">
              <a:solidFill>
                <a:srgbClr val="222222"/>
              </a:solidFill>
              <a:latin typeface="Arial"/>
              <a:ea typeface="Arial"/>
              <a:cs typeface="Arial"/>
              <a:sym typeface="Arial"/>
            </a:endParaRPr>
          </a:p>
        </p:txBody>
      </p:sp>
      <p:sp>
        <p:nvSpPr>
          <p:cNvPr id="493" name="Google Shape;493;p63: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64:notes"/>
          <p:cNvSpPr txBox="1"/>
          <p:nvPr>
            <p:ph idx="12" type="sldNum"/>
          </p:nvPr>
        </p:nvSpPr>
        <p:spPr>
          <a:xfrm>
            <a:off x="5308971" y="6731040"/>
            <a:ext cx="4061460" cy="354330"/>
          </a:xfrm>
          <a:prstGeom prst="rect">
            <a:avLst/>
          </a:prstGeom>
          <a:noFill/>
          <a:ln>
            <a:noFill/>
          </a:ln>
        </p:spPr>
        <p:txBody>
          <a:bodyPr anchorCtr="0" anchor="b" bIns="47000" lIns="94025" spcFirstLastPara="1" rIns="94025" wrap="square" tIns="470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
        <p:nvSpPr>
          <p:cNvPr id="499" name="Google Shape;499;p64:notes"/>
          <p:cNvSpPr txBox="1"/>
          <p:nvPr/>
        </p:nvSpPr>
        <p:spPr>
          <a:xfrm>
            <a:off x="1219200" y="720725"/>
            <a:ext cx="4876800" cy="360045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8325" lIns="96650" spcFirstLastPara="1" rIns="96650" wrap="square" tIns="48325">
            <a:noAutofit/>
          </a:bodyPr>
          <a:lstStyle/>
          <a:p>
            <a:pPr indent="0" lvl="0" marL="0" marR="0" rtl="0" algn="l">
              <a:spcBef>
                <a:spcPts val="0"/>
              </a:spcBef>
              <a:spcAft>
                <a:spcPts val="0"/>
              </a:spcAft>
              <a:buNone/>
            </a:pPr>
            <a:r>
              <a:t/>
            </a:r>
            <a:endParaRPr b="0" i="0" sz="2500" u="none" cap="none" strike="noStrike">
              <a:solidFill>
                <a:schemeClr val="lt1"/>
              </a:solidFill>
              <a:latin typeface="Times New Roman"/>
              <a:ea typeface="Times New Roman"/>
              <a:cs typeface="Times New Roman"/>
              <a:sym typeface="Times New Roman"/>
            </a:endParaRPr>
          </a:p>
        </p:txBody>
      </p:sp>
      <p:sp>
        <p:nvSpPr>
          <p:cNvPr id="500" name="Google Shape;500;p64:notes"/>
          <p:cNvSpPr txBox="1"/>
          <p:nvPr>
            <p:ph idx="1" type="body"/>
          </p:nvPr>
        </p:nvSpPr>
        <p:spPr>
          <a:xfrm>
            <a:off x="974725" y="4560888"/>
            <a:ext cx="5365750" cy="4319587"/>
          </a:xfrm>
          <a:prstGeom prst="rect">
            <a:avLst/>
          </a:prstGeom>
          <a:noFill/>
          <a:ln>
            <a:noFill/>
          </a:ln>
        </p:spPr>
        <p:txBody>
          <a:bodyPr anchorCtr="0" anchor="t" bIns="47000" lIns="94025" spcFirstLastPara="1" rIns="94025" wrap="square" tIns="47000">
            <a:noAutofit/>
          </a:bodyPr>
          <a:lstStyle/>
          <a:p>
            <a:pPr indent="0" lvl="0" marL="0" rtl="0" algn="l">
              <a:lnSpc>
                <a:spcPct val="90000"/>
              </a:lnSpc>
              <a:spcBef>
                <a:spcPts val="0"/>
              </a:spcBef>
              <a:spcAft>
                <a:spcPts val="0"/>
              </a:spcAft>
              <a:buNone/>
            </a:pPr>
            <a:r>
              <a:t/>
            </a:r>
            <a:endParaRPr sz="2040">
              <a:solidFill>
                <a:srgbClr val="222222"/>
              </a:solidFill>
              <a:latin typeface="Arial"/>
              <a:ea typeface="Arial"/>
              <a:cs typeface="Arial"/>
              <a:sym typeface="Arial"/>
            </a:endParaRPr>
          </a:p>
        </p:txBody>
      </p:sp>
      <p:sp>
        <p:nvSpPr>
          <p:cNvPr id="501" name="Google Shape;501;p64:notes"/>
          <p:cNvSpPr/>
          <p:nvPr>
            <p:ph idx="2" type="sldImg"/>
          </p:nvPr>
        </p:nvSpPr>
        <p:spPr>
          <a:xfrm>
            <a:off x="2914650" y="531813"/>
            <a:ext cx="3543300" cy="26574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3.png"/><Relationship Id="rId9"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4.jpg"/><Relationship Id="rId7" Type="http://schemas.openxmlformats.org/officeDocument/2006/relationships/image" Target="../media/image10.png"/><Relationship Id="rId8" Type="http://schemas.openxmlformats.org/officeDocument/2006/relationships/image" Target="../media/image12.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Opener" showMasterSp="0">
  <p:cSld name="Chapter Opener">
    <p:spTree>
      <p:nvGrpSpPr>
        <p:cNvPr id="15" name="Shape 15"/>
        <p:cNvGrpSpPr/>
        <p:nvPr/>
      </p:nvGrpSpPr>
      <p:grpSpPr>
        <a:xfrm>
          <a:off x="0" y="0"/>
          <a:ext cx="0" cy="0"/>
          <a:chOff x="0" y="0"/>
          <a:chExt cx="0" cy="0"/>
        </a:xfrm>
      </p:grpSpPr>
      <p:sp>
        <p:nvSpPr>
          <p:cNvPr id="16" name="Google Shape;16;p2"/>
          <p:cNvSpPr/>
          <p:nvPr/>
        </p:nvSpPr>
        <p:spPr>
          <a:xfrm>
            <a:off x="0" y="0"/>
            <a:ext cx="9144000" cy="1371600"/>
          </a:xfrm>
          <a:prstGeom prst="rect">
            <a:avLst/>
          </a:prstGeom>
          <a:solidFill>
            <a:srgbClr val="36416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 name="Google Shape;17;p2"/>
          <p:cNvSpPr txBox="1"/>
          <p:nvPr>
            <p:ph type="title"/>
          </p:nvPr>
        </p:nvSpPr>
        <p:spPr>
          <a:xfrm>
            <a:off x="457200" y="228600"/>
            <a:ext cx="8229600" cy="622828"/>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Clr>
                <a:schemeClr val="lt1"/>
              </a:buClr>
              <a:buSzPts val="3600"/>
              <a:buFont typeface="Arial"/>
              <a:buNone/>
              <a:defRPr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body"/>
          </p:nvPr>
        </p:nvSpPr>
        <p:spPr>
          <a:xfrm>
            <a:off x="457200" y="816430"/>
            <a:ext cx="8229600" cy="478970"/>
          </a:xfrm>
          <a:prstGeom prst="rect">
            <a:avLst/>
          </a:prstGeom>
          <a:noFill/>
          <a:ln>
            <a:noFill/>
          </a:ln>
        </p:spPr>
        <p:txBody>
          <a:bodyPr anchorCtr="0" anchor="t" bIns="45700" lIns="91425" spcFirstLastPara="1" rIns="91425" wrap="square" tIns="45700">
            <a:noAutofit/>
          </a:bodyPr>
          <a:lstStyle>
            <a:lvl1pPr indent="-228600" lvl="0" marL="457200" algn="l">
              <a:spcBef>
                <a:spcPts val="0"/>
              </a:spcBef>
              <a:spcAft>
                <a:spcPts val="0"/>
              </a:spcAft>
              <a:buSzPts val="2400"/>
              <a:buNone/>
              <a:defRPr sz="2400">
                <a:solidFill>
                  <a:schemeClr val="lt1"/>
                </a:solidFill>
                <a:latin typeface="Arial"/>
                <a:ea typeface="Arial"/>
                <a:cs typeface="Arial"/>
                <a:sym typeface="Arial"/>
              </a:defRPr>
            </a:lvl1pPr>
            <a:lvl2pPr indent="-228600" lvl="1" marL="914400" algn="l">
              <a:spcBef>
                <a:spcPts val="0"/>
              </a:spcBef>
              <a:spcAft>
                <a:spcPts val="0"/>
              </a:spcAft>
              <a:buSzPts val="2400"/>
              <a:buNone/>
              <a:defRPr sz="2400">
                <a:solidFill>
                  <a:schemeClr val="lt1"/>
                </a:solidFill>
              </a:defRPr>
            </a:lvl2pPr>
            <a:lvl3pPr indent="-228600" lvl="2" marL="1371600" algn="l">
              <a:spcBef>
                <a:spcPts val="0"/>
              </a:spcBef>
              <a:spcAft>
                <a:spcPts val="0"/>
              </a:spcAft>
              <a:buSzPts val="2400"/>
              <a:buNone/>
              <a:defRPr sz="2400">
                <a:solidFill>
                  <a:schemeClr val="lt1"/>
                </a:solidFill>
              </a:defRPr>
            </a:lvl3pPr>
            <a:lvl4pPr indent="-228600" lvl="3" marL="1828800" algn="l">
              <a:spcBef>
                <a:spcPts val="0"/>
              </a:spcBef>
              <a:spcAft>
                <a:spcPts val="0"/>
              </a:spcAft>
              <a:buSzPts val="2400"/>
              <a:buNone/>
              <a:defRPr sz="2400">
                <a:solidFill>
                  <a:schemeClr val="lt1"/>
                </a:solidFill>
              </a:defRPr>
            </a:lvl4pPr>
            <a:lvl5pPr indent="-228600" lvl="4" marL="2286000" algn="l">
              <a:spcBef>
                <a:spcPts val="0"/>
              </a:spcBef>
              <a:spcAft>
                <a:spcPts val="0"/>
              </a:spcAft>
              <a:buSzPts val="2400"/>
              <a:buNone/>
              <a:defRPr sz="2400">
                <a:solidFill>
                  <a:schemeClr val="lt1"/>
                </a:solidFill>
              </a:defRPr>
            </a:lvl5pPr>
            <a:lvl6pPr indent="-228600" lvl="5" marL="2743200" algn="l">
              <a:spcBef>
                <a:spcPts val="0"/>
              </a:spcBef>
              <a:spcAft>
                <a:spcPts val="0"/>
              </a:spcAft>
              <a:buClr>
                <a:schemeClr val="lt1"/>
              </a:buClr>
              <a:buSzPts val="2400"/>
              <a:buNone/>
              <a:defRPr sz="2400">
                <a:solidFill>
                  <a:schemeClr val="lt1"/>
                </a:solidFill>
              </a:defRPr>
            </a:lvl6pPr>
            <a:lvl7pPr indent="-228600" lvl="6" marL="3200400" algn="l">
              <a:spcBef>
                <a:spcPts val="0"/>
              </a:spcBef>
              <a:spcAft>
                <a:spcPts val="0"/>
              </a:spcAft>
              <a:buClr>
                <a:schemeClr val="lt1"/>
              </a:buClr>
              <a:buSzPts val="2400"/>
              <a:buNone/>
              <a:defRPr sz="2400">
                <a:solidFill>
                  <a:schemeClr val="lt1"/>
                </a:solidFill>
              </a:defRPr>
            </a:lvl7pPr>
            <a:lvl8pPr indent="-228600" lvl="7" marL="3657600" algn="l">
              <a:spcBef>
                <a:spcPts val="0"/>
              </a:spcBef>
              <a:spcAft>
                <a:spcPts val="0"/>
              </a:spcAft>
              <a:buClr>
                <a:schemeClr val="lt1"/>
              </a:buClr>
              <a:buSzPts val="2400"/>
              <a:buNone/>
              <a:defRPr sz="2400">
                <a:solidFill>
                  <a:schemeClr val="lt1"/>
                </a:solidFill>
              </a:defRPr>
            </a:lvl8pPr>
            <a:lvl9pPr indent="-228600" lvl="8" marL="4114800" algn="l">
              <a:spcBef>
                <a:spcPts val="0"/>
              </a:spcBef>
              <a:spcAft>
                <a:spcPts val="0"/>
              </a:spcAft>
              <a:buClr>
                <a:schemeClr val="lt1"/>
              </a:buClr>
              <a:buSzPts val="2400"/>
              <a:buNone/>
              <a:defRPr sz="2400">
                <a:solidFill>
                  <a:schemeClr val="lt1"/>
                </a:solidFill>
              </a:defRPr>
            </a:lvl9pPr>
          </a:lstStyle>
          <a:p/>
        </p:txBody>
      </p:sp>
      <p:sp>
        <p:nvSpPr>
          <p:cNvPr id="19" name="Google Shape;19;p2"/>
          <p:cNvSpPr txBox="1"/>
          <p:nvPr>
            <p:ph idx="2" type="body"/>
          </p:nvPr>
        </p:nvSpPr>
        <p:spPr>
          <a:xfrm>
            <a:off x="5029200" y="1600201"/>
            <a:ext cx="3657600" cy="1600199"/>
          </a:xfrm>
          <a:prstGeom prst="rect">
            <a:avLst/>
          </a:prstGeom>
          <a:noFill/>
          <a:ln>
            <a:noFill/>
          </a:ln>
        </p:spPr>
        <p:txBody>
          <a:bodyPr anchorCtr="0" anchor="b" bIns="45700" lIns="91425" spcFirstLastPara="1" rIns="91425" wrap="square" tIns="45700">
            <a:noAutofit/>
          </a:bodyPr>
          <a:lstStyle>
            <a:lvl1pPr indent="-228600" lvl="0" marL="457200" algn="l">
              <a:spcBef>
                <a:spcPts val="0"/>
              </a:spcBef>
              <a:spcAft>
                <a:spcPts val="0"/>
              </a:spcAft>
              <a:buSzPts val="4400"/>
              <a:buNone/>
              <a:defRPr sz="4400">
                <a:latin typeface="Arial"/>
                <a:ea typeface="Arial"/>
                <a:cs typeface="Arial"/>
                <a:sym typeface="Arial"/>
              </a:defRPr>
            </a:lvl1pPr>
            <a:lvl2pPr indent="-228600" lvl="1" marL="914400" algn="l">
              <a:spcBef>
                <a:spcPts val="0"/>
              </a:spcBef>
              <a:spcAft>
                <a:spcPts val="0"/>
              </a:spcAft>
              <a:buSzPts val="4400"/>
              <a:buNone/>
              <a:defRPr sz="4400"/>
            </a:lvl2pPr>
            <a:lvl3pPr indent="-228600" lvl="2" marL="1371600" algn="l">
              <a:spcBef>
                <a:spcPts val="0"/>
              </a:spcBef>
              <a:spcAft>
                <a:spcPts val="0"/>
              </a:spcAft>
              <a:buSzPts val="4400"/>
              <a:buNone/>
              <a:defRPr sz="4400"/>
            </a:lvl3pPr>
            <a:lvl4pPr indent="-228600" lvl="3" marL="1828800" algn="l">
              <a:spcBef>
                <a:spcPts val="0"/>
              </a:spcBef>
              <a:spcAft>
                <a:spcPts val="0"/>
              </a:spcAft>
              <a:buSzPts val="4400"/>
              <a:buNone/>
              <a:defRPr sz="4400"/>
            </a:lvl4pPr>
            <a:lvl5pPr indent="-228600" lvl="4" marL="2286000" algn="l">
              <a:spcBef>
                <a:spcPts val="0"/>
              </a:spcBef>
              <a:spcAft>
                <a:spcPts val="0"/>
              </a:spcAft>
              <a:buSzPts val="4400"/>
              <a:buNone/>
              <a:defRPr sz="4400"/>
            </a:lvl5pPr>
            <a:lvl6pPr indent="-228600" lvl="5" marL="2743200" algn="l">
              <a:spcBef>
                <a:spcPts val="0"/>
              </a:spcBef>
              <a:spcAft>
                <a:spcPts val="0"/>
              </a:spcAft>
              <a:buClr>
                <a:schemeClr val="dk1"/>
              </a:buClr>
              <a:buSzPts val="4400"/>
              <a:buNone/>
              <a:defRPr sz="4400"/>
            </a:lvl6pPr>
            <a:lvl7pPr indent="-228600" lvl="6" marL="3200400" algn="l">
              <a:spcBef>
                <a:spcPts val="0"/>
              </a:spcBef>
              <a:spcAft>
                <a:spcPts val="0"/>
              </a:spcAft>
              <a:buClr>
                <a:schemeClr val="dk1"/>
              </a:buClr>
              <a:buSzPts val="4400"/>
              <a:buNone/>
              <a:defRPr sz="4400"/>
            </a:lvl7pPr>
            <a:lvl8pPr indent="-228600" lvl="7" marL="3657600" algn="l">
              <a:spcBef>
                <a:spcPts val="0"/>
              </a:spcBef>
              <a:spcAft>
                <a:spcPts val="0"/>
              </a:spcAft>
              <a:buClr>
                <a:schemeClr val="dk1"/>
              </a:buClr>
              <a:buSzPts val="4400"/>
              <a:buNone/>
              <a:defRPr sz="4400"/>
            </a:lvl8pPr>
            <a:lvl9pPr indent="-228600" lvl="8" marL="4114800" algn="l">
              <a:spcBef>
                <a:spcPts val="0"/>
              </a:spcBef>
              <a:spcAft>
                <a:spcPts val="0"/>
              </a:spcAft>
              <a:buClr>
                <a:schemeClr val="dk1"/>
              </a:buClr>
              <a:buSzPts val="4400"/>
              <a:buNone/>
              <a:defRPr sz="4400"/>
            </a:lvl9pPr>
          </a:lstStyle>
          <a:p/>
        </p:txBody>
      </p:sp>
      <p:sp>
        <p:nvSpPr>
          <p:cNvPr id="20" name="Google Shape;20;p2"/>
          <p:cNvSpPr txBox="1"/>
          <p:nvPr>
            <p:ph idx="3" type="body"/>
          </p:nvPr>
        </p:nvSpPr>
        <p:spPr>
          <a:xfrm>
            <a:off x="5029200" y="3200400"/>
            <a:ext cx="3657600" cy="2925763"/>
          </a:xfrm>
          <a:prstGeom prst="rect">
            <a:avLst/>
          </a:prstGeom>
          <a:noFill/>
          <a:ln>
            <a:noFill/>
          </a:ln>
        </p:spPr>
        <p:txBody>
          <a:bodyPr anchorCtr="0" anchor="t" bIns="45700" lIns="91425" spcFirstLastPara="1" rIns="91425" wrap="square" tIns="45700">
            <a:noAutofit/>
          </a:bodyPr>
          <a:lstStyle>
            <a:lvl1pPr indent="-228600" lvl="0" marL="457200" algn="l">
              <a:spcBef>
                <a:spcPts val="0"/>
              </a:spcBef>
              <a:spcAft>
                <a:spcPts val="0"/>
              </a:spcAft>
              <a:buSzPts val="2800"/>
              <a:buNone/>
              <a:defRPr sz="2800">
                <a:latin typeface="Arial"/>
                <a:ea typeface="Arial"/>
                <a:cs typeface="Arial"/>
                <a:sym typeface="Arial"/>
              </a:defRPr>
            </a:lvl1pPr>
            <a:lvl2pPr indent="-228600" lvl="1" marL="914400" algn="l">
              <a:spcBef>
                <a:spcPts val="0"/>
              </a:spcBef>
              <a:spcAft>
                <a:spcPts val="0"/>
              </a:spcAft>
              <a:buSzPts val="2400"/>
              <a:buNone/>
              <a:defRPr/>
            </a:lvl2pPr>
            <a:lvl3pPr indent="-228600" lvl="2" marL="1371600" algn="l">
              <a:spcBef>
                <a:spcPts val="0"/>
              </a:spcBef>
              <a:spcAft>
                <a:spcPts val="0"/>
              </a:spcAft>
              <a:buSzPts val="2200"/>
              <a:buNone/>
              <a:defRPr/>
            </a:lvl3pPr>
            <a:lvl4pPr indent="-228600" lvl="3" marL="1828800" algn="l">
              <a:spcBef>
                <a:spcPts val="0"/>
              </a:spcBef>
              <a:spcAft>
                <a:spcPts val="0"/>
              </a:spcAft>
              <a:buSzPts val="2000"/>
              <a:buNone/>
              <a:defRPr/>
            </a:lvl4pPr>
            <a:lvl5pPr indent="-228600" lvl="4" marL="2286000" algn="l">
              <a:spcBef>
                <a:spcPts val="0"/>
              </a:spcBef>
              <a:spcAft>
                <a:spcPts val="0"/>
              </a:spcAft>
              <a:buSzPts val="2000"/>
              <a:buNone/>
              <a:defRPr/>
            </a:lvl5pPr>
            <a:lvl6pPr indent="-228600" lvl="5" marL="2743200" algn="l">
              <a:spcBef>
                <a:spcPts val="0"/>
              </a:spcBef>
              <a:spcAft>
                <a:spcPts val="0"/>
              </a:spcAft>
              <a:buClr>
                <a:schemeClr val="dk1"/>
              </a:buClr>
              <a:buSzPts val="2000"/>
              <a:buNone/>
              <a:defRPr/>
            </a:lvl6pPr>
            <a:lvl7pPr indent="-228600" lvl="6" marL="3200400" algn="l">
              <a:spcBef>
                <a:spcPts val="0"/>
              </a:spcBef>
              <a:spcAft>
                <a:spcPts val="0"/>
              </a:spcAft>
              <a:buClr>
                <a:schemeClr val="dk1"/>
              </a:buClr>
              <a:buSzPts val="2000"/>
              <a:buNone/>
              <a:defRPr/>
            </a:lvl7pPr>
            <a:lvl8pPr indent="-228600" lvl="7" marL="3657600" algn="l">
              <a:spcBef>
                <a:spcPts val="0"/>
              </a:spcBef>
              <a:spcAft>
                <a:spcPts val="0"/>
              </a:spcAft>
              <a:buClr>
                <a:schemeClr val="dk1"/>
              </a:buClr>
              <a:buSzPts val="2000"/>
              <a:buNone/>
              <a:defRPr/>
            </a:lvl8pPr>
            <a:lvl9pPr indent="-228600" lvl="8" marL="4114800" algn="l">
              <a:spcBef>
                <a:spcPts val="0"/>
              </a:spcBef>
              <a:spcAft>
                <a:spcPts val="0"/>
              </a:spcAft>
              <a:buClr>
                <a:schemeClr val="dk1"/>
              </a:buClr>
              <a:buSzPts val="2000"/>
              <a:buNone/>
              <a:defRPr/>
            </a:lvl9pPr>
          </a:lstStyle>
          <a:p/>
        </p:txBody>
      </p:sp>
      <p:sp>
        <p:nvSpPr>
          <p:cNvPr id="21" name="Google Shape;21;p2"/>
          <p:cNvSpPr/>
          <p:nvPr/>
        </p:nvSpPr>
        <p:spPr>
          <a:xfrm>
            <a:off x="-7938" y="6248400"/>
            <a:ext cx="9161464" cy="629874"/>
          </a:xfrm>
          <a:prstGeom prst="rect">
            <a:avLst/>
          </a:prstGeom>
          <a:solidFill>
            <a:srgbClr val="36416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2" name="Shape 22"/>
        <p:cNvGrpSpPr/>
        <p:nvPr/>
      </p:nvGrpSpPr>
      <p:grpSpPr>
        <a:xfrm>
          <a:off x="0" y="0"/>
          <a:ext cx="0" cy="0"/>
          <a:chOff x="0" y="0"/>
          <a:chExt cx="0" cy="0"/>
        </a:xfrm>
      </p:grpSpPr>
      <p:sp>
        <p:nvSpPr>
          <p:cNvPr id="23" name="Google Shape;23;p3"/>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3600"/>
              <a:buFont typeface="Arial"/>
              <a:buNone/>
              <a:defRPr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lvl1pPr indent="-393700" lvl="0" marL="457200" algn="l">
              <a:spcBef>
                <a:spcPts val="520"/>
              </a:spcBef>
              <a:spcAft>
                <a:spcPts val="0"/>
              </a:spcAft>
              <a:buClr>
                <a:srgbClr val="364162"/>
              </a:buClr>
              <a:buSzPts val="2600"/>
              <a:buChar char="•"/>
              <a:defRPr/>
            </a:lvl1pPr>
            <a:lvl2pPr indent="-381000" lvl="1" marL="914400" algn="l">
              <a:spcBef>
                <a:spcPts val="480"/>
              </a:spcBef>
              <a:spcAft>
                <a:spcPts val="0"/>
              </a:spcAft>
              <a:buClr>
                <a:srgbClr val="364162"/>
              </a:buClr>
              <a:buSzPts val="2400"/>
              <a:buChar char="–"/>
              <a:defRPr/>
            </a:lvl2pPr>
            <a:lvl3pPr indent="-368300" lvl="2" marL="1371600" algn="l">
              <a:spcBef>
                <a:spcPts val="440"/>
              </a:spcBef>
              <a:spcAft>
                <a:spcPts val="0"/>
              </a:spcAft>
              <a:buClr>
                <a:srgbClr val="364162"/>
              </a:buClr>
              <a:buSzPts val="2200"/>
              <a:buFont typeface="Noto Sans Symbols"/>
              <a:buChar char="▪"/>
              <a:defRPr/>
            </a:lvl3pPr>
            <a:lvl4pPr indent="-355600" lvl="3" marL="1828800" algn="l">
              <a:spcBef>
                <a:spcPts val="400"/>
              </a:spcBef>
              <a:spcAft>
                <a:spcPts val="0"/>
              </a:spcAft>
              <a:buClr>
                <a:srgbClr val="364162"/>
              </a:buClr>
              <a:buSzPts val="2000"/>
              <a:buFont typeface="Courier New"/>
              <a:buChar char="o"/>
              <a:defRPr/>
            </a:lvl4pPr>
            <a:lvl5pPr indent="-355600" lvl="4" marL="2286000" algn="l">
              <a:spcBef>
                <a:spcPts val="400"/>
              </a:spcBef>
              <a:spcAft>
                <a:spcPts val="0"/>
              </a:spcAft>
              <a:buClr>
                <a:srgbClr val="364162"/>
              </a:buClr>
              <a:buSzPts val="2000"/>
              <a:buChar char="»"/>
              <a:defRPr/>
            </a:lvl5pPr>
            <a:lvl6pPr indent="-355600" lvl="5" marL="2743200" algn="l">
              <a:spcBef>
                <a:spcPts val="400"/>
              </a:spcBef>
              <a:spcAft>
                <a:spcPts val="0"/>
              </a:spcAft>
              <a:buClr>
                <a:schemeClr val="dk1"/>
              </a:buClr>
              <a:buSzPts val="2000"/>
              <a:buChar char="•"/>
              <a:defRPr/>
            </a:lvl6pPr>
            <a:lvl7pPr indent="-355600" lvl="6" marL="3200400" algn="l">
              <a:spcBef>
                <a:spcPts val="400"/>
              </a:spcBef>
              <a:spcAft>
                <a:spcPts val="0"/>
              </a:spcAft>
              <a:buClr>
                <a:schemeClr val="dk1"/>
              </a:buClr>
              <a:buSzPts val="2000"/>
              <a:buChar char="•"/>
              <a:defRPr/>
            </a:lvl7pPr>
            <a:lvl8pPr indent="-355600" lvl="7" marL="3657600" algn="l">
              <a:spcBef>
                <a:spcPts val="400"/>
              </a:spcBef>
              <a:spcAft>
                <a:spcPts val="0"/>
              </a:spcAft>
              <a:buClr>
                <a:schemeClr val="dk1"/>
              </a:buClr>
              <a:buSzPts val="2000"/>
              <a:buChar char="•"/>
              <a:defRPr/>
            </a:lvl8pPr>
            <a:lvl9pPr indent="-355600" lvl="8" marL="4114800" algn="l">
              <a:spcBef>
                <a:spcPts val="400"/>
              </a:spcBef>
              <a:spcAft>
                <a:spcPts val="0"/>
              </a:spcAft>
              <a:buClr>
                <a:schemeClr val="dk1"/>
              </a:buClr>
              <a:buSzPts val="20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gure + Caption Layout" showMasterSp="0">
  <p:cSld name="Figure + Caption Layout">
    <p:bg>
      <p:bgPr>
        <a:solidFill>
          <a:schemeClr val="lt1"/>
        </a:solidFill>
      </p:bgPr>
    </p:bg>
    <p:spTree>
      <p:nvGrpSpPr>
        <p:cNvPr id="25" name="Shape 25"/>
        <p:cNvGrpSpPr/>
        <p:nvPr/>
      </p:nvGrpSpPr>
      <p:grpSpPr>
        <a:xfrm>
          <a:off x="0" y="0"/>
          <a:ext cx="0" cy="0"/>
          <a:chOff x="0" y="0"/>
          <a:chExt cx="0" cy="0"/>
        </a:xfrm>
      </p:grpSpPr>
      <p:sp>
        <p:nvSpPr>
          <p:cNvPr id="26" name="Google Shape;26;p4"/>
          <p:cNvSpPr txBox="1"/>
          <p:nvPr>
            <p:ph type="title"/>
          </p:nvPr>
        </p:nvSpPr>
        <p:spPr>
          <a:xfrm>
            <a:off x="519169" y="357626"/>
            <a:ext cx="8032638" cy="1004011"/>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600"/>
              <a:buFont typeface="Arial"/>
              <a:buNone/>
              <a:defRPr b="0"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p:nvPr/>
        </p:nvSpPr>
        <p:spPr>
          <a:xfrm>
            <a:off x="-7937" y="6248400"/>
            <a:ext cx="9151937" cy="617539"/>
          </a:xfrm>
          <a:prstGeom prst="rect">
            <a:avLst/>
          </a:prstGeom>
          <a:solidFill>
            <a:srgbClr val="36416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8" name="Google Shape;28;p4"/>
          <p:cNvSpPr txBox="1"/>
          <p:nvPr>
            <p:ph idx="1" type="body"/>
          </p:nvPr>
        </p:nvSpPr>
        <p:spPr>
          <a:xfrm>
            <a:off x="491331" y="5181600"/>
            <a:ext cx="8153400" cy="8382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o"/>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descr="Pearson: Copyright 2015, 2012, 2009" id="29" name="Google Shape;29;p4"/>
          <p:cNvSpPr txBox="1"/>
          <p:nvPr/>
        </p:nvSpPr>
        <p:spPr>
          <a:xfrm>
            <a:off x="1478450" y="6270381"/>
            <a:ext cx="7589350" cy="582256"/>
          </a:xfrm>
          <a:prstGeom prst="rect">
            <a:avLst/>
          </a:prstGeom>
          <a:solidFill>
            <a:srgbClr val="36416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200"/>
              <a:buFont typeface="Arial"/>
              <a:buNone/>
            </a:pPr>
            <a:r>
              <a:rPr b="0" i="0" lang="en-US" sz="1200" u="none" cap="none" strike="noStrike">
                <a:solidFill>
                  <a:schemeClr val="lt1"/>
                </a:solidFill>
                <a:latin typeface="Arial"/>
                <a:ea typeface="Arial"/>
                <a:cs typeface="Arial"/>
                <a:sym typeface="Arial"/>
              </a:rPr>
              <a:t>Copyright © 2018 Cengage. May not be copied, scanned, or duplicated, in whole or in part, except for use as permitted in a license distributed with a certain product or service or otherwise on a password-protected website for classroom use.</a:t>
            </a:r>
            <a:endParaRPr/>
          </a:p>
        </p:txBody>
      </p:sp>
      <p:pic>
        <p:nvPicPr>
          <p:cNvPr id="30" name="Google Shape;30;p4"/>
          <p:cNvPicPr preferRelativeResize="0"/>
          <p:nvPr/>
        </p:nvPicPr>
        <p:blipFill rotWithShape="1">
          <a:blip r:embed="rId2">
            <a:alphaModFix/>
          </a:blip>
          <a:srcRect b="0" l="0" r="0" t="0"/>
          <a:stretch/>
        </p:blipFill>
        <p:spPr>
          <a:xfrm>
            <a:off x="0" y="6345959"/>
            <a:ext cx="1316182" cy="435841"/>
          </a:xfrm>
          <a:prstGeom prst="rect">
            <a:avLst/>
          </a:prstGeom>
          <a:solidFill>
            <a:srgbClr val="364162"/>
          </a:solidFill>
          <a:ln>
            <a:noFill/>
          </a:ln>
        </p:spPr>
      </p:pic>
      <p:sp>
        <p:nvSpPr>
          <p:cNvPr id="31" name="Google Shape;31;p4"/>
          <p:cNvSpPr txBox="1"/>
          <p:nvPr>
            <p:ph idx="2" type="body"/>
          </p:nvPr>
        </p:nvSpPr>
        <p:spPr>
          <a:xfrm>
            <a:off x="1477963" y="2819400"/>
            <a:ext cx="3089275" cy="12192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o"/>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 name="Google Shape;32;p4"/>
          <p:cNvSpPr txBox="1"/>
          <p:nvPr>
            <p:ph idx="3" type="body"/>
          </p:nvPr>
        </p:nvSpPr>
        <p:spPr>
          <a:xfrm>
            <a:off x="6400800" y="2667000"/>
            <a:ext cx="1447800" cy="1066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o"/>
              <a:defRPr/>
            </a:lvl4pPr>
            <a:lvl5pPr indent="-342900" lvl="4" marL="2286000" algn="l">
              <a:spcBef>
                <a:spcPts val="360"/>
              </a:spcBef>
              <a:spcAft>
                <a:spcPts val="0"/>
              </a:spcAft>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33" name="Shape 33"/>
        <p:cNvGrpSpPr/>
        <p:nvPr/>
      </p:nvGrpSpPr>
      <p:grpSpPr>
        <a:xfrm>
          <a:off x="0" y="0"/>
          <a:ext cx="0" cy="0"/>
          <a:chOff x="0" y="0"/>
          <a:chExt cx="0" cy="0"/>
        </a:xfrm>
      </p:grpSpPr>
      <p:sp>
        <p:nvSpPr>
          <p:cNvPr id="34" name="Google Shape;34;p5"/>
          <p:cNvSpPr/>
          <p:nvPr/>
        </p:nvSpPr>
        <p:spPr>
          <a:xfrm>
            <a:off x="-7938" y="6324600"/>
            <a:ext cx="9161464" cy="629874"/>
          </a:xfrm>
          <a:prstGeom prst="rect">
            <a:avLst/>
          </a:prstGeom>
          <a:solidFill>
            <a:srgbClr val="36416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descr="Pearson: Copyright 2015, 2012, 2009" id="35" name="Google Shape;35;p5"/>
          <p:cNvSpPr txBox="1"/>
          <p:nvPr/>
        </p:nvSpPr>
        <p:spPr>
          <a:xfrm>
            <a:off x="1388395" y="6394712"/>
            <a:ext cx="7714039" cy="504445"/>
          </a:xfrm>
          <a:prstGeom prst="rect">
            <a:avLst/>
          </a:prstGeom>
          <a:solidFill>
            <a:srgbClr val="36416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200"/>
              <a:buFont typeface="Arial"/>
              <a:buNone/>
            </a:pPr>
            <a:r>
              <a:rPr b="0" i="0" lang="en-US" sz="1200" u="none" cap="none" strike="noStrike">
                <a:solidFill>
                  <a:schemeClr val="lt1"/>
                </a:solidFill>
                <a:latin typeface="Arial"/>
                <a:ea typeface="Arial"/>
                <a:cs typeface="Arial"/>
                <a:sym typeface="Arial"/>
              </a:rPr>
              <a:t>Copyright © 2018 Cengage. May not be copied, scanned, or duplicated, in whole or in part, except for use as permitted in a license distributed with a certain product or service or otherwise on a password-protected website for classroom use.</a:t>
            </a:r>
            <a:endParaRPr/>
          </a:p>
        </p:txBody>
      </p:sp>
      <p:pic>
        <p:nvPicPr>
          <p:cNvPr id="36" name="Google Shape;36;p5"/>
          <p:cNvPicPr preferRelativeResize="0"/>
          <p:nvPr/>
        </p:nvPicPr>
        <p:blipFill rotWithShape="1">
          <a:blip r:embed="rId2">
            <a:alphaModFix/>
          </a:blip>
          <a:srcRect b="0" l="0" r="0" t="0"/>
          <a:stretch/>
        </p:blipFill>
        <p:spPr>
          <a:xfrm>
            <a:off x="0" y="6422159"/>
            <a:ext cx="1316182" cy="435841"/>
          </a:xfrm>
          <a:prstGeom prst="rect">
            <a:avLst/>
          </a:prstGeom>
          <a:solidFill>
            <a:srgbClr val="364162"/>
          </a:solid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37" name="Shape 37"/>
        <p:cNvGrpSpPr/>
        <p:nvPr/>
      </p:nvGrpSpPr>
      <p:grpSpPr>
        <a:xfrm>
          <a:off x="0" y="0"/>
          <a:ext cx="0" cy="0"/>
          <a:chOff x="0" y="0"/>
          <a:chExt cx="0" cy="0"/>
        </a:xfrm>
      </p:grpSpPr>
      <p:sp>
        <p:nvSpPr>
          <p:cNvPr id="38" name="Google Shape;38;p6"/>
          <p:cNvSpPr txBox="1"/>
          <p:nvPr>
            <p:ph type="title"/>
          </p:nvPr>
        </p:nvSpPr>
        <p:spPr>
          <a:xfrm>
            <a:off x="2641600" y="2228188"/>
            <a:ext cx="6172200" cy="377026"/>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055C91"/>
              </a:buClr>
              <a:buSzPts val="2800"/>
              <a:buFont typeface="Arial"/>
              <a:buNone/>
              <a:defRPr b="0" sz="2800" cap="none">
                <a:solidFill>
                  <a:srgbClr val="055C9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2641600" y="2942670"/>
            <a:ext cx="6172200" cy="265457"/>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sz="1800">
                <a:solidFill>
                  <a:srgbClr val="888888"/>
                </a:solidFill>
              </a:defRPr>
            </a:lvl1pPr>
            <a:lvl2pPr indent="-228600" lvl="1" marL="914400" algn="l">
              <a:spcBef>
                <a:spcPts val="360"/>
              </a:spcBef>
              <a:spcAft>
                <a:spcPts val="0"/>
              </a:spcAft>
              <a:buSzPts val="1800"/>
              <a:buNone/>
              <a:defRPr sz="1800">
                <a:solidFill>
                  <a:srgbClr val="888888"/>
                </a:solidFill>
              </a:defRPr>
            </a:lvl2pPr>
            <a:lvl3pPr indent="-228600" lvl="2" marL="1371600" algn="l">
              <a:spcBef>
                <a:spcPts val="320"/>
              </a:spcBef>
              <a:spcAft>
                <a:spcPts val="0"/>
              </a:spcAft>
              <a:buSzPts val="1600"/>
              <a:buNone/>
              <a:defRPr sz="1600">
                <a:solidFill>
                  <a:srgbClr val="888888"/>
                </a:solidFill>
              </a:defRPr>
            </a:lvl3pPr>
            <a:lvl4pPr indent="-228600" lvl="3" marL="1828800" algn="l">
              <a:spcBef>
                <a:spcPts val="280"/>
              </a:spcBef>
              <a:spcAft>
                <a:spcPts val="0"/>
              </a:spcAft>
              <a:buSzPts val="1400"/>
              <a:buNone/>
              <a:defRPr sz="1400">
                <a:solidFill>
                  <a:srgbClr val="888888"/>
                </a:solidFill>
              </a:defRPr>
            </a:lvl4pPr>
            <a:lvl5pPr indent="-228600" lvl="4" marL="2286000" algn="l">
              <a:spcBef>
                <a:spcPts val="280"/>
              </a:spcBef>
              <a:spcAft>
                <a:spcPts val="0"/>
              </a:spcAft>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pic>
        <p:nvPicPr>
          <p:cNvPr descr="Rules_Single_A.png" id="40" name="Google Shape;40;p6"/>
          <p:cNvPicPr preferRelativeResize="0"/>
          <p:nvPr/>
        </p:nvPicPr>
        <p:blipFill rotWithShape="1">
          <a:blip r:embed="rId2">
            <a:alphaModFix/>
          </a:blip>
          <a:srcRect b="0" l="25529" r="-57140" t="0"/>
          <a:stretch/>
        </p:blipFill>
        <p:spPr>
          <a:xfrm>
            <a:off x="1597682" y="6487629"/>
            <a:ext cx="11423745" cy="90835"/>
          </a:xfrm>
          <a:prstGeom prst="rect">
            <a:avLst/>
          </a:prstGeom>
          <a:noFill/>
          <a:ln>
            <a:noFill/>
          </a:ln>
        </p:spPr>
      </p:pic>
      <p:pic>
        <p:nvPicPr>
          <p:cNvPr descr="Audio.png" id="41" name="Google Shape;41;p6"/>
          <p:cNvPicPr preferRelativeResize="0"/>
          <p:nvPr/>
        </p:nvPicPr>
        <p:blipFill rotWithShape="1">
          <a:blip r:embed="rId3">
            <a:alphaModFix/>
          </a:blip>
          <a:srcRect b="0" l="0" r="0" t="0"/>
          <a:stretch/>
        </p:blipFill>
        <p:spPr>
          <a:xfrm>
            <a:off x="140707" y="361953"/>
            <a:ext cx="1840495" cy="1940983"/>
          </a:xfrm>
          <a:prstGeom prst="rect">
            <a:avLst/>
          </a:prstGeom>
          <a:noFill/>
          <a:ln>
            <a:noFill/>
          </a:ln>
        </p:spPr>
      </p:pic>
      <p:pic>
        <p:nvPicPr>
          <p:cNvPr descr="Swirl_3.png" id="42" name="Google Shape;42;p6"/>
          <p:cNvPicPr preferRelativeResize="0"/>
          <p:nvPr/>
        </p:nvPicPr>
        <p:blipFill rotWithShape="1">
          <a:blip r:embed="rId4">
            <a:alphaModFix/>
          </a:blip>
          <a:srcRect b="0" l="0" r="0" t="0"/>
          <a:stretch/>
        </p:blipFill>
        <p:spPr>
          <a:xfrm rot="2569126">
            <a:off x="1431691" y="1916271"/>
            <a:ext cx="908570" cy="670924"/>
          </a:xfrm>
          <a:prstGeom prst="rect">
            <a:avLst/>
          </a:prstGeom>
          <a:noFill/>
          <a:ln>
            <a:noFill/>
          </a:ln>
        </p:spPr>
      </p:pic>
      <p:pic>
        <p:nvPicPr>
          <p:cNvPr descr="Swirl_2.png" id="43" name="Google Shape;43;p6"/>
          <p:cNvPicPr preferRelativeResize="0"/>
          <p:nvPr/>
        </p:nvPicPr>
        <p:blipFill rotWithShape="1">
          <a:blip r:embed="rId5">
            <a:alphaModFix/>
          </a:blip>
          <a:srcRect b="0" l="0" r="0" t="0"/>
          <a:stretch/>
        </p:blipFill>
        <p:spPr>
          <a:xfrm flipH="1" rot="3873741">
            <a:off x="218018" y="3551101"/>
            <a:ext cx="795867" cy="833254"/>
          </a:xfrm>
          <a:prstGeom prst="rect">
            <a:avLst/>
          </a:prstGeom>
          <a:noFill/>
          <a:ln>
            <a:noFill/>
          </a:ln>
        </p:spPr>
      </p:pic>
      <p:pic>
        <p:nvPicPr>
          <p:cNvPr id="44" name="Google Shape;44;p6"/>
          <p:cNvPicPr preferRelativeResize="0"/>
          <p:nvPr/>
        </p:nvPicPr>
        <p:blipFill rotWithShape="1">
          <a:blip r:embed="rId6">
            <a:alphaModFix/>
          </a:blip>
          <a:srcRect b="12459" l="4669" r="6579" t="13753"/>
          <a:stretch/>
        </p:blipFill>
        <p:spPr>
          <a:xfrm>
            <a:off x="879649" y="2604920"/>
            <a:ext cx="1101550" cy="1221097"/>
          </a:xfrm>
          <a:prstGeom prst="rect">
            <a:avLst/>
          </a:prstGeom>
          <a:noFill/>
          <a:ln>
            <a:noFill/>
          </a:ln>
        </p:spPr>
      </p:pic>
      <p:pic>
        <p:nvPicPr>
          <p:cNvPr id="45" name="Google Shape;45;p6"/>
          <p:cNvPicPr preferRelativeResize="0"/>
          <p:nvPr/>
        </p:nvPicPr>
        <p:blipFill rotWithShape="1">
          <a:blip r:embed="rId7">
            <a:alphaModFix/>
          </a:blip>
          <a:srcRect b="0" l="0" r="0" t="0"/>
          <a:stretch/>
        </p:blipFill>
        <p:spPr>
          <a:xfrm>
            <a:off x="140704" y="4534755"/>
            <a:ext cx="596838" cy="795784"/>
          </a:xfrm>
          <a:prstGeom prst="rect">
            <a:avLst/>
          </a:prstGeom>
          <a:noFill/>
          <a:ln>
            <a:noFill/>
          </a:ln>
        </p:spPr>
      </p:pic>
      <p:pic>
        <p:nvPicPr>
          <p:cNvPr id="46" name="Google Shape;46;p6"/>
          <p:cNvPicPr preferRelativeResize="0"/>
          <p:nvPr/>
        </p:nvPicPr>
        <p:blipFill rotWithShape="1">
          <a:blip r:embed="rId8">
            <a:alphaModFix/>
          </a:blip>
          <a:srcRect b="0" l="24476" r="23793" t="0"/>
          <a:stretch/>
        </p:blipFill>
        <p:spPr>
          <a:xfrm>
            <a:off x="737542" y="4804753"/>
            <a:ext cx="252342" cy="650393"/>
          </a:xfrm>
          <a:prstGeom prst="rect">
            <a:avLst/>
          </a:prstGeom>
          <a:noFill/>
          <a:ln>
            <a:noFill/>
          </a:ln>
        </p:spPr>
      </p:pic>
      <p:sp>
        <p:nvSpPr>
          <p:cNvPr id="47" name="Google Shape;47;p6"/>
          <p:cNvSpPr txBox="1"/>
          <p:nvPr>
            <p:ph idx="11" type="ftr"/>
          </p:nvPr>
        </p:nvSpPr>
        <p:spPr>
          <a:xfrm>
            <a:off x="1597682" y="6578465"/>
            <a:ext cx="6781693" cy="24453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pic>
        <p:nvPicPr>
          <p:cNvPr id="48" name="Google Shape;48;p6"/>
          <p:cNvPicPr preferRelativeResize="0"/>
          <p:nvPr/>
        </p:nvPicPr>
        <p:blipFill rotWithShape="1">
          <a:blip r:embed="rId9">
            <a:alphaModFix/>
          </a:blip>
          <a:srcRect b="0" l="0" r="0" t="0"/>
          <a:stretch/>
        </p:blipFill>
        <p:spPr>
          <a:xfrm>
            <a:off x="118720" y="6363035"/>
            <a:ext cx="1400289" cy="43085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709"/>
            <a:ext cx="8229600" cy="1039091"/>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lt1"/>
              </a:buClr>
              <a:buSzPts val="3600"/>
              <a:buFont typeface="Arial"/>
              <a:buNone/>
              <a:defRPr b="0" i="0" sz="36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lvl1pPr indent="-393700" lvl="0" marL="457200" marR="0" rtl="0" algn="l">
              <a:spcBef>
                <a:spcPts val="520"/>
              </a:spcBef>
              <a:spcAft>
                <a:spcPts val="0"/>
              </a:spcAft>
              <a:buClr>
                <a:srgbClr val="364162"/>
              </a:buClr>
              <a:buSzPts val="2600"/>
              <a:buFont typeface="Arial"/>
              <a:buChar char="•"/>
              <a:defRPr b="0" i="0" sz="2600" u="none" cap="none" strike="noStrike">
                <a:solidFill>
                  <a:schemeClr val="dk1"/>
                </a:solidFill>
                <a:latin typeface="Arial"/>
                <a:ea typeface="Arial"/>
                <a:cs typeface="Arial"/>
                <a:sym typeface="Arial"/>
              </a:defRPr>
            </a:lvl1pPr>
            <a:lvl2pPr indent="-381000" lvl="1" marL="914400" marR="0" rtl="0" algn="l">
              <a:spcBef>
                <a:spcPts val="480"/>
              </a:spcBef>
              <a:spcAft>
                <a:spcPts val="0"/>
              </a:spcAft>
              <a:buClr>
                <a:srgbClr val="364162"/>
              </a:buClr>
              <a:buSzPts val="2400"/>
              <a:buFont typeface="Arial"/>
              <a:buChar char="–"/>
              <a:defRPr b="0" i="0" sz="2400" u="none" cap="none" strike="noStrike">
                <a:solidFill>
                  <a:schemeClr val="dk1"/>
                </a:solidFill>
                <a:latin typeface="Arial"/>
                <a:ea typeface="Arial"/>
                <a:cs typeface="Arial"/>
                <a:sym typeface="Arial"/>
              </a:defRPr>
            </a:lvl2pPr>
            <a:lvl3pPr indent="-368300" lvl="2" marL="1371600" marR="0" rtl="0" algn="l">
              <a:spcBef>
                <a:spcPts val="440"/>
              </a:spcBef>
              <a:spcAft>
                <a:spcPts val="0"/>
              </a:spcAft>
              <a:buClr>
                <a:srgbClr val="364162"/>
              </a:buClr>
              <a:buSzPts val="2200"/>
              <a:buFont typeface="Noto Sans Symbols"/>
              <a:buChar char="▪"/>
              <a:defRPr b="0" i="0" sz="22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rgbClr val="364162"/>
              </a:buClr>
              <a:buSzPts val="2000"/>
              <a:buFont typeface="Courier New"/>
              <a:buChar char="o"/>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rgbClr val="364162"/>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p:nvPr/>
        </p:nvSpPr>
        <p:spPr>
          <a:xfrm>
            <a:off x="0" y="0"/>
            <a:ext cx="9144000" cy="1133554"/>
          </a:xfrm>
          <a:prstGeom prst="rect">
            <a:avLst/>
          </a:prstGeom>
          <a:solidFill>
            <a:srgbClr val="36416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 name="Google Shape;13;p1"/>
          <p:cNvSpPr/>
          <p:nvPr/>
        </p:nvSpPr>
        <p:spPr>
          <a:xfrm>
            <a:off x="-7938" y="6248400"/>
            <a:ext cx="9161400" cy="630000"/>
          </a:xfrm>
          <a:prstGeom prst="rect">
            <a:avLst/>
          </a:prstGeom>
          <a:solidFill>
            <a:srgbClr val="36416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 name="Google Shape;14;p1"/>
          <p:cNvSpPr txBox="1"/>
          <p:nvPr>
            <p:ph idx="2" type="title"/>
          </p:nvPr>
        </p:nvSpPr>
        <p:spPr>
          <a:xfrm>
            <a:off x="76200" y="38100"/>
            <a:ext cx="8915400" cy="1041569"/>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Clr>
                <a:schemeClr val="lt1"/>
              </a:buClr>
              <a:buSzPts val="3600"/>
              <a:buFont typeface="Arial"/>
              <a:buNone/>
              <a:defRPr b="0" i="0" sz="36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3.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7.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7"/>
          <p:cNvSpPr txBox="1"/>
          <p:nvPr>
            <p:ph type="title"/>
          </p:nvPr>
        </p:nvSpPr>
        <p:spPr>
          <a:xfrm>
            <a:off x="91440" y="0"/>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US"/>
              <a:t>Objectives</a:t>
            </a:r>
            <a:endParaRPr/>
          </a:p>
        </p:txBody>
      </p:sp>
      <p:sp>
        <p:nvSpPr>
          <p:cNvPr id="56" name="Google Shape;56;p7"/>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fontScale="92500"/>
          </a:bodyPr>
          <a:lstStyle/>
          <a:p>
            <a:pPr indent="-342900" lvl="0" marL="342900" rtl="0" algn="l">
              <a:lnSpc>
                <a:spcPct val="110000"/>
              </a:lnSpc>
              <a:spcBef>
                <a:spcPts val="0"/>
              </a:spcBef>
              <a:spcAft>
                <a:spcPts val="0"/>
              </a:spcAft>
              <a:buSzPct val="100000"/>
              <a:buChar char="•"/>
            </a:pPr>
            <a:r>
              <a:rPr lang="en-US" sz="2800"/>
              <a:t>Upon completion of this material, you should be able to:</a:t>
            </a:r>
            <a:endParaRPr sz="2800"/>
          </a:p>
          <a:p>
            <a:pPr indent="-285750" lvl="1" marL="742950" rtl="0" algn="l">
              <a:lnSpc>
                <a:spcPct val="110000"/>
              </a:lnSpc>
              <a:spcBef>
                <a:spcPts val="600"/>
              </a:spcBef>
              <a:spcAft>
                <a:spcPts val="0"/>
              </a:spcAft>
              <a:buSzPct val="100000"/>
              <a:buChar char="–"/>
            </a:pPr>
            <a:r>
              <a:rPr lang="en-US" sz="2600"/>
              <a:t>Discuss the organizational need for information security</a:t>
            </a:r>
            <a:endParaRPr/>
          </a:p>
          <a:p>
            <a:pPr indent="-285750" lvl="1" marL="742950" rtl="0" algn="l">
              <a:lnSpc>
                <a:spcPct val="110000"/>
              </a:lnSpc>
              <a:spcBef>
                <a:spcPts val="600"/>
              </a:spcBef>
              <a:spcAft>
                <a:spcPts val="0"/>
              </a:spcAft>
              <a:buSzPct val="100000"/>
              <a:buChar char="–"/>
            </a:pPr>
            <a:r>
              <a:rPr lang="en-US" sz="2600"/>
              <a:t>Explain why a successful information security program is the shared responsibility of an organization’s three communities of interest </a:t>
            </a:r>
            <a:endParaRPr/>
          </a:p>
          <a:p>
            <a:pPr indent="-285750" lvl="1" marL="742950" rtl="0" algn="l">
              <a:lnSpc>
                <a:spcPct val="110000"/>
              </a:lnSpc>
              <a:spcBef>
                <a:spcPts val="600"/>
              </a:spcBef>
              <a:spcAft>
                <a:spcPts val="0"/>
              </a:spcAft>
              <a:buSzPct val="100000"/>
              <a:buChar char="–"/>
            </a:pPr>
            <a:r>
              <a:rPr lang="en-US" sz="2600"/>
              <a:t>List and describe the threats posed to information security and common attacks associated with those threats</a:t>
            </a:r>
            <a:endParaRPr/>
          </a:p>
          <a:p>
            <a:pPr indent="-285750" lvl="1" marL="742950" rtl="0" algn="l">
              <a:lnSpc>
                <a:spcPct val="110000"/>
              </a:lnSpc>
              <a:spcBef>
                <a:spcPts val="600"/>
              </a:spcBef>
              <a:spcAft>
                <a:spcPts val="0"/>
              </a:spcAft>
              <a:buSzPct val="100000"/>
              <a:buChar char="–"/>
            </a:pPr>
            <a:r>
              <a:rPr lang="en-US" sz="2600"/>
              <a:t>List the common development failures and errors that result from poor software security efforts</a:t>
            </a:r>
            <a:endParaRPr sz="2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8"/>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US"/>
              <a:t>Introduction</a:t>
            </a:r>
            <a:endParaRPr/>
          </a:p>
        </p:txBody>
      </p:sp>
      <p:sp>
        <p:nvSpPr>
          <p:cNvPr id="64" name="Google Shape;64;p8"/>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US" sz="2800"/>
              <a:t>The primary mission of an information security program is to ensure information assets—information and the systems that house them—remain safe and useful.</a:t>
            </a:r>
            <a:endParaRPr/>
          </a:p>
          <a:p>
            <a:pPr indent="-342900" lvl="0" marL="342900" rtl="0" algn="l">
              <a:spcBef>
                <a:spcPts val="600"/>
              </a:spcBef>
              <a:spcAft>
                <a:spcPts val="0"/>
              </a:spcAft>
              <a:buSzPts val="2800"/>
              <a:buChar char="•"/>
            </a:pPr>
            <a:r>
              <a:rPr lang="en-US" sz="2800"/>
              <a:t>If no threats existed, resources could be used exclusively to improve systems that contain, use, and transmit information.</a:t>
            </a:r>
            <a:endParaRPr/>
          </a:p>
          <a:p>
            <a:pPr indent="-342900" lvl="0" marL="342900" rtl="0" algn="l">
              <a:spcBef>
                <a:spcPts val="600"/>
              </a:spcBef>
              <a:spcAft>
                <a:spcPts val="0"/>
              </a:spcAft>
              <a:buSzPts val="2800"/>
              <a:buChar char="•"/>
            </a:pPr>
            <a:r>
              <a:rPr lang="en-US" sz="2800"/>
              <a:t>Threat of attacks on information systems is a constant concern.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9"/>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US"/>
              <a:t>Business Needs First</a:t>
            </a:r>
            <a:endParaRPr/>
          </a:p>
        </p:txBody>
      </p:sp>
      <p:sp>
        <p:nvSpPr>
          <p:cNvPr id="72" name="Google Shape;72;p9"/>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US" sz="2800"/>
              <a:t>Information security performs four important functions for an organization:</a:t>
            </a:r>
            <a:endParaRPr/>
          </a:p>
          <a:p>
            <a:pPr indent="-285750" lvl="1" marL="742950" rtl="0" algn="l">
              <a:spcBef>
                <a:spcPts val="600"/>
              </a:spcBef>
              <a:spcAft>
                <a:spcPts val="0"/>
              </a:spcAft>
              <a:buSzPts val="2600"/>
              <a:buChar char="–"/>
            </a:pPr>
            <a:r>
              <a:rPr lang="en-US" sz="2600"/>
              <a:t>Protecting the organization’s ability to function</a:t>
            </a:r>
            <a:endParaRPr/>
          </a:p>
          <a:p>
            <a:pPr indent="-285750" lvl="1" marL="742950" rtl="0" algn="l">
              <a:spcBef>
                <a:spcPts val="600"/>
              </a:spcBef>
              <a:spcAft>
                <a:spcPts val="0"/>
              </a:spcAft>
              <a:buSzPts val="2600"/>
              <a:buChar char="–"/>
            </a:pPr>
            <a:r>
              <a:rPr lang="en-US" sz="2600"/>
              <a:t>Protecting the data and information the organization collects and uses</a:t>
            </a:r>
            <a:endParaRPr/>
          </a:p>
          <a:p>
            <a:pPr indent="-285750" lvl="1" marL="742950" rtl="0" algn="l">
              <a:spcBef>
                <a:spcPts val="600"/>
              </a:spcBef>
              <a:spcAft>
                <a:spcPts val="0"/>
              </a:spcAft>
              <a:buSzPts val="2600"/>
              <a:buChar char="–"/>
            </a:pPr>
            <a:r>
              <a:rPr lang="en-US" sz="2600"/>
              <a:t>Enabling the safe operation of applications running on the organization’s IT systems</a:t>
            </a:r>
            <a:endParaRPr/>
          </a:p>
          <a:p>
            <a:pPr indent="-285750" lvl="1" marL="742950" rtl="0" algn="l">
              <a:spcBef>
                <a:spcPts val="600"/>
              </a:spcBef>
              <a:spcAft>
                <a:spcPts val="0"/>
              </a:spcAft>
              <a:buSzPts val="2600"/>
              <a:buChar char="–"/>
            </a:pPr>
            <a:r>
              <a:rPr lang="en-US" sz="2600"/>
              <a:t>Safeguarding the organization’s technology assets</a:t>
            </a:r>
            <a:endParaRPr sz="2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0"/>
          <p:cNvSpPr txBox="1"/>
          <p:nvPr>
            <p:ph type="title"/>
          </p:nvPr>
        </p:nvSpPr>
        <p:spPr>
          <a:xfrm>
            <a:off x="45720" y="27709"/>
            <a:ext cx="9098280" cy="11152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Protecting the Functionality of an Organization</a:t>
            </a:r>
            <a:endParaRPr/>
          </a:p>
        </p:txBody>
      </p:sp>
      <p:sp>
        <p:nvSpPr>
          <p:cNvPr id="80" name="Google Shape;80;p10"/>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US" sz="2800"/>
              <a:t>Management (general and IT) is responsible for facilitating security program.</a:t>
            </a:r>
            <a:endParaRPr/>
          </a:p>
          <a:p>
            <a:pPr indent="-342900" lvl="0" marL="342900" rtl="0" algn="l">
              <a:spcBef>
                <a:spcPts val="600"/>
              </a:spcBef>
              <a:spcAft>
                <a:spcPts val="0"/>
              </a:spcAft>
              <a:buSzPts val="2800"/>
              <a:buChar char="•"/>
            </a:pPr>
            <a:r>
              <a:rPr lang="en-US" sz="2800"/>
              <a:t>Implementing information security has more to do with management than technology.</a:t>
            </a:r>
            <a:endParaRPr/>
          </a:p>
          <a:p>
            <a:pPr indent="-342900" lvl="0" marL="342900" rtl="0" algn="l">
              <a:spcBef>
                <a:spcPts val="600"/>
              </a:spcBef>
              <a:spcAft>
                <a:spcPts val="0"/>
              </a:spcAft>
              <a:buSzPts val="2800"/>
              <a:buChar char="•"/>
            </a:pPr>
            <a:r>
              <a:rPr lang="en-US" sz="2800"/>
              <a:t>Communities of interest should address information security in terms of business impact and cost of business interruption.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1"/>
          <p:cNvSpPr txBox="1"/>
          <p:nvPr>
            <p:ph type="title"/>
          </p:nvPr>
        </p:nvSpPr>
        <p:spPr>
          <a:xfrm>
            <a:off x="45720" y="27709"/>
            <a:ext cx="9098280" cy="10390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Protecting Data That Organizations Collect and Use</a:t>
            </a:r>
            <a:endParaRPr/>
          </a:p>
        </p:txBody>
      </p:sp>
      <p:sp>
        <p:nvSpPr>
          <p:cNvPr id="88" name="Google Shape;88;p11"/>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US" sz="2800"/>
              <a:t>Without data, an organization loses its record of transactions and ability to deliver value to customers.</a:t>
            </a:r>
            <a:endParaRPr/>
          </a:p>
          <a:p>
            <a:pPr indent="-342900" lvl="0" marL="342900" rtl="0" algn="l">
              <a:spcBef>
                <a:spcPts val="600"/>
              </a:spcBef>
              <a:spcAft>
                <a:spcPts val="0"/>
              </a:spcAft>
              <a:buSzPts val="2800"/>
              <a:buChar char="•"/>
            </a:pPr>
            <a:r>
              <a:rPr lang="en-US" sz="2800"/>
              <a:t>Protecting data in transmission, in processing, and at rest (storage) is a critical aspect of information security.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2"/>
          <p:cNvSpPr txBox="1"/>
          <p:nvPr>
            <p:ph type="title"/>
          </p:nvPr>
        </p:nvSpPr>
        <p:spPr>
          <a:xfrm>
            <a:off x="45720" y="27709"/>
            <a:ext cx="9098280" cy="10390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Enabling the Safe Operation of Applications</a:t>
            </a:r>
            <a:endParaRPr/>
          </a:p>
        </p:txBody>
      </p:sp>
      <p:sp>
        <p:nvSpPr>
          <p:cNvPr id="96" name="Google Shape;96;p12"/>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US" sz="2800"/>
              <a:t>Organization needs environments that safeguard applications using IT systems.</a:t>
            </a:r>
            <a:endParaRPr/>
          </a:p>
          <a:p>
            <a:pPr indent="-342900" lvl="0" marL="342900" rtl="0" algn="l">
              <a:spcBef>
                <a:spcPts val="600"/>
              </a:spcBef>
              <a:spcAft>
                <a:spcPts val="0"/>
              </a:spcAft>
              <a:buSzPts val="2800"/>
              <a:buChar char="•"/>
            </a:pPr>
            <a:r>
              <a:rPr lang="en-US" sz="2800"/>
              <a:t>Management must continue to oversee infrastructure once in place—not relegate to IT department.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3"/>
          <p:cNvSpPr txBox="1"/>
          <p:nvPr>
            <p:ph type="title"/>
          </p:nvPr>
        </p:nvSpPr>
        <p:spPr>
          <a:xfrm>
            <a:off x="45720" y="27709"/>
            <a:ext cx="9098280" cy="10390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Safeguarding Technology Assets in Organizations</a:t>
            </a:r>
            <a:endParaRPr/>
          </a:p>
        </p:txBody>
      </p:sp>
      <p:sp>
        <p:nvSpPr>
          <p:cNvPr id="104" name="Google Shape;104;p13"/>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US" sz="2800"/>
              <a:t>Organizations must employ secure infrastructure hardware appropriate to the size and scope of the enterprise.</a:t>
            </a:r>
            <a:endParaRPr/>
          </a:p>
          <a:p>
            <a:pPr indent="-342900" lvl="0" marL="342900" rtl="0" algn="l">
              <a:spcBef>
                <a:spcPts val="600"/>
              </a:spcBef>
              <a:spcAft>
                <a:spcPts val="0"/>
              </a:spcAft>
              <a:buSzPts val="2800"/>
              <a:buChar char="•"/>
            </a:pPr>
            <a:r>
              <a:rPr lang="en-US" sz="2800"/>
              <a:t>Additional security services may be needed as the organization grows.</a:t>
            </a:r>
            <a:endParaRPr/>
          </a:p>
          <a:p>
            <a:pPr indent="-342900" lvl="0" marL="342900" rtl="0" algn="l">
              <a:spcBef>
                <a:spcPts val="600"/>
              </a:spcBef>
              <a:spcAft>
                <a:spcPts val="0"/>
              </a:spcAft>
              <a:buSzPts val="2800"/>
              <a:buChar char="•"/>
            </a:pPr>
            <a:r>
              <a:rPr lang="en-US" sz="2800"/>
              <a:t>More robust solutions should replace security programs the organization has outgrown.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4"/>
          <p:cNvSpPr txBox="1"/>
          <p:nvPr>
            <p:ph type="title"/>
          </p:nvPr>
        </p:nvSpPr>
        <p:spPr>
          <a:xfrm>
            <a:off x="45720" y="27709"/>
            <a:ext cx="9098280" cy="10390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Threats and Attacks</a:t>
            </a:r>
            <a:endParaRPr/>
          </a:p>
        </p:txBody>
      </p:sp>
      <p:sp>
        <p:nvSpPr>
          <p:cNvPr id="112" name="Google Shape;112;p14"/>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sz="2400">
                <a:solidFill>
                  <a:srgbClr val="FF0000"/>
                </a:solidFill>
              </a:rPr>
              <a:t>Threat: a potential risk to an asset’s loss of value.</a:t>
            </a:r>
            <a:endParaRPr/>
          </a:p>
          <a:p>
            <a:pPr indent="-342900" lvl="0" marL="342900" rtl="0" algn="l">
              <a:spcBef>
                <a:spcPts val="600"/>
              </a:spcBef>
              <a:spcAft>
                <a:spcPts val="0"/>
              </a:spcAft>
              <a:buSzPts val="2400"/>
              <a:buChar char="•"/>
            </a:pPr>
            <a:r>
              <a:rPr lang="en-US" sz="2400">
                <a:solidFill>
                  <a:srgbClr val="FF0000"/>
                </a:solidFill>
              </a:rPr>
              <a:t>Attack: An intentional or unintentional act that can damage or otherwise compromise information and the systems that support it. </a:t>
            </a:r>
            <a:endParaRPr/>
          </a:p>
          <a:p>
            <a:pPr indent="-342900" lvl="0" marL="342900" rtl="0" algn="l">
              <a:spcBef>
                <a:spcPts val="600"/>
              </a:spcBef>
              <a:spcAft>
                <a:spcPts val="0"/>
              </a:spcAft>
              <a:buSzPts val="2400"/>
              <a:buChar char="•"/>
            </a:pPr>
            <a:r>
              <a:rPr lang="en-US" sz="2400">
                <a:solidFill>
                  <a:srgbClr val="FF0000"/>
                </a:solidFill>
              </a:rPr>
              <a:t>Exploit: A technique used to compromise a system.</a:t>
            </a:r>
            <a:endParaRPr/>
          </a:p>
          <a:p>
            <a:pPr indent="-342900" lvl="0" marL="342900" rtl="0" algn="l">
              <a:spcBef>
                <a:spcPts val="600"/>
              </a:spcBef>
              <a:spcAft>
                <a:spcPts val="0"/>
              </a:spcAft>
              <a:buSzPts val="2400"/>
              <a:buChar char="•"/>
            </a:pPr>
            <a:r>
              <a:rPr lang="en-US" sz="2400">
                <a:solidFill>
                  <a:srgbClr val="FF0000"/>
                </a:solidFill>
              </a:rPr>
              <a:t>Vulnerability: A potential weakness in an asset or its defensive control system(s).</a:t>
            </a:r>
            <a:endParaRPr sz="2400">
              <a:solidFill>
                <a:srgbClr val="FF0000"/>
              </a:solidFill>
            </a:endParaRPr>
          </a:p>
          <a:p>
            <a:pPr indent="-342900" lvl="0" marL="342900" rtl="0" algn="l">
              <a:spcBef>
                <a:spcPts val="600"/>
              </a:spcBef>
              <a:spcAft>
                <a:spcPts val="0"/>
              </a:spcAft>
              <a:buSzPts val="2400"/>
              <a:buChar char="•"/>
            </a:pPr>
            <a:r>
              <a:rPr lang="en-US" sz="2400">
                <a:solidFill>
                  <a:srgbClr val="FF0000"/>
                </a:solidFill>
              </a:rPr>
              <a:t>Management must be informed about the various threats to an organization’s people, applications, data, and information systems.</a:t>
            </a:r>
            <a:endParaRPr/>
          </a:p>
          <a:p>
            <a:pPr indent="-342900" lvl="0" marL="342900" rtl="0" algn="l">
              <a:spcBef>
                <a:spcPts val="600"/>
              </a:spcBef>
              <a:spcAft>
                <a:spcPts val="0"/>
              </a:spcAft>
              <a:buSzPts val="2400"/>
              <a:buChar char="•"/>
            </a:pPr>
            <a:r>
              <a:rPr lang="en-US" sz="2400">
                <a:solidFill>
                  <a:srgbClr val="FF0000"/>
                </a:solidFill>
              </a:rPr>
              <a:t>Overall security is improving, but so is the number of potential hackers.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5"/>
          <p:cNvSpPr txBox="1"/>
          <p:nvPr>
            <p:ph type="title"/>
          </p:nvPr>
        </p:nvSpPr>
        <p:spPr>
          <a:xfrm>
            <a:off x="517580" y="138989"/>
            <a:ext cx="8108838" cy="108021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b="1" lang="en-US"/>
              <a:t>Figure 2-1  </a:t>
            </a:r>
            <a:r>
              <a:rPr lang="en-US"/>
              <a:t>World Internet usage</a:t>
            </a:r>
            <a:endParaRPr/>
          </a:p>
        </p:txBody>
      </p:sp>
      <p:pic>
        <p:nvPicPr>
          <p:cNvPr descr="An illustration shows world map with several tables of content marked with arrows to different countries. The first box on the left top points to Canada in map. The heading is, “North America” and has two columns. Population (2016 est.) is 359, 492, 296, population% is 4.9%, Internet users is 320, 067, 193, %population is 89.0%, usage % of world is 8.9% and usage growth 2000-2016 is 196.1%. Second box is pointing to Sweden in map and the heading is, “Europe.” The text below is Population (2016 est.) is 832, 073, 224, population% is 11.3%, Internet users is 614, 979, 903, %population is 73.9%, usage % of world is 17.0% and usage growth 2000-2016 is 485.2%. The third box on the right top points to Russia in map. The heading is Asia and the values are Population (2016 est.) is 4,052,652,889, population% is 55.2%, Internet users is 1,792,163,654, %population is 44.2%, usage % of world is 49.6% and usage growth 2000-2016 is 1467.9%. The fourth box below it points to Arabia in map. The heading of the box is Middle East and Population (2016 est.) is 246,700,900, population% is 3.4%, Internet users is 132,589,765, %population is 53.7%, usage % of world is 3.7% and usage growth 2000-2016 is 3936.5%. The box at the right bottom is pointed to Australia and the heading of box is Oceania/Australia. Population (2016 est.) is 37,590,704, population% is 0.5%, Internet users is 27,540,654, %population is 73.3%, usage % of world is 0.8% and usage growth 2000-2016 is 261.4%. The box at the left and at the bottom of North America is pointed to Algeria. The heading is Africa and Population (2016 est.) is 1,185,529,578, population% is 16.2%, Internet users is 339,283,342, %population is 28.6%, usage% of world is 9.4% and usage growth 2000-2016 is 7415.6%. The box on the left bottom of the map points to Latin America/Caribbean. For population (2016 est.), it is 626,054,392, population% is 8.5%, Internet users is 384,751,302, %population is 61.5%, usage % of world is 10.7% and usage growth 2000-2016 is 2029.4%. The last box at the bottom is labeled as, “World totals” has Population (2016 est.) which is 7,340,093,980, internet users are 3,611,375,813, %population is 49.2% and usage growth 2000 – 2016 is 900.4%.&#10;" id="118" name="Google Shape;118;p15"/>
          <p:cNvPicPr preferRelativeResize="0"/>
          <p:nvPr/>
        </p:nvPicPr>
        <p:blipFill rotWithShape="1">
          <a:blip r:embed="rId3">
            <a:alphaModFix/>
          </a:blip>
          <a:srcRect b="0" l="0" r="0" t="0"/>
          <a:stretch/>
        </p:blipFill>
        <p:spPr>
          <a:xfrm>
            <a:off x="1219200" y="1227734"/>
            <a:ext cx="6579766" cy="486826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6"/>
          <p:cNvSpPr txBox="1"/>
          <p:nvPr>
            <p:ph type="title"/>
          </p:nvPr>
        </p:nvSpPr>
        <p:spPr>
          <a:xfrm>
            <a:off x="381000" y="152400"/>
            <a:ext cx="8458200" cy="1524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b="1" lang="en-US"/>
              <a:t>Table 2-1  </a:t>
            </a:r>
            <a:r>
              <a:rPr lang="en-US"/>
              <a:t>Compiled Survey Results for Types of Attack or Misuse (2000-2011) (1 of 2)</a:t>
            </a:r>
            <a:endParaRPr/>
          </a:p>
        </p:txBody>
      </p:sp>
      <p:graphicFrame>
        <p:nvGraphicFramePr>
          <p:cNvPr id="124" name="Google Shape;124;p16"/>
          <p:cNvGraphicFramePr/>
          <p:nvPr/>
        </p:nvGraphicFramePr>
        <p:xfrm>
          <a:off x="199572" y="2048623"/>
          <a:ext cx="3000000" cy="3000000"/>
        </p:xfrm>
        <a:graphic>
          <a:graphicData uri="http://schemas.openxmlformats.org/drawingml/2006/table">
            <a:tbl>
              <a:tblPr bandRow="1" firstRow="1">
                <a:noFill/>
                <a:tableStyleId>{6765FC5E-082A-4690-9782-9FE3793750BE}</a:tableStyleId>
              </a:tblPr>
              <a:tblGrid>
                <a:gridCol w="3581400"/>
                <a:gridCol w="990600"/>
                <a:gridCol w="700650"/>
                <a:gridCol w="1039675"/>
                <a:gridCol w="1039675"/>
                <a:gridCol w="668375"/>
                <a:gridCol w="742625"/>
              </a:tblGrid>
              <a:tr h="766000">
                <a:tc>
                  <a:txBody>
                    <a:bodyPr/>
                    <a:lstStyle/>
                    <a:p>
                      <a:pPr indent="0" lvl="0" marL="0" marR="0" rtl="0" algn="l">
                        <a:spcBef>
                          <a:spcPts val="0"/>
                        </a:spcBef>
                        <a:spcAft>
                          <a:spcPts val="0"/>
                        </a:spcAft>
                        <a:buNone/>
                      </a:pPr>
                      <a:r>
                        <a:rPr b="1" lang="en-US" sz="1400" u="none" cap="none" strike="noStrike">
                          <a:solidFill>
                            <a:schemeClr val="lt1"/>
                          </a:solidFill>
                          <a:latin typeface="Arial"/>
                          <a:ea typeface="Arial"/>
                          <a:cs typeface="Arial"/>
                          <a:sym typeface="Arial"/>
                        </a:rPr>
                        <a:t>Type of Attack or Misuse</a:t>
                      </a:r>
                      <a:endParaRPr b="1" sz="1400">
                        <a:solidFill>
                          <a:schemeClr val="lt1"/>
                        </a:solidFill>
                        <a:latin typeface="Arial"/>
                        <a:ea typeface="Arial"/>
                        <a:cs typeface="Arial"/>
                        <a:sym typeface="Arial"/>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2010/11</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2008</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2006</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2004</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2002</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2000</a:t>
                      </a:r>
                      <a:endParaRPr/>
                    </a:p>
                  </a:txBody>
                  <a:tcPr marT="45725" marB="45725" marR="91450" marL="91450" anchor="ctr">
                    <a:solidFill>
                      <a:srgbClr val="364162"/>
                    </a:solidFill>
                  </a:tcPr>
                </a:tc>
              </a:tr>
              <a:tr h="465975">
                <a:tc>
                  <a:txBody>
                    <a:bodyPr/>
                    <a:lstStyle/>
                    <a:p>
                      <a:pPr indent="0" lvl="0" marL="0" marR="0" rtl="0" algn="l">
                        <a:spcBef>
                          <a:spcPts val="0"/>
                        </a:spcBef>
                        <a:spcAft>
                          <a:spcPts val="0"/>
                        </a:spcAft>
                        <a:buNone/>
                      </a:pPr>
                      <a:r>
                        <a:rPr lang="en-US" sz="1400">
                          <a:latin typeface="Arial"/>
                          <a:ea typeface="Arial"/>
                          <a:cs typeface="Arial"/>
                          <a:sym typeface="Arial"/>
                        </a:rPr>
                        <a:t>Malware infection (revised after 2008)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67%</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50%</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65%</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78%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85%</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85%</a:t>
                      </a:r>
                      <a:endParaRPr/>
                    </a:p>
                  </a:txBody>
                  <a:tcPr marT="45725" marB="45725" marR="91450" marL="91450" anchor="ctr"/>
                </a:tc>
              </a:tr>
              <a:tr h="651100">
                <a:tc>
                  <a:txBody>
                    <a:bodyPr/>
                    <a:lstStyle/>
                    <a:p>
                      <a:pPr indent="0" lvl="0" marL="0" marR="0" rtl="0" algn="l">
                        <a:spcBef>
                          <a:spcPts val="0"/>
                        </a:spcBef>
                        <a:spcAft>
                          <a:spcPts val="0"/>
                        </a:spcAft>
                        <a:buNone/>
                      </a:pPr>
                      <a:r>
                        <a:rPr lang="en-US" sz="1400">
                          <a:latin typeface="Arial"/>
                          <a:ea typeface="Arial"/>
                          <a:cs typeface="Arial"/>
                          <a:sym typeface="Arial"/>
                        </a:rPr>
                        <a:t>Being fraudulently represented as sender of phishing message</a:t>
                      </a:r>
                      <a:r>
                        <a:rPr lang="en-US" sz="1400">
                          <a:latin typeface="Arial"/>
                          <a:ea typeface="Arial"/>
                          <a:cs typeface="Arial"/>
                          <a:sym typeface="Arial"/>
                        </a:rPr>
                        <a:t>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39%</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31%</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(new category)</a:t>
                      </a:r>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(new category)</a:t>
                      </a:r>
                      <a:endParaRPr/>
                    </a:p>
                  </a:txBody>
                  <a:tcPr marT="45725" marB="45725" marR="91450" marL="91450" anchor="ct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tc>
              </a:tr>
              <a:tr h="465975">
                <a:tc>
                  <a:txBody>
                    <a:bodyPr/>
                    <a:lstStyle/>
                    <a:p>
                      <a:pPr indent="0" lvl="0" marL="0" marR="0" rtl="0" algn="l">
                        <a:spcBef>
                          <a:spcPts val="0"/>
                        </a:spcBef>
                        <a:spcAft>
                          <a:spcPts val="0"/>
                        </a:spcAft>
                        <a:buNone/>
                      </a:pPr>
                      <a:r>
                        <a:rPr lang="en-US" sz="1400">
                          <a:latin typeface="Arial"/>
                          <a:ea typeface="Arial"/>
                          <a:cs typeface="Arial"/>
                          <a:sym typeface="Arial"/>
                        </a:rPr>
                        <a:t>Laptop/ mobile hardware theft/loss</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42%</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47%</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49%</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55%</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60%</a:t>
                      </a:r>
                      <a:endParaRPr/>
                    </a:p>
                  </a:txBody>
                  <a:tcPr marT="45725" marB="45725" marR="91450" marL="91450" anchor="ctr"/>
                </a:tc>
              </a:tr>
              <a:tr h="622775">
                <a:tc>
                  <a:txBody>
                    <a:bodyPr/>
                    <a:lstStyle/>
                    <a:p>
                      <a:pPr indent="0" lvl="0" marL="0" marR="0" rtl="0" algn="l">
                        <a:spcBef>
                          <a:spcPts val="0"/>
                        </a:spcBef>
                        <a:spcAft>
                          <a:spcPts val="0"/>
                        </a:spcAft>
                        <a:buNone/>
                      </a:pPr>
                      <a:r>
                        <a:rPr lang="en-US" sz="1400">
                          <a:latin typeface="Arial"/>
                          <a:ea typeface="Arial"/>
                          <a:cs typeface="Arial"/>
                          <a:sym typeface="Arial"/>
                        </a:rPr>
                        <a:t>Bots/zombies</a:t>
                      </a:r>
                      <a:r>
                        <a:rPr lang="en-US" sz="1400">
                          <a:latin typeface="Arial"/>
                          <a:ea typeface="Arial"/>
                          <a:cs typeface="Arial"/>
                          <a:sym typeface="Arial"/>
                        </a:rPr>
                        <a:t> in organization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29%</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20%</a:t>
                      </a:r>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(new category)</a:t>
                      </a:r>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(new category)</a:t>
                      </a:r>
                      <a:endParaRPr/>
                    </a:p>
                  </a:txBody>
                  <a:tcPr marT="45725" marB="45725" marR="91450" marL="91450" anchor="ct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tc>
              </a:tr>
              <a:tr h="381000">
                <a:tc>
                  <a:txBody>
                    <a:bodyPr/>
                    <a:lstStyle/>
                    <a:p>
                      <a:pPr indent="0" lvl="0" marL="0" marR="0" rtl="0" algn="l">
                        <a:spcBef>
                          <a:spcPts val="0"/>
                        </a:spcBef>
                        <a:spcAft>
                          <a:spcPts val="0"/>
                        </a:spcAft>
                        <a:buNone/>
                      </a:pPr>
                      <a:r>
                        <a:rPr lang="en-US" sz="1400">
                          <a:latin typeface="Arial"/>
                          <a:ea typeface="Arial"/>
                          <a:cs typeface="Arial"/>
                          <a:sym typeface="Arial"/>
                        </a:rPr>
                        <a:t>Inside abuse of internet</a:t>
                      </a:r>
                      <a:r>
                        <a:rPr lang="en-US" sz="1400">
                          <a:latin typeface="Arial"/>
                          <a:ea typeface="Arial"/>
                          <a:cs typeface="Arial"/>
                          <a:sym typeface="Arial"/>
                        </a:rPr>
                        <a:t> access or e-mail</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25%</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42%</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59%</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78%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79%</a:t>
                      </a:r>
                      <a:endParaRPr/>
                    </a:p>
                  </a:txBody>
                  <a:tcPr marT="45725" marB="45725" marR="91450" marL="91450" anchor="ctr"/>
                </a:tc>
              </a:tr>
              <a:tr h="465975">
                <a:tc>
                  <a:txBody>
                    <a:bodyPr/>
                    <a:lstStyle/>
                    <a:p>
                      <a:pPr indent="0" lvl="0" marL="0" marR="0" rtl="0" algn="l">
                        <a:spcBef>
                          <a:spcPts val="0"/>
                        </a:spcBef>
                        <a:spcAft>
                          <a:spcPts val="0"/>
                        </a:spcAft>
                        <a:buNone/>
                      </a:pPr>
                      <a:r>
                        <a:rPr lang="en-US" sz="1400">
                          <a:latin typeface="Arial"/>
                          <a:ea typeface="Arial"/>
                          <a:cs typeface="Arial"/>
                          <a:sym typeface="Arial"/>
                        </a:rPr>
                        <a:t>Denial</a:t>
                      </a:r>
                      <a:r>
                        <a:rPr lang="en-US" sz="1400">
                          <a:latin typeface="Arial"/>
                          <a:ea typeface="Arial"/>
                          <a:cs typeface="Arial"/>
                          <a:sym typeface="Arial"/>
                        </a:rPr>
                        <a:t> of service</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17%</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21%</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25%</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39%</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40%</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27%</a:t>
                      </a:r>
                      <a:endParaRPr/>
                    </a:p>
                  </a:txBody>
                  <a:tcPr marT="45725" marB="45725" marR="91450" marL="91450" anchor="ct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7"/>
          <p:cNvSpPr txBox="1"/>
          <p:nvPr>
            <p:ph type="title"/>
          </p:nvPr>
        </p:nvSpPr>
        <p:spPr>
          <a:xfrm>
            <a:off x="304800" y="91966"/>
            <a:ext cx="8382000" cy="150823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b="1" lang="en-US"/>
              <a:t>Table 2-1  </a:t>
            </a:r>
            <a:r>
              <a:rPr lang="en-US"/>
              <a:t>Compiled Survey Results for Types of Attack or Misuse (2000-2011) (2 of 2)</a:t>
            </a:r>
            <a:endParaRPr/>
          </a:p>
        </p:txBody>
      </p:sp>
      <p:graphicFrame>
        <p:nvGraphicFramePr>
          <p:cNvPr id="130" name="Google Shape;130;p17"/>
          <p:cNvGraphicFramePr/>
          <p:nvPr/>
        </p:nvGraphicFramePr>
        <p:xfrm>
          <a:off x="195942" y="1885611"/>
          <a:ext cx="3000000" cy="3000000"/>
        </p:xfrm>
        <a:graphic>
          <a:graphicData uri="http://schemas.openxmlformats.org/drawingml/2006/table">
            <a:tbl>
              <a:tblPr bandRow="1" firstRow="1">
                <a:noFill/>
                <a:tableStyleId>{6765FC5E-082A-4690-9782-9FE3793750BE}</a:tableStyleId>
              </a:tblPr>
              <a:tblGrid>
                <a:gridCol w="3341825"/>
                <a:gridCol w="1039675"/>
                <a:gridCol w="891150"/>
                <a:gridCol w="1039675"/>
                <a:gridCol w="1039675"/>
                <a:gridCol w="668375"/>
                <a:gridCol w="742625"/>
              </a:tblGrid>
              <a:tr h="766000">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Type</a:t>
                      </a:r>
                      <a:r>
                        <a:rPr b="1" lang="en-US" sz="1400">
                          <a:solidFill>
                            <a:schemeClr val="lt1"/>
                          </a:solidFill>
                          <a:latin typeface="Arial"/>
                          <a:ea typeface="Arial"/>
                          <a:cs typeface="Arial"/>
                          <a:sym typeface="Arial"/>
                        </a:rPr>
                        <a:t> of Attack or Misuse</a:t>
                      </a:r>
                      <a:endParaRPr b="1" sz="1400">
                        <a:solidFill>
                          <a:schemeClr val="lt1"/>
                        </a:solidFill>
                        <a:latin typeface="Arial"/>
                        <a:ea typeface="Arial"/>
                        <a:cs typeface="Arial"/>
                        <a:sym typeface="Arial"/>
                      </a:endParaRPr>
                    </a:p>
                  </a:txBody>
                  <a:tcPr marT="45725" marB="45725" marR="91450" marL="91450" anchor="ctr">
                    <a:solidFill>
                      <a:srgbClr val="364162"/>
                    </a:solidFill>
                  </a:tcPr>
                </a:tc>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2010/11</a:t>
                      </a:r>
                      <a:endParaRPr/>
                    </a:p>
                  </a:txBody>
                  <a:tcPr marT="45725" marB="45725" marR="91450" marL="91450" anchor="ctr">
                    <a:solidFill>
                      <a:srgbClr val="364162"/>
                    </a:solidFill>
                  </a:tcPr>
                </a:tc>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2008</a:t>
                      </a:r>
                      <a:endParaRPr/>
                    </a:p>
                  </a:txBody>
                  <a:tcPr marT="45725" marB="45725" marR="91450" marL="91450" anchor="ctr">
                    <a:solidFill>
                      <a:srgbClr val="364162"/>
                    </a:solidFill>
                  </a:tcPr>
                </a:tc>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2006</a:t>
                      </a:r>
                      <a:endParaRPr/>
                    </a:p>
                  </a:txBody>
                  <a:tcPr marT="45725" marB="45725" marR="91450" marL="91450" anchor="ctr">
                    <a:solidFill>
                      <a:srgbClr val="364162"/>
                    </a:solidFill>
                  </a:tcPr>
                </a:tc>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2004</a:t>
                      </a:r>
                      <a:endParaRPr/>
                    </a:p>
                  </a:txBody>
                  <a:tcPr marT="45725" marB="45725" marR="91450" marL="91450" anchor="ctr">
                    <a:solidFill>
                      <a:srgbClr val="364162"/>
                    </a:solidFill>
                  </a:tcPr>
                </a:tc>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2002</a:t>
                      </a:r>
                      <a:endParaRPr/>
                    </a:p>
                  </a:txBody>
                  <a:tcPr marT="45725" marB="45725" marR="91450" marL="91450" anchor="ctr">
                    <a:solidFill>
                      <a:srgbClr val="364162"/>
                    </a:solidFill>
                  </a:tcPr>
                </a:tc>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2000</a:t>
                      </a:r>
                      <a:endParaRPr/>
                    </a:p>
                  </a:txBody>
                  <a:tcPr marT="45725" marB="45725" marR="91450" marL="91450" anchor="ctr">
                    <a:solidFill>
                      <a:srgbClr val="364162"/>
                    </a:solidFill>
                  </a:tcPr>
                </a:tc>
              </a:tr>
              <a:tr h="465975">
                <a:tc>
                  <a:txBody>
                    <a:bodyPr/>
                    <a:lstStyle/>
                    <a:p>
                      <a:pPr indent="0" lvl="0" marL="0" marR="0" rtl="0" algn="l">
                        <a:spcBef>
                          <a:spcPts val="0"/>
                        </a:spcBef>
                        <a:spcAft>
                          <a:spcPts val="0"/>
                        </a:spcAft>
                        <a:buNone/>
                      </a:pPr>
                      <a:r>
                        <a:rPr lang="en-US" sz="1400">
                          <a:latin typeface="Arial"/>
                          <a:ea typeface="Arial"/>
                          <a:cs typeface="Arial"/>
                          <a:sym typeface="Arial"/>
                        </a:rPr>
                        <a:t>Unauthorized access or privilege</a:t>
                      </a:r>
                      <a:r>
                        <a:rPr lang="en-US" sz="1400">
                          <a:latin typeface="Arial"/>
                          <a:ea typeface="Arial"/>
                          <a:cs typeface="Arial"/>
                          <a:sym typeface="Arial"/>
                        </a:rPr>
                        <a:t> escalation by insider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13%</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15%</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(revised</a:t>
                      </a:r>
                      <a:r>
                        <a:rPr lang="en-US" sz="1400">
                          <a:latin typeface="Arial"/>
                          <a:ea typeface="Arial"/>
                          <a:cs typeface="Arial"/>
                          <a:sym typeface="Arial"/>
                        </a:rPr>
                        <a:t> category)</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(revised</a:t>
                      </a:r>
                      <a:r>
                        <a:rPr lang="en-US" sz="1400">
                          <a:latin typeface="Arial"/>
                          <a:ea typeface="Arial"/>
                          <a:cs typeface="Arial"/>
                          <a:sym typeface="Arial"/>
                        </a:rPr>
                        <a:t> category)</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tc>
              </a:tr>
              <a:tr h="651100">
                <a:tc>
                  <a:txBody>
                    <a:bodyPr/>
                    <a:lstStyle/>
                    <a:p>
                      <a:pPr indent="0" lvl="0" marL="0" marR="0" rtl="0" algn="l">
                        <a:spcBef>
                          <a:spcPts val="0"/>
                        </a:spcBef>
                        <a:spcAft>
                          <a:spcPts val="0"/>
                        </a:spcAft>
                        <a:buNone/>
                      </a:pPr>
                      <a:r>
                        <a:rPr lang="en-US" sz="1400">
                          <a:latin typeface="Arial"/>
                          <a:ea typeface="Arial"/>
                          <a:cs typeface="Arial"/>
                          <a:sym typeface="Arial"/>
                        </a:rPr>
                        <a:t>Password sniffing</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11%</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9%</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(new category)</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(new category)</a:t>
                      </a:r>
                      <a:endParaRPr/>
                    </a:p>
                  </a:txBody>
                  <a:tcPr marT="45725" marB="45725" marR="91450" marL="91450" anchor="ct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tc>
              </a:tr>
              <a:tr h="465975">
                <a:tc>
                  <a:txBody>
                    <a:bodyPr/>
                    <a:lstStyle/>
                    <a:p>
                      <a:pPr indent="0" lvl="0" marL="0" marR="0" rtl="0" algn="l">
                        <a:spcBef>
                          <a:spcPts val="0"/>
                        </a:spcBef>
                        <a:spcAft>
                          <a:spcPts val="0"/>
                        </a:spcAft>
                        <a:buNone/>
                      </a:pPr>
                      <a:r>
                        <a:rPr lang="en-US" sz="1400">
                          <a:latin typeface="Arial"/>
                          <a:ea typeface="Arial"/>
                          <a:cs typeface="Arial"/>
                          <a:sym typeface="Arial"/>
                        </a:rPr>
                        <a:t>System penetration</a:t>
                      </a:r>
                      <a:r>
                        <a:rPr lang="en-US" sz="1400">
                          <a:latin typeface="Arial"/>
                          <a:ea typeface="Arial"/>
                          <a:cs typeface="Arial"/>
                          <a:sym typeface="Arial"/>
                        </a:rPr>
                        <a:t> by outsider</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11%</a:t>
                      </a:r>
                      <a:endParaRPr/>
                    </a:p>
                  </a:txBody>
                  <a:tcPr marT="45725" marB="45725" marR="91450" marL="91450" anchor="ct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(revised</a:t>
                      </a:r>
                      <a:r>
                        <a:rPr lang="en-US" sz="1400">
                          <a:latin typeface="Arial"/>
                          <a:ea typeface="Arial"/>
                          <a:cs typeface="Arial"/>
                          <a:sym typeface="Arial"/>
                        </a:rPr>
                        <a:t> category)</a:t>
                      </a:r>
                      <a:endParaRPr sz="1400">
                        <a:latin typeface="Arial"/>
                        <a:ea typeface="Arial"/>
                        <a:cs typeface="Arial"/>
                        <a:sym typeface="Arial"/>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(revised</a:t>
                      </a:r>
                      <a:r>
                        <a:rPr lang="en-US" sz="1400">
                          <a:latin typeface="Arial"/>
                          <a:ea typeface="Arial"/>
                          <a:cs typeface="Arial"/>
                          <a:sym typeface="Arial"/>
                        </a:rPr>
                        <a:t> category)</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tc>
              </a:tr>
              <a:tr h="842600">
                <a:tc>
                  <a:txBody>
                    <a:bodyPr/>
                    <a:lstStyle/>
                    <a:p>
                      <a:pPr indent="0" lvl="0" marL="0" marR="0" rtl="0" algn="l">
                        <a:spcBef>
                          <a:spcPts val="0"/>
                        </a:spcBef>
                        <a:spcAft>
                          <a:spcPts val="0"/>
                        </a:spcAft>
                        <a:buNone/>
                      </a:pPr>
                      <a:r>
                        <a:rPr lang="en-US" sz="1400">
                          <a:latin typeface="Arial"/>
                          <a:ea typeface="Arial"/>
                          <a:cs typeface="Arial"/>
                          <a:sym typeface="Arial"/>
                        </a:rPr>
                        <a:t>Exploit of client web browser</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10%</a:t>
                      </a:r>
                      <a:endParaRPr/>
                    </a:p>
                  </a:txBody>
                  <a:tcPr marT="45725" marB="45725" marR="91450" marL="91450" anchor="ct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(new category)</a:t>
                      </a:r>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(new category)</a:t>
                      </a:r>
                      <a:endParaRPr/>
                    </a:p>
                  </a:txBody>
                  <a:tcPr marT="45725" marB="45725" marR="91450" marL="91450" anchor="ct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tc>
              </a:tr>
            </a:tbl>
          </a:graphicData>
        </a:graphic>
      </p:graphicFrame>
      <p:sp>
        <p:nvSpPr>
          <p:cNvPr id="131" name="Google Shape;131;p17"/>
          <p:cNvSpPr txBox="1"/>
          <p:nvPr>
            <p:ph idx="1" type="body"/>
          </p:nvPr>
        </p:nvSpPr>
        <p:spPr>
          <a:xfrm>
            <a:off x="152400" y="5334000"/>
            <a:ext cx="8839200" cy="762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000"/>
              <a:buNone/>
            </a:pPr>
            <a:r>
              <a:rPr i="1" lang="en-US" sz="2000"/>
              <a:t>Source: Whitman and Mattord, 2015 SEC/CISE Threats to Information Protection Report.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8"/>
          <p:cNvSpPr txBox="1"/>
          <p:nvPr>
            <p:ph type="title"/>
          </p:nvPr>
        </p:nvSpPr>
        <p:spPr>
          <a:xfrm>
            <a:off x="0" y="76200"/>
            <a:ext cx="9144000" cy="1524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b="1" lang="en-US"/>
              <a:t>Table 2-2 </a:t>
            </a:r>
            <a:r>
              <a:rPr lang="en-US"/>
              <a:t>Rated Threats from Internal Sources in 2015 SEC/CISE Survey of Threads to Information Protection (1 of 2)</a:t>
            </a:r>
            <a:endParaRPr/>
          </a:p>
        </p:txBody>
      </p:sp>
      <p:graphicFrame>
        <p:nvGraphicFramePr>
          <p:cNvPr id="137" name="Google Shape;137;p18"/>
          <p:cNvGraphicFramePr/>
          <p:nvPr/>
        </p:nvGraphicFramePr>
        <p:xfrm>
          <a:off x="275772" y="1779090"/>
          <a:ext cx="3000000" cy="3000000"/>
        </p:xfrm>
        <a:graphic>
          <a:graphicData uri="http://schemas.openxmlformats.org/drawingml/2006/table">
            <a:tbl>
              <a:tblPr bandRow="1" firstRow="1">
                <a:noFill/>
                <a:tableStyleId>{6765FC5E-082A-4690-9782-9FE3793750BE}</a:tableStyleId>
              </a:tblPr>
              <a:tblGrid>
                <a:gridCol w="3429000"/>
                <a:gridCol w="914400"/>
                <a:gridCol w="929250"/>
                <a:gridCol w="747150"/>
                <a:gridCol w="838200"/>
                <a:gridCol w="990600"/>
                <a:gridCol w="762000"/>
              </a:tblGrid>
              <a:tr h="766000">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From Employees or Internal</a:t>
                      </a:r>
                      <a:r>
                        <a:rPr b="1" lang="en-US" sz="1400">
                          <a:solidFill>
                            <a:schemeClr val="lt1"/>
                          </a:solidFill>
                          <a:latin typeface="Arial"/>
                          <a:ea typeface="Arial"/>
                          <a:cs typeface="Arial"/>
                          <a:sym typeface="Arial"/>
                        </a:rPr>
                        <a:t> Stakeholders</a:t>
                      </a:r>
                      <a:endParaRPr b="1" sz="1400">
                        <a:solidFill>
                          <a:schemeClr val="lt1"/>
                        </a:solidFill>
                        <a:latin typeface="Arial"/>
                        <a:ea typeface="Arial"/>
                        <a:cs typeface="Arial"/>
                        <a:sym typeface="Arial"/>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Not a Threat</a:t>
                      </a:r>
                      <a:endParaRPr/>
                    </a:p>
                    <a:p>
                      <a:pPr indent="0" lvl="0" marL="0" marR="0" rtl="0" algn="ctr">
                        <a:spcBef>
                          <a:spcPts val="0"/>
                        </a:spcBef>
                        <a:spcAft>
                          <a:spcPts val="0"/>
                        </a:spcAft>
                        <a:buNone/>
                      </a:pPr>
                      <a:r>
                        <a:rPr b="1" lang="en-US" sz="1400">
                          <a:solidFill>
                            <a:schemeClr val="lt1"/>
                          </a:solidFill>
                          <a:latin typeface="Arial"/>
                          <a:ea typeface="Arial"/>
                          <a:cs typeface="Arial"/>
                          <a:sym typeface="Arial"/>
                        </a:rPr>
                        <a:t>1</a:t>
                      </a:r>
                      <a:endParaRPr/>
                    </a:p>
                  </a:txBody>
                  <a:tcPr marT="45725" marB="45725" marR="91450" marL="91450" anchor="b">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2 </a:t>
                      </a:r>
                      <a:endParaRPr/>
                    </a:p>
                  </a:txBody>
                  <a:tcPr marT="45725" marB="45725" marR="91450" marL="91450" anchor="b">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3</a:t>
                      </a:r>
                      <a:endParaRPr/>
                    </a:p>
                  </a:txBody>
                  <a:tcPr marT="45725" marB="45725" marR="91450" marL="91450" anchor="b">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4</a:t>
                      </a:r>
                      <a:endParaRPr/>
                    </a:p>
                  </a:txBody>
                  <a:tcPr marT="45725" marB="45725" marR="91450" marL="91450" anchor="b">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A Severe</a:t>
                      </a:r>
                      <a:r>
                        <a:rPr b="1" lang="en-US" sz="1400">
                          <a:solidFill>
                            <a:schemeClr val="lt1"/>
                          </a:solidFill>
                          <a:latin typeface="Arial"/>
                          <a:ea typeface="Arial"/>
                          <a:cs typeface="Arial"/>
                          <a:sym typeface="Arial"/>
                        </a:rPr>
                        <a:t> Threat</a:t>
                      </a:r>
                      <a:endParaRPr/>
                    </a:p>
                    <a:p>
                      <a:pPr indent="0" lvl="0" marL="0" marR="0" rtl="0" algn="ctr">
                        <a:spcBef>
                          <a:spcPts val="0"/>
                        </a:spcBef>
                        <a:spcAft>
                          <a:spcPts val="0"/>
                        </a:spcAft>
                        <a:buNone/>
                      </a:pPr>
                      <a:r>
                        <a:rPr b="1" lang="en-US" sz="1400">
                          <a:solidFill>
                            <a:schemeClr val="lt1"/>
                          </a:solidFill>
                          <a:latin typeface="Arial"/>
                          <a:ea typeface="Arial"/>
                          <a:cs typeface="Arial"/>
                          <a:sym typeface="Arial"/>
                        </a:rPr>
                        <a:t>5</a:t>
                      </a:r>
                      <a:endParaRPr b="1" sz="1400">
                        <a:solidFill>
                          <a:schemeClr val="lt1"/>
                        </a:solidFill>
                        <a:latin typeface="Arial"/>
                        <a:ea typeface="Arial"/>
                        <a:cs typeface="Arial"/>
                        <a:sym typeface="Arial"/>
                      </a:endParaRPr>
                    </a:p>
                  </a:txBody>
                  <a:tcPr marT="45725" marB="45725" marR="91450" marL="91450" anchor="b">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Comp.Rank</a:t>
                      </a:r>
                      <a:endParaRPr b="1" sz="1400">
                        <a:solidFill>
                          <a:schemeClr val="lt1"/>
                        </a:solidFill>
                        <a:latin typeface="Arial"/>
                        <a:ea typeface="Arial"/>
                        <a:cs typeface="Arial"/>
                        <a:sym typeface="Arial"/>
                      </a:endParaRPr>
                    </a:p>
                  </a:txBody>
                  <a:tcPr marT="45725" marB="45725" marR="91450" marL="91450" anchor="b">
                    <a:solidFill>
                      <a:srgbClr val="364162"/>
                    </a:solidFill>
                  </a:tcPr>
                </a:tc>
              </a:tr>
              <a:tr h="350525">
                <a:tc>
                  <a:txBody>
                    <a:bodyPr/>
                    <a:lstStyle/>
                    <a:p>
                      <a:pPr indent="0" lvl="0" marL="0" marR="0" rtl="0" algn="l">
                        <a:spcBef>
                          <a:spcPts val="0"/>
                        </a:spcBef>
                        <a:spcAft>
                          <a:spcPts val="0"/>
                        </a:spcAft>
                        <a:buNone/>
                      </a:pPr>
                      <a:r>
                        <a:rPr lang="en-US" sz="1400">
                          <a:latin typeface="Arial"/>
                          <a:ea typeface="Arial"/>
                          <a:cs typeface="Arial"/>
                          <a:sym typeface="Arial"/>
                        </a:rPr>
                        <a:t>Inability/unwillingness</a:t>
                      </a:r>
                      <a:r>
                        <a:rPr lang="en-US" sz="1400">
                          <a:latin typeface="Arial"/>
                          <a:ea typeface="Arial"/>
                          <a:cs typeface="Arial"/>
                          <a:sym typeface="Arial"/>
                        </a:rPr>
                        <a:t> to follow established policy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6.6%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17.2%</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33.6%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26.2%</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16.4%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66%</a:t>
                      </a:r>
                      <a:endParaRPr/>
                    </a:p>
                  </a:txBody>
                  <a:tcPr marT="45725" marB="45725" marR="91450" marL="91450" anchor="ctr"/>
                </a:tc>
              </a:tr>
              <a:tr h="441950">
                <a:tc>
                  <a:txBody>
                    <a:bodyPr/>
                    <a:lstStyle/>
                    <a:p>
                      <a:pPr indent="0" lvl="0" marL="0" marR="0" rtl="0" algn="l">
                        <a:spcBef>
                          <a:spcPts val="0"/>
                        </a:spcBef>
                        <a:spcAft>
                          <a:spcPts val="0"/>
                        </a:spcAft>
                        <a:buNone/>
                      </a:pPr>
                      <a:r>
                        <a:rPr lang="en-US" sz="1400">
                          <a:latin typeface="Arial"/>
                          <a:ea typeface="Arial"/>
                          <a:cs typeface="Arial"/>
                          <a:sym typeface="Arial"/>
                        </a:rPr>
                        <a:t>Disclosure</a:t>
                      </a:r>
                      <a:r>
                        <a:rPr lang="en-US" sz="1400">
                          <a:latin typeface="Arial"/>
                          <a:ea typeface="Arial"/>
                          <a:cs typeface="Arial"/>
                          <a:sym typeface="Arial"/>
                        </a:rPr>
                        <a:t> due to insufficient training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8.1%</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23.6%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29.3%</a:t>
                      </a:r>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25.2%</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13.8%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63%</a:t>
                      </a:r>
                      <a:endParaRPr/>
                    </a:p>
                  </a:txBody>
                  <a:tcPr marT="45725" marB="45725" marR="91450" marL="91450" anchor="ctr"/>
                </a:tc>
              </a:tr>
              <a:tr h="441950">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Unauthorized</a:t>
                      </a:r>
                      <a:r>
                        <a:rPr lang="en-US" sz="1400">
                          <a:latin typeface="Arial"/>
                          <a:ea typeface="Arial"/>
                          <a:cs typeface="Arial"/>
                          <a:sym typeface="Arial"/>
                        </a:rPr>
                        <a:t> access or escalation of privileges</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24.0%</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31.2%</a:t>
                      </a:r>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31.2%</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8.8%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63%</a:t>
                      </a:r>
                      <a:endParaRPr/>
                    </a:p>
                  </a:txBody>
                  <a:tcPr marT="45725" marB="45725" marR="91450" marL="91450" anchor="ctr"/>
                </a:tc>
              </a:tr>
              <a:tr h="117925">
                <a:tc>
                  <a:txBody>
                    <a:bodyPr/>
                    <a:lstStyle/>
                    <a:p>
                      <a:pPr indent="0" lvl="0" marL="0" marR="0" rtl="0" algn="l">
                        <a:spcBef>
                          <a:spcPts val="0"/>
                        </a:spcBef>
                        <a:spcAft>
                          <a:spcPts val="0"/>
                        </a:spcAft>
                        <a:buNone/>
                      </a:pPr>
                      <a:r>
                        <a:rPr lang="en-US" sz="1400">
                          <a:latin typeface="Arial"/>
                          <a:ea typeface="Arial"/>
                          <a:cs typeface="Arial"/>
                          <a:sym typeface="Arial"/>
                        </a:rPr>
                        <a:t>Unauthorized</a:t>
                      </a:r>
                      <a:r>
                        <a:rPr lang="en-US" sz="1400">
                          <a:latin typeface="Arial"/>
                          <a:ea typeface="Arial"/>
                          <a:cs typeface="Arial"/>
                          <a:sym typeface="Arial"/>
                        </a:rPr>
                        <a:t> information collection/data sniffing</a:t>
                      </a:r>
                      <a:endParaRPr sz="1400">
                        <a:latin typeface="Arial"/>
                        <a:ea typeface="Arial"/>
                        <a:cs typeface="Arial"/>
                        <a:sym typeface="Arial"/>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6.4%</a:t>
                      </a:r>
                      <a:endParaRPr/>
                    </a:p>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26.4%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40.0%</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17.6%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9.6%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60%</a:t>
                      </a:r>
                      <a:endParaRPr/>
                    </a:p>
                  </a:txBody>
                  <a:tcPr marT="45725" marB="45725" marR="91450" marL="91450" anchor="ctr"/>
                </a:tc>
              </a:tr>
              <a:tr h="285575">
                <a:tc>
                  <a:txBody>
                    <a:bodyPr/>
                    <a:lstStyle/>
                    <a:p>
                      <a:pPr indent="0" lvl="0" marL="0" marR="0" rtl="0" algn="l">
                        <a:spcBef>
                          <a:spcPts val="0"/>
                        </a:spcBef>
                        <a:spcAft>
                          <a:spcPts val="0"/>
                        </a:spcAft>
                        <a:buNone/>
                      </a:pPr>
                      <a:r>
                        <a:rPr lang="en-US" sz="1400">
                          <a:latin typeface="Arial"/>
                          <a:ea typeface="Arial"/>
                          <a:cs typeface="Arial"/>
                          <a:sym typeface="Arial"/>
                        </a:rPr>
                        <a:t>Theft</a:t>
                      </a:r>
                      <a:r>
                        <a:rPr lang="en-US" sz="1400">
                          <a:latin typeface="Arial"/>
                          <a:ea typeface="Arial"/>
                          <a:cs typeface="Arial"/>
                          <a:sym typeface="Arial"/>
                        </a:rPr>
                        <a:t> of on-site organizational information assets</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10.6%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32.5%</a:t>
                      </a:r>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34.1%</a:t>
                      </a:r>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12.2%</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10.6%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56%</a:t>
                      </a:r>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Theft</a:t>
                      </a:r>
                      <a:r>
                        <a:rPr lang="en-US" sz="1400">
                          <a:latin typeface="Arial"/>
                          <a:ea typeface="Arial"/>
                          <a:cs typeface="Arial"/>
                          <a:sym typeface="Arial"/>
                        </a:rPr>
                        <a:t> of mobile/laptop/tablet and related/connected information assets</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15.4%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29.3%</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28.5%</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17.9%</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8.9%</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55%</a:t>
                      </a:r>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Intentional</a:t>
                      </a:r>
                      <a:r>
                        <a:rPr lang="en-US" sz="1400">
                          <a:latin typeface="Arial"/>
                          <a:ea typeface="Arial"/>
                          <a:cs typeface="Arial"/>
                          <a:sym typeface="Arial"/>
                        </a:rPr>
                        <a:t> damage or destruction of information assets</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22.3%</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43.0%</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18.2%</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13.2%</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3.3%</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46%</a:t>
                      </a:r>
                      <a:endParaRPr/>
                    </a:p>
                  </a:txBody>
                  <a:tcPr marT="45725" marB="45725" marR="91450" marL="91450" anchor="ct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9"/>
          <p:cNvSpPr txBox="1"/>
          <p:nvPr>
            <p:ph type="title"/>
          </p:nvPr>
        </p:nvSpPr>
        <p:spPr>
          <a:xfrm>
            <a:off x="0" y="76200"/>
            <a:ext cx="9144000" cy="1524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b="1" lang="en-US"/>
              <a:t>Table 2-2 </a:t>
            </a:r>
            <a:r>
              <a:rPr lang="en-US"/>
              <a:t>Rated Threats from Internal Sources in 2015 SEC/CISE Survey of Threads to Information Protection (2 of 2)</a:t>
            </a:r>
            <a:endParaRPr/>
          </a:p>
        </p:txBody>
      </p:sp>
      <p:graphicFrame>
        <p:nvGraphicFramePr>
          <p:cNvPr id="143" name="Google Shape;143;p19"/>
          <p:cNvGraphicFramePr/>
          <p:nvPr/>
        </p:nvGraphicFramePr>
        <p:xfrm>
          <a:off x="257628" y="2038170"/>
          <a:ext cx="3000000" cy="3000000"/>
        </p:xfrm>
        <a:graphic>
          <a:graphicData uri="http://schemas.openxmlformats.org/drawingml/2006/table">
            <a:tbl>
              <a:tblPr bandRow="1" firstRow="1">
                <a:noFill/>
                <a:tableStyleId>{6765FC5E-082A-4690-9782-9FE3793750BE}</a:tableStyleId>
              </a:tblPr>
              <a:tblGrid>
                <a:gridCol w="3429000"/>
                <a:gridCol w="914400"/>
                <a:gridCol w="929250"/>
                <a:gridCol w="747150"/>
                <a:gridCol w="838200"/>
                <a:gridCol w="990600"/>
                <a:gridCol w="762000"/>
              </a:tblGrid>
              <a:tr h="766000">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From Employees or Internal</a:t>
                      </a:r>
                      <a:r>
                        <a:rPr b="1" lang="en-US" sz="1400">
                          <a:solidFill>
                            <a:schemeClr val="lt1"/>
                          </a:solidFill>
                          <a:latin typeface="Arial"/>
                          <a:ea typeface="Arial"/>
                          <a:cs typeface="Arial"/>
                          <a:sym typeface="Arial"/>
                        </a:rPr>
                        <a:t> Stakeholders</a:t>
                      </a:r>
                      <a:endParaRPr b="1" sz="1400">
                        <a:solidFill>
                          <a:schemeClr val="lt1"/>
                        </a:solidFill>
                        <a:latin typeface="Arial"/>
                        <a:ea typeface="Arial"/>
                        <a:cs typeface="Arial"/>
                        <a:sym typeface="Arial"/>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Not a Threat</a:t>
                      </a:r>
                      <a:endParaRPr/>
                    </a:p>
                    <a:p>
                      <a:pPr indent="0" lvl="0" marL="0" marR="0" rtl="0" algn="ctr">
                        <a:spcBef>
                          <a:spcPts val="0"/>
                        </a:spcBef>
                        <a:spcAft>
                          <a:spcPts val="0"/>
                        </a:spcAft>
                        <a:buNone/>
                      </a:pPr>
                      <a:r>
                        <a:rPr b="1" lang="en-US" sz="1400">
                          <a:solidFill>
                            <a:schemeClr val="lt1"/>
                          </a:solidFill>
                          <a:latin typeface="Arial"/>
                          <a:ea typeface="Arial"/>
                          <a:cs typeface="Arial"/>
                          <a:sym typeface="Arial"/>
                        </a:rPr>
                        <a:t>1</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2 </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3</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4</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A Severe</a:t>
                      </a:r>
                      <a:r>
                        <a:rPr b="1" lang="en-US" sz="1400">
                          <a:solidFill>
                            <a:schemeClr val="lt1"/>
                          </a:solidFill>
                          <a:latin typeface="Arial"/>
                          <a:ea typeface="Arial"/>
                          <a:cs typeface="Arial"/>
                          <a:sym typeface="Arial"/>
                        </a:rPr>
                        <a:t> Threat</a:t>
                      </a:r>
                      <a:endParaRPr/>
                    </a:p>
                    <a:p>
                      <a:pPr indent="0" lvl="0" marL="0" marR="0" rtl="0" algn="ctr">
                        <a:spcBef>
                          <a:spcPts val="0"/>
                        </a:spcBef>
                        <a:spcAft>
                          <a:spcPts val="0"/>
                        </a:spcAft>
                        <a:buNone/>
                      </a:pPr>
                      <a:r>
                        <a:rPr b="1" lang="en-US" sz="1400">
                          <a:solidFill>
                            <a:schemeClr val="lt1"/>
                          </a:solidFill>
                          <a:latin typeface="Arial"/>
                          <a:ea typeface="Arial"/>
                          <a:cs typeface="Arial"/>
                          <a:sym typeface="Arial"/>
                        </a:rPr>
                        <a:t>5</a:t>
                      </a:r>
                      <a:endParaRPr b="1" sz="1400">
                        <a:solidFill>
                          <a:schemeClr val="lt1"/>
                        </a:solidFill>
                        <a:latin typeface="Arial"/>
                        <a:ea typeface="Arial"/>
                        <a:cs typeface="Arial"/>
                        <a:sym typeface="Arial"/>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Comp.Rank</a:t>
                      </a:r>
                      <a:endParaRPr b="1" sz="1400">
                        <a:solidFill>
                          <a:schemeClr val="lt1"/>
                        </a:solidFill>
                        <a:latin typeface="Arial"/>
                        <a:ea typeface="Arial"/>
                        <a:cs typeface="Arial"/>
                        <a:sym typeface="Arial"/>
                      </a:endParaRPr>
                    </a:p>
                  </a:txBody>
                  <a:tcPr marT="45725" marB="45725" marR="91450" marL="91450" anchor="ctr">
                    <a:solidFill>
                      <a:srgbClr val="364162"/>
                    </a:solidFill>
                  </a:tcPr>
                </a:tc>
              </a:tr>
              <a:tr h="350525">
                <a:tc>
                  <a:txBody>
                    <a:bodyPr/>
                    <a:lstStyle/>
                    <a:p>
                      <a:pPr indent="0" lvl="0" marL="0" marR="0" rtl="0" algn="l">
                        <a:spcBef>
                          <a:spcPts val="0"/>
                        </a:spcBef>
                        <a:spcAft>
                          <a:spcPts val="0"/>
                        </a:spcAft>
                        <a:buNone/>
                      </a:pPr>
                      <a:r>
                        <a:rPr lang="en-US" sz="1400">
                          <a:latin typeface="Arial"/>
                          <a:ea typeface="Arial"/>
                          <a:cs typeface="Arial"/>
                          <a:sym typeface="Arial"/>
                        </a:rPr>
                        <a:t>Theft or misuse of organizationally</a:t>
                      </a:r>
                      <a:r>
                        <a:rPr lang="en-US" sz="1400">
                          <a:latin typeface="Arial"/>
                          <a:ea typeface="Arial"/>
                          <a:cs typeface="Arial"/>
                          <a:sym typeface="Arial"/>
                        </a:rPr>
                        <a:t> leased, purchased, or developed software</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29.6%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33.6%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21.6%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10.4%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45%</a:t>
                      </a:r>
                      <a:endParaRPr/>
                    </a:p>
                  </a:txBody>
                  <a:tcPr marT="45725" marB="45725" marR="91450" marL="91450" anchor="ctr"/>
                </a:tc>
              </a:tr>
              <a:tr h="441950">
                <a:tc>
                  <a:txBody>
                    <a:bodyPr/>
                    <a:lstStyle/>
                    <a:p>
                      <a:pPr indent="0" lvl="0" marL="0" marR="0" rtl="0" algn="l">
                        <a:spcBef>
                          <a:spcPts val="0"/>
                        </a:spcBef>
                        <a:spcAft>
                          <a:spcPts val="0"/>
                        </a:spcAft>
                        <a:buNone/>
                      </a:pPr>
                      <a:r>
                        <a:rPr lang="en-US" sz="1400">
                          <a:latin typeface="Arial"/>
                          <a:ea typeface="Arial"/>
                          <a:cs typeface="Arial"/>
                          <a:sym typeface="Arial"/>
                        </a:rPr>
                        <a:t>Web site defacement</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43.4%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33.6%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16.4%</a:t>
                      </a:r>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4.9%</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38%</a:t>
                      </a:r>
                      <a:endParaRPr/>
                    </a:p>
                  </a:txBody>
                  <a:tcPr marT="45725" marB="45725" marR="91450" marL="91450" anchor="ctr"/>
                </a:tc>
              </a:tr>
              <a:tr h="441950">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Blackmail of information release or sales </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43.5%</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37.1%</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10.5%</a:t>
                      </a:r>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6.5%</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37%</a:t>
                      </a:r>
                      <a:endParaRPr/>
                    </a:p>
                  </a:txBody>
                  <a:tcPr marT="45725" marB="45725" marR="91450" marL="91450" anchor="ct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0"/>
          <p:cNvSpPr txBox="1"/>
          <p:nvPr>
            <p:ph type="title"/>
          </p:nvPr>
        </p:nvSpPr>
        <p:spPr>
          <a:xfrm>
            <a:off x="0" y="76200"/>
            <a:ext cx="9144000" cy="1524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b="1" lang="en-US"/>
              <a:t>Table 2-3 </a:t>
            </a:r>
            <a:r>
              <a:rPr lang="en-US"/>
              <a:t>Rated Threats from External Sources in 2015 SEC/CISE Survey of Threads to Information Protection (1 of 2)</a:t>
            </a:r>
            <a:endParaRPr/>
          </a:p>
        </p:txBody>
      </p:sp>
      <p:graphicFrame>
        <p:nvGraphicFramePr>
          <p:cNvPr id="149" name="Google Shape;149;p20"/>
          <p:cNvGraphicFramePr/>
          <p:nvPr/>
        </p:nvGraphicFramePr>
        <p:xfrm>
          <a:off x="228600" y="1824810"/>
          <a:ext cx="3000000" cy="3000000"/>
        </p:xfrm>
        <a:graphic>
          <a:graphicData uri="http://schemas.openxmlformats.org/drawingml/2006/table">
            <a:tbl>
              <a:tblPr bandRow="1" firstRow="1">
                <a:noFill/>
                <a:tableStyleId>{6765FC5E-082A-4690-9782-9FE3793750BE}</a:tableStyleId>
              </a:tblPr>
              <a:tblGrid>
                <a:gridCol w="3429000"/>
                <a:gridCol w="914400"/>
                <a:gridCol w="929250"/>
                <a:gridCol w="747150"/>
                <a:gridCol w="838200"/>
                <a:gridCol w="990600"/>
                <a:gridCol w="762000"/>
              </a:tblGrid>
              <a:tr h="766000">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From Employees or Internal</a:t>
                      </a:r>
                      <a:r>
                        <a:rPr b="1" lang="en-US" sz="1400">
                          <a:solidFill>
                            <a:schemeClr val="lt1"/>
                          </a:solidFill>
                          <a:latin typeface="Arial"/>
                          <a:ea typeface="Arial"/>
                          <a:cs typeface="Arial"/>
                          <a:sym typeface="Arial"/>
                        </a:rPr>
                        <a:t> Stakeholders</a:t>
                      </a:r>
                      <a:endParaRPr b="1" sz="1400">
                        <a:solidFill>
                          <a:schemeClr val="lt1"/>
                        </a:solidFill>
                        <a:latin typeface="Arial"/>
                        <a:ea typeface="Arial"/>
                        <a:cs typeface="Arial"/>
                        <a:sym typeface="Arial"/>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Not a Threat</a:t>
                      </a:r>
                      <a:endParaRPr/>
                    </a:p>
                    <a:p>
                      <a:pPr indent="0" lvl="0" marL="0" marR="0" rtl="0" algn="ctr">
                        <a:spcBef>
                          <a:spcPts val="0"/>
                        </a:spcBef>
                        <a:spcAft>
                          <a:spcPts val="0"/>
                        </a:spcAft>
                        <a:buNone/>
                      </a:pPr>
                      <a:r>
                        <a:rPr b="1" lang="en-US" sz="1400">
                          <a:solidFill>
                            <a:schemeClr val="lt1"/>
                          </a:solidFill>
                          <a:latin typeface="Arial"/>
                          <a:ea typeface="Arial"/>
                          <a:cs typeface="Arial"/>
                          <a:sym typeface="Arial"/>
                        </a:rPr>
                        <a:t>1</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2 </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3</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4</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A Severe</a:t>
                      </a:r>
                      <a:r>
                        <a:rPr b="1" lang="en-US" sz="1400">
                          <a:solidFill>
                            <a:schemeClr val="lt1"/>
                          </a:solidFill>
                          <a:latin typeface="Arial"/>
                          <a:ea typeface="Arial"/>
                          <a:cs typeface="Arial"/>
                          <a:sym typeface="Arial"/>
                        </a:rPr>
                        <a:t> Threat</a:t>
                      </a:r>
                      <a:endParaRPr/>
                    </a:p>
                    <a:p>
                      <a:pPr indent="0" lvl="0" marL="0" marR="0" rtl="0" algn="ctr">
                        <a:spcBef>
                          <a:spcPts val="0"/>
                        </a:spcBef>
                        <a:spcAft>
                          <a:spcPts val="0"/>
                        </a:spcAft>
                        <a:buNone/>
                      </a:pPr>
                      <a:r>
                        <a:rPr b="1" lang="en-US" sz="1400">
                          <a:solidFill>
                            <a:schemeClr val="lt1"/>
                          </a:solidFill>
                          <a:latin typeface="Arial"/>
                          <a:ea typeface="Arial"/>
                          <a:cs typeface="Arial"/>
                          <a:sym typeface="Arial"/>
                        </a:rPr>
                        <a:t>5</a:t>
                      </a:r>
                      <a:endParaRPr b="1" sz="1400">
                        <a:solidFill>
                          <a:schemeClr val="lt1"/>
                        </a:solidFill>
                        <a:latin typeface="Arial"/>
                        <a:ea typeface="Arial"/>
                        <a:cs typeface="Arial"/>
                        <a:sym typeface="Arial"/>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Comp.Rank</a:t>
                      </a:r>
                      <a:endParaRPr b="1" sz="1400">
                        <a:solidFill>
                          <a:schemeClr val="lt1"/>
                        </a:solidFill>
                        <a:latin typeface="Arial"/>
                        <a:ea typeface="Arial"/>
                        <a:cs typeface="Arial"/>
                        <a:sym typeface="Arial"/>
                      </a:endParaRPr>
                    </a:p>
                  </a:txBody>
                  <a:tcPr marT="45725" marB="45725" marR="91450" marL="91450" anchor="ctr">
                    <a:solidFill>
                      <a:srgbClr val="364162"/>
                    </a:solidFill>
                  </a:tcPr>
                </a:tc>
              </a:tr>
              <a:tr h="117925">
                <a:tc>
                  <a:txBody>
                    <a:bodyPr/>
                    <a:lstStyle/>
                    <a:p>
                      <a:pPr indent="0" lvl="0" marL="0" marR="0" rtl="0" algn="l">
                        <a:spcBef>
                          <a:spcPts val="0"/>
                        </a:spcBef>
                        <a:spcAft>
                          <a:spcPts val="0"/>
                        </a:spcAft>
                        <a:buNone/>
                      </a:pPr>
                      <a:r>
                        <a:rPr lang="en-US" sz="1400">
                          <a:latin typeface="Arial"/>
                          <a:ea typeface="Arial"/>
                          <a:cs typeface="Arial"/>
                          <a:sym typeface="Arial"/>
                        </a:rPr>
                        <a:t>Unauthorized</a:t>
                      </a:r>
                      <a:r>
                        <a:rPr lang="en-US" sz="1400">
                          <a:latin typeface="Arial"/>
                          <a:ea typeface="Arial"/>
                          <a:cs typeface="Arial"/>
                          <a:sym typeface="Arial"/>
                        </a:rPr>
                        <a:t> information collection/data sniffing</a:t>
                      </a:r>
                      <a:endParaRPr sz="1400">
                        <a:latin typeface="Arial"/>
                        <a:ea typeface="Arial"/>
                        <a:cs typeface="Arial"/>
                        <a:sym typeface="Arial"/>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6.4%</a:t>
                      </a:r>
                      <a:endParaRPr/>
                    </a:p>
                    <a:p>
                      <a:pPr indent="0" lvl="0" marL="0" marR="0" rtl="0" algn="l">
                        <a:spcBef>
                          <a:spcPts val="0"/>
                        </a:spcBef>
                        <a:spcAft>
                          <a:spcPts val="0"/>
                        </a:spcAft>
                        <a:buNone/>
                      </a:pPr>
                      <a:r>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14.4%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21.6%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32.8%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24.8%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71%</a:t>
                      </a:r>
                      <a:endParaRPr/>
                    </a:p>
                  </a:txBody>
                  <a:tcPr marT="45725" marB="45725" marR="91450" marL="91450" anchor="ctr"/>
                </a:tc>
              </a:tr>
              <a:tr h="285575">
                <a:tc>
                  <a:txBody>
                    <a:bodyPr/>
                    <a:lstStyle/>
                    <a:p>
                      <a:pPr indent="0" lvl="0" marL="0" marR="0" rtl="0" algn="l">
                        <a:spcBef>
                          <a:spcPts val="0"/>
                        </a:spcBef>
                        <a:spcAft>
                          <a:spcPts val="0"/>
                        </a:spcAft>
                        <a:buNone/>
                      </a:pPr>
                      <a:r>
                        <a:rPr lang="en-US" sz="1400">
                          <a:latin typeface="Arial"/>
                          <a:ea typeface="Arial"/>
                          <a:cs typeface="Arial"/>
                          <a:sym typeface="Arial"/>
                        </a:rPr>
                        <a:t>Unauthorized</a:t>
                      </a:r>
                      <a:r>
                        <a:rPr lang="en-US" sz="1400">
                          <a:latin typeface="Arial"/>
                          <a:ea typeface="Arial"/>
                          <a:cs typeface="Arial"/>
                          <a:sym typeface="Arial"/>
                        </a:rPr>
                        <a:t> access or escalation of privileges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7.4%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14.0%</a:t>
                      </a:r>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26.4%</a:t>
                      </a:r>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31.4%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20.7%</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69%</a:t>
                      </a:r>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Web site defacement</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8.9%</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23.6%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22.8%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26.8%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17.9%</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64%</a:t>
                      </a:r>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Intentional damage</a:t>
                      </a:r>
                      <a:r>
                        <a:rPr lang="en-US" sz="1400">
                          <a:latin typeface="Arial"/>
                          <a:ea typeface="Arial"/>
                          <a:cs typeface="Arial"/>
                          <a:sym typeface="Arial"/>
                        </a:rPr>
                        <a:t> or destruction of information assets</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14.0%</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32.2%</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18.2%</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24.8%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10.7%</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57%</a:t>
                      </a:r>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Theft of mobile/laptop/tablet</a:t>
                      </a:r>
                      <a:r>
                        <a:rPr lang="en-US" sz="1400">
                          <a:latin typeface="Arial"/>
                          <a:ea typeface="Arial"/>
                          <a:cs typeface="Arial"/>
                          <a:sym typeface="Arial"/>
                        </a:rPr>
                        <a:t> and related/connected information assets</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20.5%</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25.4%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26.2%</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15.6%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12.3%</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55%</a:t>
                      </a:r>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Theft</a:t>
                      </a:r>
                      <a:r>
                        <a:rPr lang="en-US" sz="1400">
                          <a:latin typeface="Arial"/>
                          <a:ea typeface="Arial"/>
                          <a:cs typeface="Arial"/>
                          <a:sym typeface="Arial"/>
                        </a:rPr>
                        <a:t> of on-site organizational informational assets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21.1%</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24.4%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25.2%</a:t>
                      </a:r>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17.9%</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11.4%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55%</a:t>
                      </a:r>
                      <a:endParaRPr/>
                    </a:p>
                  </a:txBody>
                  <a:tcPr marT="45725" marB="45725" marR="91450" marL="91450" anchor="ctr"/>
                </a:tc>
              </a:tr>
              <a:tr h="177800">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Blackmail</a:t>
                      </a:r>
                      <a:r>
                        <a:rPr lang="en-US" sz="1400">
                          <a:latin typeface="Arial"/>
                          <a:ea typeface="Arial"/>
                          <a:cs typeface="Arial"/>
                          <a:sym typeface="Arial"/>
                        </a:rPr>
                        <a:t> of information release or sales</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31.1%</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30.3%</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14.8%</a:t>
                      </a:r>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14.8%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9.0%</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48%</a:t>
                      </a:r>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Disclosure due to insufficient</a:t>
                      </a:r>
                      <a:r>
                        <a:rPr lang="en-US" sz="1400">
                          <a:latin typeface="Arial"/>
                          <a:ea typeface="Arial"/>
                          <a:cs typeface="Arial"/>
                          <a:sym typeface="Arial"/>
                        </a:rPr>
                        <a:t> training</a:t>
                      </a:r>
                      <a:endParaRPr sz="1400">
                        <a:latin typeface="Arial"/>
                        <a:ea typeface="Arial"/>
                        <a:cs typeface="Arial"/>
                        <a:sym typeface="Arial"/>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34.5%</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21.8%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22.7%</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13.4%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7.6%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48%</a:t>
                      </a:r>
                      <a:endParaRPr/>
                    </a:p>
                  </a:txBody>
                  <a:tcPr marT="45725" marB="45725" marR="91450" marL="91450" anchor="ct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1"/>
          <p:cNvSpPr txBox="1"/>
          <p:nvPr>
            <p:ph type="title"/>
          </p:nvPr>
        </p:nvSpPr>
        <p:spPr>
          <a:xfrm>
            <a:off x="0" y="76200"/>
            <a:ext cx="9144000" cy="1524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b="1" lang="en-US"/>
              <a:t>Table 2-3 </a:t>
            </a:r>
            <a:r>
              <a:rPr lang="en-US"/>
              <a:t>Rated Threats from External Sources in 2015 SEC/CISE Survey of Threads to Information Protection (2 of 2)</a:t>
            </a:r>
            <a:endParaRPr/>
          </a:p>
        </p:txBody>
      </p:sp>
      <p:graphicFrame>
        <p:nvGraphicFramePr>
          <p:cNvPr id="155" name="Google Shape;155;p21"/>
          <p:cNvGraphicFramePr/>
          <p:nvPr/>
        </p:nvGraphicFramePr>
        <p:xfrm>
          <a:off x="272142" y="2251530"/>
          <a:ext cx="3000000" cy="3000000"/>
        </p:xfrm>
        <a:graphic>
          <a:graphicData uri="http://schemas.openxmlformats.org/drawingml/2006/table">
            <a:tbl>
              <a:tblPr bandRow="1" firstRow="1">
                <a:noFill/>
                <a:tableStyleId>{6765FC5E-082A-4690-9782-9FE3793750BE}</a:tableStyleId>
              </a:tblPr>
              <a:tblGrid>
                <a:gridCol w="3429000"/>
                <a:gridCol w="914400"/>
                <a:gridCol w="929250"/>
                <a:gridCol w="747150"/>
                <a:gridCol w="838200"/>
                <a:gridCol w="990600"/>
                <a:gridCol w="762000"/>
              </a:tblGrid>
              <a:tr h="766000">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From Employees or Internal</a:t>
                      </a:r>
                      <a:r>
                        <a:rPr b="1" lang="en-US" sz="1400">
                          <a:solidFill>
                            <a:schemeClr val="lt1"/>
                          </a:solidFill>
                          <a:latin typeface="Arial"/>
                          <a:ea typeface="Arial"/>
                          <a:cs typeface="Arial"/>
                          <a:sym typeface="Arial"/>
                        </a:rPr>
                        <a:t> Stakeholders</a:t>
                      </a:r>
                      <a:endParaRPr b="1" sz="1400">
                        <a:solidFill>
                          <a:schemeClr val="lt1"/>
                        </a:solidFill>
                        <a:latin typeface="Arial"/>
                        <a:ea typeface="Arial"/>
                        <a:cs typeface="Arial"/>
                        <a:sym typeface="Arial"/>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Not a Threat</a:t>
                      </a:r>
                      <a:endParaRPr/>
                    </a:p>
                    <a:p>
                      <a:pPr indent="0" lvl="0" marL="0" marR="0" rtl="0" algn="ctr">
                        <a:spcBef>
                          <a:spcPts val="0"/>
                        </a:spcBef>
                        <a:spcAft>
                          <a:spcPts val="0"/>
                        </a:spcAft>
                        <a:buNone/>
                      </a:pPr>
                      <a:r>
                        <a:rPr b="1" lang="en-US" sz="1400">
                          <a:solidFill>
                            <a:schemeClr val="lt1"/>
                          </a:solidFill>
                          <a:latin typeface="Arial"/>
                          <a:ea typeface="Arial"/>
                          <a:cs typeface="Arial"/>
                          <a:sym typeface="Arial"/>
                        </a:rPr>
                        <a:t>1</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2 </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3</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4</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A Severe</a:t>
                      </a:r>
                      <a:r>
                        <a:rPr b="1" lang="en-US" sz="1400">
                          <a:solidFill>
                            <a:schemeClr val="lt1"/>
                          </a:solidFill>
                          <a:latin typeface="Arial"/>
                          <a:ea typeface="Arial"/>
                          <a:cs typeface="Arial"/>
                          <a:sym typeface="Arial"/>
                        </a:rPr>
                        <a:t> Threat</a:t>
                      </a:r>
                      <a:endParaRPr/>
                    </a:p>
                    <a:p>
                      <a:pPr indent="0" lvl="0" marL="0" marR="0" rtl="0" algn="ctr">
                        <a:spcBef>
                          <a:spcPts val="0"/>
                        </a:spcBef>
                        <a:spcAft>
                          <a:spcPts val="0"/>
                        </a:spcAft>
                        <a:buNone/>
                      </a:pPr>
                      <a:r>
                        <a:rPr b="1" lang="en-US" sz="1400">
                          <a:solidFill>
                            <a:schemeClr val="lt1"/>
                          </a:solidFill>
                          <a:latin typeface="Arial"/>
                          <a:ea typeface="Arial"/>
                          <a:cs typeface="Arial"/>
                          <a:sym typeface="Arial"/>
                        </a:rPr>
                        <a:t>5</a:t>
                      </a:r>
                      <a:endParaRPr b="1" sz="1400">
                        <a:solidFill>
                          <a:schemeClr val="lt1"/>
                        </a:solidFill>
                        <a:latin typeface="Arial"/>
                        <a:ea typeface="Arial"/>
                        <a:cs typeface="Arial"/>
                        <a:sym typeface="Arial"/>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Comp.Rank</a:t>
                      </a:r>
                      <a:endParaRPr b="1" sz="1400">
                        <a:solidFill>
                          <a:schemeClr val="lt1"/>
                        </a:solidFill>
                        <a:latin typeface="Arial"/>
                        <a:ea typeface="Arial"/>
                        <a:cs typeface="Arial"/>
                        <a:sym typeface="Arial"/>
                      </a:endParaRPr>
                    </a:p>
                  </a:txBody>
                  <a:tcPr marT="45725" marB="45725" marR="91450" marL="91450" anchor="ctr">
                    <a:solidFill>
                      <a:srgbClr val="364162"/>
                    </a:solidFill>
                  </a:tcPr>
                </a:tc>
              </a:tr>
              <a:tr h="422725">
                <a:tc>
                  <a:txBody>
                    <a:bodyPr/>
                    <a:lstStyle/>
                    <a:p>
                      <a:pPr indent="0" lvl="0" marL="0" marR="0" rtl="0" algn="l">
                        <a:spcBef>
                          <a:spcPts val="0"/>
                        </a:spcBef>
                        <a:spcAft>
                          <a:spcPts val="0"/>
                        </a:spcAft>
                        <a:buNone/>
                      </a:pPr>
                      <a:r>
                        <a:rPr lang="en-US" sz="1400">
                          <a:latin typeface="Arial"/>
                          <a:ea typeface="Arial"/>
                          <a:cs typeface="Arial"/>
                          <a:sym typeface="Arial"/>
                        </a:rPr>
                        <a:t>Inability/unwillingness</a:t>
                      </a:r>
                      <a:r>
                        <a:rPr lang="en-US" sz="1400">
                          <a:latin typeface="Arial"/>
                          <a:ea typeface="Arial"/>
                          <a:cs typeface="Arial"/>
                          <a:sym typeface="Arial"/>
                        </a:rPr>
                        <a:t> to follow established policy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33.6%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29.4%</a:t>
                      </a:r>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18.5%</a:t>
                      </a:r>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6.7%</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11.8%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47%</a:t>
                      </a:r>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Theft or misuse of organizationally leased, purchased, or developed</a:t>
                      </a:r>
                      <a:r>
                        <a:rPr lang="en-US" sz="1400">
                          <a:latin typeface="Arial"/>
                          <a:ea typeface="Arial"/>
                          <a:cs typeface="Arial"/>
                          <a:sym typeface="Arial"/>
                        </a:rPr>
                        <a:t> software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31.7%</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30.1%</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22.8%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9.8%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5.7%</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46%</a:t>
                      </a:r>
                      <a:endParaRPr/>
                    </a:p>
                  </a:txBody>
                  <a:tcPr marT="45725" marB="45725" marR="91450" marL="91450" anchor="ct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2"/>
          <p:cNvSpPr txBox="1"/>
          <p:nvPr>
            <p:ph type="title"/>
          </p:nvPr>
        </p:nvSpPr>
        <p:spPr>
          <a:xfrm>
            <a:off x="0" y="76200"/>
            <a:ext cx="9144000" cy="1447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b="1" lang="en-US"/>
              <a:t>Table 2-4 </a:t>
            </a:r>
            <a:r>
              <a:rPr lang="en-US"/>
              <a:t>Perceived Threats to Information Assets in 2015 SEC/CISE Survey of Threats to Information Protection (1 of 4)</a:t>
            </a:r>
            <a:endParaRPr/>
          </a:p>
        </p:txBody>
      </p:sp>
      <p:graphicFrame>
        <p:nvGraphicFramePr>
          <p:cNvPr id="161" name="Google Shape;161;p22"/>
          <p:cNvGraphicFramePr/>
          <p:nvPr/>
        </p:nvGraphicFramePr>
        <p:xfrm>
          <a:off x="381000" y="1701489"/>
          <a:ext cx="3000000" cy="3000000"/>
        </p:xfrm>
        <a:graphic>
          <a:graphicData uri="http://schemas.openxmlformats.org/drawingml/2006/table">
            <a:tbl>
              <a:tblPr bandRow="1" firstRow="1">
                <a:noFill/>
                <a:tableStyleId>{6765FC5E-082A-4690-9782-9FE3793750BE}</a:tableStyleId>
              </a:tblPr>
              <a:tblGrid>
                <a:gridCol w="3505200"/>
                <a:gridCol w="838200"/>
                <a:gridCol w="744250"/>
                <a:gridCol w="720925"/>
                <a:gridCol w="808800"/>
                <a:gridCol w="955850"/>
                <a:gridCol w="808800"/>
              </a:tblGrid>
              <a:tr h="669300">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General Threats to Information</a:t>
                      </a:r>
                      <a:r>
                        <a:rPr b="1" lang="en-US" sz="1400">
                          <a:solidFill>
                            <a:schemeClr val="lt1"/>
                          </a:solidFill>
                          <a:latin typeface="Arial"/>
                          <a:ea typeface="Arial"/>
                          <a:cs typeface="Arial"/>
                          <a:sym typeface="Arial"/>
                        </a:rPr>
                        <a:t> Assets</a:t>
                      </a:r>
                      <a:endParaRPr b="1" sz="1400">
                        <a:solidFill>
                          <a:schemeClr val="lt1"/>
                        </a:solidFill>
                        <a:latin typeface="Arial"/>
                        <a:ea typeface="Arial"/>
                        <a:cs typeface="Arial"/>
                        <a:sym typeface="Arial"/>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Not a Threat</a:t>
                      </a:r>
                      <a:endParaRPr/>
                    </a:p>
                    <a:p>
                      <a:pPr indent="0" lvl="0" marL="0" marR="0" rtl="0" algn="ctr">
                        <a:spcBef>
                          <a:spcPts val="0"/>
                        </a:spcBef>
                        <a:spcAft>
                          <a:spcPts val="0"/>
                        </a:spcAft>
                        <a:buNone/>
                      </a:pPr>
                      <a:r>
                        <a:rPr b="1" lang="en-US" sz="1400">
                          <a:solidFill>
                            <a:schemeClr val="lt1"/>
                          </a:solidFill>
                          <a:latin typeface="Arial"/>
                          <a:ea typeface="Arial"/>
                          <a:cs typeface="Arial"/>
                          <a:sym typeface="Arial"/>
                        </a:rPr>
                        <a:t>1</a:t>
                      </a:r>
                      <a:endParaRPr/>
                    </a:p>
                  </a:txBody>
                  <a:tcPr marT="45725" marB="45725" marR="91450" marL="91450" anchor="b">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2 </a:t>
                      </a:r>
                      <a:endParaRPr/>
                    </a:p>
                  </a:txBody>
                  <a:tcPr marT="45725" marB="45725" marR="91450" marL="91450" anchor="b">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3</a:t>
                      </a:r>
                      <a:endParaRPr/>
                    </a:p>
                  </a:txBody>
                  <a:tcPr marT="45725" marB="45725" marR="91450" marL="91450" anchor="b">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4</a:t>
                      </a:r>
                      <a:endParaRPr/>
                    </a:p>
                  </a:txBody>
                  <a:tcPr marT="45725" marB="45725" marR="91450" marL="91450" anchor="b">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A Severe</a:t>
                      </a:r>
                      <a:r>
                        <a:rPr b="1" lang="en-US" sz="1400">
                          <a:solidFill>
                            <a:schemeClr val="lt1"/>
                          </a:solidFill>
                          <a:latin typeface="Arial"/>
                          <a:ea typeface="Arial"/>
                          <a:cs typeface="Arial"/>
                          <a:sym typeface="Arial"/>
                        </a:rPr>
                        <a:t> Threat</a:t>
                      </a:r>
                      <a:endParaRPr/>
                    </a:p>
                    <a:p>
                      <a:pPr indent="0" lvl="0" marL="0" marR="0" rtl="0" algn="ctr">
                        <a:spcBef>
                          <a:spcPts val="0"/>
                        </a:spcBef>
                        <a:spcAft>
                          <a:spcPts val="0"/>
                        </a:spcAft>
                        <a:buNone/>
                      </a:pPr>
                      <a:r>
                        <a:rPr b="1" lang="en-US" sz="1400">
                          <a:solidFill>
                            <a:schemeClr val="lt1"/>
                          </a:solidFill>
                          <a:latin typeface="Arial"/>
                          <a:ea typeface="Arial"/>
                          <a:cs typeface="Arial"/>
                          <a:sym typeface="Arial"/>
                        </a:rPr>
                        <a:t>5</a:t>
                      </a:r>
                      <a:endParaRPr b="1" sz="1400">
                        <a:solidFill>
                          <a:schemeClr val="lt1"/>
                        </a:solidFill>
                        <a:latin typeface="Arial"/>
                        <a:ea typeface="Arial"/>
                        <a:cs typeface="Arial"/>
                        <a:sym typeface="Arial"/>
                      </a:endParaRPr>
                    </a:p>
                  </a:txBody>
                  <a:tcPr marT="45725" marB="45725" marR="91450" marL="91450" anchor="b">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Comp.Rank</a:t>
                      </a:r>
                      <a:endParaRPr b="1" sz="1400">
                        <a:solidFill>
                          <a:schemeClr val="lt1"/>
                        </a:solidFill>
                        <a:latin typeface="Arial"/>
                        <a:ea typeface="Arial"/>
                        <a:cs typeface="Arial"/>
                        <a:sym typeface="Arial"/>
                      </a:endParaRPr>
                    </a:p>
                  </a:txBody>
                  <a:tcPr marT="45725" marB="45725" marR="91450" marL="91450" anchor="b">
                    <a:solidFill>
                      <a:srgbClr val="364162"/>
                    </a:solidFill>
                  </a:tcPr>
                </a:tc>
              </a:tr>
              <a:tr h="462600">
                <a:tc>
                  <a:txBody>
                    <a:bodyPr/>
                    <a:lstStyle/>
                    <a:p>
                      <a:pPr indent="0" lvl="0" marL="0" marR="0" rtl="0" algn="l">
                        <a:spcBef>
                          <a:spcPts val="0"/>
                        </a:spcBef>
                        <a:spcAft>
                          <a:spcPts val="0"/>
                        </a:spcAft>
                        <a:buNone/>
                      </a:pPr>
                      <a:r>
                        <a:rPr lang="en-US" sz="1400">
                          <a:latin typeface="Arial"/>
                          <a:ea typeface="Arial"/>
                          <a:cs typeface="Arial"/>
                          <a:sym typeface="Arial"/>
                        </a:rPr>
                        <a:t>Electronic</a:t>
                      </a:r>
                      <a:r>
                        <a:rPr lang="en-US" sz="1400">
                          <a:latin typeface="Arial"/>
                          <a:ea typeface="Arial"/>
                          <a:cs typeface="Arial"/>
                          <a:sym typeface="Arial"/>
                        </a:rPr>
                        <a:t> phishing/spoofing attacks</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0.8%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13.1%</a:t>
                      </a:r>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16.4%</a:t>
                      </a:r>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32.0%</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37.7%</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79%</a:t>
                      </a:r>
                      <a:endParaRPr/>
                    </a:p>
                  </a:txBody>
                  <a:tcPr marT="45725" marB="45725" marR="91450" marL="91450" anchor="ctr"/>
                </a:tc>
              </a:tr>
              <a:tr h="266325">
                <a:tc>
                  <a:txBody>
                    <a:bodyPr/>
                    <a:lstStyle/>
                    <a:p>
                      <a:pPr indent="0" lvl="0" marL="0" marR="0" rtl="0" algn="l">
                        <a:spcBef>
                          <a:spcPts val="0"/>
                        </a:spcBef>
                        <a:spcAft>
                          <a:spcPts val="0"/>
                        </a:spcAft>
                        <a:buNone/>
                      </a:pPr>
                      <a:r>
                        <a:rPr lang="en-US" sz="1400">
                          <a:latin typeface="Arial"/>
                          <a:ea typeface="Arial"/>
                          <a:cs typeface="Arial"/>
                          <a:sym typeface="Arial"/>
                        </a:rPr>
                        <a:t>Malware</a:t>
                      </a:r>
                      <a:r>
                        <a:rPr lang="en-US" sz="1400">
                          <a:latin typeface="Arial"/>
                          <a:ea typeface="Arial"/>
                          <a:cs typeface="Arial"/>
                          <a:sym typeface="Arial"/>
                        </a:rPr>
                        <a:t> attacks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1.7%</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12.4%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27.3%</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36.4%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22.3%</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73%</a:t>
                      </a:r>
                      <a:endParaRPr/>
                    </a:p>
                  </a:txBody>
                  <a:tcPr marT="45725" marB="45725" marR="91450" marL="91450" anchor="ctr"/>
                </a:tc>
              </a:tr>
              <a:tr h="266325">
                <a:tc>
                  <a:txBody>
                    <a:bodyPr/>
                    <a:lstStyle/>
                    <a:p>
                      <a:pPr indent="0" lvl="0" marL="0" marR="0" rtl="0" algn="l">
                        <a:spcBef>
                          <a:spcPts val="0"/>
                        </a:spcBef>
                        <a:spcAft>
                          <a:spcPts val="0"/>
                        </a:spcAft>
                        <a:buNone/>
                      </a:pPr>
                      <a:r>
                        <a:rPr lang="en-US" sz="1400">
                          <a:latin typeface="Arial"/>
                          <a:ea typeface="Arial"/>
                          <a:cs typeface="Arial"/>
                          <a:sym typeface="Arial"/>
                        </a:rPr>
                        <a:t>Unintentional</a:t>
                      </a:r>
                      <a:r>
                        <a:rPr lang="en-US" sz="1400">
                          <a:latin typeface="Arial"/>
                          <a:ea typeface="Arial"/>
                          <a:cs typeface="Arial"/>
                          <a:sym typeface="Arial"/>
                        </a:rPr>
                        <a:t> employee/insider mistakes</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17.1%</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26.8%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35.8%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17.9%</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70%</a:t>
                      </a:r>
                      <a:endParaRPr/>
                    </a:p>
                  </a:txBody>
                  <a:tcPr marT="45725" marB="45725" marR="91450" marL="91450" anchor="ctr"/>
                </a:tc>
              </a:tr>
              <a:tr h="266325">
                <a:tc>
                  <a:txBody>
                    <a:bodyPr/>
                    <a:lstStyle/>
                    <a:p>
                      <a:pPr indent="0" lvl="0" marL="0" marR="0" rtl="0" algn="l">
                        <a:spcBef>
                          <a:spcPts val="0"/>
                        </a:spcBef>
                        <a:spcAft>
                          <a:spcPts val="0"/>
                        </a:spcAft>
                        <a:buNone/>
                      </a:pPr>
                      <a:r>
                        <a:rPr lang="en-US" sz="1400">
                          <a:latin typeface="Arial"/>
                          <a:ea typeface="Arial"/>
                          <a:cs typeface="Arial"/>
                          <a:sym typeface="Arial"/>
                        </a:rPr>
                        <a:t>Loss</a:t>
                      </a:r>
                      <a:r>
                        <a:rPr lang="en-US" sz="1400">
                          <a:latin typeface="Arial"/>
                          <a:ea typeface="Arial"/>
                          <a:cs typeface="Arial"/>
                          <a:sym typeface="Arial"/>
                        </a:rPr>
                        <a:t> of trust due to information loss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4.1%</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18.9%</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27.0%</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22.1%</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27.9%</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70%</a:t>
                      </a:r>
                      <a:endParaRPr/>
                    </a:p>
                  </a:txBody>
                  <a:tcPr marT="45725" marB="45725" marR="91450" marL="91450" anchor="ctr"/>
                </a:tc>
              </a:tr>
              <a:tr h="406100">
                <a:tc>
                  <a:txBody>
                    <a:bodyPr/>
                    <a:lstStyle/>
                    <a:p>
                      <a:pPr indent="0" lvl="0" marL="0" marR="0" rtl="0" algn="l">
                        <a:spcBef>
                          <a:spcPts val="0"/>
                        </a:spcBef>
                        <a:spcAft>
                          <a:spcPts val="0"/>
                        </a:spcAft>
                        <a:buNone/>
                      </a:pPr>
                      <a:r>
                        <a:rPr lang="en-US" sz="1400">
                          <a:latin typeface="Arial"/>
                          <a:ea typeface="Arial"/>
                          <a:cs typeface="Arial"/>
                          <a:sym typeface="Arial"/>
                        </a:rPr>
                        <a:t>Software failures or errors due to unknown vulnerabilities in externally acquired software</a:t>
                      </a:r>
                      <a:r>
                        <a:rPr lang="en-US" sz="1400">
                          <a:latin typeface="Arial"/>
                          <a:ea typeface="Arial"/>
                          <a:cs typeface="Arial"/>
                          <a:sym typeface="Arial"/>
                        </a:rPr>
                        <a:t>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5.6%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18.5%</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28.2%</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33.9%</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13.7%</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66%</a:t>
                      </a:r>
                      <a:endParaRPr/>
                    </a:p>
                  </a:txBody>
                  <a:tcPr marT="45725" marB="45725" marR="91450" marL="91450" anchor="ctr"/>
                </a:tc>
              </a:tr>
              <a:tr h="452750">
                <a:tc>
                  <a:txBody>
                    <a:bodyPr/>
                    <a:lstStyle/>
                    <a:p>
                      <a:pPr indent="0" lvl="0" marL="0" marR="0" rtl="0" algn="l">
                        <a:spcBef>
                          <a:spcPts val="0"/>
                        </a:spcBef>
                        <a:spcAft>
                          <a:spcPts val="0"/>
                        </a:spcAft>
                        <a:buNone/>
                      </a:pPr>
                      <a:r>
                        <a:rPr lang="en-US" sz="1400">
                          <a:latin typeface="Arial"/>
                          <a:ea typeface="Arial"/>
                          <a:cs typeface="Arial"/>
                          <a:sym typeface="Arial"/>
                        </a:rPr>
                        <a:t>Social engineering</a:t>
                      </a:r>
                      <a:r>
                        <a:rPr lang="en-US" sz="1400">
                          <a:latin typeface="Arial"/>
                          <a:ea typeface="Arial"/>
                          <a:cs typeface="Arial"/>
                          <a:sym typeface="Arial"/>
                        </a:rPr>
                        <a:t> of employees/insiders based on social media information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8.1%</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14.6%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32.5%</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34.1%</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10.6%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65%</a:t>
                      </a:r>
                      <a:endParaRPr/>
                    </a:p>
                  </a:txBody>
                  <a:tcPr marT="45725" marB="45725" marR="91450" marL="91450" anchor="ctr"/>
                </a:tc>
              </a:tr>
              <a:tr h="375600">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Social engineering</a:t>
                      </a:r>
                      <a:r>
                        <a:rPr lang="en-US" sz="1400">
                          <a:latin typeface="Arial"/>
                          <a:ea typeface="Arial"/>
                          <a:cs typeface="Arial"/>
                          <a:sym typeface="Arial"/>
                        </a:rPr>
                        <a:t> of employees/insiders based on other published information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8.9%</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19.5%</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24.4%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32.5%</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14.6%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65%</a:t>
                      </a:r>
                      <a:endParaRPr/>
                    </a:p>
                  </a:txBody>
                  <a:tcPr marT="45725" marB="45725" marR="91450" marL="91450" anchor="ctr"/>
                </a:tc>
              </a:tr>
              <a:tr h="467050">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Software failures or errors</a:t>
                      </a:r>
                      <a:r>
                        <a:rPr lang="en-US" sz="1400">
                          <a:latin typeface="Arial"/>
                          <a:ea typeface="Arial"/>
                          <a:cs typeface="Arial"/>
                          <a:sym typeface="Arial"/>
                        </a:rPr>
                        <a:t> due to poorly developed, internally created applications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7.2%</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21.6%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24.0%</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32.0%</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15.2%</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65%</a:t>
                      </a:r>
                      <a:endParaRPr/>
                    </a:p>
                  </a:txBody>
                  <a:tcPr marT="45725" marB="45725" marR="91450" marL="91450" anchor="ct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3"/>
          <p:cNvSpPr txBox="1"/>
          <p:nvPr>
            <p:ph type="title"/>
          </p:nvPr>
        </p:nvSpPr>
        <p:spPr>
          <a:xfrm>
            <a:off x="0" y="76200"/>
            <a:ext cx="9144000" cy="1447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b="1" lang="en-US"/>
              <a:t>Table 2-4 </a:t>
            </a:r>
            <a:r>
              <a:rPr lang="en-US"/>
              <a:t>Perceived Threats to Information Assets in 2015 SEC/CISE Survey of Threats to Information Protection (2 of 4)</a:t>
            </a:r>
            <a:endParaRPr/>
          </a:p>
        </p:txBody>
      </p:sp>
      <p:graphicFrame>
        <p:nvGraphicFramePr>
          <p:cNvPr id="167" name="Google Shape;167;p23"/>
          <p:cNvGraphicFramePr/>
          <p:nvPr/>
        </p:nvGraphicFramePr>
        <p:xfrm>
          <a:off x="152400" y="1600200"/>
          <a:ext cx="3000000" cy="3000000"/>
        </p:xfrm>
        <a:graphic>
          <a:graphicData uri="http://schemas.openxmlformats.org/drawingml/2006/table">
            <a:tbl>
              <a:tblPr bandRow="1" firstRow="1">
                <a:noFill/>
                <a:tableStyleId>{6765FC5E-082A-4690-9782-9FE3793750BE}</a:tableStyleId>
              </a:tblPr>
              <a:tblGrid>
                <a:gridCol w="3429000"/>
                <a:gridCol w="914400"/>
                <a:gridCol w="929250"/>
                <a:gridCol w="747150"/>
                <a:gridCol w="838200"/>
                <a:gridCol w="990600"/>
                <a:gridCol w="838200"/>
              </a:tblGrid>
              <a:tr h="766000">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General Threats to Information</a:t>
                      </a:r>
                      <a:r>
                        <a:rPr b="1" lang="en-US" sz="1400">
                          <a:solidFill>
                            <a:schemeClr val="lt1"/>
                          </a:solidFill>
                          <a:latin typeface="Arial"/>
                          <a:ea typeface="Arial"/>
                          <a:cs typeface="Arial"/>
                          <a:sym typeface="Arial"/>
                        </a:rPr>
                        <a:t> Assets</a:t>
                      </a:r>
                      <a:endParaRPr b="1" sz="1400">
                        <a:solidFill>
                          <a:schemeClr val="lt1"/>
                        </a:solidFill>
                        <a:latin typeface="Arial"/>
                        <a:ea typeface="Arial"/>
                        <a:cs typeface="Arial"/>
                        <a:sym typeface="Arial"/>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Not a Threat</a:t>
                      </a:r>
                      <a:endParaRPr/>
                    </a:p>
                    <a:p>
                      <a:pPr indent="0" lvl="0" marL="0" marR="0" rtl="0" algn="ctr">
                        <a:spcBef>
                          <a:spcPts val="0"/>
                        </a:spcBef>
                        <a:spcAft>
                          <a:spcPts val="0"/>
                        </a:spcAft>
                        <a:buNone/>
                      </a:pPr>
                      <a:r>
                        <a:rPr b="1" lang="en-US" sz="1400">
                          <a:solidFill>
                            <a:schemeClr val="lt1"/>
                          </a:solidFill>
                          <a:latin typeface="Arial"/>
                          <a:ea typeface="Arial"/>
                          <a:cs typeface="Arial"/>
                          <a:sym typeface="Arial"/>
                        </a:rPr>
                        <a:t>1</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2 </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3</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4</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A Severe</a:t>
                      </a:r>
                      <a:r>
                        <a:rPr b="1" lang="en-US" sz="1400">
                          <a:solidFill>
                            <a:schemeClr val="lt1"/>
                          </a:solidFill>
                          <a:latin typeface="Arial"/>
                          <a:ea typeface="Arial"/>
                          <a:cs typeface="Arial"/>
                          <a:sym typeface="Arial"/>
                        </a:rPr>
                        <a:t> Threat</a:t>
                      </a:r>
                      <a:endParaRPr/>
                    </a:p>
                    <a:p>
                      <a:pPr indent="0" lvl="0" marL="0" marR="0" rtl="0" algn="ctr">
                        <a:spcBef>
                          <a:spcPts val="0"/>
                        </a:spcBef>
                        <a:spcAft>
                          <a:spcPts val="0"/>
                        </a:spcAft>
                        <a:buNone/>
                      </a:pPr>
                      <a:r>
                        <a:rPr b="1" lang="en-US" sz="1400">
                          <a:solidFill>
                            <a:schemeClr val="lt1"/>
                          </a:solidFill>
                          <a:latin typeface="Arial"/>
                          <a:ea typeface="Arial"/>
                          <a:cs typeface="Arial"/>
                          <a:sym typeface="Arial"/>
                        </a:rPr>
                        <a:t>5</a:t>
                      </a:r>
                      <a:endParaRPr b="1" sz="1400">
                        <a:solidFill>
                          <a:schemeClr val="lt1"/>
                        </a:solidFill>
                        <a:latin typeface="Arial"/>
                        <a:ea typeface="Arial"/>
                        <a:cs typeface="Arial"/>
                        <a:sym typeface="Arial"/>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Comp.Rank</a:t>
                      </a:r>
                      <a:endParaRPr b="1" sz="1400">
                        <a:solidFill>
                          <a:schemeClr val="lt1"/>
                        </a:solidFill>
                        <a:latin typeface="Arial"/>
                        <a:ea typeface="Arial"/>
                        <a:cs typeface="Arial"/>
                        <a:sym typeface="Arial"/>
                      </a:endParaRPr>
                    </a:p>
                  </a:txBody>
                  <a:tcPr marT="45725" marB="45725" marR="91450" marL="91450" anchor="ctr">
                    <a:solidFill>
                      <a:srgbClr val="364162"/>
                    </a:solidFill>
                  </a:tcPr>
                </a:tc>
              </a:tr>
              <a:tr h="422725">
                <a:tc>
                  <a:txBody>
                    <a:bodyPr/>
                    <a:lstStyle/>
                    <a:p>
                      <a:pPr indent="0" lvl="0" marL="0" marR="0" rtl="0" algn="l">
                        <a:spcBef>
                          <a:spcPts val="0"/>
                        </a:spcBef>
                        <a:spcAft>
                          <a:spcPts val="0"/>
                        </a:spcAft>
                        <a:buNone/>
                      </a:pPr>
                      <a:r>
                        <a:rPr lang="en-US" sz="1400">
                          <a:latin typeface="Arial"/>
                          <a:ea typeface="Arial"/>
                          <a:cs typeface="Arial"/>
                          <a:sym typeface="Arial"/>
                        </a:rPr>
                        <a:t>SQL injections</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7.6%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17.6%</a:t>
                      </a:r>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31.9%</a:t>
                      </a:r>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29.4%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13.4%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65%</a:t>
                      </a:r>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Social engineering of employees/insiders based on</a:t>
                      </a:r>
                      <a:r>
                        <a:rPr lang="en-US" sz="1400">
                          <a:latin typeface="Arial"/>
                          <a:ea typeface="Arial"/>
                          <a:cs typeface="Arial"/>
                          <a:sym typeface="Arial"/>
                        </a:rPr>
                        <a:t> organization’s Web sites</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11.4%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19.5%</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23.6%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31.7%</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13.8%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63%</a:t>
                      </a:r>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Denial of</a:t>
                      </a:r>
                      <a:r>
                        <a:rPr lang="en-US" sz="1400">
                          <a:latin typeface="Arial"/>
                          <a:ea typeface="Arial"/>
                          <a:cs typeface="Arial"/>
                          <a:sym typeface="Arial"/>
                        </a:rPr>
                        <a:t> service (and distributed DoS) attacks</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8.2%</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23.0%</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27.9%</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32.8%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8.2%</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62%</a:t>
                      </a:r>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Software failures or errors</a:t>
                      </a:r>
                      <a:r>
                        <a:rPr lang="en-US" sz="1400">
                          <a:latin typeface="Arial"/>
                          <a:ea typeface="Arial"/>
                          <a:cs typeface="Arial"/>
                          <a:sym typeface="Arial"/>
                        </a:rPr>
                        <a:t> due to known vulnerabilities in externally acquired software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8.9%</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23.6%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26.8%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35.8%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4.9%</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61%</a:t>
                      </a:r>
                      <a:endParaRPr/>
                    </a:p>
                  </a:txBody>
                  <a:tcPr marT="45725" marB="45725" marR="91450" marL="91450" anchor="ctr"/>
                </a:tc>
              </a:tr>
              <a:tr h="487675">
                <a:tc>
                  <a:txBody>
                    <a:bodyPr/>
                    <a:lstStyle/>
                    <a:p>
                      <a:pPr indent="0" lvl="0" marL="0" marR="0" rtl="0" algn="l">
                        <a:spcBef>
                          <a:spcPts val="0"/>
                        </a:spcBef>
                        <a:spcAft>
                          <a:spcPts val="0"/>
                        </a:spcAft>
                        <a:buNone/>
                      </a:pPr>
                      <a:r>
                        <a:rPr lang="en-US" sz="1400">
                          <a:latin typeface="Arial"/>
                          <a:ea typeface="Arial"/>
                          <a:cs typeface="Arial"/>
                          <a:sym typeface="Arial"/>
                        </a:rPr>
                        <a:t>Outdated organizational software</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8.1%</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28.2%</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26.6%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26.6%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10.5%</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61%</a:t>
                      </a:r>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Loss</a:t>
                      </a:r>
                      <a:r>
                        <a:rPr lang="en-US" sz="1400">
                          <a:latin typeface="Arial"/>
                          <a:ea typeface="Arial"/>
                          <a:cs typeface="Arial"/>
                          <a:sym typeface="Arial"/>
                        </a:rPr>
                        <a:t> of trust due to representation as source of phishing/spoofing attack</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9.8%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23.8%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30.3%</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23.0%</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13.1%</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61%</a:t>
                      </a:r>
                      <a:endParaRPr/>
                    </a:p>
                  </a:txBody>
                  <a:tcPr marT="45725" marB="45725" marR="91450" marL="91450" anchor="ctr"/>
                </a:tc>
              </a:tr>
              <a:tr h="177800">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Loss</a:t>
                      </a:r>
                      <a:r>
                        <a:rPr lang="en-US" sz="1400">
                          <a:latin typeface="Arial"/>
                          <a:ea typeface="Arial"/>
                          <a:cs typeface="Arial"/>
                          <a:sym typeface="Arial"/>
                        </a:rPr>
                        <a:t> of trust due to Web defacement</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12.4%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30.6%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31.4%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19.8%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5.8%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55%</a:t>
                      </a:r>
                      <a:endParaRPr/>
                    </a:p>
                  </a:txBody>
                  <a:tcPr marT="45725" marB="45725" marR="91450" marL="91450" anchor="ctr"/>
                </a:tc>
              </a:tr>
              <a:tr h="177800">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Outdated organizational</a:t>
                      </a:r>
                      <a:r>
                        <a:rPr lang="en-US" sz="1400">
                          <a:latin typeface="Arial"/>
                          <a:ea typeface="Arial"/>
                          <a:cs typeface="Arial"/>
                          <a:sym typeface="Arial"/>
                        </a:rPr>
                        <a:t> hardware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17.2%</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34.4%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32.8%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12.3%</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3.3%</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50%</a:t>
                      </a:r>
                      <a:endParaRPr/>
                    </a:p>
                  </a:txBody>
                  <a:tcPr marT="45725" marB="45725" marR="91450" marL="91450" anchor="ct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4"/>
          <p:cNvSpPr txBox="1"/>
          <p:nvPr>
            <p:ph type="title"/>
          </p:nvPr>
        </p:nvSpPr>
        <p:spPr>
          <a:xfrm>
            <a:off x="0" y="76200"/>
            <a:ext cx="9144000" cy="1447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b="1" lang="en-US"/>
              <a:t>Table 2-4 </a:t>
            </a:r>
            <a:r>
              <a:rPr lang="en-US"/>
              <a:t>Perceived Threats to Information Assets in 2015 SEC/CISE Survey of Threats to Information Protection (3 of 4)</a:t>
            </a:r>
            <a:endParaRPr/>
          </a:p>
        </p:txBody>
      </p:sp>
      <p:graphicFrame>
        <p:nvGraphicFramePr>
          <p:cNvPr id="173" name="Google Shape;173;p24"/>
          <p:cNvGraphicFramePr/>
          <p:nvPr/>
        </p:nvGraphicFramePr>
        <p:xfrm>
          <a:off x="228600" y="1676400"/>
          <a:ext cx="3000000" cy="3000000"/>
        </p:xfrm>
        <a:graphic>
          <a:graphicData uri="http://schemas.openxmlformats.org/drawingml/2006/table">
            <a:tbl>
              <a:tblPr bandRow="1" firstRow="1">
                <a:noFill/>
                <a:tableStyleId>{6765FC5E-082A-4690-9782-9FE3793750BE}</a:tableStyleId>
              </a:tblPr>
              <a:tblGrid>
                <a:gridCol w="3429000"/>
                <a:gridCol w="914400"/>
                <a:gridCol w="929250"/>
                <a:gridCol w="747150"/>
                <a:gridCol w="838200"/>
                <a:gridCol w="990600"/>
                <a:gridCol w="838200"/>
              </a:tblGrid>
              <a:tr h="766000">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General Threats to Information</a:t>
                      </a:r>
                      <a:r>
                        <a:rPr b="1" lang="en-US" sz="1400">
                          <a:solidFill>
                            <a:schemeClr val="lt1"/>
                          </a:solidFill>
                          <a:latin typeface="Arial"/>
                          <a:ea typeface="Arial"/>
                          <a:cs typeface="Arial"/>
                          <a:sym typeface="Arial"/>
                        </a:rPr>
                        <a:t> Assets</a:t>
                      </a:r>
                      <a:endParaRPr b="1" sz="1400">
                        <a:solidFill>
                          <a:schemeClr val="lt1"/>
                        </a:solidFill>
                        <a:latin typeface="Arial"/>
                        <a:ea typeface="Arial"/>
                        <a:cs typeface="Arial"/>
                        <a:sym typeface="Arial"/>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Not a Threat</a:t>
                      </a:r>
                      <a:endParaRPr/>
                    </a:p>
                    <a:p>
                      <a:pPr indent="0" lvl="0" marL="0" marR="0" rtl="0" algn="ctr">
                        <a:spcBef>
                          <a:spcPts val="0"/>
                        </a:spcBef>
                        <a:spcAft>
                          <a:spcPts val="0"/>
                        </a:spcAft>
                        <a:buNone/>
                      </a:pPr>
                      <a:r>
                        <a:rPr b="1" lang="en-US" sz="1400">
                          <a:solidFill>
                            <a:schemeClr val="lt1"/>
                          </a:solidFill>
                          <a:latin typeface="Arial"/>
                          <a:ea typeface="Arial"/>
                          <a:cs typeface="Arial"/>
                          <a:sym typeface="Arial"/>
                        </a:rPr>
                        <a:t>1</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2 </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3</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4</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A Severe</a:t>
                      </a:r>
                      <a:r>
                        <a:rPr b="1" lang="en-US" sz="1400">
                          <a:solidFill>
                            <a:schemeClr val="lt1"/>
                          </a:solidFill>
                          <a:latin typeface="Arial"/>
                          <a:ea typeface="Arial"/>
                          <a:cs typeface="Arial"/>
                          <a:sym typeface="Arial"/>
                        </a:rPr>
                        <a:t> Threat</a:t>
                      </a:r>
                      <a:endParaRPr/>
                    </a:p>
                    <a:p>
                      <a:pPr indent="0" lvl="0" marL="0" marR="0" rtl="0" algn="ctr">
                        <a:spcBef>
                          <a:spcPts val="0"/>
                        </a:spcBef>
                        <a:spcAft>
                          <a:spcPts val="0"/>
                        </a:spcAft>
                        <a:buNone/>
                      </a:pPr>
                      <a:r>
                        <a:rPr b="1" lang="en-US" sz="1400">
                          <a:solidFill>
                            <a:schemeClr val="lt1"/>
                          </a:solidFill>
                          <a:latin typeface="Arial"/>
                          <a:ea typeface="Arial"/>
                          <a:cs typeface="Arial"/>
                          <a:sym typeface="Arial"/>
                        </a:rPr>
                        <a:t>5</a:t>
                      </a:r>
                      <a:endParaRPr b="1" sz="1400">
                        <a:solidFill>
                          <a:schemeClr val="lt1"/>
                        </a:solidFill>
                        <a:latin typeface="Arial"/>
                        <a:ea typeface="Arial"/>
                        <a:cs typeface="Arial"/>
                        <a:sym typeface="Arial"/>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Comp.Rank</a:t>
                      </a:r>
                      <a:endParaRPr b="1" sz="1400">
                        <a:solidFill>
                          <a:schemeClr val="lt1"/>
                        </a:solidFill>
                        <a:latin typeface="Arial"/>
                        <a:ea typeface="Arial"/>
                        <a:cs typeface="Arial"/>
                        <a:sym typeface="Arial"/>
                      </a:endParaRPr>
                    </a:p>
                  </a:txBody>
                  <a:tcPr marT="45725" marB="45725" marR="91450" marL="91450" anchor="ctr">
                    <a:solidFill>
                      <a:srgbClr val="364162"/>
                    </a:solidFill>
                  </a:tcPr>
                </a:tc>
              </a:tr>
              <a:tr h="422725">
                <a:tc>
                  <a:txBody>
                    <a:bodyPr/>
                    <a:lstStyle/>
                    <a:p>
                      <a:pPr indent="0" lvl="0" marL="0" marR="0" rtl="0" algn="l">
                        <a:spcBef>
                          <a:spcPts val="0"/>
                        </a:spcBef>
                        <a:spcAft>
                          <a:spcPts val="0"/>
                        </a:spcAft>
                        <a:buNone/>
                      </a:pPr>
                      <a:r>
                        <a:rPr lang="en-US" sz="1400">
                          <a:latin typeface="Arial"/>
                          <a:ea typeface="Arial"/>
                          <a:cs typeface="Arial"/>
                          <a:sym typeface="Arial"/>
                        </a:rPr>
                        <a:t>Outdated</a:t>
                      </a:r>
                      <a:r>
                        <a:rPr lang="en-US" sz="1400">
                          <a:latin typeface="Arial"/>
                          <a:ea typeface="Arial"/>
                          <a:cs typeface="Arial"/>
                          <a:sym typeface="Arial"/>
                        </a:rPr>
                        <a:t> organizational data format</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18.7%</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35.8%</a:t>
                      </a:r>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26.8%</a:t>
                      </a:r>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13.8%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4.9%</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50%</a:t>
                      </a:r>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Inability/unwillingness</a:t>
                      </a:r>
                      <a:r>
                        <a:rPr lang="en-US" sz="1400">
                          <a:latin typeface="Arial"/>
                          <a:ea typeface="Arial"/>
                          <a:cs typeface="Arial"/>
                          <a:sym typeface="Arial"/>
                        </a:rPr>
                        <a:t> to establish effective policy by management</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30.4%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26.4%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24.0%</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13.6%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5.6%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48%</a:t>
                      </a:r>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Hardware</a:t>
                      </a:r>
                      <a:r>
                        <a:rPr lang="en-US" sz="1400">
                          <a:latin typeface="Arial"/>
                          <a:ea typeface="Arial"/>
                          <a:cs typeface="Arial"/>
                          <a:sym typeface="Arial"/>
                        </a:rPr>
                        <a:t> failures or errors due to aging equipment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19.5%</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39.8%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24.4%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14.6%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48%</a:t>
                      </a:r>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Hardware failures or errors</a:t>
                      </a:r>
                      <a:r>
                        <a:rPr lang="en-US" sz="1400">
                          <a:latin typeface="Arial"/>
                          <a:ea typeface="Arial"/>
                          <a:cs typeface="Arial"/>
                          <a:sym typeface="Arial"/>
                        </a:rPr>
                        <a:t> due to defective equipment</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17.9%</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48.0%</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24.4%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8.1%</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46%</a:t>
                      </a:r>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Deviations in quality of service</a:t>
                      </a:r>
                      <a:r>
                        <a:rPr lang="en-US" sz="1400">
                          <a:latin typeface="Arial"/>
                          <a:ea typeface="Arial"/>
                          <a:cs typeface="Arial"/>
                          <a:sym typeface="Arial"/>
                        </a:rPr>
                        <a:t> from other provider</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25.2%</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38.7%</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25.2%</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7.6%</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45%</a:t>
                      </a:r>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Deviations</a:t>
                      </a:r>
                      <a:r>
                        <a:rPr lang="en-US" sz="1400">
                          <a:latin typeface="Arial"/>
                          <a:ea typeface="Arial"/>
                          <a:cs typeface="Arial"/>
                          <a:sym typeface="Arial"/>
                        </a:rPr>
                        <a:t> in quality of service from data communications provider/ISP</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26.4%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39.7%</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23.1%</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7.4%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3.3%</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44%</a:t>
                      </a:r>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Deviations</a:t>
                      </a:r>
                      <a:r>
                        <a:rPr lang="en-US" sz="1400">
                          <a:latin typeface="Arial"/>
                          <a:ea typeface="Arial"/>
                          <a:cs typeface="Arial"/>
                          <a:sym typeface="Arial"/>
                        </a:rPr>
                        <a:t> in quality of service from telecommunication provider/ISP (if different from data provider)</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29.9%</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38.5%</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18.8%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9.4%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44%</a:t>
                      </a:r>
                      <a:endParaRPr/>
                    </a:p>
                  </a:txBody>
                  <a:tcPr marT="45725" marB="45725" marR="91450" marL="91450" anchor="ct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5"/>
          <p:cNvSpPr txBox="1"/>
          <p:nvPr>
            <p:ph type="title"/>
          </p:nvPr>
        </p:nvSpPr>
        <p:spPr>
          <a:xfrm>
            <a:off x="0" y="0"/>
            <a:ext cx="9144000" cy="1676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b="1" lang="en-US"/>
              <a:t>Table 2-4 </a:t>
            </a:r>
            <a:r>
              <a:rPr lang="en-US"/>
              <a:t>Perceived Threats to Information Assets in 2015 SEC/CISE Survey of Threats to Information Protection (4 of 4)</a:t>
            </a:r>
            <a:endParaRPr/>
          </a:p>
        </p:txBody>
      </p:sp>
      <p:graphicFrame>
        <p:nvGraphicFramePr>
          <p:cNvPr id="179" name="Google Shape;179;p25"/>
          <p:cNvGraphicFramePr/>
          <p:nvPr/>
        </p:nvGraphicFramePr>
        <p:xfrm>
          <a:off x="228600" y="1981200"/>
          <a:ext cx="3000000" cy="3000000"/>
        </p:xfrm>
        <a:graphic>
          <a:graphicData uri="http://schemas.openxmlformats.org/drawingml/2006/table">
            <a:tbl>
              <a:tblPr bandRow="1" firstRow="1">
                <a:noFill/>
                <a:tableStyleId>{6765FC5E-082A-4690-9782-9FE3793750BE}</a:tableStyleId>
              </a:tblPr>
              <a:tblGrid>
                <a:gridCol w="3429000"/>
                <a:gridCol w="914400"/>
                <a:gridCol w="929250"/>
                <a:gridCol w="747150"/>
                <a:gridCol w="838200"/>
                <a:gridCol w="990600"/>
                <a:gridCol w="838200"/>
              </a:tblGrid>
              <a:tr h="766000">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General Threats to Information</a:t>
                      </a:r>
                      <a:r>
                        <a:rPr b="1" lang="en-US" sz="1400">
                          <a:solidFill>
                            <a:schemeClr val="lt1"/>
                          </a:solidFill>
                          <a:latin typeface="Arial"/>
                          <a:ea typeface="Arial"/>
                          <a:cs typeface="Arial"/>
                          <a:sym typeface="Arial"/>
                        </a:rPr>
                        <a:t> Assets</a:t>
                      </a:r>
                      <a:endParaRPr b="1" sz="1400">
                        <a:solidFill>
                          <a:schemeClr val="lt1"/>
                        </a:solidFill>
                        <a:latin typeface="Arial"/>
                        <a:ea typeface="Arial"/>
                        <a:cs typeface="Arial"/>
                        <a:sym typeface="Arial"/>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Not a Threat</a:t>
                      </a:r>
                      <a:endParaRPr/>
                    </a:p>
                    <a:p>
                      <a:pPr indent="0" lvl="0" marL="0" marR="0" rtl="0" algn="ctr">
                        <a:spcBef>
                          <a:spcPts val="0"/>
                        </a:spcBef>
                        <a:spcAft>
                          <a:spcPts val="0"/>
                        </a:spcAft>
                        <a:buNone/>
                      </a:pPr>
                      <a:r>
                        <a:rPr b="1" lang="en-US" sz="1400">
                          <a:solidFill>
                            <a:schemeClr val="lt1"/>
                          </a:solidFill>
                          <a:latin typeface="Arial"/>
                          <a:ea typeface="Arial"/>
                          <a:cs typeface="Arial"/>
                          <a:sym typeface="Arial"/>
                        </a:rPr>
                        <a:t>1</a:t>
                      </a:r>
                      <a:endParaRPr/>
                    </a:p>
                  </a:txBody>
                  <a:tcPr marT="45725" marB="45725" marR="91450" marL="91450" anchor="b">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2 </a:t>
                      </a:r>
                      <a:endParaRPr/>
                    </a:p>
                  </a:txBody>
                  <a:tcPr marT="45725" marB="45725" marR="91450" marL="91450" anchor="b">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3</a:t>
                      </a:r>
                      <a:endParaRPr/>
                    </a:p>
                  </a:txBody>
                  <a:tcPr marT="45725" marB="45725" marR="91450" marL="91450" anchor="b">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4</a:t>
                      </a:r>
                      <a:endParaRPr/>
                    </a:p>
                  </a:txBody>
                  <a:tcPr marT="45725" marB="45725" marR="91450" marL="91450" anchor="b">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A Severe</a:t>
                      </a:r>
                      <a:r>
                        <a:rPr b="1" lang="en-US" sz="1400">
                          <a:solidFill>
                            <a:schemeClr val="lt1"/>
                          </a:solidFill>
                          <a:latin typeface="Arial"/>
                          <a:ea typeface="Arial"/>
                          <a:cs typeface="Arial"/>
                          <a:sym typeface="Arial"/>
                        </a:rPr>
                        <a:t> Threat</a:t>
                      </a:r>
                      <a:endParaRPr/>
                    </a:p>
                    <a:p>
                      <a:pPr indent="0" lvl="0" marL="0" marR="0" rtl="0" algn="ctr">
                        <a:spcBef>
                          <a:spcPts val="0"/>
                        </a:spcBef>
                        <a:spcAft>
                          <a:spcPts val="0"/>
                        </a:spcAft>
                        <a:buNone/>
                      </a:pPr>
                      <a:r>
                        <a:rPr b="1" lang="en-US" sz="1400">
                          <a:solidFill>
                            <a:schemeClr val="lt1"/>
                          </a:solidFill>
                          <a:latin typeface="Arial"/>
                          <a:ea typeface="Arial"/>
                          <a:cs typeface="Arial"/>
                          <a:sym typeface="Arial"/>
                        </a:rPr>
                        <a:t>5</a:t>
                      </a:r>
                      <a:endParaRPr b="1" sz="1400">
                        <a:solidFill>
                          <a:schemeClr val="lt1"/>
                        </a:solidFill>
                        <a:latin typeface="Arial"/>
                        <a:ea typeface="Arial"/>
                        <a:cs typeface="Arial"/>
                        <a:sym typeface="Arial"/>
                      </a:endParaRPr>
                    </a:p>
                  </a:txBody>
                  <a:tcPr marT="45725" marB="45725" marR="91450" marL="91450" anchor="b">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Comp.Rank</a:t>
                      </a:r>
                      <a:endParaRPr b="1" sz="1400">
                        <a:solidFill>
                          <a:schemeClr val="lt1"/>
                        </a:solidFill>
                        <a:latin typeface="Arial"/>
                        <a:ea typeface="Arial"/>
                        <a:cs typeface="Arial"/>
                        <a:sym typeface="Arial"/>
                      </a:endParaRPr>
                    </a:p>
                  </a:txBody>
                  <a:tcPr marT="45725" marB="45725" marR="91450" marL="91450" anchor="b">
                    <a:solidFill>
                      <a:srgbClr val="364162"/>
                    </a:solidFill>
                  </a:tcPr>
                </a:tc>
              </a:tr>
              <a:tr h="422725">
                <a:tc>
                  <a:txBody>
                    <a:bodyPr/>
                    <a:lstStyle/>
                    <a:p>
                      <a:pPr indent="0" lvl="0" marL="0" marR="0" rtl="0" algn="l">
                        <a:spcBef>
                          <a:spcPts val="0"/>
                        </a:spcBef>
                        <a:spcAft>
                          <a:spcPts val="0"/>
                        </a:spcAft>
                        <a:buNone/>
                      </a:pPr>
                      <a:r>
                        <a:rPr lang="en-US" sz="1400">
                          <a:latin typeface="Arial"/>
                          <a:ea typeface="Arial"/>
                          <a:cs typeface="Arial"/>
                          <a:sym typeface="Arial"/>
                        </a:rPr>
                        <a:t>Loss due to other natural</a:t>
                      </a:r>
                      <a:r>
                        <a:rPr lang="en-US" sz="1400">
                          <a:latin typeface="Arial"/>
                          <a:ea typeface="Arial"/>
                          <a:cs typeface="Arial"/>
                          <a:sym typeface="Arial"/>
                        </a:rPr>
                        <a:t> disaster</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31.0%</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37.9%</a:t>
                      </a:r>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23.3%</a:t>
                      </a:r>
                      <a:endParaRPr/>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6.9%</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0.9%</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42%</a:t>
                      </a:r>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Loss due to fire</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26.2%</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49.2%</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21.3%</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3.3%</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0.0%</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40%</a:t>
                      </a:r>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Deviations</a:t>
                      </a:r>
                      <a:r>
                        <a:rPr lang="en-US" sz="1400">
                          <a:latin typeface="Arial"/>
                          <a:ea typeface="Arial"/>
                          <a:cs typeface="Arial"/>
                          <a:sym typeface="Arial"/>
                        </a:rPr>
                        <a:t> in quality of service from power provider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36.1%</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43.4%</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12.3%</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5.7%</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2.5%</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39%</a:t>
                      </a:r>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Loss</a:t>
                      </a:r>
                      <a:r>
                        <a:rPr lang="en-US" sz="1400">
                          <a:latin typeface="Arial"/>
                          <a:ea typeface="Arial"/>
                          <a:cs typeface="Arial"/>
                          <a:sym typeface="Arial"/>
                        </a:rPr>
                        <a:t> due to flood</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33.9%</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43.8%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19.8%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1.7%</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0.8%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38%</a:t>
                      </a:r>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Loss</a:t>
                      </a:r>
                      <a:r>
                        <a:rPr lang="en-US" sz="1400">
                          <a:latin typeface="Arial"/>
                          <a:ea typeface="Arial"/>
                          <a:cs typeface="Arial"/>
                          <a:sym typeface="Arial"/>
                        </a:rPr>
                        <a:t> due to earthquake</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41.7%</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35.8%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15.0%</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6.7%</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0.8%</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38%</a:t>
                      </a:r>
                      <a:endParaRPr/>
                    </a:p>
                  </a:txBody>
                  <a:tcPr marT="45725" marB="45725" marR="91450" marL="91450" anchor="ct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6"/>
          <p:cNvSpPr txBox="1"/>
          <p:nvPr>
            <p:ph type="title"/>
          </p:nvPr>
        </p:nvSpPr>
        <p:spPr>
          <a:xfrm>
            <a:off x="0" y="0"/>
            <a:ext cx="9144000" cy="1295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b="1" lang="en-US"/>
              <a:t>Table 2-5</a:t>
            </a:r>
            <a:r>
              <a:rPr lang="en-US"/>
              <a:t> The 12 Categories of Threats to Information Security</a:t>
            </a:r>
            <a:endParaRPr/>
          </a:p>
        </p:txBody>
      </p:sp>
      <p:graphicFrame>
        <p:nvGraphicFramePr>
          <p:cNvPr id="185" name="Google Shape;185;p26"/>
          <p:cNvGraphicFramePr/>
          <p:nvPr/>
        </p:nvGraphicFramePr>
        <p:xfrm>
          <a:off x="195942" y="1596210"/>
          <a:ext cx="3000000" cy="3000000"/>
        </p:xfrm>
        <a:graphic>
          <a:graphicData uri="http://schemas.openxmlformats.org/drawingml/2006/table">
            <a:tbl>
              <a:tblPr bandRow="1" firstRow="1">
                <a:noFill/>
                <a:tableStyleId>{6765FC5E-082A-4690-9782-9FE3793750BE}</a:tableStyleId>
              </a:tblPr>
              <a:tblGrid>
                <a:gridCol w="3429000"/>
                <a:gridCol w="5334000"/>
              </a:tblGrid>
              <a:tr h="766000">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Category</a:t>
                      </a:r>
                      <a:r>
                        <a:rPr b="1" lang="en-US" sz="1400">
                          <a:solidFill>
                            <a:schemeClr val="lt1"/>
                          </a:solidFill>
                          <a:latin typeface="Arial"/>
                          <a:ea typeface="Arial"/>
                          <a:cs typeface="Arial"/>
                          <a:sym typeface="Arial"/>
                        </a:rPr>
                        <a:t> of Threat</a:t>
                      </a:r>
                      <a:endParaRPr b="1" sz="1400">
                        <a:solidFill>
                          <a:schemeClr val="lt1"/>
                        </a:solidFill>
                        <a:latin typeface="Arial"/>
                        <a:ea typeface="Arial"/>
                        <a:cs typeface="Arial"/>
                        <a:sym typeface="Arial"/>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Attack Examples</a:t>
                      </a:r>
                      <a:endParaRPr/>
                    </a:p>
                  </a:txBody>
                  <a:tcPr marT="45725" marB="45725" marR="91450" marL="91450" anchor="ctr">
                    <a:solidFill>
                      <a:srgbClr val="364162"/>
                    </a:solidFill>
                  </a:tcPr>
                </a:tc>
              </a:tr>
              <a:tr h="300800">
                <a:tc>
                  <a:txBody>
                    <a:bodyPr/>
                    <a:lstStyle/>
                    <a:p>
                      <a:pPr indent="0" lvl="0" marL="0" marR="0" rtl="0" algn="l">
                        <a:spcBef>
                          <a:spcPts val="0"/>
                        </a:spcBef>
                        <a:spcAft>
                          <a:spcPts val="0"/>
                        </a:spcAft>
                        <a:buNone/>
                      </a:pPr>
                      <a:r>
                        <a:rPr lang="en-US" sz="1400">
                          <a:latin typeface="Arial"/>
                          <a:ea typeface="Arial"/>
                          <a:cs typeface="Arial"/>
                          <a:sym typeface="Arial"/>
                        </a:rPr>
                        <a:t>Compromises to intellectual</a:t>
                      </a:r>
                      <a:r>
                        <a:rPr lang="en-US" sz="1400">
                          <a:latin typeface="Arial"/>
                          <a:ea typeface="Arial"/>
                          <a:cs typeface="Arial"/>
                          <a:sym typeface="Arial"/>
                        </a:rPr>
                        <a:t> property</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Piracy,</a:t>
                      </a:r>
                      <a:r>
                        <a:rPr lang="en-US" sz="1400">
                          <a:latin typeface="Arial"/>
                          <a:ea typeface="Arial"/>
                          <a:cs typeface="Arial"/>
                          <a:sym typeface="Arial"/>
                        </a:rPr>
                        <a:t> copyright infringement</a:t>
                      </a:r>
                      <a:endParaRPr sz="1400">
                        <a:latin typeface="Arial"/>
                        <a:ea typeface="Arial"/>
                        <a:cs typeface="Arial"/>
                        <a:sym typeface="Arial"/>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Deviations in equality of service</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Internet service provider (ISP),</a:t>
                      </a:r>
                      <a:r>
                        <a:rPr lang="en-US" sz="1400">
                          <a:latin typeface="Arial"/>
                          <a:ea typeface="Arial"/>
                          <a:cs typeface="Arial"/>
                          <a:sym typeface="Arial"/>
                        </a:rPr>
                        <a:t> power, or WAN service problems</a:t>
                      </a:r>
                      <a:endParaRPr sz="1400">
                        <a:latin typeface="Arial"/>
                        <a:ea typeface="Arial"/>
                        <a:cs typeface="Arial"/>
                        <a:sym typeface="Arial"/>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Espionage</a:t>
                      </a:r>
                      <a:r>
                        <a:rPr lang="en-US" sz="1400">
                          <a:latin typeface="Arial"/>
                          <a:ea typeface="Arial"/>
                          <a:cs typeface="Arial"/>
                          <a:sym typeface="Arial"/>
                        </a:rPr>
                        <a:t> or trespass</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Unauthorized access and/or</a:t>
                      </a:r>
                      <a:r>
                        <a:rPr lang="en-US" sz="1400">
                          <a:latin typeface="Arial"/>
                          <a:ea typeface="Arial"/>
                          <a:cs typeface="Arial"/>
                          <a:sym typeface="Arial"/>
                        </a:rPr>
                        <a:t> data collection</a:t>
                      </a:r>
                      <a:endParaRPr sz="1400">
                        <a:latin typeface="Arial"/>
                        <a:ea typeface="Arial"/>
                        <a:cs typeface="Arial"/>
                        <a:sym typeface="Arial"/>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Forces of nature </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Fire,</a:t>
                      </a:r>
                      <a:r>
                        <a:rPr lang="en-US" sz="1400">
                          <a:latin typeface="Arial"/>
                          <a:ea typeface="Arial"/>
                          <a:cs typeface="Arial"/>
                          <a:sym typeface="Arial"/>
                        </a:rPr>
                        <a:t> floods, earthquakes. lightning</a:t>
                      </a:r>
                      <a:endParaRPr sz="1400">
                        <a:latin typeface="Arial"/>
                        <a:ea typeface="Arial"/>
                        <a:cs typeface="Arial"/>
                        <a:sym typeface="Arial"/>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Human</a:t>
                      </a:r>
                      <a:r>
                        <a:rPr lang="en-US" sz="1400">
                          <a:latin typeface="Arial"/>
                          <a:ea typeface="Arial"/>
                          <a:cs typeface="Arial"/>
                          <a:sym typeface="Arial"/>
                        </a:rPr>
                        <a:t> error or failure</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Accidents,</a:t>
                      </a:r>
                      <a:r>
                        <a:rPr lang="en-US" sz="1400">
                          <a:latin typeface="Arial"/>
                          <a:ea typeface="Arial"/>
                          <a:cs typeface="Arial"/>
                          <a:sym typeface="Arial"/>
                        </a:rPr>
                        <a:t> employee mistakes</a:t>
                      </a:r>
                      <a:endParaRPr sz="1400">
                        <a:latin typeface="Arial"/>
                        <a:ea typeface="Arial"/>
                        <a:cs typeface="Arial"/>
                        <a:sym typeface="Arial"/>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Information extortion</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Blackmail, information disclosure  </a:t>
                      </a:r>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Sabotage</a:t>
                      </a:r>
                      <a:r>
                        <a:rPr lang="en-US" sz="1400">
                          <a:latin typeface="Arial"/>
                          <a:ea typeface="Arial"/>
                          <a:cs typeface="Arial"/>
                          <a:sym typeface="Arial"/>
                        </a:rPr>
                        <a:t> or vandalism</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Destruction</a:t>
                      </a:r>
                      <a:r>
                        <a:rPr lang="en-US" sz="1400">
                          <a:latin typeface="Arial"/>
                          <a:ea typeface="Arial"/>
                          <a:cs typeface="Arial"/>
                          <a:sym typeface="Arial"/>
                        </a:rPr>
                        <a:t> of systems or information</a:t>
                      </a:r>
                      <a:endParaRPr sz="1400">
                        <a:latin typeface="Arial"/>
                        <a:ea typeface="Arial"/>
                        <a:cs typeface="Arial"/>
                        <a:sym typeface="Arial"/>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Software attacks</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Viruses, worms,</a:t>
                      </a:r>
                      <a:r>
                        <a:rPr lang="en-US" sz="1400">
                          <a:latin typeface="Arial"/>
                          <a:ea typeface="Arial"/>
                          <a:cs typeface="Arial"/>
                          <a:sym typeface="Arial"/>
                        </a:rPr>
                        <a:t> macros, denial of service</a:t>
                      </a:r>
                      <a:endParaRPr sz="1400">
                        <a:latin typeface="Arial"/>
                        <a:ea typeface="Arial"/>
                        <a:cs typeface="Arial"/>
                        <a:sym typeface="Arial"/>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Technical</a:t>
                      </a:r>
                      <a:r>
                        <a:rPr lang="en-US" sz="1400">
                          <a:latin typeface="Arial"/>
                          <a:ea typeface="Arial"/>
                          <a:cs typeface="Arial"/>
                          <a:sym typeface="Arial"/>
                        </a:rPr>
                        <a:t> hardware failures or errors </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Equipment failure</a:t>
                      </a:r>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Technical</a:t>
                      </a:r>
                      <a:r>
                        <a:rPr lang="en-US" sz="1400">
                          <a:latin typeface="Arial"/>
                          <a:ea typeface="Arial"/>
                          <a:cs typeface="Arial"/>
                          <a:sym typeface="Arial"/>
                        </a:rPr>
                        <a:t> software failures or errors</a:t>
                      </a:r>
                      <a:endParaRPr sz="1400">
                        <a:latin typeface="Arial"/>
                        <a:ea typeface="Arial"/>
                        <a:cs typeface="Arial"/>
                        <a:sym typeface="Arial"/>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Bugs, code problems,</a:t>
                      </a:r>
                      <a:r>
                        <a:rPr lang="en-US" sz="1400">
                          <a:latin typeface="Arial"/>
                          <a:ea typeface="Arial"/>
                          <a:cs typeface="Arial"/>
                          <a:sym typeface="Arial"/>
                        </a:rPr>
                        <a:t> unknown loopholes</a:t>
                      </a:r>
                      <a:endParaRPr sz="1400">
                        <a:latin typeface="Arial"/>
                        <a:ea typeface="Arial"/>
                        <a:cs typeface="Arial"/>
                        <a:sym typeface="Arial"/>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Technological obsolescence</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Antiquated</a:t>
                      </a:r>
                      <a:r>
                        <a:rPr lang="en-US" sz="1400">
                          <a:latin typeface="Arial"/>
                          <a:ea typeface="Arial"/>
                          <a:cs typeface="Arial"/>
                          <a:sym typeface="Arial"/>
                        </a:rPr>
                        <a:t> or outdated technologies</a:t>
                      </a:r>
                      <a:endParaRPr sz="1400">
                        <a:latin typeface="Arial"/>
                        <a:ea typeface="Arial"/>
                        <a:cs typeface="Arial"/>
                        <a:sym typeface="Arial"/>
                      </a:endParaRPr>
                    </a:p>
                  </a:txBody>
                  <a:tcPr marT="45725" marB="45725" marR="91450" marL="91450" anchor="ctr"/>
                </a:tc>
              </a:tr>
              <a:tr h="177800">
                <a:tc>
                  <a:txBody>
                    <a:bodyPr/>
                    <a:lstStyle/>
                    <a:p>
                      <a:pPr indent="0" lvl="0" marL="0" marR="0" rtl="0" algn="l">
                        <a:spcBef>
                          <a:spcPts val="0"/>
                        </a:spcBef>
                        <a:spcAft>
                          <a:spcPts val="0"/>
                        </a:spcAft>
                        <a:buNone/>
                      </a:pPr>
                      <a:r>
                        <a:rPr lang="en-US" sz="1400">
                          <a:latin typeface="Arial"/>
                          <a:ea typeface="Arial"/>
                          <a:cs typeface="Arial"/>
                          <a:sym typeface="Arial"/>
                        </a:rPr>
                        <a:t>Theft </a:t>
                      </a:r>
                      <a:endParaRPr/>
                    </a:p>
                  </a:txBody>
                  <a:tcPr marT="45725" marB="45725" marR="91450" marL="91450" anchor="ctr"/>
                </a:tc>
                <a:tc>
                  <a:txBody>
                    <a:bodyPr/>
                    <a:lstStyle/>
                    <a:p>
                      <a:pPr indent="0" lvl="0" marL="0" marR="0" rtl="0" algn="l">
                        <a:spcBef>
                          <a:spcPts val="0"/>
                        </a:spcBef>
                        <a:spcAft>
                          <a:spcPts val="0"/>
                        </a:spcAft>
                        <a:buNone/>
                      </a:pPr>
                      <a:r>
                        <a:rPr lang="en-US" sz="1400">
                          <a:latin typeface="Arial"/>
                          <a:ea typeface="Arial"/>
                          <a:cs typeface="Arial"/>
                          <a:sym typeface="Arial"/>
                        </a:rPr>
                        <a:t>Illegal confiscation of equipment or information </a:t>
                      </a:r>
                      <a:endParaRPr/>
                    </a:p>
                  </a:txBody>
                  <a:tcPr marT="45725" marB="45725" marR="91450" marL="91450" anchor="ct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7"/>
          <p:cNvSpPr txBox="1"/>
          <p:nvPr>
            <p:ph type="title"/>
          </p:nvPr>
        </p:nvSpPr>
        <p:spPr>
          <a:xfrm>
            <a:off x="45720" y="27709"/>
            <a:ext cx="9098280" cy="10390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Compromises to Intellectual Property</a:t>
            </a:r>
            <a:endParaRPr/>
          </a:p>
        </p:txBody>
      </p:sp>
      <p:sp>
        <p:nvSpPr>
          <p:cNvPr id="193" name="Google Shape;193;p27"/>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2800"/>
              <a:buChar char="•"/>
            </a:pPr>
            <a:r>
              <a:rPr lang="en-US" sz="2800"/>
              <a:t>Intellectual property (IP): creation, ownership, and control of original ideas as well as the representation of those ideas.</a:t>
            </a:r>
            <a:endParaRPr/>
          </a:p>
          <a:p>
            <a:pPr indent="-342900" lvl="0" marL="342900" rtl="0" algn="l">
              <a:spcBef>
                <a:spcPts val="600"/>
              </a:spcBef>
              <a:spcAft>
                <a:spcPts val="0"/>
              </a:spcAft>
              <a:buSzPts val="2800"/>
              <a:buChar char="•"/>
            </a:pPr>
            <a:r>
              <a:rPr lang="en-US" sz="2800"/>
              <a:t>The most common IP breaches involve software piracy.</a:t>
            </a:r>
            <a:endParaRPr/>
          </a:p>
          <a:p>
            <a:pPr indent="-342900" lvl="0" marL="342900" rtl="0" algn="l">
              <a:spcBef>
                <a:spcPts val="600"/>
              </a:spcBef>
              <a:spcAft>
                <a:spcPts val="0"/>
              </a:spcAft>
              <a:buSzPts val="2800"/>
              <a:buChar char="•"/>
            </a:pPr>
            <a:r>
              <a:rPr lang="en-US" sz="2800"/>
              <a:t>Two watchdog organizations investigate software abuse:</a:t>
            </a:r>
            <a:endParaRPr/>
          </a:p>
          <a:p>
            <a:pPr indent="-285750" lvl="1" marL="742950" rtl="0" algn="l">
              <a:spcBef>
                <a:spcPts val="600"/>
              </a:spcBef>
              <a:spcAft>
                <a:spcPts val="0"/>
              </a:spcAft>
              <a:buSzPts val="2600"/>
              <a:buChar char="–"/>
            </a:pPr>
            <a:r>
              <a:rPr lang="en-US" sz="2600"/>
              <a:t>Software &amp; Information Industry Association (SIIA) </a:t>
            </a:r>
            <a:endParaRPr/>
          </a:p>
          <a:p>
            <a:pPr indent="-285750" lvl="1" marL="742950" rtl="0" algn="l">
              <a:spcBef>
                <a:spcPts val="600"/>
              </a:spcBef>
              <a:spcAft>
                <a:spcPts val="0"/>
              </a:spcAft>
              <a:buSzPts val="2600"/>
              <a:buChar char="–"/>
            </a:pPr>
            <a:r>
              <a:rPr lang="en-US" sz="2600"/>
              <a:t>Business Software Alliance (BSA)‏</a:t>
            </a:r>
            <a:endParaRPr sz="2600"/>
          </a:p>
          <a:p>
            <a:pPr indent="-342900" lvl="0" marL="342900" rtl="0" algn="l">
              <a:spcBef>
                <a:spcPts val="600"/>
              </a:spcBef>
              <a:spcAft>
                <a:spcPts val="0"/>
              </a:spcAft>
              <a:buSzPts val="2800"/>
              <a:buChar char="•"/>
            </a:pPr>
            <a:r>
              <a:rPr lang="en-US" sz="2800"/>
              <a:t>Enforcement of copyright law has been attempted with technical security mechanisms</a:t>
            </a:r>
            <a:r>
              <a:rPr lang="en-US"/>
              <a: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8"/>
          <p:cNvSpPr txBox="1"/>
          <p:nvPr>
            <p:ph type="title"/>
          </p:nvPr>
        </p:nvSpPr>
        <p:spPr>
          <a:xfrm>
            <a:off x="45720" y="27709"/>
            <a:ext cx="9098280" cy="10390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Deviations in Quality of Service (1 of 2)</a:t>
            </a:r>
            <a:endParaRPr/>
          </a:p>
        </p:txBody>
      </p:sp>
      <p:sp>
        <p:nvSpPr>
          <p:cNvPr id="201" name="Google Shape;201;p28"/>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SzPct val="100000"/>
              <a:buChar char="•"/>
            </a:pPr>
            <a:r>
              <a:rPr lang="en-US" sz="2800"/>
              <a:t>Information system depends on the successful operation of many interdependent support systems.</a:t>
            </a:r>
            <a:endParaRPr/>
          </a:p>
          <a:p>
            <a:pPr indent="-342900" lvl="0" marL="342900" rtl="0" algn="l">
              <a:spcBef>
                <a:spcPts val="600"/>
              </a:spcBef>
              <a:spcAft>
                <a:spcPts val="0"/>
              </a:spcAft>
              <a:buSzPct val="100000"/>
              <a:buChar char="•"/>
            </a:pPr>
            <a:r>
              <a:rPr lang="en-US" sz="2800"/>
              <a:t>Internet service, communications, and power irregularities dramatically affect the availability of information and systems.</a:t>
            </a:r>
            <a:endParaRPr/>
          </a:p>
          <a:p>
            <a:pPr indent="-342900" lvl="0" marL="342900" rtl="0" algn="l">
              <a:spcBef>
                <a:spcPts val="600"/>
              </a:spcBef>
              <a:spcAft>
                <a:spcPts val="0"/>
              </a:spcAft>
              <a:buSzPct val="100000"/>
              <a:buChar char="•"/>
            </a:pPr>
            <a:r>
              <a:rPr lang="en-US" sz="2800"/>
              <a:t>Internet service issues</a:t>
            </a:r>
            <a:endParaRPr/>
          </a:p>
          <a:p>
            <a:pPr indent="-285750" lvl="1" marL="742950" rtl="0" algn="l">
              <a:spcBef>
                <a:spcPts val="600"/>
              </a:spcBef>
              <a:spcAft>
                <a:spcPts val="0"/>
              </a:spcAft>
              <a:buSzPct val="100000"/>
              <a:buChar char="–"/>
            </a:pPr>
            <a:r>
              <a:rPr lang="en-US" sz="2600"/>
              <a:t>Internet service provider (ISP) failures can considerably undermine the availability of information.</a:t>
            </a:r>
            <a:endParaRPr/>
          </a:p>
          <a:p>
            <a:pPr indent="-285750" lvl="1" marL="742950" rtl="0" algn="l">
              <a:spcBef>
                <a:spcPts val="600"/>
              </a:spcBef>
              <a:spcAft>
                <a:spcPts val="0"/>
              </a:spcAft>
              <a:buSzPct val="100000"/>
              <a:buChar char="–"/>
            </a:pPr>
            <a:r>
              <a:rPr lang="en-US" sz="2600"/>
              <a:t>Outsourced Web hosting provider assumes responsibility for all Internet services as well as for the hardware and Web site operating system software.</a:t>
            </a:r>
            <a:endParaRPr sz="2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9"/>
          <p:cNvSpPr txBox="1"/>
          <p:nvPr>
            <p:ph type="title"/>
          </p:nvPr>
        </p:nvSpPr>
        <p:spPr>
          <a:xfrm>
            <a:off x="45720" y="27709"/>
            <a:ext cx="9098280" cy="10390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Deviations in Quality of Service (2 of 2)</a:t>
            </a:r>
            <a:endParaRPr/>
          </a:p>
        </p:txBody>
      </p:sp>
      <p:sp>
        <p:nvSpPr>
          <p:cNvPr id="209" name="Google Shape;209;p29"/>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2600"/>
              <a:buChar char="•"/>
            </a:pPr>
            <a:r>
              <a:rPr lang="en-US"/>
              <a:t>Communications and other service provider issues</a:t>
            </a:r>
            <a:endParaRPr/>
          </a:p>
          <a:p>
            <a:pPr indent="-285750" lvl="1" marL="742950" rtl="0" algn="l">
              <a:spcBef>
                <a:spcPts val="600"/>
              </a:spcBef>
              <a:spcAft>
                <a:spcPts val="0"/>
              </a:spcAft>
              <a:buSzPts val="2400"/>
              <a:buChar char="–"/>
            </a:pPr>
            <a:r>
              <a:rPr lang="en-US"/>
              <a:t>Other utility services affect organizations: telephone, water, wastewater, trash pickup.</a:t>
            </a:r>
            <a:endParaRPr/>
          </a:p>
          <a:p>
            <a:pPr indent="-285750" lvl="1" marL="742950" rtl="0" algn="l">
              <a:spcBef>
                <a:spcPts val="600"/>
              </a:spcBef>
              <a:spcAft>
                <a:spcPts val="0"/>
              </a:spcAft>
              <a:buSzPts val="2400"/>
              <a:buChar char="–"/>
            </a:pPr>
            <a:r>
              <a:rPr lang="en-US"/>
              <a:t>Loss of these services can affect an organization’s ability to function.</a:t>
            </a:r>
            <a:endParaRPr/>
          </a:p>
          <a:p>
            <a:pPr indent="-342900" lvl="0" marL="342900" rtl="0" algn="l">
              <a:spcBef>
                <a:spcPts val="600"/>
              </a:spcBef>
              <a:spcAft>
                <a:spcPts val="0"/>
              </a:spcAft>
              <a:buSzPts val="2600"/>
              <a:buChar char="•"/>
            </a:pPr>
            <a:r>
              <a:rPr lang="en-US"/>
              <a:t>Power irregularities</a:t>
            </a:r>
            <a:endParaRPr/>
          </a:p>
          <a:p>
            <a:pPr indent="-285750" lvl="1" marL="742950" rtl="0" algn="l">
              <a:spcBef>
                <a:spcPts val="600"/>
              </a:spcBef>
              <a:spcAft>
                <a:spcPts val="0"/>
              </a:spcAft>
              <a:buSzPts val="2400"/>
              <a:buChar char="–"/>
            </a:pPr>
            <a:r>
              <a:rPr lang="en-US"/>
              <a:t>Are commonplace</a:t>
            </a:r>
            <a:endParaRPr/>
          </a:p>
          <a:p>
            <a:pPr indent="-285750" lvl="1" marL="742950" rtl="0" algn="l">
              <a:spcBef>
                <a:spcPts val="600"/>
              </a:spcBef>
              <a:spcAft>
                <a:spcPts val="0"/>
              </a:spcAft>
              <a:buSzPts val="2400"/>
              <a:buChar char="–"/>
            </a:pPr>
            <a:r>
              <a:rPr lang="en-US"/>
              <a:t>Lead to fluctuations such as power excesses, power shortages, and power losses</a:t>
            </a:r>
            <a:endParaRPr/>
          </a:p>
          <a:p>
            <a:pPr indent="-285750" lvl="1" marL="742950" rtl="0" algn="l">
              <a:spcBef>
                <a:spcPts val="600"/>
              </a:spcBef>
              <a:spcAft>
                <a:spcPts val="0"/>
              </a:spcAft>
              <a:buSzPts val="2400"/>
              <a:buChar char="–"/>
            </a:pPr>
            <a:r>
              <a:rPr lang="en-US"/>
              <a:t>Sensitive electronic equipment vulnerable to and easily damaged/destroyed by fluctuations</a:t>
            </a:r>
            <a:endParaRPr/>
          </a:p>
          <a:p>
            <a:pPr indent="-285750" lvl="1" marL="742950" rtl="0" algn="l">
              <a:spcBef>
                <a:spcPts val="600"/>
              </a:spcBef>
              <a:spcAft>
                <a:spcPts val="0"/>
              </a:spcAft>
              <a:buSzPts val="2400"/>
              <a:buChar char="–"/>
            </a:pPr>
            <a:r>
              <a:rPr lang="en-US"/>
              <a:t>Controls can be applied to manage power quality</a:t>
            </a:r>
            <a:endParaRPr sz="2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0"/>
          <p:cNvSpPr txBox="1"/>
          <p:nvPr>
            <p:ph type="title"/>
          </p:nvPr>
        </p:nvSpPr>
        <p:spPr>
          <a:xfrm>
            <a:off x="0" y="144849"/>
            <a:ext cx="9144000" cy="130295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b="1" lang="en-US"/>
              <a:t>Figure 2-5  </a:t>
            </a:r>
            <a:r>
              <a:rPr lang="en-US"/>
              <a:t>Cost of online service provider downtime</a:t>
            </a:r>
            <a:endParaRPr/>
          </a:p>
        </p:txBody>
      </p:sp>
      <p:pic>
        <p:nvPicPr>
          <p:cNvPr descr="A bar graph is labeled as, “Average Cost of Downtime According to MegaPath.” The x-axis is labeled as, “Average Cost of Downtime” and y-axis is labeled as, “Service Provider Uptime.” In x-axis side, the range of average cost of downtime starts from $1, 000,000 to $10,000,000 at an interval of 1, 000,000. In y-axis, service provider uptime range starts from 99.5% (43.92 hours), 99.9% (8.76 hours), 99.95% (4.38 hours) and 99. 99% (.53 hours) till 99.999% (.05 hours). On the top right, two small boxes differentiating All and SMB are represented in grey and black color respectively. The bars are shown horizontally from y-axis reaching parallel to x-axis. For 99.5% on y-axis, grey bar reaches till $9, 315, 432 and black till $549, 000. For 99.9%, grey bar reaches $1, 857,996 and black reaches $109, 500. For 99.95%, grey reaches $928, 998 and black reaches $54, 750. For 99.99%, grey reaches $185, 800 and black reaches $10, 950. For 99.999%, the grey bar reaches $18, 594 and black bar till $1, 096. &#10;" id="215" name="Google Shape;215;p30"/>
          <p:cNvPicPr preferRelativeResize="0"/>
          <p:nvPr/>
        </p:nvPicPr>
        <p:blipFill rotWithShape="1">
          <a:blip r:embed="rId3">
            <a:alphaModFix/>
          </a:blip>
          <a:srcRect b="0" l="0" r="0" t="0"/>
          <a:stretch/>
        </p:blipFill>
        <p:spPr>
          <a:xfrm>
            <a:off x="1039091" y="1647305"/>
            <a:ext cx="7065818" cy="3839095"/>
          </a:xfrm>
          <a:prstGeom prst="rect">
            <a:avLst/>
          </a:prstGeom>
          <a:noFill/>
          <a:ln>
            <a:noFill/>
          </a:ln>
        </p:spPr>
      </p:pic>
      <p:sp>
        <p:nvSpPr>
          <p:cNvPr id="216" name="Google Shape;216;p30"/>
          <p:cNvSpPr txBox="1"/>
          <p:nvPr>
            <p:ph idx="1" type="body"/>
          </p:nvPr>
        </p:nvSpPr>
        <p:spPr>
          <a:xfrm>
            <a:off x="457200" y="5656948"/>
            <a:ext cx="8271669" cy="51525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000"/>
              <a:buNone/>
            </a:pPr>
            <a:r>
              <a:rPr i="1" lang="en-US" sz="2000"/>
              <a:t>Source: MegaPath. Used with permission.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1"/>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US"/>
              <a:t>Espionage or Trespass (1 of 3)</a:t>
            </a:r>
            <a:endParaRPr/>
          </a:p>
        </p:txBody>
      </p:sp>
      <p:sp>
        <p:nvSpPr>
          <p:cNvPr id="223" name="Google Shape;223;p31"/>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600"/>
              <a:buChar char="•"/>
            </a:pPr>
            <a:r>
              <a:rPr lang="en-US"/>
              <a:t>Access of protected information by unauthorized individuals</a:t>
            </a:r>
            <a:endParaRPr/>
          </a:p>
          <a:p>
            <a:pPr indent="-342900" lvl="0" marL="342900" rtl="0" algn="l">
              <a:spcBef>
                <a:spcPts val="600"/>
              </a:spcBef>
              <a:spcAft>
                <a:spcPts val="0"/>
              </a:spcAft>
              <a:buSzPts val="2600"/>
              <a:buChar char="•"/>
            </a:pPr>
            <a:r>
              <a:rPr lang="en-US"/>
              <a:t>Competitive intelligence (legal) versus industrial </a:t>
            </a:r>
            <a:br>
              <a:rPr lang="en-US"/>
            </a:br>
            <a:r>
              <a:rPr lang="en-US"/>
              <a:t>espionage (illegal)‏</a:t>
            </a:r>
            <a:endParaRPr/>
          </a:p>
          <a:p>
            <a:pPr indent="-342900" lvl="0" marL="342900" rtl="0" algn="l">
              <a:spcBef>
                <a:spcPts val="600"/>
              </a:spcBef>
              <a:spcAft>
                <a:spcPts val="0"/>
              </a:spcAft>
              <a:buSzPts val="2600"/>
              <a:buChar char="•"/>
            </a:pPr>
            <a:r>
              <a:rPr lang="en-US"/>
              <a:t>Shoulder surfing can occur anywhere a person accesses confidential information</a:t>
            </a:r>
            <a:endParaRPr/>
          </a:p>
          <a:p>
            <a:pPr indent="-342900" lvl="0" marL="342900" rtl="0" algn="l">
              <a:spcBef>
                <a:spcPts val="600"/>
              </a:spcBef>
              <a:spcAft>
                <a:spcPts val="0"/>
              </a:spcAft>
              <a:buSzPts val="2600"/>
              <a:buChar char="•"/>
            </a:pPr>
            <a:r>
              <a:rPr lang="en-US"/>
              <a:t>Controls let trespassers know they are encroaching on organization’s cyberspace</a:t>
            </a:r>
            <a:endParaRPr/>
          </a:p>
          <a:p>
            <a:pPr indent="-342900" lvl="0" marL="342900" rtl="0" algn="l">
              <a:spcBef>
                <a:spcPts val="600"/>
              </a:spcBef>
              <a:spcAft>
                <a:spcPts val="0"/>
              </a:spcAft>
              <a:buSzPts val="2600"/>
              <a:buChar char="•"/>
            </a:pPr>
            <a:r>
              <a:rPr lang="en-US"/>
              <a:t>Hackers use skill, guile, or fraud to bypass controls protecting others’ information</a:t>
            </a:r>
            <a:endParaRPr sz="24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2"/>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US"/>
              <a:t>Espionage or Trespass (2 of 3)</a:t>
            </a:r>
            <a:endParaRPr/>
          </a:p>
        </p:txBody>
      </p:sp>
      <p:sp>
        <p:nvSpPr>
          <p:cNvPr id="230" name="Google Shape;230;p32"/>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600"/>
              <a:buChar char="•"/>
            </a:pPr>
            <a:r>
              <a:rPr lang="en-US"/>
              <a:t>Expert hackers</a:t>
            </a:r>
            <a:endParaRPr/>
          </a:p>
          <a:p>
            <a:pPr indent="-285750" lvl="1" marL="742950" rtl="0" algn="l">
              <a:spcBef>
                <a:spcPts val="600"/>
              </a:spcBef>
              <a:spcAft>
                <a:spcPts val="0"/>
              </a:spcAft>
              <a:buSzPts val="2400"/>
              <a:buChar char="–"/>
            </a:pPr>
            <a:r>
              <a:rPr lang="en-US"/>
              <a:t>Develop software scripts and program exploits</a:t>
            </a:r>
            <a:endParaRPr/>
          </a:p>
          <a:p>
            <a:pPr indent="-285750" lvl="1" marL="742950" rtl="0" algn="l">
              <a:spcBef>
                <a:spcPts val="600"/>
              </a:spcBef>
              <a:spcAft>
                <a:spcPts val="0"/>
              </a:spcAft>
              <a:buSzPts val="2400"/>
              <a:buChar char="–"/>
            </a:pPr>
            <a:r>
              <a:rPr lang="en-US"/>
              <a:t>Usually a master of many skills</a:t>
            </a:r>
            <a:endParaRPr/>
          </a:p>
          <a:p>
            <a:pPr indent="-285750" lvl="1" marL="742950" rtl="0" algn="l">
              <a:spcBef>
                <a:spcPts val="600"/>
              </a:spcBef>
              <a:spcAft>
                <a:spcPts val="0"/>
              </a:spcAft>
              <a:buSzPts val="2400"/>
              <a:buChar char="–"/>
            </a:pPr>
            <a:r>
              <a:rPr lang="en-US"/>
              <a:t>Will often create attack software and share with others</a:t>
            </a:r>
            <a:endParaRPr/>
          </a:p>
          <a:p>
            <a:pPr indent="-342900" lvl="0" marL="342900" rtl="0" algn="l">
              <a:spcBef>
                <a:spcPts val="600"/>
              </a:spcBef>
              <a:spcAft>
                <a:spcPts val="0"/>
              </a:spcAft>
              <a:buSzPts val="2600"/>
              <a:buChar char="•"/>
            </a:pPr>
            <a:r>
              <a:rPr lang="en-US"/>
              <a:t>Unskilled hackers</a:t>
            </a:r>
            <a:endParaRPr/>
          </a:p>
          <a:p>
            <a:pPr indent="-285750" lvl="1" marL="742950" rtl="0" algn="l">
              <a:spcBef>
                <a:spcPts val="600"/>
              </a:spcBef>
              <a:spcAft>
                <a:spcPts val="0"/>
              </a:spcAft>
              <a:buSzPts val="2400"/>
              <a:buChar char="–"/>
            </a:pPr>
            <a:r>
              <a:rPr lang="en-US"/>
              <a:t>Many more unskilled hackers than expert hackers</a:t>
            </a:r>
            <a:endParaRPr/>
          </a:p>
          <a:p>
            <a:pPr indent="-285750" lvl="1" marL="742950" rtl="0" algn="l">
              <a:spcBef>
                <a:spcPts val="600"/>
              </a:spcBef>
              <a:spcAft>
                <a:spcPts val="0"/>
              </a:spcAft>
              <a:buSzPts val="2400"/>
              <a:buChar char="–"/>
            </a:pPr>
            <a:r>
              <a:rPr lang="en-US"/>
              <a:t>Use expertly written software to exploit a system</a:t>
            </a:r>
            <a:endParaRPr/>
          </a:p>
          <a:p>
            <a:pPr indent="-285750" lvl="1" marL="742950" rtl="0" algn="l">
              <a:spcBef>
                <a:spcPts val="600"/>
              </a:spcBef>
              <a:spcAft>
                <a:spcPts val="0"/>
              </a:spcAft>
              <a:buSzPts val="2400"/>
              <a:buChar char="–"/>
            </a:pPr>
            <a:r>
              <a:rPr lang="en-US"/>
              <a:t>Do not usually fully understand the systems they hack</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3"/>
          <p:cNvSpPr txBox="1"/>
          <p:nvPr>
            <p:ph type="title"/>
          </p:nvPr>
        </p:nvSpPr>
        <p:spPr>
          <a:xfrm>
            <a:off x="45720" y="27709"/>
            <a:ext cx="9052560" cy="10390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Arial"/>
              <a:buNone/>
            </a:pPr>
            <a:r>
              <a:rPr lang="en-US"/>
              <a:t>Espionage or Trespass (3 of 3)</a:t>
            </a:r>
            <a:endParaRPr/>
          </a:p>
        </p:txBody>
      </p:sp>
      <p:sp>
        <p:nvSpPr>
          <p:cNvPr id="237" name="Google Shape;237;p33"/>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600"/>
              <a:buChar char="•"/>
            </a:pPr>
            <a:r>
              <a:rPr lang="en-US"/>
              <a:t>Other terms for system rule breakers:</a:t>
            </a:r>
            <a:endParaRPr/>
          </a:p>
          <a:p>
            <a:pPr indent="-285750" lvl="1" marL="742950" rtl="0" algn="l">
              <a:spcBef>
                <a:spcPts val="600"/>
              </a:spcBef>
              <a:spcAft>
                <a:spcPts val="0"/>
              </a:spcAft>
              <a:buSzPts val="2400"/>
              <a:buChar char="–"/>
            </a:pPr>
            <a:r>
              <a:rPr lang="en-US"/>
              <a:t>Cracker: “cracks” or removes software protection designed to prevent unauthorized duplication</a:t>
            </a:r>
            <a:endParaRPr/>
          </a:p>
          <a:p>
            <a:pPr indent="-285750" lvl="1" marL="742950" rtl="0" algn="l">
              <a:spcBef>
                <a:spcPts val="600"/>
              </a:spcBef>
              <a:spcAft>
                <a:spcPts val="0"/>
              </a:spcAft>
              <a:buSzPts val="2400"/>
              <a:buChar char="–"/>
            </a:pPr>
            <a:r>
              <a:rPr lang="en-US"/>
              <a:t>Phreaker: hacks the public telephone system to make free calls or disrupt services</a:t>
            </a:r>
            <a:endParaRPr/>
          </a:p>
          <a:p>
            <a:pPr indent="-342900" lvl="0" marL="342900" rtl="0" algn="l">
              <a:spcBef>
                <a:spcPts val="600"/>
              </a:spcBef>
              <a:spcAft>
                <a:spcPts val="0"/>
              </a:spcAft>
              <a:buSzPts val="2600"/>
              <a:buChar char="•"/>
            </a:pPr>
            <a:r>
              <a:rPr lang="en-US"/>
              <a:t>Password attacks</a:t>
            </a:r>
            <a:endParaRPr/>
          </a:p>
          <a:p>
            <a:pPr indent="-285750" lvl="1" marL="742950" rtl="0" algn="l">
              <a:spcBef>
                <a:spcPts val="600"/>
              </a:spcBef>
              <a:spcAft>
                <a:spcPts val="0"/>
              </a:spcAft>
              <a:buSzPts val="2400"/>
              <a:buChar char="–"/>
            </a:pPr>
            <a:r>
              <a:rPr lang="en-US"/>
              <a:t>Cracking </a:t>
            </a:r>
            <a:endParaRPr/>
          </a:p>
          <a:p>
            <a:pPr indent="-285750" lvl="1" marL="742950" rtl="0" algn="l">
              <a:spcBef>
                <a:spcPts val="600"/>
              </a:spcBef>
              <a:spcAft>
                <a:spcPts val="0"/>
              </a:spcAft>
              <a:buSzPts val="2400"/>
              <a:buChar char="–"/>
            </a:pPr>
            <a:r>
              <a:rPr lang="en-US"/>
              <a:t>Brute force</a:t>
            </a:r>
            <a:endParaRPr/>
          </a:p>
          <a:p>
            <a:pPr indent="-285750" lvl="1" marL="742950" rtl="0" algn="l">
              <a:spcBef>
                <a:spcPts val="600"/>
              </a:spcBef>
              <a:spcAft>
                <a:spcPts val="0"/>
              </a:spcAft>
              <a:buSzPts val="2400"/>
              <a:buChar char="–"/>
            </a:pPr>
            <a:r>
              <a:rPr lang="en-US"/>
              <a:t>Dictionary</a:t>
            </a:r>
            <a:endParaRPr/>
          </a:p>
          <a:p>
            <a:pPr indent="-285750" lvl="1" marL="742950" rtl="0" algn="l">
              <a:spcBef>
                <a:spcPts val="600"/>
              </a:spcBef>
              <a:spcAft>
                <a:spcPts val="0"/>
              </a:spcAft>
              <a:buSzPts val="2400"/>
              <a:buChar char="–"/>
            </a:pPr>
            <a:r>
              <a:rPr lang="en-US"/>
              <a:t>Rainbow tables </a:t>
            </a:r>
            <a:endParaRPr/>
          </a:p>
          <a:p>
            <a:pPr indent="-285750" lvl="1" marL="742950" rtl="0" algn="l">
              <a:spcBef>
                <a:spcPts val="600"/>
              </a:spcBef>
              <a:spcAft>
                <a:spcPts val="0"/>
              </a:spcAft>
              <a:buSzPts val="2400"/>
              <a:buChar char="–"/>
            </a:pPr>
            <a:r>
              <a:rPr lang="en-US"/>
              <a:t>Social engineering</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4"/>
          <p:cNvSpPr txBox="1"/>
          <p:nvPr>
            <p:ph type="title"/>
          </p:nvPr>
        </p:nvSpPr>
        <p:spPr>
          <a:xfrm>
            <a:off x="0" y="152400"/>
            <a:ext cx="91440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Arial"/>
              <a:buNone/>
            </a:pPr>
            <a:r>
              <a:rPr b="1" lang="en-US"/>
              <a:t>Figure 2-6  </a:t>
            </a:r>
            <a:r>
              <a:rPr lang="en-US"/>
              <a:t>Shoulder surfing</a:t>
            </a:r>
            <a:endParaRPr baseline="30000"/>
          </a:p>
        </p:txBody>
      </p:sp>
      <p:pic>
        <p:nvPicPr>
          <p:cNvPr descr="A photo shows a man sitting in front of a computer and another man standing behind and watching him.&#10;" id="243" name="Google Shape;243;p34"/>
          <p:cNvPicPr preferRelativeResize="0"/>
          <p:nvPr/>
        </p:nvPicPr>
        <p:blipFill rotWithShape="1">
          <a:blip r:embed="rId3">
            <a:alphaModFix/>
          </a:blip>
          <a:srcRect b="0" l="0" r="0" t="0"/>
          <a:stretch/>
        </p:blipFill>
        <p:spPr>
          <a:xfrm>
            <a:off x="2438400" y="1295400"/>
            <a:ext cx="4056888" cy="466772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5"/>
          <p:cNvSpPr txBox="1"/>
          <p:nvPr>
            <p:ph type="title"/>
          </p:nvPr>
        </p:nvSpPr>
        <p:spPr>
          <a:xfrm>
            <a:off x="0" y="152400"/>
            <a:ext cx="9144000" cy="914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Arial"/>
              <a:buNone/>
            </a:pPr>
            <a:r>
              <a:rPr b="1" lang="en-US"/>
              <a:t>Figure 2-7  </a:t>
            </a:r>
            <a:r>
              <a:rPr lang="en-US"/>
              <a:t>Contemporary hacker profile</a:t>
            </a:r>
            <a:endParaRPr baseline="30000"/>
          </a:p>
        </p:txBody>
      </p:sp>
      <p:pic>
        <p:nvPicPr>
          <p:cNvPr descr="An illustration shows the poster labeled as, “WANTED BY THE FBI.” Below it, is the text that reads as, “Breaking into computer systems, Theft of confidential information, Disclosure of stolen confidential information, Hijacking victims’ e-mail accounts, and Defacing internet websites.” The bold text given above the photo reads as, “IMA HACKER.” A black color provision for photo with a white color question mark on the face is shown. Below the image, the text reads as, “No photograph available.” The text below it reads as, “Aliases: “Lost” “All your PC are belong to me” “Cyber-Merlin.” Below it the heading reads as, “DESCRIPTION.” Below it, there are four columns, the first column reads as, “Date(s) of birth used: place of birth: height: weight: NCIC: and Occupation: The second column reads as, “unknown” except which NCIC reads as, “A1234566789.” The third column reads as, “Hair: Eyes: Sex: Race: and nationality:” The fourth column reads fully as, “unknown.” The next topic is Scars and Marks: which is given as unknown. Below it is the “Remarks: Individual may be age 12-60, male or female, unknown background, with varying technological skill levels; may be internal or external to the organization.” The last text reads as, “CAUTION.”&#10;" id="249" name="Google Shape;249;p35"/>
          <p:cNvPicPr preferRelativeResize="0"/>
          <p:nvPr/>
        </p:nvPicPr>
        <p:blipFill rotWithShape="1">
          <a:blip r:embed="rId3">
            <a:alphaModFix/>
          </a:blip>
          <a:srcRect b="0" l="0" r="0" t="0"/>
          <a:stretch/>
        </p:blipFill>
        <p:spPr>
          <a:xfrm>
            <a:off x="2743200" y="1295400"/>
            <a:ext cx="3884010" cy="464467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6"/>
          <p:cNvSpPr txBox="1"/>
          <p:nvPr>
            <p:ph type="title"/>
          </p:nvPr>
        </p:nvSpPr>
        <p:spPr>
          <a:xfrm>
            <a:off x="0" y="152400"/>
            <a:ext cx="9144000" cy="838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b="1" lang="en-US"/>
              <a:t>Table 2-6</a:t>
            </a:r>
            <a:r>
              <a:rPr lang="en-US"/>
              <a:t> Password Power (1 of 2)</a:t>
            </a:r>
            <a:endParaRPr/>
          </a:p>
        </p:txBody>
      </p:sp>
      <p:sp>
        <p:nvSpPr>
          <p:cNvPr id="255" name="Google Shape;255;p36"/>
          <p:cNvSpPr txBox="1"/>
          <p:nvPr>
            <p:ph idx="2" type="body"/>
          </p:nvPr>
        </p:nvSpPr>
        <p:spPr>
          <a:xfrm>
            <a:off x="152400" y="1478280"/>
            <a:ext cx="8859672" cy="533400"/>
          </a:xfrm>
          <a:prstGeom prst="rect">
            <a:avLst/>
          </a:prstGeom>
          <a:solidFill>
            <a:srgbClr val="364162"/>
          </a:solidFill>
          <a:ln>
            <a:noFill/>
          </a:ln>
        </p:spPr>
        <p:txBody>
          <a:bodyPr anchorCtr="0" anchor="t" bIns="45700" lIns="91425" spcFirstLastPara="1" rIns="91425" wrap="square" tIns="45700">
            <a:noAutofit/>
          </a:bodyPr>
          <a:lstStyle/>
          <a:p>
            <a:pPr indent="0" lvl="0" marL="0" rtl="0" algn="l">
              <a:spcBef>
                <a:spcPts val="0"/>
              </a:spcBef>
              <a:spcAft>
                <a:spcPts val="0"/>
              </a:spcAft>
              <a:buSzPts val="1600"/>
              <a:buNone/>
            </a:pPr>
            <a:r>
              <a:rPr b="1" lang="en-US" sz="1600">
                <a:solidFill>
                  <a:schemeClr val="lt1"/>
                </a:solidFill>
              </a:rPr>
              <a:t>Case-Insensitive Passwords Using a Standards Alphabet Set (No Numbers or Special Characters)</a:t>
            </a:r>
            <a:endParaRPr/>
          </a:p>
        </p:txBody>
      </p:sp>
      <p:graphicFrame>
        <p:nvGraphicFramePr>
          <p:cNvPr id="256" name="Google Shape;256;p36"/>
          <p:cNvGraphicFramePr/>
          <p:nvPr/>
        </p:nvGraphicFramePr>
        <p:xfrm>
          <a:off x="152400" y="2011680"/>
          <a:ext cx="3000000" cy="3000000"/>
        </p:xfrm>
        <a:graphic>
          <a:graphicData uri="http://schemas.openxmlformats.org/drawingml/2006/table">
            <a:tbl>
              <a:tblPr bandRow="1" firstRow="1">
                <a:noFill/>
                <a:tableStyleId>{6765FC5E-082A-4690-9782-9FE3793750BE}</a:tableStyleId>
              </a:tblPr>
              <a:tblGrid>
                <a:gridCol w="1958450"/>
                <a:gridCol w="4191000"/>
                <a:gridCol w="2689750"/>
              </a:tblGrid>
              <a:tr h="370850">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Password</a:t>
                      </a:r>
                      <a:r>
                        <a:rPr b="1" lang="en-US" sz="1400">
                          <a:solidFill>
                            <a:schemeClr val="lt1"/>
                          </a:solidFill>
                          <a:latin typeface="Arial"/>
                          <a:ea typeface="Arial"/>
                          <a:cs typeface="Arial"/>
                          <a:sym typeface="Arial"/>
                        </a:rPr>
                        <a:t> Length</a:t>
                      </a:r>
                      <a:endParaRPr b="1" sz="1400">
                        <a:solidFill>
                          <a:schemeClr val="lt1"/>
                        </a:solidFill>
                        <a:latin typeface="Arial"/>
                        <a:ea typeface="Arial"/>
                        <a:cs typeface="Arial"/>
                        <a:sym typeface="Arial"/>
                      </a:endParaRPr>
                    </a:p>
                  </a:txBody>
                  <a:tcPr marT="45725" marB="45725" marR="91450" marL="91450">
                    <a:solidFill>
                      <a:srgbClr val="364162"/>
                    </a:solidFill>
                  </a:tcPr>
                </a:tc>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Odd of cracking: 1 in (Based on</a:t>
                      </a:r>
                      <a:r>
                        <a:rPr b="1" lang="en-US" sz="1400">
                          <a:solidFill>
                            <a:schemeClr val="lt1"/>
                          </a:solidFill>
                          <a:latin typeface="Arial"/>
                          <a:ea typeface="Arial"/>
                          <a:cs typeface="Arial"/>
                          <a:sym typeface="Arial"/>
                        </a:rPr>
                        <a:t> Numbers of Characters ^ Password length):</a:t>
                      </a:r>
                      <a:endParaRPr b="1" sz="1400">
                        <a:solidFill>
                          <a:schemeClr val="lt1"/>
                        </a:solidFill>
                        <a:latin typeface="Arial"/>
                        <a:ea typeface="Arial"/>
                        <a:cs typeface="Arial"/>
                        <a:sym typeface="Arial"/>
                      </a:endParaRPr>
                    </a:p>
                  </a:txBody>
                  <a:tcPr marT="45725" marB="45725" marR="91450" marL="91450">
                    <a:solidFill>
                      <a:srgbClr val="364162"/>
                    </a:solidFill>
                  </a:tcPr>
                </a:tc>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Estimated Time</a:t>
                      </a:r>
                      <a:r>
                        <a:rPr b="1" lang="en-US" sz="1400">
                          <a:solidFill>
                            <a:schemeClr val="lt1"/>
                          </a:solidFill>
                          <a:latin typeface="Arial"/>
                          <a:ea typeface="Arial"/>
                          <a:cs typeface="Arial"/>
                          <a:sym typeface="Arial"/>
                        </a:rPr>
                        <a:t> to Crack*</a:t>
                      </a:r>
                      <a:endParaRPr b="1" sz="1400">
                        <a:solidFill>
                          <a:schemeClr val="lt1"/>
                        </a:solidFill>
                        <a:latin typeface="Arial"/>
                        <a:ea typeface="Arial"/>
                        <a:cs typeface="Arial"/>
                        <a:sym typeface="Arial"/>
                      </a:endParaRPr>
                    </a:p>
                  </a:txBody>
                  <a:tcPr marT="45725" marB="45725" marR="91450" marL="91450">
                    <a:solidFill>
                      <a:srgbClr val="364162"/>
                    </a:solidFill>
                  </a:tcPr>
                </a:tc>
              </a:tr>
              <a:tr h="370850">
                <a:tc>
                  <a:txBody>
                    <a:bodyPr/>
                    <a:lstStyle/>
                    <a:p>
                      <a:pPr indent="0" lvl="0" marL="0" marR="0" rtl="0" algn="l">
                        <a:spcBef>
                          <a:spcPts val="0"/>
                        </a:spcBef>
                        <a:spcAft>
                          <a:spcPts val="0"/>
                        </a:spcAft>
                        <a:buNone/>
                      </a:pPr>
                      <a:r>
                        <a:rPr lang="en-US" sz="1400">
                          <a:latin typeface="Arial"/>
                          <a:ea typeface="Arial"/>
                          <a:cs typeface="Arial"/>
                          <a:sym typeface="Arial"/>
                        </a:rPr>
                        <a:t>8</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208,827,064,576</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1.01 seconds</a:t>
                      </a:r>
                      <a:endParaRPr/>
                    </a:p>
                  </a:txBody>
                  <a:tcPr marT="45725" marB="45725" marR="91450" marL="91450"/>
                </a:tc>
              </a:tr>
              <a:tr h="370850">
                <a:tc>
                  <a:txBody>
                    <a:bodyPr/>
                    <a:lstStyle/>
                    <a:p>
                      <a:pPr indent="0" lvl="0" marL="0" marR="0" rtl="0" algn="l">
                        <a:spcBef>
                          <a:spcPts val="0"/>
                        </a:spcBef>
                        <a:spcAft>
                          <a:spcPts val="0"/>
                        </a:spcAft>
                        <a:buNone/>
                      </a:pPr>
                      <a:r>
                        <a:rPr lang="en-US" sz="1400">
                          <a:latin typeface="Arial"/>
                          <a:ea typeface="Arial"/>
                          <a:cs typeface="Arial"/>
                          <a:sym typeface="Arial"/>
                        </a:rPr>
                        <a:t>9</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5,429,503,678,976</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26.2 seconds</a:t>
                      </a:r>
                      <a:endParaRPr/>
                    </a:p>
                  </a:txBody>
                  <a:tcPr marT="45725" marB="45725" marR="91450" marL="91450"/>
                </a:tc>
              </a:tr>
              <a:tr h="370850">
                <a:tc>
                  <a:txBody>
                    <a:bodyPr/>
                    <a:lstStyle/>
                    <a:p>
                      <a:pPr indent="0" lvl="0" marL="0" marR="0" rtl="0" algn="l">
                        <a:spcBef>
                          <a:spcPts val="0"/>
                        </a:spcBef>
                        <a:spcAft>
                          <a:spcPts val="0"/>
                        </a:spcAft>
                        <a:buNone/>
                      </a:pPr>
                      <a:r>
                        <a:rPr lang="en-US" sz="1400">
                          <a:latin typeface="Arial"/>
                          <a:ea typeface="Arial"/>
                          <a:cs typeface="Arial"/>
                          <a:sym typeface="Arial"/>
                        </a:rPr>
                        <a:t>10</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141,167,095,653,376</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11.4 minutes</a:t>
                      </a:r>
                      <a:endParaRPr/>
                    </a:p>
                  </a:txBody>
                  <a:tcPr marT="45725" marB="45725" marR="91450" marL="91450"/>
                </a:tc>
              </a:tr>
              <a:tr h="370850">
                <a:tc>
                  <a:txBody>
                    <a:bodyPr/>
                    <a:lstStyle/>
                    <a:p>
                      <a:pPr indent="0" lvl="0" marL="0" marR="0" rtl="0" algn="l">
                        <a:spcBef>
                          <a:spcPts val="0"/>
                        </a:spcBef>
                        <a:spcAft>
                          <a:spcPts val="0"/>
                        </a:spcAft>
                        <a:buNone/>
                      </a:pPr>
                      <a:r>
                        <a:rPr lang="en-US" sz="1400">
                          <a:latin typeface="Arial"/>
                          <a:ea typeface="Arial"/>
                          <a:cs typeface="Arial"/>
                          <a:sym typeface="Arial"/>
                        </a:rPr>
                        <a:t>11</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3,670,344,486,987,780</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4.9 hours</a:t>
                      </a:r>
                      <a:endParaRPr/>
                    </a:p>
                  </a:txBody>
                  <a:tcPr marT="45725" marB="45725" marR="91450" marL="91450"/>
                </a:tc>
              </a:tr>
              <a:tr h="370850">
                <a:tc>
                  <a:txBody>
                    <a:bodyPr/>
                    <a:lstStyle/>
                    <a:p>
                      <a:pPr indent="0" lvl="0" marL="0" marR="0" rtl="0" algn="l">
                        <a:spcBef>
                          <a:spcPts val="0"/>
                        </a:spcBef>
                        <a:spcAft>
                          <a:spcPts val="0"/>
                        </a:spcAft>
                        <a:buNone/>
                      </a:pPr>
                      <a:r>
                        <a:rPr lang="en-US" sz="1400">
                          <a:latin typeface="Arial"/>
                          <a:ea typeface="Arial"/>
                          <a:cs typeface="Arial"/>
                          <a:sym typeface="Arial"/>
                        </a:rPr>
                        <a:t>12</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95,428,956,661,682,200</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5.3 days</a:t>
                      </a:r>
                      <a:endParaRPr/>
                    </a:p>
                  </a:txBody>
                  <a:tcPr marT="45725" marB="45725" marR="91450" marL="91450"/>
                </a:tc>
              </a:tr>
              <a:tr h="370850">
                <a:tc>
                  <a:txBody>
                    <a:bodyPr/>
                    <a:lstStyle/>
                    <a:p>
                      <a:pPr indent="0" lvl="0" marL="0" marR="0" rtl="0" algn="l">
                        <a:spcBef>
                          <a:spcPts val="0"/>
                        </a:spcBef>
                        <a:spcAft>
                          <a:spcPts val="0"/>
                        </a:spcAft>
                        <a:buNone/>
                      </a:pPr>
                      <a:r>
                        <a:rPr lang="en-US" sz="1400">
                          <a:latin typeface="Arial"/>
                          <a:ea typeface="Arial"/>
                          <a:cs typeface="Arial"/>
                          <a:sym typeface="Arial"/>
                        </a:rPr>
                        <a:t>13</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2,481,152,873,203,740,000</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138.6 days</a:t>
                      </a:r>
                      <a:endParaRPr/>
                    </a:p>
                  </a:txBody>
                  <a:tcPr marT="45725" marB="45725" marR="91450" marL="91450"/>
                </a:tc>
              </a:tr>
              <a:tr h="370850">
                <a:tc>
                  <a:txBody>
                    <a:bodyPr/>
                    <a:lstStyle/>
                    <a:p>
                      <a:pPr indent="0" lvl="0" marL="0" marR="0" rtl="0" algn="l">
                        <a:spcBef>
                          <a:spcPts val="0"/>
                        </a:spcBef>
                        <a:spcAft>
                          <a:spcPts val="0"/>
                        </a:spcAft>
                        <a:buNone/>
                      </a:pPr>
                      <a:r>
                        <a:rPr lang="en-US" sz="1400">
                          <a:latin typeface="Arial"/>
                          <a:ea typeface="Arial"/>
                          <a:cs typeface="Arial"/>
                          <a:sym typeface="Arial"/>
                        </a:rPr>
                        <a:t>14</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64,509,974,703,297,200,000</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9.9years </a:t>
                      </a:r>
                      <a:endParaRPr/>
                    </a:p>
                  </a:txBody>
                  <a:tcPr marT="45725" marB="45725" marR="91450" marL="91450"/>
                </a:tc>
              </a:tr>
              <a:tr h="370850">
                <a:tc>
                  <a:txBody>
                    <a:bodyPr/>
                    <a:lstStyle/>
                    <a:p>
                      <a:pPr indent="0" lvl="0" marL="0" marR="0" rtl="0" algn="l">
                        <a:spcBef>
                          <a:spcPts val="0"/>
                        </a:spcBef>
                        <a:spcAft>
                          <a:spcPts val="0"/>
                        </a:spcAft>
                        <a:buNone/>
                      </a:pPr>
                      <a:r>
                        <a:rPr lang="en-US" sz="1400">
                          <a:latin typeface="Arial"/>
                          <a:ea typeface="Arial"/>
                          <a:cs typeface="Arial"/>
                          <a:sym typeface="Arial"/>
                        </a:rPr>
                        <a:t>15</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1,677,259,342,285,730,000,000</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256.6 years </a:t>
                      </a:r>
                      <a:endParaRPr/>
                    </a:p>
                  </a:txBody>
                  <a:tcPr marT="45725" marB="45725" marR="91450" marL="91450"/>
                </a:tc>
              </a:tr>
              <a:tr h="370850">
                <a:tc>
                  <a:txBody>
                    <a:bodyPr/>
                    <a:lstStyle/>
                    <a:p>
                      <a:pPr indent="0" lvl="0" marL="0" marR="0" rtl="0" algn="l">
                        <a:spcBef>
                          <a:spcPts val="0"/>
                        </a:spcBef>
                        <a:spcAft>
                          <a:spcPts val="0"/>
                        </a:spcAft>
                        <a:buNone/>
                      </a:pPr>
                      <a:r>
                        <a:rPr lang="en-US" sz="1400">
                          <a:latin typeface="Arial"/>
                          <a:ea typeface="Arial"/>
                          <a:cs typeface="Arial"/>
                          <a:sym typeface="Arial"/>
                        </a:rPr>
                        <a:t>16</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43,608,742,899,428,900,000,000</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6,672.9</a:t>
                      </a:r>
                      <a:r>
                        <a:rPr lang="en-US" sz="1400">
                          <a:latin typeface="Arial"/>
                          <a:ea typeface="Arial"/>
                          <a:cs typeface="Arial"/>
                          <a:sym typeface="Arial"/>
                        </a:rPr>
                        <a:t> years</a:t>
                      </a:r>
                      <a:endParaRPr sz="1400">
                        <a:latin typeface="Arial"/>
                        <a:ea typeface="Arial"/>
                        <a:cs typeface="Arial"/>
                        <a:sym typeface="Arial"/>
                      </a:endParaRPr>
                    </a:p>
                  </a:txBody>
                  <a:tcPr marT="45725" marB="45725" marR="91450" marL="91450"/>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7"/>
          <p:cNvSpPr txBox="1"/>
          <p:nvPr>
            <p:ph type="title"/>
          </p:nvPr>
        </p:nvSpPr>
        <p:spPr>
          <a:xfrm>
            <a:off x="0" y="76200"/>
            <a:ext cx="9144000" cy="990599"/>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b="1" lang="en-US"/>
              <a:t>Table 2-6</a:t>
            </a:r>
            <a:r>
              <a:rPr lang="en-US"/>
              <a:t> Password Power (2 of 2)</a:t>
            </a:r>
            <a:endParaRPr/>
          </a:p>
        </p:txBody>
      </p:sp>
      <p:sp>
        <p:nvSpPr>
          <p:cNvPr id="262" name="Google Shape;262;p37"/>
          <p:cNvSpPr txBox="1"/>
          <p:nvPr>
            <p:ph idx="2" type="body"/>
          </p:nvPr>
        </p:nvSpPr>
        <p:spPr>
          <a:xfrm>
            <a:off x="152400" y="1143000"/>
            <a:ext cx="8859672" cy="533400"/>
          </a:xfrm>
          <a:prstGeom prst="rect">
            <a:avLst/>
          </a:prstGeom>
          <a:solidFill>
            <a:srgbClr val="364162"/>
          </a:solidFill>
          <a:ln>
            <a:noFill/>
          </a:ln>
        </p:spPr>
        <p:txBody>
          <a:bodyPr anchorCtr="0" anchor="t" bIns="45700" lIns="91425" spcFirstLastPara="1" rIns="91425" wrap="square" tIns="45700">
            <a:noAutofit/>
          </a:bodyPr>
          <a:lstStyle/>
          <a:p>
            <a:pPr indent="0" lvl="0" marL="0" rtl="0" algn="l">
              <a:spcBef>
                <a:spcPts val="0"/>
              </a:spcBef>
              <a:spcAft>
                <a:spcPts val="0"/>
              </a:spcAft>
              <a:buSzPts val="1600"/>
              <a:buNone/>
            </a:pPr>
            <a:r>
              <a:rPr b="1" lang="en-US" sz="1600">
                <a:solidFill>
                  <a:schemeClr val="lt1"/>
                </a:solidFill>
              </a:rPr>
              <a:t>Case-Sensitive Passwords Using a Standards Alphabet Set (with Numbers and Special Characters)</a:t>
            </a:r>
            <a:endParaRPr/>
          </a:p>
        </p:txBody>
      </p:sp>
      <p:graphicFrame>
        <p:nvGraphicFramePr>
          <p:cNvPr id="263" name="Google Shape;263;p37"/>
          <p:cNvGraphicFramePr/>
          <p:nvPr/>
        </p:nvGraphicFramePr>
        <p:xfrm>
          <a:off x="152400" y="1676400"/>
          <a:ext cx="3000000" cy="3000000"/>
        </p:xfrm>
        <a:graphic>
          <a:graphicData uri="http://schemas.openxmlformats.org/drawingml/2006/table">
            <a:tbl>
              <a:tblPr bandRow="1" firstRow="1">
                <a:noFill/>
                <a:tableStyleId>{6765FC5E-082A-4690-9782-9FE3793750BE}</a:tableStyleId>
              </a:tblPr>
              <a:tblGrid>
                <a:gridCol w="1958450"/>
                <a:gridCol w="4191000"/>
                <a:gridCol w="2689750"/>
              </a:tblGrid>
              <a:tr h="370850">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Password</a:t>
                      </a:r>
                      <a:r>
                        <a:rPr b="1" lang="en-US" sz="1400">
                          <a:solidFill>
                            <a:schemeClr val="lt1"/>
                          </a:solidFill>
                          <a:latin typeface="Arial"/>
                          <a:ea typeface="Arial"/>
                          <a:cs typeface="Arial"/>
                          <a:sym typeface="Arial"/>
                        </a:rPr>
                        <a:t> Length</a:t>
                      </a:r>
                      <a:endParaRPr b="1" sz="1400">
                        <a:solidFill>
                          <a:schemeClr val="lt1"/>
                        </a:solidFill>
                        <a:latin typeface="Arial"/>
                        <a:ea typeface="Arial"/>
                        <a:cs typeface="Arial"/>
                        <a:sym typeface="Arial"/>
                      </a:endParaRPr>
                    </a:p>
                  </a:txBody>
                  <a:tcPr marT="45725" marB="45725" marR="91450" marL="91450">
                    <a:solidFill>
                      <a:srgbClr val="364162"/>
                    </a:solidFill>
                  </a:tcPr>
                </a:tc>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Odd of cracking: 1 in (Based on</a:t>
                      </a:r>
                      <a:r>
                        <a:rPr b="1" lang="en-US" sz="1400">
                          <a:solidFill>
                            <a:schemeClr val="lt1"/>
                          </a:solidFill>
                          <a:latin typeface="Arial"/>
                          <a:ea typeface="Arial"/>
                          <a:cs typeface="Arial"/>
                          <a:sym typeface="Arial"/>
                        </a:rPr>
                        <a:t> Numbers of Characters ^ Password length):</a:t>
                      </a:r>
                      <a:endParaRPr b="1" sz="1400">
                        <a:solidFill>
                          <a:schemeClr val="lt1"/>
                        </a:solidFill>
                        <a:latin typeface="Arial"/>
                        <a:ea typeface="Arial"/>
                        <a:cs typeface="Arial"/>
                        <a:sym typeface="Arial"/>
                      </a:endParaRPr>
                    </a:p>
                  </a:txBody>
                  <a:tcPr marT="45725" marB="45725" marR="91450" marL="91450">
                    <a:solidFill>
                      <a:srgbClr val="364162"/>
                    </a:solidFill>
                  </a:tcPr>
                </a:tc>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Estimated Time</a:t>
                      </a:r>
                      <a:r>
                        <a:rPr b="1" lang="en-US" sz="1400">
                          <a:solidFill>
                            <a:schemeClr val="lt1"/>
                          </a:solidFill>
                          <a:latin typeface="Arial"/>
                          <a:ea typeface="Arial"/>
                          <a:cs typeface="Arial"/>
                          <a:sym typeface="Arial"/>
                        </a:rPr>
                        <a:t> to Crack*</a:t>
                      </a:r>
                      <a:endParaRPr b="1" sz="1400">
                        <a:solidFill>
                          <a:schemeClr val="lt1"/>
                        </a:solidFill>
                        <a:latin typeface="Arial"/>
                        <a:ea typeface="Arial"/>
                        <a:cs typeface="Arial"/>
                        <a:sym typeface="Arial"/>
                      </a:endParaRPr>
                    </a:p>
                  </a:txBody>
                  <a:tcPr marT="45725" marB="45725" marR="91450" marL="91450">
                    <a:solidFill>
                      <a:srgbClr val="364162"/>
                    </a:solidFill>
                  </a:tcPr>
                </a:tc>
              </a:tr>
              <a:tr h="370850">
                <a:tc>
                  <a:txBody>
                    <a:bodyPr/>
                    <a:lstStyle/>
                    <a:p>
                      <a:pPr indent="0" lvl="0" marL="0" marR="0" rtl="0" algn="l">
                        <a:spcBef>
                          <a:spcPts val="0"/>
                        </a:spcBef>
                        <a:spcAft>
                          <a:spcPts val="0"/>
                        </a:spcAft>
                        <a:buNone/>
                      </a:pPr>
                      <a:r>
                        <a:rPr lang="en-US" sz="1400">
                          <a:latin typeface="Arial"/>
                          <a:ea typeface="Arial"/>
                          <a:cs typeface="Arial"/>
                          <a:sym typeface="Arial"/>
                        </a:rPr>
                        <a:t>8</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2,044,140,858,654,980</a:t>
                      </a:r>
                      <a:endParaRPr sz="14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2.7 hours </a:t>
                      </a:r>
                      <a:endParaRPr/>
                    </a:p>
                  </a:txBody>
                  <a:tcPr marT="45725" marB="45725" marR="91450" marL="91450"/>
                </a:tc>
              </a:tr>
              <a:tr h="370850">
                <a:tc>
                  <a:txBody>
                    <a:bodyPr/>
                    <a:lstStyle/>
                    <a:p>
                      <a:pPr indent="0" lvl="0" marL="0" marR="0" rtl="0" algn="l">
                        <a:spcBef>
                          <a:spcPts val="0"/>
                        </a:spcBef>
                        <a:spcAft>
                          <a:spcPts val="0"/>
                        </a:spcAft>
                        <a:buNone/>
                      </a:pPr>
                      <a:r>
                        <a:rPr lang="en-US" sz="1400">
                          <a:latin typeface="Arial"/>
                          <a:ea typeface="Arial"/>
                          <a:cs typeface="Arial"/>
                          <a:sym typeface="Arial"/>
                        </a:rPr>
                        <a:t>9</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167,619,550,409,708,000</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9.4 days</a:t>
                      </a:r>
                      <a:endParaRPr/>
                    </a:p>
                  </a:txBody>
                  <a:tcPr marT="45725" marB="45725" marR="91450" marL="91450"/>
                </a:tc>
              </a:tr>
              <a:tr h="370850">
                <a:tc>
                  <a:txBody>
                    <a:bodyPr/>
                    <a:lstStyle/>
                    <a:p>
                      <a:pPr indent="0" lvl="0" marL="0" marR="0" rtl="0" algn="l">
                        <a:spcBef>
                          <a:spcPts val="0"/>
                        </a:spcBef>
                        <a:spcAft>
                          <a:spcPts val="0"/>
                        </a:spcAft>
                        <a:buNone/>
                      </a:pPr>
                      <a:r>
                        <a:rPr lang="en-US" sz="1400">
                          <a:latin typeface="Arial"/>
                          <a:ea typeface="Arial"/>
                          <a:cs typeface="Arial"/>
                          <a:sym typeface="Arial"/>
                        </a:rPr>
                        <a:t>10</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13,744,803,133,596,100,000</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2.1 years </a:t>
                      </a:r>
                      <a:endParaRPr/>
                    </a:p>
                  </a:txBody>
                  <a:tcPr marT="45725" marB="45725" marR="91450" marL="91450"/>
                </a:tc>
              </a:tr>
              <a:tr h="370850">
                <a:tc>
                  <a:txBody>
                    <a:bodyPr/>
                    <a:lstStyle/>
                    <a:p>
                      <a:pPr indent="0" lvl="0" marL="0" marR="0" rtl="0" algn="l">
                        <a:spcBef>
                          <a:spcPts val="0"/>
                        </a:spcBef>
                        <a:spcAft>
                          <a:spcPts val="0"/>
                        </a:spcAft>
                        <a:buNone/>
                      </a:pPr>
                      <a:r>
                        <a:rPr lang="en-US" sz="1400">
                          <a:latin typeface="Arial"/>
                          <a:ea typeface="Arial"/>
                          <a:cs typeface="Arial"/>
                          <a:sym typeface="Arial"/>
                        </a:rPr>
                        <a:t>11</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1,127,073,856,954,880,000,000</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172.5 years </a:t>
                      </a:r>
                      <a:endParaRPr/>
                    </a:p>
                  </a:txBody>
                  <a:tcPr marT="45725" marB="45725" marR="91450" marL="91450"/>
                </a:tc>
              </a:tr>
              <a:tr h="370850">
                <a:tc>
                  <a:txBody>
                    <a:bodyPr/>
                    <a:lstStyle/>
                    <a:p>
                      <a:pPr indent="0" lvl="0" marL="0" marR="0" rtl="0" algn="l">
                        <a:spcBef>
                          <a:spcPts val="0"/>
                        </a:spcBef>
                        <a:spcAft>
                          <a:spcPts val="0"/>
                        </a:spcAft>
                        <a:buNone/>
                      </a:pPr>
                      <a:r>
                        <a:rPr lang="en-US" sz="1400">
                          <a:latin typeface="Arial"/>
                          <a:ea typeface="Arial"/>
                          <a:cs typeface="Arial"/>
                          <a:sym typeface="Arial"/>
                        </a:rPr>
                        <a:t>12</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92,420,056,270,299,900,000,000</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14,141.9 years </a:t>
                      </a:r>
                      <a:endParaRPr/>
                    </a:p>
                  </a:txBody>
                  <a:tcPr marT="45725" marB="45725" marR="91450" marL="91450"/>
                </a:tc>
              </a:tr>
              <a:tr h="370850">
                <a:tc>
                  <a:txBody>
                    <a:bodyPr/>
                    <a:lstStyle/>
                    <a:p>
                      <a:pPr indent="0" lvl="0" marL="0" marR="0" rtl="0" algn="l">
                        <a:spcBef>
                          <a:spcPts val="0"/>
                        </a:spcBef>
                        <a:spcAft>
                          <a:spcPts val="0"/>
                        </a:spcAft>
                        <a:buNone/>
                      </a:pPr>
                      <a:r>
                        <a:rPr lang="en-US" sz="1400">
                          <a:latin typeface="Arial"/>
                          <a:ea typeface="Arial"/>
                          <a:cs typeface="Arial"/>
                          <a:sym typeface="Arial"/>
                        </a:rPr>
                        <a:t>13</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7,578,444,614,164,590,000,000,000</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1,159,633.8 years </a:t>
                      </a:r>
                      <a:endParaRPr/>
                    </a:p>
                  </a:txBody>
                  <a:tcPr marT="45725" marB="45725" marR="91450" marL="91450"/>
                </a:tc>
              </a:tr>
              <a:tr h="370850">
                <a:tc>
                  <a:txBody>
                    <a:bodyPr/>
                    <a:lstStyle/>
                    <a:p>
                      <a:pPr indent="0" lvl="0" marL="0" marR="0" rtl="0" algn="l">
                        <a:spcBef>
                          <a:spcPts val="0"/>
                        </a:spcBef>
                        <a:spcAft>
                          <a:spcPts val="0"/>
                        </a:spcAft>
                        <a:buNone/>
                      </a:pPr>
                      <a:r>
                        <a:rPr lang="en-US" sz="1400">
                          <a:latin typeface="Arial"/>
                          <a:ea typeface="Arial"/>
                          <a:cs typeface="Arial"/>
                          <a:sym typeface="Arial"/>
                        </a:rPr>
                        <a:t>14</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621,432,458,361,496,000,000,000,000</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95,089,967.6 years</a:t>
                      </a:r>
                      <a:endParaRPr/>
                    </a:p>
                  </a:txBody>
                  <a:tcPr marT="45725" marB="45725" marR="91450" marL="91450"/>
                </a:tc>
              </a:tr>
              <a:tr h="370850">
                <a:tc>
                  <a:txBody>
                    <a:bodyPr/>
                    <a:lstStyle/>
                    <a:p>
                      <a:pPr indent="0" lvl="0" marL="0" marR="0" rtl="0" algn="l">
                        <a:spcBef>
                          <a:spcPts val="0"/>
                        </a:spcBef>
                        <a:spcAft>
                          <a:spcPts val="0"/>
                        </a:spcAft>
                        <a:buNone/>
                      </a:pPr>
                      <a:r>
                        <a:rPr lang="en-US" sz="1400">
                          <a:latin typeface="Arial"/>
                          <a:ea typeface="Arial"/>
                          <a:cs typeface="Arial"/>
                          <a:sym typeface="Arial"/>
                        </a:rPr>
                        <a:t>15</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50,957,461,585,642,700,000,000,000,000</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7,797,377,343.5 years</a:t>
                      </a:r>
                      <a:endParaRPr/>
                    </a:p>
                  </a:txBody>
                  <a:tcPr marT="45725" marB="45725" marR="91450" marL="91450"/>
                </a:tc>
              </a:tr>
              <a:tr h="370850">
                <a:tc>
                  <a:txBody>
                    <a:bodyPr/>
                    <a:lstStyle/>
                    <a:p>
                      <a:pPr indent="0" lvl="0" marL="0" marR="0" rtl="0" algn="l">
                        <a:spcBef>
                          <a:spcPts val="0"/>
                        </a:spcBef>
                        <a:spcAft>
                          <a:spcPts val="0"/>
                        </a:spcAft>
                        <a:buNone/>
                      </a:pPr>
                      <a:r>
                        <a:rPr lang="en-US" sz="1400">
                          <a:latin typeface="Arial"/>
                          <a:ea typeface="Arial"/>
                          <a:cs typeface="Arial"/>
                          <a:sym typeface="Arial"/>
                        </a:rPr>
                        <a:t>16</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4,178,511,850,022,700,000,000,000,000,000</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639,384,942,170.1</a:t>
                      </a:r>
                      <a:r>
                        <a:rPr lang="en-US" sz="1400">
                          <a:latin typeface="Arial"/>
                          <a:ea typeface="Arial"/>
                          <a:cs typeface="Arial"/>
                          <a:sym typeface="Arial"/>
                        </a:rPr>
                        <a:t> years</a:t>
                      </a:r>
                      <a:endParaRPr sz="1400">
                        <a:latin typeface="Arial"/>
                        <a:ea typeface="Arial"/>
                        <a:cs typeface="Arial"/>
                        <a:sym typeface="Arial"/>
                      </a:endParaRPr>
                    </a:p>
                  </a:txBody>
                  <a:tcPr marT="45725" marB="45725" marR="91450" marL="91450"/>
                </a:tc>
              </a:tr>
            </a:tbl>
          </a:graphicData>
        </a:graphic>
      </p:graphicFrame>
      <p:sp>
        <p:nvSpPr>
          <p:cNvPr id="264" name="Google Shape;264;p37"/>
          <p:cNvSpPr txBox="1"/>
          <p:nvPr>
            <p:ph idx="1" type="body"/>
          </p:nvPr>
        </p:nvSpPr>
        <p:spPr>
          <a:xfrm>
            <a:off x="39806" y="5638800"/>
            <a:ext cx="9104194" cy="685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00"/>
              <a:buNone/>
            </a:pPr>
            <a:r>
              <a:rPr lang="en-US" sz="1400"/>
              <a:t>*Estimated Time to crack is based on a 2015-era PC with an intel i7-6700K Quad Core CPU performing 207.23 Dhrystone GIPS (giga/ billion instructions per second) at 4.0 GHz.</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8"/>
          <p:cNvSpPr txBox="1"/>
          <p:nvPr>
            <p:ph type="title"/>
          </p:nvPr>
        </p:nvSpPr>
        <p:spPr>
          <a:xfrm>
            <a:off x="45720" y="27709"/>
            <a:ext cx="9098280" cy="10390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Forces of Nature </a:t>
            </a:r>
            <a:endParaRPr/>
          </a:p>
        </p:txBody>
      </p:sp>
      <p:sp>
        <p:nvSpPr>
          <p:cNvPr id="272" name="Google Shape;272;p38"/>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lnSpc>
                <a:spcPct val="120000"/>
              </a:lnSpc>
              <a:spcBef>
                <a:spcPts val="0"/>
              </a:spcBef>
              <a:spcAft>
                <a:spcPts val="0"/>
              </a:spcAft>
              <a:buSzPts val="2800"/>
              <a:buChar char="•"/>
            </a:pPr>
            <a:r>
              <a:rPr lang="en-US" sz="2800"/>
              <a:t>Forces of nature can present some of the most dangerous threats.</a:t>
            </a:r>
            <a:endParaRPr/>
          </a:p>
          <a:p>
            <a:pPr indent="-342900" lvl="0" marL="342900" rtl="0" algn="l">
              <a:lnSpc>
                <a:spcPct val="120000"/>
              </a:lnSpc>
              <a:spcBef>
                <a:spcPts val="600"/>
              </a:spcBef>
              <a:spcAft>
                <a:spcPts val="0"/>
              </a:spcAft>
              <a:buSzPts val="2800"/>
              <a:buChar char="•"/>
            </a:pPr>
            <a:r>
              <a:rPr lang="en-US" sz="2800"/>
              <a:t>They disrupt not only individual lives but also storage, transmission, and use of information.</a:t>
            </a:r>
            <a:endParaRPr/>
          </a:p>
          <a:p>
            <a:pPr indent="-342900" lvl="0" marL="342900" rtl="0" algn="l">
              <a:lnSpc>
                <a:spcPct val="120000"/>
              </a:lnSpc>
              <a:spcBef>
                <a:spcPts val="600"/>
              </a:spcBef>
              <a:spcAft>
                <a:spcPts val="0"/>
              </a:spcAft>
              <a:buSzPts val="2800"/>
              <a:buChar char="•"/>
            </a:pPr>
            <a:r>
              <a:rPr lang="en-US" sz="2800"/>
              <a:t>Organizations must implement controls to limit damage and prepare contingency plans for continued operations.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9"/>
          <p:cNvSpPr txBox="1"/>
          <p:nvPr>
            <p:ph type="title"/>
          </p:nvPr>
        </p:nvSpPr>
        <p:spPr>
          <a:xfrm>
            <a:off x="45720" y="27709"/>
            <a:ext cx="9098280" cy="10390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Human Error or Failure (1 of 2) </a:t>
            </a:r>
            <a:endParaRPr/>
          </a:p>
        </p:txBody>
      </p:sp>
      <p:sp>
        <p:nvSpPr>
          <p:cNvPr id="280" name="Google Shape;280;p39"/>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US" sz="2800"/>
              <a:t>Includes acts performed without malicious intent or in ignorance </a:t>
            </a:r>
            <a:endParaRPr/>
          </a:p>
          <a:p>
            <a:pPr indent="-342900" lvl="0" marL="342900" rtl="0" algn="l">
              <a:spcBef>
                <a:spcPts val="600"/>
              </a:spcBef>
              <a:spcAft>
                <a:spcPts val="0"/>
              </a:spcAft>
              <a:buSzPts val="2800"/>
              <a:buChar char="•"/>
            </a:pPr>
            <a:r>
              <a:rPr lang="en-US" sz="2800"/>
              <a:t>Causes include:</a:t>
            </a:r>
            <a:endParaRPr/>
          </a:p>
          <a:p>
            <a:pPr indent="-285750" lvl="1" marL="742950" rtl="0" algn="l">
              <a:spcBef>
                <a:spcPts val="600"/>
              </a:spcBef>
              <a:spcAft>
                <a:spcPts val="0"/>
              </a:spcAft>
              <a:buSzPts val="2600"/>
              <a:buChar char="–"/>
            </a:pPr>
            <a:r>
              <a:rPr lang="en-US" sz="2600"/>
              <a:t>Inexperience</a:t>
            </a:r>
            <a:endParaRPr/>
          </a:p>
          <a:p>
            <a:pPr indent="-285750" lvl="1" marL="742950" rtl="0" algn="l">
              <a:spcBef>
                <a:spcPts val="600"/>
              </a:spcBef>
              <a:spcAft>
                <a:spcPts val="0"/>
              </a:spcAft>
              <a:buSzPts val="2600"/>
              <a:buChar char="–"/>
            </a:pPr>
            <a:r>
              <a:rPr lang="en-US" sz="2600"/>
              <a:t>Improper training</a:t>
            </a:r>
            <a:endParaRPr/>
          </a:p>
          <a:p>
            <a:pPr indent="-285750" lvl="1" marL="742950" rtl="0" algn="l">
              <a:spcBef>
                <a:spcPts val="600"/>
              </a:spcBef>
              <a:spcAft>
                <a:spcPts val="0"/>
              </a:spcAft>
              <a:buSzPts val="2600"/>
              <a:buChar char="–"/>
            </a:pPr>
            <a:r>
              <a:rPr lang="en-US" sz="2600"/>
              <a:t>Incorrect assumptions</a:t>
            </a:r>
            <a:endParaRPr/>
          </a:p>
          <a:p>
            <a:pPr indent="-342900" lvl="0" marL="342900" rtl="0" algn="l">
              <a:spcBef>
                <a:spcPts val="600"/>
              </a:spcBef>
              <a:spcAft>
                <a:spcPts val="0"/>
              </a:spcAft>
              <a:buSzPts val="2800"/>
              <a:buChar char="•"/>
            </a:pPr>
            <a:r>
              <a:rPr lang="en-US" sz="2800"/>
              <a:t>Employees are among the greatest threats to an organization’s data</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0"/>
          <p:cNvSpPr txBox="1"/>
          <p:nvPr>
            <p:ph type="title"/>
          </p:nvPr>
        </p:nvSpPr>
        <p:spPr>
          <a:xfrm>
            <a:off x="45720" y="27709"/>
            <a:ext cx="9098280" cy="10390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Human Error or Failure (2 of 2)</a:t>
            </a:r>
            <a:endParaRPr/>
          </a:p>
        </p:txBody>
      </p:sp>
      <p:sp>
        <p:nvSpPr>
          <p:cNvPr id="288" name="Google Shape;288;p40"/>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lnSpc>
                <a:spcPct val="120000"/>
              </a:lnSpc>
              <a:spcBef>
                <a:spcPts val="0"/>
              </a:spcBef>
              <a:spcAft>
                <a:spcPts val="0"/>
              </a:spcAft>
              <a:buSzPct val="100000"/>
              <a:buChar char="•"/>
            </a:pPr>
            <a:r>
              <a:rPr lang="en-US" sz="2800"/>
              <a:t>Employee mistakes can easily lead to</a:t>
            </a:r>
            <a:r>
              <a:rPr lang="en-US"/>
              <a:t>: </a:t>
            </a:r>
            <a:endParaRPr/>
          </a:p>
          <a:p>
            <a:pPr indent="-285750" lvl="1" marL="742950" rtl="0" algn="l">
              <a:lnSpc>
                <a:spcPct val="120000"/>
              </a:lnSpc>
              <a:spcBef>
                <a:spcPts val="600"/>
              </a:spcBef>
              <a:spcAft>
                <a:spcPts val="0"/>
              </a:spcAft>
              <a:buSzPct val="100000"/>
              <a:buChar char="–"/>
            </a:pPr>
            <a:r>
              <a:rPr lang="en-US" sz="2600"/>
              <a:t>Revelation of classified data </a:t>
            </a:r>
            <a:endParaRPr/>
          </a:p>
          <a:p>
            <a:pPr indent="-285750" lvl="1" marL="742950" rtl="0" algn="l">
              <a:lnSpc>
                <a:spcPct val="120000"/>
              </a:lnSpc>
              <a:spcBef>
                <a:spcPts val="600"/>
              </a:spcBef>
              <a:spcAft>
                <a:spcPts val="0"/>
              </a:spcAft>
              <a:buSzPct val="100000"/>
              <a:buChar char="–"/>
            </a:pPr>
            <a:r>
              <a:rPr lang="en-US" sz="2600"/>
              <a:t>Entry of erroneous data</a:t>
            </a:r>
            <a:endParaRPr/>
          </a:p>
          <a:p>
            <a:pPr indent="-285750" lvl="1" marL="742950" rtl="0" algn="l">
              <a:lnSpc>
                <a:spcPct val="120000"/>
              </a:lnSpc>
              <a:spcBef>
                <a:spcPts val="600"/>
              </a:spcBef>
              <a:spcAft>
                <a:spcPts val="0"/>
              </a:spcAft>
              <a:buSzPct val="100000"/>
              <a:buChar char="–"/>
            </a:pPr>
            <a:r>
              <a:rPr lang="en-US" sz="2600"/>
              <a:t>Accidental data deletion or modification</a:t>
            </a:r>
            <a:endParaRPr/>
          </a:p>
          <a:p>
            <a:pPr indent="-285750" lvl="1" marL="742950" rtl="0" algn="l">
              <a:lnSpc>
                <a:spcPct val="120000"/>
              </a:lnSpc>
              <a:spcBef>
                <a:spcPts val="600"/>
              </a:spcBef>
              <a:spcAft>
                <a:spcPts val="0"/>
              </a:spcAft>
              <a:buSzPct val="100000"/>
              <a:buChar char="–"/>
            </a:pPr>
            <a:r>
              <a:rPr lang="en-US" sz="2600"/>
              <a:t>Data storage in unprotected areas</a:t>
            </a:r>
            <a:endParaRPr/>
          </a:p>
          <a:p>
            <a:pPr indent="-285750" lvl="1" marL="742950" rtl="0" algn="l">
              <a:lnSpc>
                <a:spcPct val="120000"/>
              </a:lnSpc>
              <a:spcBef>
                <a:spcPts val="600"/>
              </a:spcBef>
              <a:spcAft>
                <a:spcPts val="0"/>
              </a:spcAft>
              <a:buSzPct val="100000"/>
              <a:buChar char="–"/>
            </a:pPr>
            <a:r>
              <a:rPr lang="en-US" sz="2600"/>
              <a:t>Failure to protect information</a:t>
            </a:r>
            <a:endParaRPr/>
          </a:p>
          <a:p>
            <a:pPr indent="-342900" lvl="0" marL="342900" rtl="0" algn="l">
              <a:lnSpc>
                <a:spcPct val="120000"/>
              </a:lnSpc>
              <a:spcBef>
                <a:spcPts val="600"/>
              </a:spcBef>
              <a:spcAft>
                <a:spcPts val="0"/>
              </a:spcAft>
              <a:buSzPct val="100000"/>
              <a:buChar char="•"/>
            </a:pPr>
            <a:r>
              <a:rPr lang="en-US" sz="2800"/>
              <a:t>Many of these threats can be prevented with training, ongoing awareness activities, and controls</a:t>
            </a:r>
            <a:endParaRPr/>
          </a:p>
          <a:p>
            <a:pPr indent="-342900" lvl="0" marL="342900" rtl="0" algn="l">
              <a:lnSpc>
                <a:spcPct val="120000"/>
              </a:lnSpc>
              <a:spcBef>
                <a:spcPts val="600"/>
              </a:spcBef>
              <a:spcAft>
                <a:spcPts val="0"/>
              </a:spcAft>
              <a:buSzPct val="100000"/>
              <a:buChar char="•"/>
            </a:pPr>
            <a:r>
              <a:rPr lang="en-US" sz="2800"/>
              <a:t>Social engineering uses social skills to convince people to reveal access credentials or other valuable information to an attacker</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1"/>
          <p:cNvSpPr txBox="1"/>
          <p:nvPr>
            <p:ph type="title"/>
          </p:nvPr>
        </p:nvSpPr>
        <p:spPr>
          <a:xfrm>
            <a:off x="0" y="152400"/>
            <a:ext cx="91440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Arial"/>
              <a:buNone/>
            </a:pPr>
            <a:r>
              <a:rPr b="1" lang="en-US"/>
              <a:t>Figure 2-9 </a:t>
            </a:r>
            <a:r>
              <a:rPr lang="en-US"/>
              <a:t>The biggest threat—acts of human error or failure</a:t>
            </a:r>
            <a:endParaRPr baseline="30000"/>
          </a:p>
        </p:txBody>
      </p:sp>
      <p:pic>
        <p:nvPicPr>
          <p:cNvPr descr="A figure shows three photos, the first shows a man with a rod working and the text below reads as, “Tommy Two story, convicted burglar.” The second photo on the right shows a man typing in laptop and the text below the photo reads as, “Elite Skillz, wannabe hacker.” The third is shown in the middle below the first two photos. The third photo shows a woman taking a note from a phone call. The text below the photo reads as, “Harriett All thumbs, confused the copier with the shredder when preparing the annual sales report.”&#10;" id="295" name="Google Shape;295;p41"/>
          <p:cNvPicPr preferRelativeResize="0"/>
          <p:nvPr/>
        </p:nvPicPr>
        <p:blipFill rotWithShape="1">
          <a:blip r:embed="rId3">
            <a:alphaModFix/>
          </a:blip>
          <a:srcRect b="4685" l="0" r="0" t="0"/>
          <a:stretch/>
        </p:blipFill>
        <p:spPr>
          <a:xfrm>
            <a:off x="1475502" y="1482436"/>
            <a:ext cx="6156211" cy="4156364"/>
          </a:xfrm>
          <a:prstGeom prst="rect">
            <a:avLst/>
          </a:prstGeom>
          <a:noFill/>
          <a:ln>
            <a:noFill/>
          </a:ln>
        </p:spPr>
      </p:pic>
      <p:sp>
        <p:nvSpPr>
          <p:cNvPr id="296" name="Google Shape;296;p41"/>
          <p:cNvSpPr txBox="1"/>
          <p:nvPr>
            <p:ph idx="1" type="body"/>
          </p:nvPr>
        </p:nvSpPr>
        <p:spPr>
          <a:xfrm>
            <a:off x="410560" y="5715000"/>
            <a:ext cx="8047639" cy="381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000"/>
              <a:buNone/>
            </a:pPr>
            <a:r>
              <a:rPr baseline="30000" i="1" lang="en-US" sz="2000"/>
              <a:t>Source: © iStockphoto/BartCo, © iStockphoto/sdominick, © iStockphoto/mikkelwilliam.</a:t>
            </a:r>
            <a:endParaRPr i="1" sz="20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2"/>
          <p:cNvSpPr txBox="1"/>
          <p:nvPr>
            <p:ph type="title"/>
          </p:nvPr>
        </p:nvSpPr>
        <p:spPr>
          <a:xfrm>
            <a:off x="45720" y="27709"/>
            <a:ext cx="9098280" cy="10390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Social Engineering‏</a:t>
            </a:r>
            <a:endParaRPr/>
          </a:p>
        </p:txBody>
      </p:sp>
      <p:sp>
        <p:nvSpPr>
          <p:cNvPr id="304" name="Google Shape;304;p42"/>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600"/>
              <a:buChar char="•"/>
            </a:pPr>
            <a:r>
              <a:rPr lang="en-US">
                <a:solidFill>
                  <a:srgbClr val="FF0000"/>
                </a:solidFill>
              </a:rPr>
              <a:t>“People are the weakest link. You can have the best technology; firewalls, intrusion-detection systems, biometric devices ... and somebody can call an unsuspecting employee. That's all she wrote, baby. They got everything.”—Kevin Mitnick</a:t>
            </a:r>
            <a:endParaRPr>
              <a:solidFill>
                <a:srgbClr val="FF0000"/>
              </a:solidFill>
            </a:endParaRPr>
          </a:p>
          <a:p>
            <a:pPr indent="-342900" lvl="0" marL="342900" rtl="0" algn="l">
              <a:spcBef>
                <a:spcPts val="600"/>
              </a:spcBef>
              <a:spcAft>
                <a:spcPts val="0"/>
              </a:spcAft>
              <a:buSzPts val="2600"/>
              <a:buChar char="•"/>
            </a:pPr>
            <a:r>
              <a:rPr lang="en-US">
                <a:solidFill>
                  <a:srgbClr val="FF0000"/>
                </a:solidFill>
              </a:rPr>
              <a:t>Advance-fee fraud: indicates recipient is due money and small advance fee/personal banking information required to facilitate transfer</a:t>
            </a:r>
            <a:endParaRPr/>
          </a:p>
          <a:p>
            <a:pPr indent="-342900" lvl="0" marL="342900" rtl="0" algn="l">
              <a:spcBef>
                <a:spcPts val="600"/>
              </a:spcBef>
              <a:spcAft>
                <a:spcPts val="0"/>
              </a:spcAft>
              <a:buSzPts val="2600"/>
              <a:buChar char="•"/>
            </a:pPr>
            <a:r>
              <a:rPr lang="en-US">
                <a:solidFill>
                  <a:srgbClr val="FF0000"/>
                </a:solidFill>
              </a:rPr>
              <a:t>Phishing: attempt to gain personal/confidential information; apparent legitimate communication hides embedded code that redirects user to third-party site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3"/>
          <p:cNvSpPr txBox="1"/>
          <p:nvPr>
            <p:ph type="title"/>
          </p:nvPr>
        </p:nvSpPr>
        <p:spPr>
          <a:xfrm>
            <a:off x="0" y="-1"/>
            <a:ext cx="9067800" cy="115276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Arial"/>
              <a:buNone/>
            </a:pPr>
            <a:r>
              <a:rPr b="1" lang="en-US"/>
              <a:t>Figure 2-10  </a:t>
            </a:r>
            <a:r>
              <a:rPr lang="en-US"/>
              <a:t>Example of a Nigerian 4-1-9 fraud letter</a:t>
            </a:r>
            <a:endParaRPr baseline="30000"/>
          </a:p>
        </p:txBody>
      </p:sp>
      <p:pic>
        <p:nvPicPr>
          <p:cNvPr descr="A figure shows two images. The first is a post card with two stamps on it.  The next image on the right is the body of the letter regarding Nigeria National Petroleum Corporation. Below it, the text reads as, “PETROLEUM AND PROJECT DIVISION, Tel.: +234-80-33084057, 234-1-4805653, Fax: +234-1-2882183, 234-1-7591061, P.M.B 2071, LAGOS – NIGERIA.” On the right corner, the date reads as, “29th JANUARY, 2002.” &#10;" id="310" name="Google Shape;310;p43"/>
          <p:cNvPicPr preferRelativeResize="0"/>
          <p:nvPr/>
        </p:nvPicPr>
        <p:blipFill rotWithShape="1">
          <a:blip r:embed="rId3">
            <a:alphaModFix/>
          </a:blip>
          <a:srcRect b="0" l="0" r="0" t="0"/>
          <a:stretch/>
        </p:blipFill>
        <p:spPr>
          <a:xfrm>
            <a:off x="1644587" y="1152763"/>
            <a:ext cx="5854827" cy="4552474"/>
          </a:xfrm>
          <a:prstGeom prst="rect">
            <a:avLst/>
          </a:prstGeom>
          <a:noFill/>
          <a:ln>
            <a:noFill/>
          </a:ln>
        </p:spPr>
      </p:pic>
      <p:sp>
        <p:nvSpPr>
          <p:cNvPr id="311" name="Google Shape;311;p43"/>
          <p:cNvSpPr txBox="1"/>
          <p:nvPr>
            <p:ph idx="1" type="body"/>
          </p:nvPr>
        </p:nvSpPr>
        <p:spPr>
          <a:xfrm>
            <a:off x="428953" y="5726846"/>
            <a:ext cx="8286093" cy="381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000"/>
              <a:buNone/>
            </a:pPr>
            <a:r>
              <a:rPr baseline="30000" i="1" lang="en-US" sz="2000"/>
              <a:t>Source: © iStockphoto/BartCo, © iStockphoto/sdominick, © iStockphoto/mikkelwilliam.</a:t>
            </a:r>
            <a:endParaRPr i="1" sz="20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4"/>
          <p:cNvSpPr txBox="1"/>
          <p:nvPr>
            <p:ph type="title"/>
          </p:nvPr>
        </p:nvSpPr>
        <p:spPr>
          <a:xfrm>
            <a:off x="0" y="142637"/>
            <a:ext cx="9144000" cy="115276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FF0000"/>
              </a:buClr>
              <a:buSzPts val="3600"/>
              <a:buFont typeface="Arial"/>
              <a:buNone/>
            </a:pPr>
            <a:r>
              <a:rPr b="1" lang="en-US">
                <a:solidFill>
                  <a:srgbClr val="FF0000"/>
                </a:solidFill>
              </a:rPr>
              <a:t>Figure 2-11  </a:t>
            </a:r>
            <a:r>
              <a:rPr lang="en-US">
                <a:solidFill>
                  <a:srgbClr val="FF0000"/>
                </a:solidFill>
              </a:rPr>
              <a:t>Phishing example: lure</a:t>
            </a:r>
            <a:endParaRPr baseline="30000">
              <a:solidFill>
                <a:srgbClr val="FF0000"/>
              </a:solidFill>
            </a:endParaRPr>
          </a:p>
        </p:txBody>
      </p:sp>
      <p:pic>
        <p:nvPicPr>
          <p:cNvPr descr="A figure shows a screen shot of mail message. On the top File, Edit, View, Go, Bookmarks, Tools and help icons.  Below it is a box icons, they are close, forward, reply to sender, reply all, move, delete, read later and properties. The posting mail column reads as, “From: online@regions.com&lt;online@regions.com&gt;, To: Michael Whitman, Date: Friday – January 26, 2007 6:53PM, Subject: You have one new ALERT message.” Below it is the attachment symbol beside which the text reads as, “Mime. 822 (2028 bytes) [view] [Save as].” Below it is a box inside which the text reads as, “You have one new alert message. Please login to your RegionsNet Online Banking and visit the Message center section in order to read the message.” Below it the text reads as, “To login, please click the link below:” and below it the text reads as, “Go to RegionsNet Online.” &#10;" id="317" name="Google Shape;317;p44"/>
          <p:cNvPicPr preferRelativeResize="0"/>
          <p:nvPr/>
        </p:nvPicPr>
        <p:blipFill rotWithShape="1">
          <a:blip r:embed="rId3">
            <a:alphaModFix/>
          </a:blip>
          <a:srcRect b="0" l="0" r="0" t="0"/>
          <a:stretch/>
        </p:blipFill>
        <p:spPr>
          <a:xfrm>
            <a:off x="2079579" y="1361050"/>
            <a:ext cx="5013097" cy="48111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5"/>
          <p:cNvSpPr txBox="1"/>
          <p:nvPr>
            <p:ph type="title"/>
          </p:nvPr>
        </p:nvSpPr>
        <p:spPr>
          <a:xfrm>
            <a:off x="415637" y="142637"/>
            <a:ext cx="8312727" cy="1152763"/>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Arial"/>
              <a:buNone/>
            </a:pPr>
            <a:r>
              <a:rPr b="1" lang="en-US"/>
              <a:t>Figure 2-12  </a:t>
            </a:r>
            <a:r>
              <a:rPr lang="en-US"/>
              <a:t>Phishing example: fake Website</a:t>
            </a:r>
            <a:endParaRPr baseline="30000"/>
          </a:p>
        </p:txBody>
      </p:sp>
      <p:pic>
        <p:nvPicPr>
          <p:cNvPr descr="A screen shot shows online banking page of regions Net which displays the secure login. The login details are shown as blank boxes where the login ID and password has to be entered and near to it, a box is shown with the text that reads as, “Access accounts.” Then below it, two points of tips are given and at the bottom, two blocks with text, “Personal banking demo and enroll in RegionsNet” for clicking are shown. At last, in the bottom of the page, disclaimer is shown in two lines along with the copyright information.&#10;" id="323" name="Google Shape;323;p45"/>
          <p:cNvPicPr preferRelativeResize="0"/>
          <p:nvPr/>
        </p:nvPicPr>
        <p:blipFill rotWithShape="1">
          <a:blip r:embed="rId3">
            <a:alphaModFix/>
          </a:blip>
          <a:srcRect b="0" l="0" r="0" t="0"/>
          <a:stretch/>
        </p:blipFill>
        <p:spPr>
          <a:xfrm>
            <a:off x="1752600" y="1515587"/>
            <a:ext cx="6066772" cy="4580413"/>
          </a:xfrm>
          <a:prstGeom prst="rect">
            <a:avLst/>
          </a:prstGeom>
          <a:solidFill>
            <a:schemeClr val="accent1"/>
          </a:solid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6"/>
          <p:cNvSpPr txBox="1"/>
          <p:nvPr>
            <p:ph type="title"/>
          </p:nvPr>
        </p:nvSpPr>
        <p:spPr>
          <a:xfrm>
            <a:off x="45720" y="27709"/>
            <a:ext cx="9098280" cy="10390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Information Extortion </a:t>
            </a:r>
            <a:endParaRPr/>
          </a:p>
        </p:txBody>
      </p:sp>
      <p:sp>
        <p:nvSpPr>
          <p:cNvPr id="331" name="Google Shape;331;p46"/>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US" sz="2800"/>
              <a:t>Attacker steals information from a computer system and demands compensation for its return or nondisclosure. Also known as cyberextortion.</a:t>
            </a:r>
            <a:endParaRPr/>
          </a:p>
          <a:p>
            <a:pPr indent="-342900" lvl="0" marL="342900" rtl="0" algn="l">
              <a:spcBef>
                <a:spcPts val="600"/>
              </a:spcBef>
              <a:spcAft>
                <a:spcPts val="0"/>
              </a:spcAft>
              <a:buSzPts val="2800"/>
              <a:buChar char="•"/>
            </a:pPr>
            <a:r>
              <a:rPr lang="en-US" sz="2800"/>
              <a:t>Commonly done in credit card number theft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7"/>
          <p:cNvSpPr txBox="1"/>
          <p:nvPr>
            <p:ph type="title"/>
          </p:nvPr>
        </p:nvSpPr>
        <p:spPr>
          <a:xfrm>
            <a:off x="45720" y="27709"/>
            <a:ext cx="9098280" cy="10390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Sabotage or Vandalism</a:t>
            </a:r>
            <a:endParaRPr/>
          </a:p>
        </p:txBody>
      </p:sp>
      <p:sp>
        <p:nvSpPr>
          <p:cNvPr id="339" name="Google Shape;339;p47"/>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800"/>
              <a:buChar char="•"/>
            </a:pPr>
            <a:r>
              <a:rPr lang="en-US" sz="2800">
                <a:solidFill>
                  <a:srgbClr val="FF0000"/>
                </a:solidFill>
              </a:rPr>
              <a:t>Threats can range from petty vandalism to organized sabotage.</a:t>
            </a:r>
            <a:endParaRPr/>
          </a:p>
          <a:p>
            <a:pPr indent="-342900" lvl="0" marL="342900" rtl="0" algn="l">
              <a:spcBef>
                <a:spcPts val="600"/>
              </a:spcBef>
              <a:spcAft>
                <a:spcPts val="0"/>
              </a:spcAft>
              <a:buSzPts val="2800"/>
              <a:buChar char="•"/>
            </a:pPr>
            <a:r>
              <a:rPr lang="en-US" sz="2800">
                <a:solidFill>
                  <a:srgbClr val="FF0000"/>
                </a:solidFill>
              </a:rPr>
              <a:t>Web site defacing can erode consumer confidence, diminishing organization’s sales, net worth, and reputation.</a:t>
            </a:r>
            <a:endParaRPr/>
          </a:p>
          <a:p>
            <a:pPr indent="-342900" lvl="0" marL="342900" rtl="0" algn="l">
              <a:spcBef>
                <a:spcPts val="600"/>
              </a:spcBef>
              <a:spcAft>
                <a:spcPts val="0"/>
              </a:spcAft>
              <a:buSzPts val="2800"/>
              <a:buChar char="•"/>
            </a:pPr>
            <a:r>
              <a:rPr lang="en-US" sz="2800">
                <a:solidFill>
                  <a:srgbClr val="FF0000"/>
                </a:solidFill>
              </a:rPr>
              <a:t>Threat of hacktivist or cyberactivist operations is rising.</a:t>
            </a:r>
            <a:endParaRPr/>
          </a:p>
          <a:p>
            <a:pPr indent="-342900" lvl="0" marL="342900" rtl="0" algn="l">
              <a:spcBef>
                <a:spcPts val="600"/>
              </a:spcBef>
              <a:spcAft>
                <a:spcPts val="0"/>
              </a:spcAft>
              <a:buSzPts val="2800"/>
              <a:buChar char="•"/>
            </a:pPr>
            <a:r>
              <a:rPr lang="en-US" sz="2800">
                <a:solidFill>
                  <a:srgbClr val="FF0000"/>
                </a:solidFill>
              </a:rPr>
              <a:t>Cyberterrorism/Cyberwarfare: a much more sinister form of hacking.</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8"/>
          <p:cNvSpPr txBox="1"/>
          <p:nvPr>
            <p:ph type="title"/>
          </p:nvPr>
        </p:nvSpPr>
        <p:spPr>
          <a:xfrm>
            <a:off x="45720" y="27709"/>
            <a:ext cx="9098280" cy="10390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Software Attacks </a:t>
            </a:r>
            <a:r>
              <a:rPr lang="en-US" sz="3600">
                <a:solidFill>
                  <a:schemeClr val="lt1"/>
                </a:solidFill>
                <a:latin typeface="Arial"/>
                <a:ea typeface="Arial"/>
                <a:cs typeface="Arial"/>
                <a:sym typeface="Arial"/>
              </a:rPr>
              <a:t>(1 of 5)</a:t>
            </a:r>
            <a:endParaRPr/>
          </a:p>
        </p:txBody>
      </p:sp>
      <p:sp>
        <p:nvSpPr>
          <p:cNvPr id="347" name="Google Shape;347;p48"/>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600"/>
              <a:buChar char="•"/>
            </a:pPr>
            <a:r>
              <a:rPr lang="en-US">
                <a:solidFill>
                  <a:srgbClr val="FF0000"/>
                </a:solidFill>
              </a:rPr>
              <a:t>Malicious software (malware) is used to overwhelm the processing capabilities of online systems or to gain access to protected systems via hidden means.</a:t>
            </a:r>
            <a:endParaRPr/>
          </a:p>
          <a:p>
            <a:pPr indent="-342900" lvl="0" marL="342900" rtl="0" algn="l">
              <a:spcBef>
                <a:spcPts val="600"/>
              </a:spcBef>
              <a:spcAft>
                <a:spcPts val="0"/>
              </a:spcAft>
              <a:buSzPts val="2600"/>
              <a:buChar char="•"/>
            </a:pPr>
            <a:r>
              <a:rPr lang="en-US">
                <a:solidFill>
                  <a:srgbClr val="FF0000"/>
                </a:solidFill>
              </a:rPr>
              <a:t>Software attacks occur when an individual or a group designs and deploys software to attack a system.</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9"/>
          <p:cNvSpPr txBox="1"/>
          <p:nvPr>
            <p:ph type="title"/>
          </p:nvPr>
        </p:nvSpPr>
        <p:spPr>
          <a:xfrm>
            <a:off x="45720" y="27709"/>
            <a:ext cx="9098280" cy="10390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Software Attacks (2 of 5)</a:t>
            </a:r>
            <a:endParaRPr/>
          </a:p>
        </p:txBody>
      </p:sp>
      <p:sp>
        <p:nvSpPr>
          <p:cNvPr id="355" name="Google Shape;355;p49"/>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600"/>
              <a:buChar char="•"/>
            </a:pPr>
            <a:r>
              <a:rPr lang="en-US">
                <a:solidFill>
                  <a:srgbClr val="FF0000"/>
                </a:solidFill>
              </a:rPr>
              <a:t>Types of attacks include:</a:t>
            </a:r>
            <a:endParaRPr/>
          </a:p>
          <a:p>
            <a:pPr indent="-285750" lvl="1" marL="742950" rtl="0" algn="l">
              <a:spcBef>
                <a:spcPts val="600"/>
              </a:spcBef>
              <a:spcAft>
                <a:spcPts val="0"/>
              </a:spcAft>
              <a:buSzPts val="2400"/>
              <a:buChar char="–"/>
            </a:pPr>
            <a:r>
              <a:rPr lang="en-US">
                <a:solidFill>
                  <a:srgbClr val="FF0000"/>
                </a:solidFill>
              </a:rPr>
              <a:t>Malware (malicious code): It includes the execution of viruses, worms, Trojan horses, and active Web scripts with the intent to destroy or steal information.</a:t>
            </a:r>
            <a:endParaRPr/>
          </a:p>
          <a:p>
            <a:pPr indent="-228600" lvl="2" marL="1143000" rtl="0" algn="l">
              <a:spcBef>
                <a:spcPts val="600"/>
              </a:spcBef>
              <a:spcAft>
                <a:spcPts val="0"/>
              </a:spcAft>
              <a:buSzPts val="2200"/>
              <a:buChar char="▪"/>
            </a:pPr>
            <a:r>
              <a:rPr lang="en-US">
                <a:solidFill>
                  <a:srgbClr val="FF0000"/>
                </a:solidFill>
              </a:rPr>
              <a:t>Virus: It consists of code segments that attach to existing program and take control of access to the targeted computer.</a:t>
            </a:r>
            <a:endParaRPr/>
          </a:p>
          <a:p>
            <a:pPr indent="-228600" lvl="2" marL="1143000" rtl="0" algn="l">
              <a:spcBef>
                <a:spcPts val="600"/>
              </a:spcBef>
              <a:spcAft>
                <a:spcPts val="0"/>
              </a:spcAft>
              <a:buSzPts val="2200"/>
              <a:buChar char="▪"/>
            </a:pPr>
            <a:r>
              <a:rPr lang="en-US">
                <a:solidFill>
                  <a:srgbClr val="FF0000"/>
                </a:solidFill>
              </a:rPr>
              <a:t>Worms: They replicate themselves until they completely fill available resources such as memory and hard drive space.</a:t>
            </a:r>
            <a:endParaRPr/>
          </a:p>
          <a:p>
            <a:pPr indent="-228600" lvl="2" marL="1143000" rtl="0" algn="l">
              <a:spcBef>
                <a:spcPts val="600"/>
              </a:spcBef>
              <a:spcAft>
                <a:spcPts val="0"/>
              </a:spcAft>
              <a:buSzPts val="2200"/>
              <a:buChar char="▪"/>
            </a:pPr>
            <a:r>
              <a:rPr lang="en-US">
                <a:solidFill>
                  <a:srgbClr val="FF0000"/>
                </a:solidFill>
              </a:rPr>
              <a:t>Trojan horses: malware disguised as helpful, interesting, or necessary pieces of software.</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0"/>
          <p:cNvSpPr txBox="1"/>
          <p:nvPr>
            <p:ph type="title"/>
          </p:nvPr>
        </p:nvSpPr>
        <p:spPr>
          <a:xfrm>
            <a:off x="45720" y="27709"/>
            <a:ext cx="9098280" cy="10390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Software Attacks </a:t>
            </a:r>
            <a:r>
              <a:rPr lang="en-US" sz="3600">
                <a:solidFill>
                  <a:schemeClr val="lt1"/>
                </a:solidFill>
                <a:latin typeface="Arial"/>
                <a:ea typeface="Arial"/>
                <a:cs typeface="Arial"/>
                <a:sym typeface="Arial"/>
              </a:rPr>
              <a:t>(3 of 5)</a:t>
            </a:r>
            <a:endParaRPr/>
          </a:p>
        </p:txBody>
      </p:sp>
      <p:sp>
        <p:nvSpPr>
          <p:cNvPr id="363" name="Google Shape;363;p50"/>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228600" lvl="2" marL="1143000" rtl="0" algn="l">
              <a:spcBef>
                <a:spcPts val="0"/>
              </a:spcBef>
              <a:spcAft>
                <a:spcPts val="0"/>
              </a:spcAft>
              <a:buSzPts val="2200"/>
              <a:buChar char="▪"/>
            </a:pPr>
            <a:r>
              <a:rPr lang="en-US">
                <a:solidFill>
                  <a:srgbClr val="FF0000"/>
                </a:solidFill>
              </a:rPr>
              <a:t>Polymorphic threat: actually evolves to elude detection</a:t>
            </a:r>
            <a:endParaRPr/>
          </a:p>
          <a:p>
            <a:pPr indent="-228600" lvl="2" marL="1143000" rtl="0" algn="l">
              <a:spcBef>
                <a:spcPts val="600"/>
              </a:spcBef>
              <a:spcAft>
                <a:spcPts val="0"/>
              </a:spcAft>
              <a:buSzPts val="2200"/>
              <a:buChar char="▪"/>
            </a:pPr>
            <a:r>
              <a:rPr lang="en-US">
                <a:solidFill>
                  <a:srgbClr val="FF0000"/>
                </a:solidFill>
              </a:rPr>
              <a:t>Virus and worm hoaxes: nonexistent malware that employees waste time spreading awareness about</a:t>
            </a:r>
            <a:endParaRPr/>
          </a:p>
          <a:p>
            <a:pPr indent="-285750" lvl="1" marL="742950" rtl="0" algn="l">
              <a:spcBef>
                <a:spcPts val="600"/>
              </a:spcBef>
              <a:spcAft>
                <a:spcPts val="0"/>
              </a:spcAft>
              <a:buSzPts val="2400"/>
              <a:buChar char="–"/>
            </a:pPr>
            <a:r>
              <a:rPr lang="en-US">
                <a:solidFill>
                  <a:srgbClr val="FF0000"/>
                </a:solidFill>
              </a:rPr>
              <a:t>Back door: gaining access to system or network using known or previously unknown/newly discovered access mechanism</a:t>
            </a:r>
            <a:endParaRPr/>
          </a:p>
          <a:p>
            <a:pPr indent="-285750" lvl="1" marL="742950" rtl="0" algn="l">
              <a:spcBef>
                <a:spcPts val="600"/>
              </a:spcBef>
              <a:spcAft>
                <a:spcPts val="0"/>
              </a:spcAft>
              <a:buSzPts val="2400"/>
              <a:buChar char="–"/>
            </a:pPr>
            <a:r>
              <a:rPr lang="en-US">
                <a:solidFill>
                  <a:srgbClr val="FF0000"/>
                </a:solidFill>
              </a:rPr>
              <a:t>Denial-of-service (DoS): An attacker sends a large number of connection or information requests to a target.</a:t>
            </a:r>
            <a:endParaRPr/>
          </a:p>
          <a:p>
            <a:pPr indent="-228600" lvl="2" marL="1143000" rtl="0" algn="l">
              <a:spcBef>
                <a:spcPts val="600"/>
              </a:spcBef>
              <a:spcAft>
                <a:spcPts val="0"/>
              </a:spcAft>
              <a:buSzPts val="2200"/>
              <a:buChar char="▪"/>
            </a:pPr>
            <a:r>
              <a:rPr lang="en-US">
                <a:solidFill>
                  <a:srgbClr val="FF0000"/>
                </a:solidFill>
              </a:rPr>
              <a:t>The target system becomes overloaded and cannot respond to legitimate requests for service.</a:t>
            </a:r>
            <a:endParaRPr/>
          </a:p>
          <a:p>
            <a:pPr indent="-228600" lvl="2" marL="1143000" rtl="0" algn="l">
              <a:spcBef>
                <a:spcPts val="600"/>
              </a:spcBef>
              <a:spcAft>
                <a:spcPts val="0"/>
              </a:spcAft>
              <a:buSzPts val="2200"/>
              <a:buChar char="▪"/>
            </a:pPr>
            <a:r>
              <a:rPr lang="en-US">
                <a:solidFill>
                  <a:srgbClr val="FF0000"/>
                </a:solidFill>
              </a:rPr>
              <a:t>It may result in system crash or inability to perform ordinary functions.</a:t>
            </a:r>
            <a:endParaRPr sz="2200">
              <a:solidFill>
                <a:srgbClr val="FF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1"/>
          <p:cNvSpPr txBox="1"/>
          <p:nvPr>
            <p:ph type="title"/>
          </p:nvPr>
        </p:nvSpPr>
        <p:spPr>
          <a:xfrm>
            <a:off x="45720" y="27709"/>
            <a:ext cx="9098280" cy="10390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Software Attacks </a:t>
            </a:r>
            <a:r>
              <a:rPr lang="en-US" sz="3600">
                <a:solidFill>
                  <a:schemeClr val="lt1"/>
                </a:solidFill>
                <a:latin typeface="Arial"/>
                <a:ea typeface="Arial"/>
                <a:cs typeface="Arial"/>
                <a:sym typeface="Arial"/>
              </a:rPr>
              <a:t>(4 of 5)</a:t>
            </a:r>
            <a:endParaRPr/>
          </a:p>
        </p:txBody>
      </p:sp>
      <p:sp>
        <p:nvSpPr>
          <p:cNvPr id="371" name="Google Shape;371;p51"/>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Autofit/>
          </a:bodyPr>
          <a:lstStyle/>
          <a:p>
            <a:pPr indent="-285750" lvl="1" marL="742950" rtl="0" algn="l">
              <a:spcBef>
                <a:spcPts val="0"/>
              </a:spcBef>
              <a:spcAft>
                <a:spcPts val="0"/>
              </a:spcAft>
              <a:buSzPts val="2400"/>
              <a:buChar char="–"/>
            </a:pPr>
            <a:r>
              <a:rPr lang="en-US">
                <a:solidFill>
                  <a:srgbClr val="FF0000"/>
                </a:solidFill>
              </a:rPr>
              <a:t>Distributed denial-of-service (DDoS): A coordinated stream of requests is launched against a target from many locations simultaneously.</a:t>
            </a:r>
            <a:endParaRPr/>
          </a:p>
          <a:p>
            <a:pPr indent="-285750" lvl="1" marL="742950" rtl="0" algn="l">
              <a:spcBef>
                <a:spcPts val="600"/>
              </a:spcBef>
              <a:spcAft>
                <a:spcPts val="0"/>
              </a:spcAft>
              <a:buSzPts val="2400"/>
              <a:buChar char="–"/>
            </a:pPr>
            <a:r>
              <a:rPr lang="en-US">
                <a:solidFill>
                  <a:srgbClr val="FF0000"/>
                </a:solidFill>
              </a:rPr>
              <a:t>Mail bombing (also a DoS): An attacker routes large quantities of e-mail to target to overwhelm the receiver.</a:t>
            </a:r>
            <a:endParaRPr/>
          </a:p>
          <a:p>
            <a:pPr indent="-285750" lvl="1" marL="742950" rtl="0" algn="l">
              <a:spcBef>
                <a:spcPts val="600"/>
              </a:spcBef>
              <a:spcAft>
                <a:spcPts val="0"/>
              </a:spcAft>
              <a:buSzPts val="2400"/>
              <a:buChar char="–"/>
            </a:pPr>
            <a:r>
              <a:rPr lang="en-US">
                <a:solidFill>
                  <a:srgbClr val="FF0000"/>
                </a:solidFill>
              </a:rPr>
              <a:t>Spam (unsolicited commercial e-mail): It is considered more a nuisance than an attack, though is emerging as a vector for some attacks.</a:t>
            </a:r>
            <a:endParaRPr/>
          </a:p>
          <a:p>
            <a:pPr indent="-285750" lvl="1" marL="742950" rtl="0" algn="l">
              <a:spcBef>
                <a:spcPts val="600"/>
              </a:spcBef>
              <a:spcAft>
                <a:spcPts val="0"/>
              </a:spcAft>
              <a:buSzPts val="2400"/>
              <a:buChar char="–"/>
            </a:pPr>
            <a:r>
              <a:rPr lang="en-US">
                <a:solidFill>
                  <a:srgbClr val="FF0000"/>
                </a:solidFill>
              </a:rPr>
              <a:t>Packet sniffer: It monitors data traveling over network; it can be used both for legitimate management purposes and for stealing information from a network.</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2"/>
          <p:cNvSpPr txBox="1"/>
          <p:nvPr>
            <p:ph type="title"/>
          </p:nvPr>
        </p:nvSpPr>
        <p:spPr>
          <a:xfrm>
            <a:off x="45720" y="27709"/>
            <a:ext cx="9098280" cy="10390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Software Attacks </a:t>
            </a:r>
            <a:r>
              <a:rPr lang="en-US" sz="3600">
                <a:solidFill>
                  <a:schemeClr val="lt1"/>
                </a:solidFill>
                <a:latin typeface="Arial"/>
                <a:ea typeface="Arial"/>
                <a:cs typeface="Arial"/>
                <a:sym typeface="Arial"/>
              </a:rPr>
              <a:t>(5 of 5)</a:t>
            </a:r>
            <a:endParaRPr/>
          </a:p>
        </p:txBody>
      </p:sp>
      <p:sp>
        <p:nvSpPr>
          <p:cNvPr id="379" name="Google Shape;379;p52"/>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285750" lvl="1" marL="742950" rtl="0" algn="l">
              <a:spcBef>
                <a:spcPts val="0"/>
              </a:spcBef>
              <a:spcAft>
                <a:spcPts val="0"/>
              </a:spcAft>
              <a:buSzPts val="2400"/>
              <a:buChar char="–"/>
            </a:pPr>
            <a:r>
              <a:rPr lang="en-US">
                <a:solidFill>
                  <a:srgbClr val="FF0000"/>
                </a:solidFill>
              </a:rPr>
              <a:t>Spoofing: A technique used to gain unauthorized access; intruder assumes a trusted IP address.</a:t>
            </a:r>
            <a:endParaRPr/>
          </a:p>
          <a:p>
            <a:pPr indent="-285750" lvl="1" marL="742950" rtl="0" algn="l">
              <a:spcBef>
                <a:spcPts val="600"/>
              </a:spcBef>
              <a:spcAft>
                <a:spcPts val="0"/>
              </a:spcAft>
              <a:buSzPts val="2400"/>
              <a:buChar char="–"/>
            </a:pPr>
            <a:r>
              <a:rPr lang="en-US">
                <a:solidFill>
                  <a:srgbClr val="FF0000"/>
                </a:solidFill>
              </a:rPr>
              <a:t>Pharming: It attacks a browser’s address bar to redirect users to an illegitimate site for the purpose of obtaining private information.</a:t>
            </a:r>
            <a:endParaRPr/>
          </a:p>
          <a:p>
            <a:pPr indent="-285750" lvl="1" marL="742950" rtl="0" algn="l">
              <a:spcBef>
                <a:spcPts val="600"/>
              </a:spcBef>
              <a:spcAft>
                <a:spcPts val="0"/>
              </a:spcAft>
              <a:buSzPts val="2400"/>
              <a:buChar char="–"/>
            </a:pPr>
            <a:r>
              <a:rPr lang="en-US">
                <a:solidFill>
                  <a:srgbClr val="FF0000"/>
                </a:solidFill>
              </a:rPr>
              <a:t>Man-in-the-middle: An attacker monitors the network packets, modifies them, and inserts them back into the network.</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3"/>
          <p:cNvSpPr txBox="1"/>
          <p:nvPr>
            <p:ph type="title"/>
          </p:nvPr>
        </p:nvSpPr>
        <p:spPr>
          <a:xfrm>
            <a:off x="0" y="152400"/>
            <a:ext cx="9144000" cy="1295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b="1" lang="en-US"/>
              <a:t>Table 2-7</a:t>
            </a:r>
            <a:r>
              <a:rPr lang="en-US"/>
              <a:t> The Most Dangerous Malware Attacks to Date (1 of 2)</a:t>
            </a:r>
            <a:endParaRPr/>
          </a:p>
        </p:txBody>
      </p:sp>
      <p:graphicFrame>
        <p:nvGraphicFramePr>
          <p:cNvPr id="385" name="Google Shape;385;p53"/>
          <p:cNvGraphicFramePr/>
          <p:nvPr/>
        </p:nvGraphicFramePr>
        <p:xfrm>
          <a:off x="381000" y="1778000"/>
          <a:ext cx="3000000" cy="3000000"/>
        </p:xfrm>
        <a:graphic>
          <a:graphicData uri="http://schemas.openxmlformats.org/drawingml/2006/table">
            <a:tbl>
              <a:tblPr bandRow="1" firstRow="1">
                <a:noFill/>
                <a:tableStyleId>{6765FC5E-082A-4690-9782-9FE3793750BE}</a:tableStyleId>
              </a:tblPr>
              <a:tblGrid>
                <a:gridCol w="1905000"/>
                <a:gridCol w="1295400"/>
                <a:gridCol w="609600"/>
                <a:gridCol w="2133600"/>
                <a:gridCol w="2438400"/>
              </a:tblGrid>
              <a:tr h="152400">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Malware</a:t>
                      </a:r>
                      <a:endParaRPr/>
                    </a:p>
                  </a:txBody>
                  <a:tcPr marT="45725" marB="45725" marR="91450" marL="91450" anchor="ctr">
                    <a:solidFill>
                      <a:srgbClr val="364162"/>
                    </a:solidFill>
                  </a:tcPr>
                </a:tc>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Type</a:t>
                      </a:r>
                      <a:endParaRPr/>
                    </a:p>
                  </a:txBody>
                  <a:tcPr marT="45725" marB="45725" marR="91450" marL="91450" anchor="ctr">
                    <a:solidFill>
                      <a:srgbClr val="364162"/>
                    </a:solidFill>
                  </a:tcPr>
                </a:tc>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Year</a:t>
                      </a:r>
                      <a:endParaRPr/>
                    </a:p>
                  </a:txBody>
                  <a:tcPr marT="45725" marB="45725" marR="91450" marL="91450" anchor="ctr">
                    <a:solidFill>
                      <a:srgbClr val="364162"/>
                    </a:solidFill>
                  </a:tcPr>
                </a:tc>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Estimated Number of Systems Infected </a:t>
                      </a:r>
                      <a:endParaRPr/>
                    </a:p>
                  </a:txBody>
                  <a:tcPr marT="45725" marB="45725" marR="91450" marL="91450" anchor="ctr">
                    <a:solidFill>
                      <a:srgbClr val="364162"/>
                    </a:solidFill>
                  </a:tcPr>
                </a:tc>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Estimated Financial Damage</a:t>
                      </a:r>
                      <a:endParaRPr/>
                    </a:p>
                  </a:txBody>
                  <a:tcPr marT="45725" marB="45725" marR="91450" marL="91450" anchor="ctr">
                    <a:solidFill>
                      <a:srgbClr val="364162"/>
                    </a:solidFill>
                  </a:tcPr>
                </a:tc>
              </a:tr>
              <a:tr h="370850">
                <a:tc>
                  <a:txBody>
                    <a:bodyPr/>
                    <a:lstStyle/>
                    <a:p>
                      <a:pPr indent="0" lvl="0" marL="0" marR="0" rtl="0" algn="l">
                        <a:spcBef>
                          <a:spcPts val="0"/>
                        </a:spcBef>
                        <a:spcAft>
                          <a:spcPts val="0"/>
                        </a:spcAft>
                        <a:buNone/>
                      </a:pPr>
                      <a:r>
                        <a:rPr lang="en-US" sz="1400">
                          <a:latin typeface="Arial"/>
                          <a:ea typeface="Arial"/>
                          <a:cs typeface="Arial"/>
                          <a:sym typeface="Arial"/>
                        </a:rPr>
                        <a:t>MyDoom</a:t>
                      </a:r>
                      <a:endParaRPr sz="14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Worm</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2004</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2 million</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$ 38 billion</a:t>
                      </a:r>
                      <a:endParaRPr/>
                    </a:p>
                  </a:txBody>
                  <a:tcPr marT="45725" marB="45725" marR="91450" marL="91450"/>
                </a:tc>
              </a:tr>
              <a:tr h="370850">
                <a:tc>
                  <a:txBody>
                    <a:bodyPr/>
                    <a:lstStyle/>
                    <a:p>
                      <a:pPr indent="0" lvl="0" marL="0" marR="0" rtl="0" algn="l">
                        <a:spcBef>
                          <a:spcPts val="0"/>
                        </a:spcBef>
                        <a:spcAft>
                          <a:spcPts val="0"/>
                        </a:spcAft>
                        <a:buNone/>
                      </a:pPr>
                      <a:r>
                        <a:rPr lang="en-US" sz="1400">
                          <a:latin typeface="Arial"/>
                          <a:ea typeface="Arial"/>
                          <a:cs typeface="Arial"/>
                          <a:sym typeface="Arial"/>
                        </a:rPr>
                        <a:t>Klez</a:t>
                      </a:r>
                      <a:r>
                        <a:rPr lang="en-US" sz="1400">
                          <a:latin typeface="Arial"/>
                          <a:ea typeface="Arial"/>
                          <a:cs typeface="Arial"/>
                          <a:sym typeface="Arial"/>
                        </a:rPr>
                        <a:t> (and variants)</a:t>
                      </a:r>
                      <a:endParaRPr sz="14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Virus</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2001</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7.2%</a:t>
                      </a:r>
                      <a:r>
                        <a:rPr lang="en-US" sz="1400">
                          <a:latin typeface="Arial"/>
                          <a:ea typeface="Arial"/>
                          <a:cs typeface="Arial"/>
                          <a:sym typeface="Arial"/>
                        </a:rPr>
                        <a:t> of Internet</a:t>
                      </a:r>
                      <a:endParaRPr sz="14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$19.8 billion</a:t>
                      </a:r>
                      <a:endParaRPr/>
                    </a:p>
                  </a:txBody>
                  <a:tcPr marT="45725" marB="45725" marR="91450" marL="91450"/>
                </a:tc>
              </a:tr>
              <a:tr h="370850">
                <a:tc>
                  <a:txBody>
                    <a:bodyPr/>
                    <a:lstStyle/>
                    <a:p>
                      <a:pPr indent="0" lvl="0" marL="0" marR="0" rtl="0" algn="l">
                        <a:spcBef>
                          <a:spcPts val="0"/>
                        </a:spcBef>
                        <a:spcAft>
                          <a:spcPts val="0"/>
                        </a:spcAft>
                        <a:buNone/>
                      </a:pPr>
                      <a:r>
                        <a:rPr lang="en-US" sz="1400">
                          <a:latin typeface="Arial"/>
                          <a:ea typeface="Arial"/>
                          <a:cs typeface="Arial"/>
                          <a:sym typeface="Arial"/>
                        </a:rPr>
                        <a:t>ILOVEYOU</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Virus</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2000</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10% of</a:t>
                      </a:r>
                      <a:r>
                        <a:rPr lang="en-US" sz="1400">
                          <a:latin typeface="Arial"/>
                          <a:ea typeface="Arial"/>
                          <a:cs typeface="Arial"/>
                          <a:sym typeface="Arial"/>
                        </a:rPr>
                        <a:t> Internet</a:t>
                      </a:r>
                      <a:endParaRPr sz="14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a:t>
                      </a:r>
                      <a:r>
                        <a:rPr lang="en-US" sz="1400">
                          <a:latin typeface="Arial"/>
                          <a:ea typeface="Arial"/>
                          <a:cs typeface="Arial"/>
                          <a:sym typeface="Arial"/>
                        </a:rPr>
                        <a:t> 5.5 billion</a:t>
                      </a:r>
                      <a:endParaRPr sz="1400">
                        <a:latin typeface="Arial"/>
                        <a:ea typeface="Arial"/>
                        <a:cs typeface="Arial"/>
                        <a:sym typeface="Arial"/>
                      </a:endParaRPr>
                    </a:p>
                  </a:txBody>
                  <a:tcPr marT="45725" marB="45725" marR="91450" marL="91450"/>
                </a:tc>
              </a:tr>
              <a:tr h="177800">
                <a:tc>
                  <a:txBody>
                    <a:bodyPr/>
                    <a:lstStyle/>
                    <a:p>
                      <a:pPr indent="0" lvl="0" marL="0" marR="0" rtl="0" algn="l">
                        <a:spcBef>
                          <a:spcPts val="0"/>
                        </a:spcBef>
                        <a:spcAft>
                          <a:spcPts val="0"/>
                        </a:spcAft>
                        <a:buNone/>
                      </a:pPr>
                      <a:r>
                        <a:rPr lang="en-US" sz="1400">
                          <a:latin typeface="Arial"/>
                          <a:ea typeface="Arial"/>
                          <a:cs typeface="Arial"/>
                          <a:sym typeface="Arial"/>
                        </a:rPr>
                        <a:t>Sobig F</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Worm</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2003</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1 million</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$ 3 billion</a:t>
                      </a:r>
                      <a:endParaRPr/>
                    </a:p>
                  </a:txBody>
                  <a:tcPr marT="45725" marB="45725" marR="91450" marL="91450"/>
                </a:tc>
              </a:tr>
              <a:tr h="177800">
                <a:tc>
                  <a:txBody>
                    <a:bodyPr/>
                    <a:lstStyle/>
                    <a:p>
                      <a:pPr indent="0" lvl="0" marL="0" marR="0" rtl="0" algn="l">
                        <a:spcBef>
                          <a:spcPts val="0"/>
                        </a:spcBef>
                        <a:spcAft>
                          <a:spcPts val="0"/>
                        </a:spcAft>
                        <a:buNone/>
                      </a:pPr>
                      <a:r>
                        <a:rPr lang="en-US" sz="1400">
                          <a:latin typeface="Arial"/>
                          <a:ea typeface="Arial"/>
                          <a:cs typeface="Arial"/>
                          <a:sym typeface="Arial"/>
                        </a:rPr>
                        <a:t>Code Red (and CR</a:t>
                      </a:r>
                      <a:r>
                        <a:rPr lang="en-US" sz="1400">
                          <a:latin typeface="Arial"/>
                          <a:ea typeface="Arial"/>
                          <a:cs typeface="Arial"/>
                          <a:sym typeface="Arial"/>
                        </a:rPr>
                        <a:t> II)</a:t>
                      </a:r>
                      <a:endParaRPr sz="14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Worm</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2001</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400,000 servers</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$ 2.6 billion</a:t>
                      </a:r>
                      <a:endParaRPr/>
                    </a:p>
                  </a:txBody>
                  <a:tcPr marT="45725" marB="45725" marR="91450" marL="91450"/>
                </a:tc>
              </a:tr>
              <a:tr h="350525">
                <a:tc>
                  <a:txBody>
                    <a:bodyPr/>
                    <a:lstStyle/>
                    <a:p>
                      <a:pPr indent="0" lvl="0" marL="0" marR="0" rtl="0" algn="l">
                        <a:spcBef>
                          <a:spcPts val="0"/>
                        </a:spcBef>
                        <a:spcAft>
                          <a:spcPts val="0"/>
                        </a:spcAft>
                        <a:buNone/>
                      </a:pPr>
                      <a:r>
                        <a:rPr lang="en-US" sz="1400">
                          <a:latin typeface="Arial"/>
                          <a:ea typeface="Arial"/>
                          <a:cs typeface="Arial"/>
                          <a:sym typeface="Arial"/>
                        </a:rPr>
                        <a:t>SQL slammer,</a:t>
                      </a:r>
                      <a:r>
                        <a:rPr lang="en-US" sz="1400">
                          <a:latin typeface="Arial"/>
                          <a:ea typeface="Arial"/>
                          <a:cs typeface="Arial"/>
                          <a:sym typeface="Arial"/>
                        </a:rPr>
                        <a:t> a.k.a. Sapphire </a:t>
                      </a:r>
                      <a:endParaRPr sz="14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Worm</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2003</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75,000</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$ 950 million to $ 1.2 billion</a:t>
                      </a:r>
                      <a:endParaRPr/>
                    </a:p>
                  </a:txBody>
                  <a:tcPr marT="45725" marB="45725" marR="91450" marL="91450"/>
                </a:tc>
              </a:tr>
              <a:tr h="370850">
                <a:tc>
                  <a:txBody>
                    <a:bodyPr/>
                    <a:lstStyle/>
                    <a:p>
                      <a:pPr indent="0" lvl="0" marL="0" marR="0" rtl="0" algn="l">
                        <a:spcBef>
                          <a:spcPts val="0"/>
                        </a:spcBef>
                        <a:spcAft>
                          <a:spcPts val="0"/>
                        </a:spcAft>
                        <a:buNone/>
                      </a:pPr>
                      <a:r>
                        <a:rPr lang="en-US" sz="1400">
                          <a:latin typeface="Arial"/>
                          <a:ea typeface="Arial"/>
                          <a:cs typeface="Arial"/>
                          <a:sym typeface="Arial"/>
                        </a:rPr>
                        <a:t>Melissa</a:t>
                      </a:r>
                      <a:r>
                        <a:rPr lang="en-US" sz="1400">
                          <a:latin typeface="Arial"/>
                          <a:ea typeface="Arial"/>
                          <a:cs typeface="Arial"/>
                          <a:sym typeface="Arial"/>
                        </a:rPr>
                        <a:t> </a:t>
                      </a:r>
                      <a:endParaRPr sz="14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Macro virus</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1999</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Unknown</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$ 300 million to $ 600 million</a:t>
                      </a:r>
                      <a:endParaRPr/>
                    </a:p>
                  </a:txBody>
                  <a:tcPr marT="45725" marB="45725" marR="91450" marL="91450"/>
                </a:tc>
              </a:tr>
              <a:tr h="370850">
                <a:tc>
                  <a:txBody>
                    <a:bodyPr/>
                    <a:lstStyle/>
                    <a:p>
                      <a:pPr indent="0" lvl="0" marL="0" marR="0" rtl="0" algn="l">
                        <a:spcBef>
                          <a:spcPts val="0"/>
                        </a:spcBef>
                        <a:spcAft>
                          <a:spcPts val="0"/>
                        </a:spcAft>
                        <a:buNone/>
                      </a:pPr>
                      <a:r>
                        <a:rPr lang="en-US" sz="1400">
                          <a:latin typeface="Arial"/>
                          <a:ea typeface="Arial"/>
                          <a:cs typeface="Arial"/>
                          <a:sym typeface="Arial"/>
                        </a:rPr>
                        <a:t>CIH, a.k.a.</a:t>
                      </a:r>
                      <a:r>
                        <a:rPr lang="en-US" sz="1400">
                          <a:latin typeface="Arial"/>
                          <a:ea typeface="Arial"/>
                          <a:cs typeface="Arial"/>
                          <a:sym typeface="Arial"/>
                        </a:rPr>
                        <a:t> Chernobyl</a:t>
                      </a:r>
                      <a:endParaRPr sz="14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Memory-</a:t>
                      </a:r>
                      <a:r>
                        <a:rPr lang="en-US" sz="1400">
                          <a:latin typeface="Arial"/>
                          <a:ea typeface="Arial"/>
                          <a:cs typeface="Arial"/>
                          <a:sym typeface="Arial"/>
                        </a:rPr>
                        <a:t> resident virus</a:t>
                      </a:r>
                      <a:endParaRPr sz="14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1998</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Unknown</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$ 250 million </a:t>
                      </a:r>
                      <a:endParaRPr/>
                    </a:p>
                  </a:txBody>
                  <a:tcPr marT="45725" marB="45725" marR="91450" marL="91450"/>
                </a:tc>
              </a:tr>
              <a:tr h="370850">
                <a:tc>
                  <a:txBody>
                    <a:bodyPr/>
                    <a:lstStyle/>
                    <a:p>
                      <a:pPr indent="0" lvl="0" marL="0" marR="0" rtl="0" algn="l">
                        <a:spcBef>
                          <a:spcPts val="0"/>
                        </a:spcBef>
                        <a:spcAft>
                          <a:spcPts val="0"/>
                        </a:spcAft>
                        <a:buNone/>
                      </a:pPr>
                      <a:r>
                        <a:rPr lang="en-US" sz="1400">
                          <a:latin typeface="Arial"/>
                          <a:ea typeface="Arial"/>
                          <a:cs typeface="Arial"/>
                          <a:sym typeface="Arial"/>
                        </a:rPr>
                        <a:t>Storm Worm</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Trojan</a:t>
                      </a:r>
                      <a:r>
                        <a:rPr lang="en-US" sz="1400">
                          <a:latin typeface="Arial"/>
                          <a:ea typeface="Arial"/>
                          <a:cs typeface="Arial"/>
                          <a:sym typeface="Arial"/>
                        </a:rPr>
                        <a:t> horse virus</a:t>
                      </a:r>
                      <a:endParaRPr sz="14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2006</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10 million</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Unknown</a:t>
                      </a:r>
                      <a:endParaRPr/>
                    </a:p>
                  </a:txBody>
                  <a:tcPr marT="45725" marB="45725" marR="91450" marL="91450"/>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4"/>
          <p:cNvSpPr txBox="1"/>
          <p:nvPr>
            <p:ph type="title"/>
          </p:nvPr>
        </p:nvSpPr>
        <p:spPr>
          <a:xfrm>
            <a:off x="0" y="152400"/>
            <a:ext cx="9144000" cy="1295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b="1" lang="en-US"/>
              <a:t>Table 2-7</a:t>
            </a:r>
            <a:r>
              <a:rPr lang="en-US"/>
              <a:t> The Most Dangerous Malware Attacks to Date (2 of 2)</a:t>
            </a:r>
            <a:endParaRPr/>
          </a:p>
        </p:txBody>
      </p:sp>
      <p:graphicFrame>
        <p:nvGraphicFramePr>
          <p:cNvPr id="391" name="Google Shape;391;p54"/>
          <p:cNvGraphicFramePr/>
          <p:nvPr/>
        </p:nvGraphicFramePr>
        <p:xfrm>
          <a:off x="457200" y="1752600"/>
          <a:ext cx="3000000" cy="3000000"/>
        </p:xfrm>
        <a:graphic>
          <a:graphicData uri="http://schemas.openxmlformats.org/drawingml/2006/table">
            <a:tbl>
              <a:tblPr bandRow="1" firstRow="1">
                <a:noFill/>
                <a:tableStyleId>{6765FC5E-082A-4690-9782-9FE3793750BE}</a:tableStyleId>
              </a:tblPr>
              <a:tblGrid>
                <a:gridCol w="1676400"/>
                <a:gridCol w="1524000"/>
                <a:gridCol w="609600"/>
                <a:gridCol w="2133600"/>
                <a:gridCol w="2438400"/>
              </a:tblGrid>
              <a:tr h="152400">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Malware</a:t>
                      </a:r>
                      <a:endParaRPr/>
                    </a:p>
                  </a:txBody>
                  <a:tcPr marT="45725" marB="45725" marR="91450" marL="91450" anchor="ctr">
                    <a:solidFill>
                      <a:srgbClr val="364162"/>
                    </a:solidFill>
                  </a:tcPr>
                </a:tc>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Type</a:t>
                      </a:r>
                      <a:endParaRPr/>
                    </a:p>
                  </a:txBody>
                  <a:tcPr marT="45725" marB="45725" marR="91450" marL="91450" anchor="ctr">
                    <a:solidFill>
                      <a:srgbClr val="364162"/>
                    </a:solidFill>
                  </a:tcPr>
                </a:tc>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Year</a:t>
                      </a:r>
                      <a:endParaRPr/>
                    </a:p>
                  </a:txBody>
                  <a:tcPr marT="45725" marB="45725" marR="91450" marL="91450" anchor="ctr">
                    <a:solidFill>
                      <a:srgbClr val="364162"/>
                    </a:solidFill>
                  </a:tcPr>
                </a:tc>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Estimated Number of Systems Infected </a:t>
                      </a:r>
                      <a:endParaRPr/>
                    </a:p>
                  </a:txBody>
                  <a:tcPr marT="45725" marB="45725" marR="91450" marL="91450" anchor="ctr">
                    <a:solidFill>
                      <a:srgbClr val="364162"/>
                    </a:solidFill>
                  </a:tcPr>
                </a:tc>
                <a:tc>
                  <a:txBody>
                    <a:bodyPr/>
                    <a:lstStyle/>
                    <a:p>
                      <a:pPr indent="0" lvl="0" marL="0" marR="0" rtl="0" algn="l">
                        <a:spcBef>
                          <a:spcPts val="0"/>
                        </a:spcBef>
                        <a:spcAft>
                          <a:spcPts val="0"/>
                        </a:spcAft>
                        <a:buNone/>
                      </a:pPr>
                      <a:r>
                        <a:rPr b="1" lang="en-US" sz="1400">
                          <a:solidFill>
                            <a:schemeClr val="lt1"/>
                          </a:solidFill>
                          <a:latin typeface="Arial"/>
                          <a:ea typeface="Arial"/>
                          <a:cs typeface="Arial"/>
                          <a:sym typeface="Arial"/>
                        </a:rPr>
                        <a:t>Estimated Financial Damage</a:t>
                      </a:r>
                      <a:endParaRPr/>
                    </a:p>
                  </a:txBody>
                  <a:tcPr marT="45725" marB="45725" marR="91450" marL="91450" anchor="ctr">
                    <a:solidFill>
                      <a:srgbClr val="364162"/>
                    </a:solidFill>
                  </a:tcPr>
                </a:tc>
              </a:tr>
              <a:tr h="370850">
                <a:tc>
                  <a:txBody>
                    <a:bodyPr/>
                    <a:lstStyle/>
                    <a:p>
                      <a:pPr indent="0" lvl="0" marL="0" marR="0" rtl="0" algn="l">
                        <a:spcBef>
                          <a:spcPts val="0"/>
                        </a:spcBef>
                        <a:spcAft>
                          <a:spcPts val="0"/>
                        </a:spcAft>
                        <a:buNone/>
                      </a:pPr>
                      <a:r>
                        <a:rPr lang="en-US" sz="1400">
                          <a:latin typeface="Arial"/>
                          <a:ea typeface="Arial"/>
                          <a:cs typeface="Arial"/>
                          <a:sym typeface="Arial"/>
                        </a:rPr>
                        <a:t>Conficker</a:t>
                      </a:r>
                      <a:endParaRPr sz="14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Worm</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2009</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15</a:t>
                      </a:r>
                      <a:r>
                        <a:rPr lang="en-US" sz="1400">
                          <a:latin typeface="Arial"/>
                          <a:ea typeface="Arial"/>
                          <a:cs typeface="Arial"/>
                          <a:sym typeface="Arial"/>
                        </a:rPr>
                        <a:t> million</a:t>
                      </a:r>
                      <a:endParaRPr sz="1400">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Unknown</a:t>
                      </a:r>
                      <a:endParaRPr/>
                    </a:p>
                  </a:txBody>
                  <a:tcPr marT="45725" marB="45725" marR="91450" marL="91450"/>
                </a:tc>
              </a:tr>
              <a:tr h="370850">
                <a:tc>
                  <a:txBody>
                    <a:bodyPr/>
                    <a:lstStyle/>
                    <a:p>
                      <a:pPr indent="0" lvl="0" marL="0" marR="0" rtl="0" algn="l">
                        <a:spcBef>
                          <a:spcPts val="0"/>
                        </a:spcBef>
                        <a:spcAft>
                          <a:spcPts val="0"/>
                        </a:spcAft>
                        <a:buNone/>
                      </a:pPr>
                      <a:r>
                        <a:rPr lang="en-US" sz="1400">
                          <a:latin typeface="Arial"/>
                          <a:ea typeface="Arial"/>
                          <a:cs typeface="Arial"/>
                          <a:sym typeface="Arial"/>
                        </a:rPr>
                        <a:t>Nimda</a:t>
                      </a:r>
                      <a:endParaRPr sz="14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Multivector worm</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2001</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Unknown</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Unknown</a:t>
                      </a:r>
                      <a:endParaRPr/>
                    </a:p>
                  </a:txBody>
                  <a:tcPr marT="45725" marB="45725" marR="91450" marL="91450"/>
                </a:tc>
              </a:tr>
              <a:tr h="370850">
                <a:tc>
                  <a:txBody>
                    <a:bodyPr/>
                    <a:lstStyle/>
                    <a:p>
                      <a:pPr indent="0" lvl="0" marL="0" marR="0" rtl="0" algn="l">
                        <a:spcBef>
                          <a:spcPts val="0"/>
                        </a:spcBef>
                        <a:spcAft>
                          <a:spcPts val="0"/>
                        </a:spcAft>
                        <a:buNone/>
                      </a:pPr>
                      <a:r>
                        <a:rPr lang="en-US" sz="1400">
                          <a:latin typeface="Arial"/>
                          <a:ea typeface="Arial"/>
                          <a:cs typeface="Arial"/>
                          <a:sym typeface="Arial"/>
                        </a:rPr>
                        <a:t>Sasser</a:t>
                      </a:r>
                      <a:endParaRPr sz="14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Worm</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2004</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500,000 to 700,000</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Unknown</a:t>
                      </a:r>
                      <a:endParaRPr/>
                    </a:p>
                  </a:txBody>
                  <a:tcPr marT="45725" marB="45725" marR="91450" marL="91450"/>
                </a:tc>
              </a:tr>
              <a:tr h="370850">
                <a:tc>
                  <a:txBody>
                    <a:bodyPr/>
                    <a:lstStyle/>
                    <a:p>
                      <a:pPr indent="0" lvl="0" marL="0" marR="0" rtl="0" algn="l">
                        <a:spcBef>
                          <a:spcPts val="0"/>
                        </a:spcBef>
                        <a:spcAft>
                          <a:spcPts val="0"/>
                        </a:spcAft>
                        <a:buNone/>
                      </a:pPr>
                      <a:r>
                        <a:rPr lang="en-US" sz="1400">
                          <a:latin typeface="Arial"/>
                          <a:ea typeface="Arial"/>
                          <a:cs typeface="Arial"/>
                          <a:sym typeface="Arial"/>
                        </a:rPr>
                        <a:t>Nesky</a:t>
                      </a:r>
                      <a:endParaRPr sz="1400">
                        <a:latin typeface="Arial"/>
                        <a:ea typeface="Arial"/>
                        <a:cs typeface="Arial"/>
                        <a:sym typeface="Arial"/>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Virus</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2004</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Under 100,000</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Unknown</a:t>
                      </a:r>
                      <a:endParaRPr/>
                    </a:p>
                  </a:txBody>
                  <a:tcPr marT="45725" marB="45725" marR="91450" marL="91450"/>
                </a:tc>
              </a:tr>
              <a:tr h="121925">
                <a:tc>
                  <a:txBody>
                    <a:bodyPr/>
                    <a:lstStyle/>
                    <a:p>
                      <a:pPr indent="0" lvl="0" marL="0" marR="0" rtl="0" algn="l">
                        <a:spcBef>
                          <a:spcPts val="0"/>
                        </a:spcBef>
                        <a:spcAft>
                          <a:spcPts val="0"/>
                        </a:spcAft>
                        <a:buNone/>
                      </a:pPr>
                      <a:r>
                        <a:rPr lang="en-US" sz="1400">
                          <a:latin typeface="Arial"/>
                          <a:ea typeface="Arial"/>
                          <a:cs typeface="Arial"/>
                          <a:sym typeface="Arial"/>
                        </a:rPr>
                        <a:t>Leap-A/Oompa-A</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Virus</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2006</a:t>
                      </a:r>
                      <a:endParaRPr/>
                    </a:p>
                  </a:txBody>
                  <a:tcPr marT="45725" marB="45725" marR="91450" marL="91450"/>
                </a:tc>
                <a:tc>
                  <a:txBody>
                    <a:bodyPr/>
                    <a:lstStyle/>
                    <a:p>
                      <a:pPr indent="0" lvl="0" marL="0" marR="0" rtl="0" algn="l">
                        <a:spcBef>
                          <a:spcPts val="0"/>
                        </a:spcBef>
                        <a:spcAft>
                          <a:spcPts val="0"/>
                        </a:spcAft>
                        <a:buNone/>
                      </a:pPr>
                      <a:r>
                        <a:rPr lang="en-US" sz="1400">
                          <a:latin typeface="Arial"/>
                          <a:ea typeface="Arial"/>
                          <a:cs typeface="Arial"/>
                          <a:sym typeface="Arial"/>
                        </a:rPr>
                        <a:t>Unknown</a:t>
                      </a:r>
                      <a:r>
                        <a:rPr lang="en-US" sz="1400">
                          <a:latin typeface="Arial"/>
                          <a:ea typeface="Arial"/>
                          <a:cs typeface="Arial"/>
                          <a:sym typeface="Arial"/>
                        </a:rPr>
                        <a:t> (Apple)</a:t>
                      </a:r>
                      <a:endParaRPr sz="1400">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Arial"/>
                        <a:buNone/>
                      </a:pPr>
                      <a:r>
                        <a:rPr lang="en-US" sz="1400">
                          <a:latin typeface="Arial"/>
                          <a:ea typeface="Arial"/>
                          <a:cs typeface="Arial"/>
                          <a:sym typeface="Arial"/>
                        </a:rPr>
                        <a:t>Unknown</a:t>
                      </a:r>
                      <a:endParaRPr/>
                    </a:p>
                  </a:txBody>
                  <a:tcPr marT="45725" marB="45725" marR="91450" marL="91450"/>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55"/>
          <p:cNvSpPr txBox="1"/>
          <p:nvPr>
            <p:ph type="title"/>
          </p:nvPr>
        </p:nvSpPr>
        <p:spPr>
          <a:xfrm>
            <a:off x="0" y="161074"/>
            <a:ext cx="9144000" cy="973253"/>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b="1" lang="en-US"/>
              <a:t>Table 2-8</a:t>
            </a:r>
            <a:r>
              <a:rPr lang="en-US"/>
              <a:t> Attack Replication Vectors </a:t>
            </a:r>
            <a:endParaRPr/>
          </a:p>
        </p:txBody>
      </p:sp>
      <p:graphicFrame>
        <p:nvGraphicFramePr>
          <p:cNvPr id="397" name="Google Shape;397;p55"/>
          <p:cNvGraphicFramePr/>
          <p:nvPr/>
        </p:nvGraphicFramePr>
        <p:xfrm>
          <a:off x="457200" y="1453813"/>
          <a:ext cx="3000000" cy="3000000"/>
        </p:xfrm>
        <a:graphic>
          <a:graphicData uri="http://schemas.openxmlformats.org/drawingml/2006/table">
            <a:tbl>
              <a:tblPr bandRow="1" firstRow="1">
                <a:noFill/>
                <a:tableStyleId>{6765FC5E-082A-4690-9782-9FE3793750BE}</a:tableStyleId>
              </a:tblPr>
              <a:tblGrid>
                <a:gridCol w="1828800"/>
                <a:gridCol w="6400800"/>
              </a:tblGrid>
              <a:tr h="533400">
                <a:tc>
                  <a:txBody>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Vector</a:t>
                      </a:r>
                      <a:endParaRPr/>
                    </a:p>
                  </a:txBody>
                  <a:tcPr marT="45725" marB="45725" marR="91450" marL="91450" anchor="ctr">
                    <a:solidFill>
                      <a:srgbClr val="364162"/>
                    </a:solidFill>
                  </a:tcPr>
                </a:tc>
                <a:tc>
                  <a:txBody>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Description</a:t>
                      </a:r>
                      <a:endParaRPr/>
                    </a:p>
                  </a:txBody>
                  <a:tcPr marT="45725" marB="45725" marR="91450" marL="91450" anchor="ctr">
                    <a:solidFill>
                      <a:srgbClr val="364162"/>
                    </a:solidFill>
                  </a:tcPr>
                </a:tc>
              </a:tr>
              <a:tr h="694725">
                <a:tc>
                  <a:txBody>
                    <a:bodyPr/>
                    <a:lstStyle/>
                    <a:p>
                      <a:pPr indent="0" lvl="0" marL="0" marR="0" rtl="0" algn="l">
                        <a:spcBef>
                          <a:spcPts val="0"/>
                        </a:spcBef>
                        <a:spcAft>
                          <a:spcPts val="0"/>
                        </a:spcAft>
                        <a:buNone/>
                      </a:pPr>
                      <a:r>
                        <a:rPr b="0" i="0" lang="en-US" sz="1600" u="none" strike="noStrike">
                          <a:solidFill>
                            <a:srgbClr val="000000"/>
                          </a:solidFill>
                          <a:latin typeface="Arial"/>
                          <a:ea typeface="Arial"/>
                          <a:cs typeface="Arial"/>
                          <a:sym typeface="Arial"/>
                        </a:rPr>
                        <a:t>IP scan and attack</a:t>
                      </a:r>
                      <a:endParaRPr/>
                    </a:p>
                  </a:txBody>
                  <a:tcPr marT="9525" marB="0" marR="9525" marL="9525"/>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strike="noStrike">
                          <a:solidFill>
                            <a:srgbClr val="000000"/>
                          </a:solidFill>
                          <a:latin typeface="Arial"/>
                          <a:ea typeface="Arial"/>
                          <a:cs typeface="Arial"/>
                          <a:sym typeface="Arial"/>
                        </a:rPr>
                        <a:t>The infected system scans a range of IP addresses and service ports and targets several vulnerabilities known to hackers or left over from previous exploits, such as Code Red, Back Orifice, or PoizonBox.</a:t>
                      </a:r>
                      <a:endParaRPr/>
                    </a:p>
                  </a:txBody>
                  <a:tcPr marT="9525" marB="0" marR="9525" marL="9525" anchor="ctr"/>
                </a:tc>
              </a:tr>
              <a:tr h="618525">
                <a:tc>
                  <a:txBody>
                    <a:bodyPr/>
                    <a:lstStyle/>
                    <a:p>
                      <a:pPr indent="0" lvl="0" marL="0" marR="0" rtl="0" algn="l">
                        <a:spcBef>
                          <a:spcPts val="0"/>
                        </a:spcBef>
                        <a:spcAft>
                          <a:spcPts val="0"/>
                        </a:spcAft>
                        <a:buNone/>
                      </a:pPr>
                      <a:r>
                        <a:rPr b="0" i="0" lang="en-US" sz="1600" u="none" strike="noStrike">
                          <a:solidFill>
                            <a:srgbClr val="000000"/>
                          </a:solidFill>
                          <a:latin typeface="Arial"/>
                          <a:ea typeface="Arial"/>
                          <a:cs typeface="Arial"/>
                          <a:sym typeface="Arial"/>
                        </a:rPr>
                        <a:t>Web browsing</a:t>
                      </a:r>
                      <a:endParaRPr/>
                    </a:p>
                  </a:txBody>
                  <a:tcPr marT="9525" marB="0" marR="9525" marL="9525"/>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strike="noStrike">
                          <a:solidFill>
                            <a:srgbClr val="000000"/>
                          </a:solidFill>
                          <a:latin typeface="Arial"/>
                          <a:ea typeface="Arial"/>
                          <a:cs typeface="Arial"/>
                          <a:sym typeface="Arial"/>
                        </a:rPr>
                        <a:t>If the infected system has write access to any Web pages, it makes all Web content files infectious, including .html, .asp, .cgi, and other files. Users who browse to those pages infect their machines.</a:t>
                      </a:r>
                      <a:endParaRPr/>
                    </a:p>
                  </a:txBody>
                  <a:tcPr marT="9525" marB="0" marR="9525" marL="9525" anchor="ctr"/>
                </a:tc>
              </a:tr>
              <a:tr h="661800">
                <a:tc>
                  <a:txBody>
                    <a:bodyPr/>
                    <a:lstStyle/>
                    <a:p>
                      <a:pPr indent="0" lvl="0" marL="0" marR="0" rtl="0" algn="l">
                        <a:spcBef>
                          <a:spcPts val="0"/>
                        </a:spcBef>
                        <a:spcAft>
                          <a:spcPts val="0"/>
                        </a:spcAft>
                        <a:buNone/>
                      </a:pPr>
                      <a:r>
                        <a:rPr b="0" i="0" lang="en-US" sz="1600" u="none" strike="noStrike">
                          <a:solidFill>
                            <a:srgbClr val="000000"/>
                          </a:solidFill>
                          <a:latin typeface="Arial"/>
                          <a:ea typeface="Arial"/>
                          <a:cs typeface="Arial"/>
                          <a:sym typeface="Arial"/>
                        </a:rPr>
                        <a:t>Virus</a:t>
                      </a:r>
                      <a:endParaRPr/>
                    </a:p>
                  </a:txBody>
                  <a:tcPr marT="9525" marB="0" marR="9525" marL="9525"/>
                </a:tc>
                <a:tc>
                  <a:txBody>
                    <a:bodyPr/>
                    <a:lstStyle/>
                    <a:p>
                      <a:pPr indent="0" lvl="0" marL="0" marR="0" rtl="0" algn="l">
                        <a:spcBef>
                          <a:spcPts val="0"/>
                        </a:spcBef>
                        <a:spcAft>
                          <a:spcPts val="0"/>
                        </a:spcAft>
                        <a:buNone/>
                      </a:pPr>
                      <a:r>
                        <a:rPr b="0" i="0" lang="en-US" sz="1600" u="none" strike="noStrike">
                          <a:solidFill>
                            <a:srgbClr val="000000"/>
                          </a:solidFill>
                          <a:latin typeface="Arial"/>
                          <a:ea typeface="Arial"/>
                          <a:cs typeface="Arial"/>
                          <a:sym typeface="Arial"/>
                        </a:rPr>
                        <a:t>Each affected machine infects common executable or script files on all computers to which it can write, which spreads the virus code to cause further infection.</a:t>
                      </a:r>
                      <a:endParaRPr/>
                    </a:p>
                  </a:txBody>
                  <a:tcPr marT="9525" marB="0" marR="9525" marL="9525" anchor="ctr"/>
                </a:tc>
              </a:tr>
              <a:tr h="748375">
                <a:tc>
                  <a:txBody>
                    <a:bodyPr/>
                    <a:lstStyle/>
                    <a:p>
                      <a:pPr indent="0" lvl="0" marL="0" marR="0" rtl="0" algn="l">
                        <a:spcBef>
                          <a:spcPts val="0"/>
                        </a:spcBef>
                        <a:spcAft>
                          <a:spcPts val="0"/>
                        </a:spcAft>
                        <a:buNone/>
                      </a:pPr>
                      <a:r>
                        <a:rPr b="0" i="0" lang="en-US" sz="1600" u="none" strike="noStrike">
                          <a:solidFill>
                            <a:srgbClr val="000000"/>
                          </a:solidFill>
                          <a:latin typeface="Arial"/>
                          <a:ea typeface="Arial"/>
                          <a:cs typeface="Arial"/>
                          <a:sym typeface="Arial"/>
                        </a:rPr>
                        <a:t>Unprotected shares</a:t>
                      </a:r>
                      <a:endParaRPr/>
                    </a:p>
                  </a:txBody>
                  <a:tcPr marT="9525" marB="0" marR="9525" marL="9525"/>
                </a:tc>
                <a:tc>
                  <a:txBody>
                    <a:bodyPr/>
                    <a:lstStyle/>
                    <a:p>
                      <a:pPr indent="0" lvl="0" marL="0" marR="0" rtl="0" algn="l">
                        <a:spcBef>
                          <a:spcPts val="0"/>
                        </a:spcBef>
                        <a:spcAft>
                          <a:spcPts val="0"/>
                        </a:spcAft>
                        <a:buNone/>
                      </a:pPr>
                      <a:r>
                        <a:rPr b="0" i="0" lang="en-US" sz="1600" u="none" strike="noStrike">
                          <a:solidFill>
                            <a:srgbClr val="000000"/>
                          </a:solidFill>
                          <a:latin typeface="Arial"/>
                          <a:ea typeface="Arial"/>
                          <a:cs typeface="Arial"/>
                          <a:sym typeface="Arial"/>
                        </a:rPr>
                        <a:t>Using vulnerabilities in file systems and in the way many organizations configure them, the infected machine copies the viral component to all locations it can reach.</a:t>
                      </a:r>
                      <a:endParaRPr/>
                    </a:p>
                  </a:txBody>
                  <a:tcPr marT="9525" marB="0" marR="9525" marL="9525" anchor="ctr"/>
                </a:tc>
              </a:tr>
              <a:tr h="640675">
                <a:tc>
                  <a:txBody>
                    <a:bodyPr/>
                    <a:lstStyle/>
                    <a:p>
                      <a:pPr indent="0" lvl="0" marL="0" marR="0" rtl="0" algn="l">
                        <a:spcBef>
                          <a:spcPts val="0"/>
                        </a:spcBef>
                        <a:spcAft>
                          <a:spcPts val="0"/>
                        </a:spcAft>
                        <a:buNone/>
                      </a:pPr>
                      <a:r>
                        <a:rPr b="0" i="0" lang="en-US" sz="1600" u="none" strike="noStrike">
                          <a:solidFill>
                            <a:srgbClr val="000000"/>
                          </a:solidFill>
                          <a:latin typeface="Arial"/>
                          <a:ea typeface="Arial"/>
                          <a:cs typeface="Arial"/>
                          <a:sym typeface="Arial"/>
                        </a:rPr>
                        <a:t>Mass mail</a:t>
                      </a:r>
                      <a:endParaRPr/>
                    </a:p>
                  </a:txBody>
                  <a:tcPr marT="9525" marB="0" marR="9525" marL="9525"/>
                </a:tc>
                <a:tc>
                  <a:txBody>
                    <a:bodyPr/>
                    <a:lstStyle/>
                    <a:p>
                      <a:pPr indent="0" lvl="0" marL="0" marR="0" rtl="0" algn="l">
                        <a:spcBef>
                          <a:spcPts val="0"/>
                        </a:spcBef>
                        <a:spcAft>
                          <a:spcPts val="0"/>
                        </a:spcAft>
                        <a:buNone/>
                      </a:pPr>
                      <a:r>
                        <a:rPr b="0" i="0" lang="en-US" sz="1600" u="none" strike="noStrike">
                          <a:solidFill>
                            <a:srgbClr val="000000"/>
                          </a:solidFill>
                          <a:latin typeface="Arial"/>
                          <a:ea typeface="Arial"/>
                          <a:cs typeface="Arial"/>
                          <a:sym typeface="Arial"/>
                        </a:rPr>
                        <a:t>By sending e-mail infections to addresses found in the address book, the affected machine infects many other users, whose mail-reading programs automatically run the virus program and infect even more systems.</a:t>
                      </a:r>
                      <a:endParaRPr/>
                    </a:p>
                  </a:txBody>
                  <a:tcPr marT="9525" marB="0" marR="9525" marL="9525" anchor="ct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6"/>
          <p:cNvSpPr txBox="1"/>
          <p:nvPr>
            <p:ph type="title"/>
          </p:nvPr>
        </p:nvSpPr>
        <p:spPr>
          <a:xfrm>
            <a:off x="76200" y="152401"/>
            <a:ext cx="8991600" cy="914399"/>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Arial"/>
              <a:buNone/>
            </a:pPr>
            <a:r>
              <a:rPr b="1" lang="en-US"/>
              <a:t>Figure 2-18  </a:t>
            </a:r>
            <a:r>
              <a:rPr lang="en-US"/>
              <a:t>Denial-of-service attack</a:t>
            </a:r>
            <a:endParaRPr/>
          </a:p>
        </p:txBody>
      </p:sp>
      <p:sp>
        <p:nvSpPr>
          <p:cNvPr id="403" name="Google Shape;403;p56"/>
          <p:cNvSpPr txBox="1"/>
          <p:nvPr>
            <p:ph idx="1" type="body"/>
          </p:nvPr>
        </p:nvSpPr>
        <p:spPr>
          <a:xfrm>
            <a:off x="199572" y="1219200"/>
            <a:ext cx="8839200" cy="2404508"/>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000"/>
              <a:buNone/>
            </a:pPr>
            <a:r>
              <a:rPr lang="en-US" sz="2000">
                <a:solidFill>
                  <a:srgbClr val="FF0000"/>
                </a:solidFill>
              </a:rPr>
              <a:t>In a denial-of-service attack, a hacker compromises a system and uses that system to attack the target computer, flooding it with more requests for services than the target can handle.</a:t>
            </a:r>
            <a:endParaRPr/>
          </a:p>
          <a:p>
            <a:pPr indent="0" lvl="0" marL="0" rtl="0" algn="l">
              <a:spcBef>
                <a:spcPts val="600"/>
              </a:spcBef>
              <a:spcAft>
                <a:spcPts val="0"/>
              </a:spcAft>
              <a:buSzPts val="2000"/>
              <a:buNone/>
            </a:pPr>
            <a:r>
              <a:rPr lang="en-US" sz="2000">
                <a:solidFill>
                  <a:srgbClr val="FF0000"/>
                </a:solidFill>
              </a:rPr>
              <a:t>In a distributed denial-of service attack, dozens or even hundreds of computers (known as zombies or bots) are compromised, loaded with Dos attack software, and then remotely activated by the hacker to conduct a coordinated attack.</a:t>
            </a:r>
            <a:endParaRPr/>
          </a:p>
        </p:txBody>
      </p:sp>
      <p:pic>
        <p:nvPicPr>
          <p:cNvPr descr="An illustration shows an image of a man working in a computer which is pointed to another images with three arrows separately. The first arrow points to a CPU. The second also points to a CPU. The third arrow points to two CPUs. All these three images are pointed to another CPU with a disc image on it. The first image showing man working in computer is straightly pointed to two CPUs which further pointed to the CPU with a disc image on it. &#10;" id="404" name="Google Shape;404;p56"/>
          <p:cNvPicPr preferRelativeResize="0"/>
          <p:nvPr/>
        </p:nvPicPr>
        <p:blipFill rotWithShape="1">
          <a:blip r:embed="rId3">
            <a:alphaModFix/>
          </a:blip>
          <a:srcRect b="0" l="0" r="0" t="0"/>
          <a:stretch/>
        </p:blipFill>
        <p:spPr>
          <a:xfrm>
            <a:off x="1892617" y="3618548"/>
            <a:ext cx="5270183" cy="253555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7"/>
          <p:cNvSpPr txBox="1"/>
          <p:nvPr>
            <p:ph type="title"/>
          </p:nvPr>
        </p:nvSpPr>
        <p:spPr>
          <a:xfrm>
            <a:off x="76200" y="152401"/>
            <a:ext cx="8991600" cy="914399"/>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FF0000"/>
              </a:buClr>
              <a:buSzPts val="3600"/>
              <a:buFont typeface="Arial"/>
              <a:buNone/>
            </a:pPr>
            <a:r>
              <a:rPr b="1" lang="en-US">
                <a:solidFill>
                  <a:srgbClr val="FF0000"/>
                </a:solidFill>
              </a:rPr>
              <a:t>Figure 2-19 </a:t>
            </a:r>
            <a:r>
              <a:rPr lang="en-US">
                <a:solidFill>
                  <a:srgbClr val="FF0000"/>
                </a:solidFill>
              </a:rPr>
              <a:t>IP Spoofing attack </a:t>
            </a:r>
            <a:endParaRPr/>
          </a:p>
        </p:txBody>
      </p:sp>
      <p:pic>
        <p:nvPicPr>
          <p:cNvPr descr="An illustration shows the work flow of hacker. An image shows a man working in system which is pointed to a DVD player like image below which the text reads as, “Firewall allows packet in, mistaking it for legitimate traffic.” Above the arrow three small segments are shown. Then it is pointed to a disc image, below which the text reads as, “Spoofed packet slips into intranet to wreak havoc.”  Three segments in small size are shown above the arrow pointed to disc.  The enlarged view of these two three segments. The first top three segments are, “Data: Payload, IP Source: 192. 168.0.25, IP destination: 10.0.0.75.” The text on the right side next to this segment reads as, “Original IP packet from hacker’s system.” From the center segment of top an arrow is pointed to the below three segments to the center block. The second three segments are, “Data: Payload, IP Source: 10.0.0.80 and IP Destination: 10.0.0.75. The text on the right of these three segments reads as, “Spoofed (modified) IP packet.” &#10;" id="410" name="Google Shape;410;p57"/>
          <p:cNvPicPr preferRelativeResize="0"/>
          <p:nvPr/>
        </p:nvPicPr>
        <p:blipFill rotWithShape="1">
          <a:blip r:embed="rId3">
            <a:alphaModFix/>
          </a:blip>
          <a:srcRect b="0" l="0" r="0" t="0"/>
          <a:stretch/>
        </p:blipFill>
        <p:spPr>
          <a:xfrm>
            <a:off x="1069059" y="1348039"/>
            <a:ext cx="7084341" cy="4671761"/>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8"/>
          <p:cNvSpPr txBox="1"/>
          <p:nvPr>
            <p:ph type="title"/>
          </p:nvPr>
        </p:nvSpPr>
        <p:spPr>
          <a:xfrm>
            <a:off x="76200" y="159328"/>
            <a:ext cx="8991600" cy="83127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FF0000"/>
              </a:buClr>
              <a:buSzPts val="3600"/>
              <a:buFont typeface="Arial"/>
              <a:buNone/>
            </a:pPr>
            <a:r>
              <a:rPr b="1" lang="en-US">
                <a:solidFill>
                  <a:srgbClr val="FF0000"/>
                </a:solidFill>
              </a:rPr>
              <a:t>Figure 2-20 </a:t>
            </a:r>
            <a:r>
              <a:rPr lang="en-US">
                <a:solidFill>
                  <a:srgbClr val="FF0000"/>
                </a:solidFill>
              </a:rPr>
              <a:t>Man-in-the-middle attack </a:t>
            </a:r>
            <a:endParaRPr/>
          </a:p>
        </p:txBody>
      </p:sp>
      <p:pic>
        <p:nvPicPr>
          <p:cNvPr descr="An illustration shows three images along with text in triangular form. The first image on the left side shows a man working in a computer above which the text reads as, “Company A attempts to establish an encrypted session with company B.” The first image is pointed the second image on top with double sided arrows with keys images illustrated near the arrows. The second image shows a man with specs and beard working in a computer. The text on the right reads as, “Hacker intercepts transmission, and poses as company B. Hacker exchanges his own keys with company A. Hacker then establishes a session with company B, posing as company A.” The second image is marked with double sided arrows to image three with images of a key near the arrows. The third image shows a woman working in a computer. The text on the left reads as, “Company B sends all messages to the hacker who receives, decrypts, copies, and forwards copies (possibly modified) to company A.&#10;" id="416" name="Google Shape;416;p58"/>
          <p:cNvPicPr preferRelativeResize="0"/>
          <p:nvPr/>
        </p:nvPicPr>
        <p:blipFill rotWithShape="1">
          <a:blip r:embed="rId3">
            <a:alphaModFix/>
          </a:blip>
          <a:srcRect b="0" l="0" r="0" t="0"/>
          <a:stretch/>
        </p:blipFill>
        <p:spPr>
          <a:xfrm>
            <a:off x="1263101" y="1379734"/>
            <a:ext cx="6617799" cy="4640066"/>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9"/>
          <p:cNvSpPr txBox="1"/>
          <p:nvPr>
            <p:ph type="title"/>
          </p:nvPr>
        </p:nvSpPr>
        <p:spPr>
          <a:xfrm>
            <a:off x="533400" y="0"/>
            <a:ext cx="8260080" cy="1039091"/>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600"/>
              <a:buFont typeface="Arial"/>
              <a:buNone/>
            </a:pPr>
            <a:r>
              <a:rPr lang="en-US"/>
              <a:t>Technical Hardware Failures or Errors </a:t>
            </a:r>
            <a:r>
              <a:rPr lang="en-US" sz="3600">
                <a:solidFill>
                  <a:schemeClr val="lt1"/>
                </a:solidFill>
                <a:latin typeface="Arial"/>
                <a:ea typeface="Arial"/>
                <a:cs typeface="Arial"/>
                <a:sym typeface="Arial"/>
              </a:rPr>
              <a:t>(1 of 2)</a:t>
            </a:r>
            <a:endParaRPr/>
          </a:p>
        </p:txBody>
      </p:sp>
      <p:sp>
        <p:nvSpPr>
          <p:cNvPr id="424" name="Google Shape;424;p59"/>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600"/>
              <a:buChar char="•"/>
            </a:pPr>
            <a:r>
              <a:rPr lang="en-US"/>
              <a:t>They occur when a manufacturer distributes equipment containing a known or unknown flaw.</a:t>
            </a:r>
            <a:endParaRPr/>
          </a:p>
          <a:p>
            <a:pPr indent="-342900" lvl="0" marL="342900" rtl="0" algn="l">
              <a:spcBef>
                <a:spcPts val="600"/>
              </a:spcBef>
              <a:spcAft>
                <a:spcPts val="0"/>
              </a:spcAft>
              <a:buSzPts val="2600"/>
              <a:buChar char="•"/>
            </a:pPr>
            <a:r>
              <a:rPr lang="en-US"/>
              <a:t>They can cause the system to perform outside of expected parameters, resulting in unreliable service or lack of availability.</a:t>
            </a:r>
            <a:endParaRPr/>
          </a:p>
          <a:p>
            <a:pPr indent="-342900" lvl="0" marL="342900" rtl="0" algn="l">
              <a:spcBef>
                <a:spcPts val="600"/>
              </a:spcBef>
              <a:spcAft>
                <a:spcPts val="0"/>
              </a:spcAft>
              <a:buSzPts val="2600"/>
              <a:buChar char="•"/>
            </a:pPr>
            <a:r>
              <a:rPr lang="en-US"/>
              <a:t>Some errors are terminal and some are intermittent.</a:t>
            </a:r>
            <a:endParaRPr/>
          </a:p>
          <a:p>
            <a:pPr indent="-285750" lvl="1" marL="742950" rtl="0" algn="l">
              <a:spcBef>
                <a:spcPts val="600"/>
              </a:spcBef>
              <a:spcAft>
                <a:spcPts val="0"/>
              </a:spcAft>
              <a:buSzPts val="2400"/>
              <a:buChar char="–"/>
            </a:pPr>
            <a:r>
              <a:rPr lang="en-US"/>
              <a:t>Intel Pentium CPU failure.</a:t>
            </a:r>
            <a:endParaRPr/>
          </a:p>
          <a:p>
            <a:pPr indent="-285750" lvl="1" marL="742950" rtl="0" algn="l">
              <a:spcBef>
                <a:spcPts val="600"/>
              </a:spcBef>
              <a:spcAft>
                <a:spcPts val="0"/>
              </a:spcAft>
              <a:buSzPts val="2400"/>
              <a:buChar char="–"/>
            </a:pPr>
            <a:r>
              <a:rPr lang="en-US"/>
              <a:t>Mean time between failure measures the amount of time between hardware failures.</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60"/>
          <p:cNvSpPr txBox="1"/>
          <p:nvPr>
            <p:ph type="title"/>
          </p:nvPr>
        </p:nvSpPr>
        <p:spPr>
          <a:xfrm>
            <a:off x="533400" y="0"/>
            <a:ext cx="8183880" cy="1115291"/>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600"/>
              <a:buFont typeface="Arial"/>
              <a:buNone/>
            </a:pPr>
            <a:r>
              <a:rPr lang="en-US"/>
              <a:t>Technical Software Failures or Errors </a:t>
            </a:r>
            <a:r>
              <a:rPr lang="en-US" sz="3600">
                <a:solidFill>
                  <a:schemeClr val="lt1"/>
                </a:solidFill>
                <a:latin typeface="Arial"/>
                <a:ea typeface="Arial"/>
                <a:cs typeface="Arial"/>
                <a:sym typeface="Arial"/>
              </a:rPr>
              <a:t>(2 of 2)</a:t>
            </a:r>
            <a:endParaRPr/>
          </a:p>
        </p:txBody>
      </p:sp>
      <p:sp>
        <p:nvSpPr>
          <p:cNvPr id="432" name="Google Shape;432;p60"/>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600"/>
              <a:buChar char="•"/>
            </a:pPr>
            <a:r>
              <a:rPr lang="en-US"/>
              <a:t>Large quantities of computer code are written, debugged, published, and sold before all bugs are detected and resolved.</a:t>
            </a:r>
            <a:endParaRPr/>
          </a:p>
          <a:p>
            <a:pPr indent="-342900" lvl="0" marL="342900" rtl="0" algn="l">
              <a:spcBef>
                <a:spcPts val="600"/>
              </a:spcBef>
              <a:spcAft>
                <a:spcPts val="0"/>
              </a:spcAft>
              <a:buSzPts val="2600"/>
              <a:buChar char="•"/>
            </a:pPr>
            <a:r>
              <a:rPr lang="en-US"/>
              <a:t>Combinations of certain software and hardware can reveal new software bugs.</a:t>
            </a:r>
            <a:endParaRPr/>
          </a:p>
          <a:p>
            <a:pPr indent="-342900" lvl="0" marL="342900" rtl="0" algn="l">
              <a:spcBef>
                <a:spcPts val="600"/>
              </a:spcBef>
              <a:spcAft>
                <a:spcPts val="0"/>
              </a:spcAft>
              <a:buSzPts val="2600"/>
              <a:buChar char="•"/>
            </a:pPr>
            <a:r>
              <a:rPr lang="en-US"/>
              <a:t>Entire Web sites are dedicated to documenting bugs.</a:t>
            </a:r>
            <a:endParaRPr/>
          </a:p>
          <a:p>
            <a:pPr indent="-342900" lvl="0" marL="342900" rtl="0" algn="l">
              <a:spcBef>
                <a:spcPts val="600"/>
              </a:spcBef>
              <a:spcAft>
                <a:spcPts val="0"/>
              </a:spcAft>
              <a:buSzPts val="2600"/>
              <a:buChar char="•"/>
            </a:pPr>
            <a:r>
              <a:rPr lang="en-US"/>
              <a:t>Open Web Application Security Project (OWASP) is dedicated to helping organizations create/operate trustworthy software and publishes a list of top security risks.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61"/>
          <p:cNvSpPr txBox="1"/>
          <p:nvPr>
            <p:ph type="title"/>
          </p:nvPr>
        </p:nvSpPr>
        <p:spPr>
          <a:xfrm>
            <a:off x="502920" y="0"/>
            <a:ext cx="8107680" cy="11152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The Deadly Sins in Software Security (1 of 3)</a:t>
            </a:r>
            <a:endParaRPr/>
          </a:p>
        </p:txBody>
      </p:sp>
      <p:sp>
        <p:nvSpPr>
          <p:cNvPr id="440" name="Google Shape;440;p61"/>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110000"/>
              </a:lnSpc>
              <a:spcBef>
                <a:spcPts val="0"/>
              </a:spcBef>
              <a:spcAft>
                <a:spcPts val="0"/>
              </a:spcAft>
              <a:buSzPct val="100000"/>
              <a:buChar char="•"/>
            </a:pPr>
            <a:r>
              <a:rPr lang="en-US"/>
              <a:t>Common failures in software development:</a:t>
            </a:r>
            <a:endParaRPr/>
          </a:p>
          <a:p>
            <a:pPr indent="-285750" lvl="1" marL="742950" rtl="0" algn="l">
              <a:lnSpc>
                <a:spcPct val="110000"/>
              </a:lnSpc>
              <a:spcBef>
                <a:spcPts val="600"/>
              </a:spcBef>
              <a:spcAft>
                <a:spcPts val="0"/>
              </a:spcAft>
              <a:buSzPct val="100000"/>
              <a:buChar char="–"/>
            </a:pPr>
            <a:r>
              <a:rPr lang="en-US"/>
              <a:t>Buffer overruns</a:t>
            </a:r>
            <a:endParaRPr/>
          </a:p>
          <a:p>
            <a:pPr indent="-285750" lvl="1" marL="742950" rtl="0" algn="l">
              <a:lnSpc>
                <a:spcPct val="110000"/>
              </a:lnSpc>
              <a:spcBef>
                <a:spcPts val="600"/>
              </a:spcBef>
              <a:spcAft>
                <a:spcPts val="0"/>
              </a:spcAft>
              <a:buSzPct val="100000"/>
              <a:buChar char="–"/>
            </a:pPr>
            <a:r>
              <a:rPr lang="en-US"/>
              <a:t>Catching exceptions</a:t>
            </a:r>
            <a:endParaRPr/>
          </a:p>
          <a:p>
            <a:pPr indent="-285750" lvl="1" marL="742950" rtl="0" algn="l">
              <a:lnSpc>
                <a:spcPct val="110000"/>
              </a:lnSpc>
              <a:spcBef>
                <a:spcPts val="600"/>
              </a:spcBef>
              <a:spcAft>
                <a:spcPts val="0"/>
              </a:spcAft>
              <a:buSzPct val="100000"/>
              <a:buChar char="–"/>
            </a:pPr>
            <a:r>
              <a:rPr lang="en-US"/>
              <a:t>Command injection</a:t>
            </a:r>
            <a:endParaRPr/>
          </a:p>
          <a:p>
            <a:pPr indent="-285750" lvl="1" marL="742950" rtl="0" algn="l">
              <a:lnSpc>
                <a:spcPct val="110000"/>
              </a:lnSpc>
              <a:spcBef>
                <a:spcPts val="600"/>
              </a:spcBef>
              <a:spcAft>
                <a:spcPts val="0"/>
              </a:spcAft>
              <a:buSzPct val="100000"/>
              <a:buChar char="–"/>
            </a:pPr>
            <a:r>
              <a:rPr lang="en-US"/>
              <a:t>Cross-site scripting (XSS)</a:t>
            </a:r>
            <a:endParaRPr/>
          </a:p>
          <a:p>
            <a:pPr indent="-285750" lvl="1" marL="742950" rtl="0" algn="l">
              <a:lnSpc>
                <a:spcPct val="110000"/>
              </a:lnSpc>
              <a:spcBef>
                <a:spcPts val="600"/>
              </a:spcBef>
              <a:spcAft>
                <a:spcPts val="0"/>
              </a:spcAft>
              <a:buSzPct val="100000"/>
              <a:buChar char="–"/>
            </a:pPr>
            <a:r>
              <a:rPr lang="en-US"/>
              <a:t>Failure to handle errors</a:t>
            </a:r>
            <a:endParaRPr/>
          </a:p>
          <a:p>
            <a:pPr indent="-285750" lvl="1" marL="742950" rtl="0" algn="l">
              <a:lnSpc>
                <a:spcPct val="110000"/>
              </a:lnSpc>
              <a:spcBef>
                <a:spcPts val="600"/>
              </a:spcBef>
              <a:spcAft>
                <a:spcPts val="0"/>
              </a:spcAft>
              <a:buSzPct val="100000"/>
              <a:buChar char="–"/>
            </a:pPr>
            <a:r>
              <a:rPr lang="en-US"/>
              <a:t>Failure to protect network traffic</a:t>
            </a:r>
            <a:endParaRPr/>
          </a:p>
          <a:p>
            <a:pPr indent="-285750" lvl="1" marL="742950" rtl="0" algn="l">
              <a:lnSpc>
                <a:spcPct val="110000"/>
              </a:lnSpc>
              <a:spcBef>
                <a:spcPts val="600"/>
              </a:spcBef>
              <a:spcAft>
                <a:spcPts val="0"/>
              </a:spcAft>
              <a:buSzPct val="100000"/>
              <a:buChar char="–"/>
            </a:pPr>
            <a:r>
              <a:rPr lang="en-US"/>
              <a:t>Failure to store and protect data securely</a:t>
            </a:r>
            <a:endParaRPr/>
          </a:p>
          <a:p>
            <a:pPr indent="-285750" lvl="1" marL="742950" rtl="0" algn="l">
              <a:lnSpc>
                <a:spcPct val="110000"/>
              </a:lnSpc>
              <a:spcBef>
                <a:spcPts val="600"/>
              </a:spcBef>
              <a:spcAft>
                <a:spcPts val="0"/>
              </a:spcAft>
              <a:buSzPct val="100000"/>
              <a:buChar char="–"/>
            </a:pPr>
            <a:r>
              <a:rPr lang="en-US"/>
              <a:t>Failure to use cryptographically strong random numbers</a:t>
            </a:r>
            <a:endParaRPr/>
          </a:p>
          <a:p>
            <a:pPr indent="-285750" lvl="1" marL="742950" rtl="0" algn="l">
              <a:lnSpc>
                <a:spcPct val="110000"/>
              </a:lnSpc>
              <a:spcBef>
                <a:spcPts val="600"/>
              </a:spcBef>
              <a:spcAft>
                <a:spcPts val="0"/>
              </a:spcAft>
              <a:buSzPct val="100000"/>
              <a:buChar char="–"/>
            </a:pPr>
            <a:r>
              <a:rPr lang="en-US"/>
              <a:t>Format string problems</a:t>
            </a:r>
            <a:endParaRPr/>
          </a:p>
          <a:p>
            <a:pPr indent="-285750" lvl="1" marL="742950" rtl="0" algn="l">
              <a:lnSpc>
                <a:spcPct val="110000"/>
              </a:lnSpc>
              <a:spcBef>
                <a:spcPts val="600"/>
              </a:spcBef>
              <a:spcAft>
                <a:spcPts val="0"/>
              </a:spcAft>
              <a:buSzPct val="100000"/>
              <a:buChar char="–"/>
            </a:pPr>
            <a:r>
              <a:rPr lang="en-US"/>
              <a:t>Neglecting change control</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62"/>
          <p:cNvSpPr txBox="1"/>
          <p:nvPr>
            <p:ph type="title"/>
          </p:nvPr>
        </p:nvSpPr>
        <p:spPr>
          <a:xfrm>
            <a:off x="533400" y="0"/>
            <a:ext cx="8107680" cy="11152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The Deadly Sins in Software Security (2 of 3)</a:t>
            </a:r>
            <a:endParaRPr/>
          </a:p>
        </p:txBody>
      </p:sp>
      <p:sp>
        <p:nvSpPr>
          <p:cNvPr id="448" name="Google Shape;448;p62"/>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285750" lvl="1" marL="742950" rtl="0" algn="l">
              <a:lnSpc>
                <a:spcPct val="120000"/>
              </a:lnSpc>
              <a:spcBef>
                <a:spcPts val="0"/>
              </a:spcBef>
              <a:spcAft>
                <a:spcPts val="0"/>
              </a:spcAft>
              <a:buSzPts val="2400"/>
              <a:buChar char="–"/>
            </a:pPr>
            <a:r>
              <a:rPr lang="en-US"/>
              <a:t>Improper file access</a:t>
            </a:r>
            <a:endParaRPr/>
          </a:p>
          <a:p>
            <a:pPr indent="-285750" lvl="1" marL="742950" rtl="0" algn="l">
              <a:lnSpc>
                <a:spcPct val="120000"/>
              </a:lnSpc>
              <a:spcBef>
                <a:spcPts val="600"/>
              </a:spcBef>
              <a:spcAft>
                <a:spcPts val="0"/>
              </a:spcAft>
              <a:buSzPts val="2400"/>
              <a:buChar char="–"/>
            </a:pPr>
            <a:r>
              <a:rPr lang="en-US"/>
              <a:t>Improper use of Secure Sockets Layer (SSL)</a:t>
            </a:r>
            <a:endParaRPr/>
          </a:p>
          <a:p>
            <a:pPr indent="-285750" lvl="1" marL="742950" rtl="0" algn="l">
              <a:lnSpc>
                <a:spcPct val="120000"/>
              </a:lnSpc>
              <a:spcBef>
                <a:spcPts val="600"/>
              </a:spcBef>
              <a:spcAft>
                <a:spcPts val="0"/>
              </a:spcAft>
              <a:buSzPts val="2400"/>
              <a:buChar char="–"/>
            </a:pPr>
            <a:r>
              <a:rPr lang="en-US"/>
              <a:t>Information leakage</a:t>
            </a:r>
            <a:endParaRPr/>
          </a:p>
          <a:p>
            <a:pPr indent="-285750" lvl="1" marL="742950" rtl="0" algn="l">
              <a:lnSpc>
                <a:spcPct val="120000"/>
              </a:lnSpc>
              <a:spcBef>
                <a:spcPts val="600"/>
              </a:spcBef>
              <a:spcAft>
                <a:spcPts val="0"/>
              </a:spcAft>
              <a:buSzPts val="2400"/>
              <a:buChar char="–"/>
            </a:pPr>
            <a:r>
              <a:rPr lang="en-US"/>
              <a:t>Integer bugs (overflows/underflows)‏</a:t>
            </a:r>
            <a:endParaRPr/>
          </a:p>
          <a:p>
            <a:pPr indent="-285750" lvl="1" marL="742950" rtl="0" algn="l">
              <a:lnSpc>
                <a:spcPct val="120000"/>
              </a:lnSpc>
              <a:spcBef>
                <a:spcPts val="600"/>
              </a:spcBef>
              <a:spcAft>
                <a:spcPts val="0"/>
              </a:spcAft>
              <a:buSzPts val="2400"/>
              <a:buChar char="–"/>
            </a:pPr>
            <a:r>
              <a:rPr lang="en-US"/>
              <a:t>Race conditions</a:t>
            </a:r>
            <a:endParaRPr/>
          </a:p>
          <a:p>
            <a:pPr indent="-285750" lvl="1" marL="742950" rtl="0" algn="l">
              <a:lnSpc>
                <a:spcPct val="120000"/>
              </a:lnSpc>
              <a:spcBef>
                <a:spcPts val="600"/>
              </a:spcBef>
              <a:spcAft>
                <a:spcPts val="0"/>
              </a:spcAft>
              <a:buSzPts val="2400"/>
              <a:buChar char="–"/>
            </a:pPr>
            <a:r>
              <a:rPr lang="en-US"/>
              <a:t>SQL injection</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63"/>
          <p:cNvSpPr txBox="1"/>
          <p:nvPr>
            <p:ph type="title"/>
          </p:nvPr>
        </p:nvSpPr>
        <p:spPr>
          <a:xfrm>
            <a:off x="533400" y="0"/>
            <a:ext cx="8107680" cy="11152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The Deadly Sins in Software Security (3 of 3)</a:t>
            </a:r>
            <a:endParaRPr/>
          </a:p>
        </p:txBody>
      </p:sp>
      <p:sp>
        <p:nvSpPr>
          <p:cNvPr id="456" name="Google Shape;456;p63"/>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lnSpc>
                <a:spcPct val="120000"/>
              </a:lnSpc>
              <a:spcBef>
                <a:spcPts val="0"/>
              </a:spcBef>
              <a:spcAft>
                <a:spcPts val="0"/>
              </a:spcAft>
              <a:buSzPts val="2600"/>
              <a:buChar char="•"/>
            </a:pPr>
            <a:r>
              <a:rPr lang="en-US"/>
              <a:t>Problem areas in software development:</a:t>
            </a:r>
            <a:endParaRPr/>
          </a:p>
          <a:p>
            <a:pPr indent="-285750" lvl="1" marL="742950" rtl="0" algn="l">
              <a:lnSpc>
                <a:spcPct val="120000"/>
              </a:lnSpc>
              <a:spcBef>
                <a:spcPts val="600"/>
              </a:spcBef>
              <a:spcAft>
                <a:spcPts val="0"/>
              </a:spcAft>
              <a:buSzPts val="2400"/>
              <a:buChar char="–"/>
            </a:pPr>
            <a:r>
              <a:rPr lang="en-US"/>
              <a:t>Trusting network address resolution</a:t>
            </a:r>
            <a:endParaRPr/>
          </a:p>
          <a:p>
            <a:pPr indent="-285750" lvl="1" marL="742950" rtl="0" algn="l">
              <a:lnSpc>
                <a:spcPct val="120000"/>
              </a:lnSpc>
              <a:spcBef>
                <a:spcPts val="600"/>
              </a:spcBef>
              <a:spcAft>
                <a:spcPts val="0"/>
              </a:spcAft>
              <a:buSzPts val="2400"/>
              <a:buChar char="–"/>
            </a:pPr>
            <a:r>
              <a:rPr lang="en-US"/>
              <a:t>Unauthenticated key exchange</a:t>
            </a:r>
            <a:endParaRPr/>
          </a:p>
          <a:p>
            <a:pPr indent="-285750" lvl="1" marL="742950" rtl="0" algn="l">
              <a:lnSpc>
                <a:spcPct val="120000"/>
              </a:lnSpc>
              <a:spcBef>
                <a:spcPts val="600"/>
              </a:spcBef>
              <a:spcAft>
                <a:spcPts val="0"/>
              </a:spcAft>
              <a:buSzPts val="2400"/>
              <a:buChar char="–"/>
            </a:pPr>
            <a:r>
              <a:rPr lang="en-US"/>
              <a:t>Use of magic URLs and hidden forms</a:t>
            </a:r>
            <a:endParaRPr/>
          </a:p>
          <a:p>
            <a:pPr indent="-285750" lvl="1" marL="742950" rtl="0" algn="l">
              <a:lnSpc>
                <a:spcPct val="120000"/>
              </a:lnSpc>
              <a:spcBef>
                <a:spcPts val="600"/>
              </a:spcBef>
              <a:spcAft>
                <a:spcPts val="0"/>
              </a:spcAft>
              <a:buSzPts val="2400"/>
              <a:buChar char="–"/>
            </a:pPr>
            <a:r>
              <a:rPr lang="en-US"/>
              <a:t>Use of weak password-based systems</a:t>
            </a:r>
            <a:endParaRPr/>
          </a:p>
          <a:p>
            <a:pPr indent="-285750" lvl="1" marL="742950" rtl="0" algn="l">
              <a:lnSpc>
                <a:spcPct val="120000"/>
              </a:lnSpc>
              <a:spcBef>
                <a:spcPts val="600"/>
              </a:spcBef>
              <a:spcAft>
                <a:spcPts val="0"/>
              </a:spcAft>
              <a:buSzPts val="2400"/>
              <a:buChar char="–"/>
            </a:pPr>
            <a:r>
              <a:rPr lang="en-US"/>
              <a:t>Poor usability</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64"/>
          <p:cNvSpPr txBox="1"/>
          <p:nvPr>
            <p:ph type="title"/>
          </p:nvPr>
        </p:nvSpPr>
        <p:spPr>
          <a:xfrm>
            <a:off x="45720" y="27709"/>
            <a:ext cx="9098280" cy="10390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Technological Obsolescence </a:t>
            </a:r>
            <a:endParaRPr/>
          </a:p>
        </p:txBody>
      </p:sp>
      <p:sp>
        <p:nvSpPr>
          <p:cNvPr id="464" name="Google Shape;464;p64"/>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600"/>
              <a:buChar char="•"/>
            </a:pPr>
            <a:r>
              <a:rPr lang="en-US"/>
              <a:t>Antiquated/outdated infrastructure can lead to unreliable, untrustworthy systems.</a:t>
            </a:r>
            <a:endParaRPr/>
          </a:p>
          <a:p>
            <a:pPr indent="-342900" lvl="0" marL="342900" rtl="0" algn="l">
              <a:spcBef>
                <a:spcPts val="600"/>
              </a:spcBef>
              <a:spcAft>
                <a:spcPts val="0"/>
              </a:spcAft>
              <a:buSzPts val="2600"/>
              <a:buChar char="•"/>
            </a:pPr>
            <a:r>
              <a:rPr lang="en-US"/>
              <a:t>Proper managerial planning should prevent technology obsolescence.</a:t>
            </a:r>
            <a:endParaRPr/>
          </a:p>
          <a:p>
            <a:pPr indent="-342900" lvl="0" marL="342900" rtl="0" algn="l">
              <a:spcBef>
                <a:spcPts val="600"/>
              </a:spcBef>
              <a:spcAft>
                <a:spcPts val="0"/>
              </a:spcAft>
              <a:buSzPts val="2600"/>
              <a:buChar char="•"/>
            </a:pPr>
            <a:r>
              <a:rPr lang="en-US"/>
              <a:t>IT plays a large role.</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5"/>
          <p:cNvSpPr txBox="1"/>
          <p:nvPr>
            <p:ph type="title"/>
          </p:nvPr>
        </p:nvSpPr>
        <p:spPr>
          <a:xfrm>
            <a:off x="45720" y="27709"/>
            <a:ext cx="9098280" cy="10390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Theft</a:t>
            </a:r>
            <a:endParaRPr/>
          </a:p>
        </p:txBody>
      </p:sp>
      <p:sp>
        <p:nvSpPr>
          <p:cNvPr id="472" name="Google Shape;472;p65"/>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2600"/>
              <a:buChar char="•"/>
            </a:pPr>
            <a:r>
              <a:rPr lang="en-US"/>
              <a:t>Illegal taking of another’s physical, electronic, or intellectual property.</a:t>
            </a:r>
            <a:endParaRPr/>
          </a:p>
          <a:p>
            <a:pPr indent="-342900" lvl="0" marL="342900" rtl="0" algn="l">
              <a:spcBef>
                <a:spcPts val="600"/>
              </a:spcBef>
              <a:spcAft>
                <a:spcPts val="0"/>
              </a:spcAft>
              <a:buSzPts val="2600"/>
              <a:buChar char="•"/>
            </a:pPr>
            <a:r>
              <a:rPr lang="en-US"/>
              <a:t>Physical theft is controlled relatively easily.</a:t>
            </a:r>
            <a:endParaRPr/>
          </a:p>
          <a:p>
            <a:pPr indent="-342900" lvl="0" marL="342900" rtl="0" algn="l">
              <a:spcBef>
                <a:spcPts val="600"/>
              </a:spcBef>
              <a:spcAft>
                <a:spcPts val="0"/>
              </a:spcAft>
              <a:buSzPts val="2600"/>
              <a:buChar char="•"/>
            </a:pPr>
            <a:r>
              <a:rPr lang="en-US"/>
              <a:t>Electronic theft is a more complex problem; the evidence of crime is not readily apparent.</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66"/>
          <p:cNvSpPr txBox="1"/>
          <p:nvPr>
            <p:ph type="title"/>
          </p:nvPr>
        </p:nvSpPr>
        <p:spPr>
          <a:xfrm>
            <a:off x="45720" y="27709"/>
            <a:ext cx="9098280" cy="10390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Summary (1 of 4)</a:t>
            </a:r>
            <a:endParaRPr/>
          </a:p>
        </p:txBody>
      </p:sp>
      <p:sp>
        <p:nvSpPr>
          <p:cNvPr id="480" name="Google Shape;480;p66"/>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fontScale="92500"/>
          </a:bodyPr>
          <a:lstStyle/>
          <a:p>
            <a:pPr indent="-342900" lvl="0" marL="342900" rtl="0" algn="l">
              <a:spcBef>
                <a:spcPts val="0"/>
              </a:spcBef>
              <a:spcAft>
                <a:spcPts val="0"/>
              </a:spcAft>
              <a:buSzPct val="100000"/>
              <a:buChar char="•"/>
            </a:pPr>
            <a:r>
              <a:rPr lang="en-US"/>
              <a:t>Information security performs four important functions:</a:t>
            </a:r>
            <a:endParaRPr/>
          </a:p>
          <a:p>
            <a:pPr indent="-285750" lvl="1" marL="742950" rtl="0" algn="l">
              <a:spcBef>
                <a:spcPts val="600"/>
              </a:spcBef>
              <a:spcAft>
                <a:spcPts val="0"/>
              </a:spcAft>
              <a:buSzPct val="100000"/>
              <a:buChar char="–"/>
            </a:pPr>
            <a:r>
              <a:rPr lang="en-US"/>
              <a:t>Protecting organization’s ability to function</a:t>
            </a:r>
            <a:endParaRPr/>
          </a:p>
          <a:p>
            <a:pPr indent="-285750" lvl="1" marL="742950" rtl="0" algn="l">
              <a:spcBef>
                <a:spcPts val="600"/>
              </a:spcBef>
              <a:spcAft>
                <a:spcPts val="0"/>
              </a:spcAft>
              <a:buSzPct val="100000"/>
              <a:buChar char="–"/>
            </a:pPr>
            <a:r>
              <a:rPr lang="en-US"/>
              <a:t>Enabling safe operation of applications implemented on organization’s IT systems</a:t>
            </a:r>
            <a:endParaRPr/>
          </a:p>
          <a:p>
            <a:pPr indent="-285750" lvl="1" marL="742950" rtl="0" algn="l">
              <a:spcBef>
                <a:spcPts val="600"/>
              </a:spcBef>
              <a:spcAft>
                <a:spcPts val="0"/>
              </a:spcAft>
              <a:buSzPct val="100000"/>
              <a:buChar char="–"/>
            </a:pPr>
            <a:r>
              <a:rPr lang="en-US"/>
              <a:t>Protecting data an organization collects and uses</a:t>
            </a:r>
            <a:endParaRPr/>
          </a:p>
          <a:p>
            <a:pPr indent="-285750" lvl="1" marL="742950" rtl="0" algn="l">
              <a:spcBef>
                <a:spcPts val="600"/>
              </a:spcBef>
              <a:spcAft>
                <a:spcPts val="0"/>
              </a:spcAft>
              <a:buSzPct val="100000"/>
              <a:buChar char="–"/>
            </a:pPr>
            <a:r>
              <a:rPr lang="en-US"/>
              <a:t>Safeguarding the technology assets in use at the organization</a:t>
            </a:r>
            <a:endParaRPr/>
          </a:p>
          <a:p>
            <a:pPr indent="-342900" lvl="0" marL="342900" rtl="0" algn="l">
              <a:spcBef>
                <a:spcPts val="600"/>
              </a:spcBef>
              <a:spcAft>
                <a:spcPts val="0"/>
              </a:spcAft>
              <a:buSzPct val="100000"/>
              <a:buChar char="•"/>
            </a:pPr>
            <a:r>
              <a:rPr lang="en-US"/>
              <a:t>Threats or dangers facing an organization’s people, information, and systems fall into the following categories:</a:t>
            </a:r>
            <a:endParaRPr/>
          </a:p>
          <a:p>
            <a:pPr indent="-285750" lvl="1" marL="742950" rtl="0" algn="l">
              <a:spcBef>
                <a:spcPts val="600"/>
              </a:spcBef>
              <a:spcAft>
                <a:spcPts val="0"/>
              </a:spcAft>
              <a:buSzPct val="100000"/>
              <a:buChar char="–"/>
            </a:pPr>
            <a:r>
              <a:rPr lang="en-US"/>
              <a:t>Compromises to intellectual property: Intellectual property, such as trade secrets, copyrights, trademarks, or patents, are intangible assets that may be attacked via software piracy or the exploitation of asset protection controls.</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67"/>
          <p:cNvSpPr txBox="1"/>
          <p:nvPr>
            <p:ph type="title"/>
          </p:nvPr>
        </p:nvSpPr>
        <p:spPr>
          <a:xfrm>
            <a:off x="45720" y="27709"/>
            <a:ext cx="9098280" cy="10390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Summary (2 of 4)</a:t>
            </a:r>
            <a:endParaRPr/>
          </a:p>
        </p:txBody>
      </p:sp>
      <p:sp>
        <p:nvSpPr>
          <p:cNvPr id="488" name="Google Shape;488;p67"/>
          <p:cNvSpPr txBox="1"/>
          <p:nvPr>
            <p:ph idx="1" type="body"/>
          </p:nvPr>
        </p:nvSpPr>
        <p:spPr>
          <a:xfrm>
            <a:off x="152400" y="1143000"/>
            <a:ext cx="8839200" cy="5105400"/>
          </a:xfrm>
          <a:prstGeom prst="rect">
            <a:avLst/>
          </a:prstGeom>
          <a:noFill/>
          <a:ln>
            <a:noFill/>
          </a:ln>
        </p:spPr>
        <p:txBody>
          <a:bodyPr anchorCtr="0" anchor="t" bIns="45700" lIns="91425" spcFirstLastPara="1" rIns="91425" wrap="square" tIns="45700">
            <a:noAutofit/>
          </a:bodyPr>
          <a:lstStyle/>
          <a:p>
            <a:pPr indent="-285750" lvl="1" marL="742950" rtl="0" algn="l">
              <a:spcBef>
                <a:spcPts val="0"/>
              </a:spcBef>
              <a:spcAft>
                <a:spcPts val="0"/>
              </a:spcAft>
              <a:buSzPts val="2200"/>
              <a:buChar char="–"/>
            </a:pPr>
            <a:r>
              <a:rPr lang="en-US" sz="2200"/>
              <a:t>Deviations in quality of service: Organizations rely on services provided by others.</a:t>
            </a:r>
            <a:endParaRPr/>
          </a:p>
          <a:p>
            <a:pPr indent="-285750" lvl="1" marL="742950" rtl="0" algn="l">
              <a:spcBef>
                <a:spcPts val="600"/>
              </a:spcBef>
              <a:spcAft>
                <a:spcPts val="0"/>
              </a:spcAft>
              <a:buSzPts val="2200"/>
              <a:buChar char="–"/>
            </a:pPr>
            <a:r>
              <a:rPr lang="en-US" sz="2200"/>
              <a:t>Losses can come from interruptions to those services.</a:t>
            </a:r>
            <a:endParaRPr/>
          </a:p>
          <a:p>
            <a:pPr indent="-285750" lvl="1" marL="742950" rtl="0" algn="l">
              <a:spcBef>
                <a:spcPts val="600"/>
              </a:spcBef>
              <a:spcAft>
                <a:spcPts val="0"/>
              </a:spcAft>
              <a:buSzPts val="2200"/>
              <a:buChar char="–"/>
            </a:pPr>
            <a:r>
              <a:rPr lang="en-US" sz="2200"/>
              <a:t>Espionage or trespass: Asset losses may result when electronic and human activities breach the confidentiality of information.</a:t>
            </a:r>
            <a:endParaRPr/>
          </a:p>
          <a:p>
            <a:pPr indent="-285750" lvl="1" marL="742950" rtl="0" algn="l">
              <a:spcBef>
                <a:spcPts val="600"/>
              </a:spcBef>
              <a:spcAft>
                <a:spcPts val="0"/>
              </a:spcAft>
              <a:buSzPts val="2200"/>
              <a:buChar char="–"/>
            </a:pPr>
            <a:r>
              <a:rPr lang="en-US" sz="2200"/>
              <a:t>Forces of nature: A wide range of natural events can overwhelm control systems and preparations to cause losses to data and availability.</a:t>
            </a:r>
            <a:endParaRPr/>
          </a:p>
          <a:p>
            <a:pPr indent="-285750" lvl="1" marL="742950" rtl="0" algn="l">
              <a:spcBef>
                <a:spcPts val="600"/>
              </a:spcBef>
              <a:spcAft>
                <a:spcPts val="0"/>
              </a:spcAft>
              <a:buSzPts val="2200"/>
              <a:buChar char="–"/>
            </a:pPr>
            <a:r>
              <a:rPr lang="en-US" sz="2200"/>
              <a:t>Human error or failure: Losses to assets may come from intentional or accidental actions by people inside and outside the organization.</a:t>
            </a:r>
            <a:endParaRPr/>
          </a:p>
          <a:p>
            <a:pPr indent="-285750" lvl="1" marL="742950" rtl="0" algn="l">
              <a:spcBef>
                <a:spcPts val="600"/>
              </a:spcBef>
              <a:spcAft>
                <a:spcPts val="0"/>
              </a:spcAft>
              <a:buSzPts val="2200"/>
              <a:buChar char="–"/>
            </a:pPr>
            <a:r>
              <a:rPr lang="en-US" sz="2200"/>
              <a:t>Information extortion: Stolen or inactivated assets may be held hostage to extract payment of ransom.</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68"/>
          <p:cNvSpPr txBox="1"/>
          <p:nvPr>
            <p:ph type="title"/>
          </p:nvPr>
        </p:nvSpPr>
        <p:spPr>
          <a:xfrm>
            <a:off x="45720" y="27709"/>
            <a:ext cx="9098280" cy="10390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Summary (3 of 4)</a:t>
            </a:r>
            <a:endParaRPr/>
          </a:p>
        </p:txBody>
      </p:sp>
      <p:sp>
        <p:nvSpPr>
          <p:cNvPr id="496" name="Google Shape;496;p68"/>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fontScale="92500" lnSpcReduction="20000"/>
          </a:bodyPr>
          <a:lstStyle/>
          <a:p>
            <a:pPr indent="-285750" lvl="1" marL="742950" rtl="0" algn="l">
              <a:lnSpc>
                <a:spcPct val="110000"/>
              </a:lnSpc>
              <a:spcBef>
                <a:spcPts val="0"/>
              </a:spcBef>
              <a:spcAft>
                <a:spcPts val="0"/>
              </a:spcAft>
              <a:buSzPct val="100000"/>
              <a:buChar char="–"/>
            </a:pPr>
            <a:r>
              <a:rPr lang="en-US"/>
              <a:t>Sabotage or vandalism: Losses may result from the deliberate sabotage of a computer system or business, or from acts of vandalism. These acts can either destroy an asset or damage the image of an organization.</a:t>
            </a:r>
            <a:endParaRPr/>
          </a:p>
          <a:p>
            <a:pPr indent="-285750" lvl="1" marL="742950" rtl="0" algn="l">
              <a:lnSpc>
                <a:spcPct val="110000"/>
              </a:lnSpc>
              <a:spcBef>
                <a:spcPts val="600"/>
              </a:spcBef>
              <a:spcAft>
                <a:spcPts val="0"/>
              </a:spcAft>
              <a:buSzPct val="100000"/>
              <a:buChar char="–"/>
            </a:pPr>
            <a:r>
              <a:rPr lang="en-US"/>
              <a:t>Software attacks: Losses may result when attackers use software to gain unauthorized access to systems or cause disruptions in systems availability.</a:t>
            </a:r>
            <a:endParaRPr/>
          </a:p>
          <a:p>
            <a:pPr indent="-285750" lvl="1" marL="742950" rtl="0" algn="l">
              <a:lnSpc>
                <a:spcPct val="110000"/>
              </a:lnSpc>
              <a:spcBef>
                <a:spcPts val="600"/>
              </a:spcBef>
              <a:spcAft>
                <a:spcPts val="0"/>
              </a:spcAft>
              <a:buSzPct val="100000"/>
              <a:buChar char="–"/>
            </a:pPr>
            <a:r>
              <a:rPr lang="en-US"/>
              <a:t>Technical hardware failures or errors: Technical defects in hardware systems can cause unexpected results, including unreliable service or lack of availability.</a:t>
            </a:r>
            <a:endParaRPr/>
          </a:p>
          <a:p>
            <a:pPr indent="-285750" lvl="1" marL="742950" rtl="0" algn="l">
              <a:lnSpc>
                <a:spcPct val="110000"/>
              </a:lnSpc>
              <a:spcBef>
                <a:spcPts val="600"/>
              </a:spcBef>
              <a:spcAft>
                <a:spcPts val="0"/>
              </a:spcAft>
              <a:buSzPct val="100000"/>
              <a:buChar char="–"/>
            </a:pPr>
            <a:r>
              <a:rPr lang="en-US"/>
              <a:t>Technical software failures or errors: Software used by systems may have purposeful or unintentional errors that result in failures, which can lead to loss of availability or unauthorized access to information.</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69"/>
          <p:cNvSpPr txBox="1"/>
          <p:nvPr>
            <p:ph type="title"/>
          </p:nvPr>
        </p:nvSpPr>
        <p:spPr>
          <a:xfrm>
            <a:off x="45720" y="27709"/>
            <a:ext cx="9098280" cy="103909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3600"/>
              <a:buFont typeface="Arial"/>
              <a:buNone/>
            </a:pPr>
            <a:r>
              <a:rPr lang="en-US"/>
              <a:t>Summary (4 of 4)</a:t>
            </a:r>
            <a:endParaRPr/>
          </a:p>
        </p:txBody>
      </p:sp>
      <p:sp>
        <p:nvSpPr>
          <p:cNvPr id="504" name="Google Shape;504;p69"/>
          <p:cNvSpPr txBox="1"/>
          <p:nvPr>
            <p:ph idx="1" type="body"/>
          </p:nvPr>
        </p:nvSpPr>
        <p:spPr>
          <a:xfrm>
            <a:off x="228600" y="1295400"/>
            <a:ext cx="8763000" cy="4830763"/>
          </a:xfrm>
          <a:prstGeom prst="rect">
            <a:avLst/>
          </a:prstGeom>
          <a:noFill/>
          <a:ln>
            <a:noFill/>
          </a:ln>
        </p:spPr>
        <p:txBody>
          <a:bodyPr anchorCtr="0" anchor="t" bIns="45700" lIns="91425" spcFirstLastPara="1" rIns="91425" wrap="square" tIns="45700">
            <a:normAutofit/>
          </a:bodyPr>
          <a:lstStyle/>
          <a:p>
            <a:pPr indent="-285750" lvl="1" marL="742950" rtl="0" algn="l">
              <a:spcBef>
                <a:spcPts val="0"/>
              </a:spcBef>
              <a:spcAft>
                <a:spcPts val="0"/>
              </a:spcAft>
              <a:buSzPts val="2200"/>
              <a:buChar char="–"/>
            </a:pPr>
            <a:r>
              <a:rPr lang="en-US" sz="2200"/>
              <a:t>Technological obsolescence: Antiquated or outdated infrastructure can lead to unreliable and untrustworthy systems that may result in loss of availability or unauthorized access to information.</a:t>
            </a:r>
            <a:endParaRPr/>
          </a:p>
          <a:p>
            <a:pPr indent="-285750" lvl="1" marL="742950" rtl="0" algn="l">
              <a:spcBef>
                <a:spcPts val="600"/>
              </a:spcBef>
              <a:spcAft>
                <a:spcPts val="0"/>
              </a:spcAft>
              <a:buSzPts val="2200"/>
              <a:buChar char="–"/>
            </a:pPr>
            <a:r>
              <a:rPr lang="en-US" sz="2200"/>
              <a:t>Theft: Theft of information can result from a wide variety of attacks.</a:t>
            </a:r>
            <a:endParaRPr sz="22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ampl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