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Based on a 1973 study led by Willis Ware.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TOR-like configuration: The sender selects three remailers; he encrypts the message with each of their public keys in succession; he then sends the message through them in the reverse of that order, with each one’s public key being able to open only one layer of message.</a:t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040"/>
              <a:buNone/>
              <a:defRPr>
                <a:solidFill>
                  <a:srgbClr val="55556F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70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2"/>
          <p:cNvCxnSpPr/>
          <p:nvPr/>
        </p:nvCxnSpPr>
        <p:spPr>
          <a:xfrm>
            <a:off x="685800" y="3398520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0" i="1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in Computing, Fifth Edition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by Charles P. Pfleeger, et al. (ISBN: 9780134085043). Copyright 2015 by Pearson Education, Inc. All rights reserved.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722313" y="2362200"/>
            <a:ext cx="7772400" cy="220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0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2313" y="462686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04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4"/>
          <p:cNvCxnSpPr/>
          <p:nvPr/>
        </p:nvCxnSpPr>
        <p:spPr>
          <a:xfrm>
            <a:off x="731520" y="4599432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48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5720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5720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475488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475488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6"/>
          <p:cNvCxnSpPr/>
          <p:nvPr/>
        </p:nvCxnSpPr>
        <p:spPr>
          <a:xfrm rot="5400000">
            <a:off x="2217817" y="4045823"/>
            <a:ext cx="4709160" cy="794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457200" y="792080"/>
            <a:ext cx="213969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2971800" y="792080"/>
            <a:ext cx="5715000" cy="557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1320" lvl="0" marL="457200" algn="l">
              <a:spcBef>
                <a:spcPts val="640"/>
              </a:spcBef>
              <a:spcAft>
                <a:spcPts val="0"/>
              </a:spcAft>
              <a:buSzPts val="2720"/>
              <a:buChar char="•"/>
              <a:defRPr sz="3200"/>
            </a:lvl1pPr>
            <a:lvl2pPr indent="-379730" lvl="1" marL="9144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2pPr>
            <a:lvl3pPr indent="-365760" lvl="2" marL="1371600" algn="l">
              <a:spcBef>
                <a:spcPts val="480"/>
              </a:spcBef>
              <a:spcAft>
                <a:spcPts val="0"/>
              </a:spcAft>
              <a:buSzPts val="216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57201" y="2130552"/>
            <a:ext cx="2139696" cy="424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9" name="Google Shape;69;p9"/>
          <p:cNvCxnSpPr/>
          <p:nvPr/>
        </p:nvCxnSpPr>
        <p:spPr>
          <a:xfrm rot="5400000">
            <a:off x="-13116" y="3580206"/>
            <a:ext cx="557784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57200" y="792480"/>
            <a:ext cx="2142680" cy="1264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2858610" y="838201"/>
            <a:ext cx="5904390" cy="5500456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12700">
              <a:srgbClr val="000000">
                <a:alpha val="58823"/>
              </a:srgbClr>
            </a:outerShdw>
          </a:effectLst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2133600" y="-76200"/>
            <a:ext cx="4876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4724400" y="2514600"/>
            <a:ext cx="5867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533400" y="533400"/>
            <a:ext cx="5867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69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0" y="6568572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5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69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informationshield.com/intprivacylaw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Define privacy and fundamental computer-related privacy challenges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principles and laws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precautions for web surfing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Spyware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Email privacy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concerns in emerging technologies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What Is Privacy?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is the right to control who knows certain aspects about you, your communications, and your activities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Types of data many people consider private: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Identity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Finances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Health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Biometrics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Privileged communications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Location data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Subject: person or entity being described by the data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Owner: person or entity that holds the data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Computer-Related Privacy Problems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Data collection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Advances in computer storage make it possible to hold and manipulate huge numbers of records, and those advances continue to evolve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Notice and consent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Notice of collection and consent to allow collection of data are foundations of privacy, but with modern data collection, it is often impossible to know what is being collected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Control and ownership of data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Once a user consents to provide data, the data is out of that user’s control. It may be held indefinitely or shared with other entities.</a:t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Fair Information Practices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Data should be obtained lawfully and fairly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Data should be relevant to their purposes, accurate, complete, and up to date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The purposes for which data will be used should be identified and that data destroyed if no longer necessary for that purpose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Use for purposes other than those specified is authorized only with consent of data subject or by authority of law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Procedures to guard against loss, corruption, destruction, or misuse of data should be established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It should be possible to acquire information about the collection, storage, and use of personal data systems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The data subjects normally have a right to access and challenge data relating to them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A data controller should be designated and accountable for complying with the measures to effect these principles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U.S. Privacy Laws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The 1974 Privacy Act embodies most of the principles above but applies only to data collected by the U.S. government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Other federal privacy laws: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HIPAA (healthcare data)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GLBA (financial data)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COPPA (children’s web access)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FERPA (student records)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State privacy law varies widely</a:t>
            </a:r>
            <a:endParaRPr/>
          </a:p>
          <a:p>
            <a:pPr indent="-74929" lvl="1" marL="457200" rtl="0" algn="l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Non-U.S. Privacy Principles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European Privacy Directive (1995)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Applies the Ware Committee’s principles to governments and businesses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Also provides for extra protection for sensitive data, strong limits on data transfer, and independent oversight to ensure compliance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A list of other nations’ privacy laws can be found at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http://www.informationshield.com/intprivacylaws.html</a:t>
            </a:r>
            <a:endParaRPr/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Privacy-Preserving Data Mining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457200" y="148408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380"/>
              <a:buChar char="•"/>
            </a:pPr>
            <a:r>
              <a:rPr lang="en-US" sz="2800"/>
              <a:t>Removing identifying information from data doesn’t work</a:t>
            </a:r>
            <a:endParaRPr/>
          </a:p>
          <a:p>
            <a:pPr indent="-182880" lvl="1" marL="45720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 sz="2400"/>
              <a:t>Even if the overtly identifying information can be removed, identification from remaining data is often possible</a:t>
            </a:r>
            <a:endParaRPr/>
          </a:p>
          <a:p>
            <a:pPr indent="-182880" lvl="0" marL="182880" rtl="0" algn="l">
              <a:spcBef>
                <a:spcPts val="560"/>
              </a:spcBef>
              <a:spcAft>
                <a:spcPts val="0"/>
              </a:spcAft>
              <a:buSzPts val="2380"/>
              <a:buChar char="•"/>
            </a:pPr>
            <a:r>
              <a:rPr lang="en-US" sz="2800"/>
              <a:t>Data perturbation</a:t>
            </a:r>
            <a:endParaRPr/>
          </a:p>
          <a:p>
            <a:pPr indent="-182880" lvl="1" marL="45720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 sz="2400"/>
              <a:t>As discussed in Chapter 7, data perturbation can limit the privacy risks associated with the data without impacting analysis results</a:t>
            </a:r>
            <a:endParaRPr/>
          </a:p>
          <a:p>
            <a:pPr indent="-182880" lvl="1" marL="45720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 sz="2400"/>
              <a:t>Data mining often focuses on correlation and aggregation, both of which can generally be reliably accomplished with perturbed data</a:t>
            </a:r>
            <a:endParaRPr sz="2400"/>
          </a:p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Precautions for Web Surfing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Cookies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Cookies are a way for websites to store data locally on a user’s machine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They may contain sensitive personal information, such as credit card numbers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Third-party tracking cookies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Some companies specialize in tracking users by having numerous popular sites place their cookies in users’ browsers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This tracking information is used for online profiling, which is generally used for targeted advertising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Web bugs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 web bug is more active than a cookie and has the ability to immediately send information about user behavior to advertising services</a:t>
            </a:r>
            <a:endParaRPr/>
          </a:p>
        </p:txBody>
      </p:sp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Spyware</a:t>
            </a:r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Spyware is code designed to spy on a user, collecting data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General spyware: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Advertising applications, identity theft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Hijackers: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Hijack existing programs and use them for different purposes, such as reconfiguring file sharing software to share sensitive information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Adware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Displays selected advertisements in pop-up windows or the main browser window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Often installed in a misleading way as part of other software packages</a:t>
            </a:r>
            <a:endParaRPr/>
          </a:p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Where Does Email Go?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When Janet sends an email to Scott, the message is transferred via simple mail transfer protocol (SMTP)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The message is the transferred through multiple ISPs and servers before it arrives at Scott’s post office protocol (POP) server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Scott receives the email when his email client logs into the POP server on his behalf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Any of the servers in this chain of communication can see and keep Janet’s email</a:t>
            </a:r>
            <a:endParaRPr/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Anonymous or Disappearing Email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Disposable email addresses from sites like mailinator.com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Remailers are trusted third parties that replace real addresses with pseudonymous ones to protect identities in correspondence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Multiple remailers can be used in a TOR-like configuration to gain stronger anonymity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Disappearing email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Because email travels through so many servers, it cannot be made to truly disappear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Messaging services like Snapchat, which claims to make messages disappear, cannot guarantee that recipients will not be able to save those messages</a:t>
            </a:r>
            <a:endParaRPr/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/>
              <a:t>Radio Frequency Identification (RFID)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RFID tags are small, low-power wireless radio transmitters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When a tag receives a signal on the correct frequency, it responds with its unique ID number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concerns: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As RFID tags become cheaper and more ubiquitous, and RFID readers are installed in more places, it may become possible to track individuals wherever they go</a:t>
            </a:r>
            <a:endParaRPr/>
          </a:p>
          <a:p>
            <a:pPr indent="-182880" lvl="1" marL="457200" rtl="0" algn="l"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As RFID tags are put on more items, it will become increasingly possible to discern personal information by reading those tags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Other Emerging Technologies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Electronic voting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Among other issues, research into electronic voting includes privacy concerns, such as maintaining privacy of who has voted and who each person voted for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Voice over IP (VoIP)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While VoIP adds the possibility of encryption to voice calls, it also allows a new set of service providers to track sources and destinations of those calls</a:t>
            </a:r>
            <a:endParaRPr/>
          </a:p>
          <a:p>
            <a:pPr indent="-182880" lvl="0" marL="182880" rtl="0" algn="l">
              <a:spcBef>
                <a:spcPts val="444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Cloud computing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Physical location of information in the cloud may have significant effects on privacy and confidentiality protections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Cloud data may have more than one legal location at a time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Laws could oblige cloud providers to examine user data for evidence of criminal activity</a:t>
            </a:r>
            <a:endParaRPr/>
          </a:p>
          <a:p>
            <a:pPr indent="-182879" lvl="1" marL="457200" rtl="0" algn="l">
              <a:spcBef>
                <a:spcPts val="370"/>
              </a:spcBef>
              <a:spcAft>
                <a:spcPts val="0"/>
              </a:spcAft>
              <a:buSzPct val="85000"/>
              <a:buChar char="•"/>
            </a:pPr>
            <a:r>
              <a:rPr lang="en-US"/>
              <a:t>Legal uncertainties make it difficult to assess the status of cloud data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spcBef>
                <a:spcPts val="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What data is considered private is subjective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Privacy laws vary widely by jurisdiction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Cookies and web bugs track user behavior across websites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Spyware can be used to track behavior for targeted advertising or for much more nefarious purposes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Email has little privacy protection by default</a:t>
            </a:r>
            <a:endParaRPr/>
          </a:p>
          <a:p>
            <a:pPr indent="-182880" lvl="0" marL="182880" rtl="0" algn="l">
              <a:spcBef>
                <a:spcPts val="480"/>
              </a:spcBef>
              <a:spcAft>
                <a:spcPts val="0"/>
              </a:spcAft>
              <a:buSzPts val="2040"/>
              <a:buChar char="•"/>
            </a:pPr>
            <a:r>
              <a:rPr lang="en-US"/>
              <a:t>Emerging technologies are fraught with privacy uncertainties, including both technological and legal issues</a:t>
            </a:r>
            <a:endParaRPr/>
          </a:p>
          <a:p>
            <a:pPr indent="-53339" lvl="0" marL="1828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